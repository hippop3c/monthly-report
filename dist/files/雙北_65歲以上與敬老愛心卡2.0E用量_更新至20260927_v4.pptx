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04a208859a453f" /><Relationship Type="http://schemas.openxmlformats.org/officeDocument/2006/relationships/extended-properties" Target="/docProps/app.xml" Id="R798b3a7eb74b490c" /><Relationship Type="http://schemas.openxmlformats.org/officeDocument/2006/relationships/officeDocument" Target="/ppt/presentation.xml" Id="R2d922d4b654443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2e892fc94b4061"/>
  </p:sldMasterIdLst>
  <p:notesMasterIdLst>
    <p:notesMasterId xmlns:r="http://schemas.openxmlformats.org/officeDocument/2006/relationships" r:id="Rf7f23a20b8584bdc"/>
  </p:notesMasterIdLst>
  <p:sldIdLst>
    <p:sldId xmlns:r="http://schemas.openxmlformats.org/officeDocument/2006/relationships" id="256" r:id="Rd1b7d3bc6cce4d02"/>
    <p:sldId xmlns:r="http://schemas.openxmlformats.org/officeDocument/2006/relationships" id="257" r:id="Rc2103ac502da4036"/>
    <p:sldId xmlns:r="http://schemas.openxmlformats.org/officeDocument/2006/relationships" id="258" r:id="Rab819ed658df497e"/>
    <p:sldId xmlns:r="http://schemas.openxmlformats.org/officeDocument/2006/relationships" id="259" r:id="R88149a2b4dee4c5a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f752be8b0347cb" /><Relationship Type="http://schemas.openxmlformats.org/officeDocument/2006/relationships/slideMaster" Target="/ppt/slideMasters/slideMaster1.xml" Id="Rb92e892fc94b4061" /><Relationship Type="http://schemas.openxmlformats.org/officeDocument/2006/relationships/notesMaster" Target="/ppt/notesMasters/notesMaster1.xml" Id="Rf7f23a20b8584bdc" /><Relationship Type="http://schemas.openxmlformats.org/officeDocument/2006/relationships/presProps" Target="/ppt/presProps.xml" Id="Rc6c6b90fb67749cc" /><Relationship Type="http://schemas.openxmlformats.org/officeDocument/2006/relationships/tableStyles" Target="/ppt/tableStyles.xml" Id="R62893202c9584898" /><Relationship Type="http://schemas.openxmlformats.org/officeDocument/2006/relationships/slide" Target="/ppt/slides/slide1.xml" Id="Rd1b7d3bc6cce4d02" /><Relationship Type="http://schemas.openxmlformats.org/officeDocument/2006/relationships/slide" Target="/ppt/slides/slide2.xml" Id="Rc2103ac502da4036" /><Relationship Type="http://schemas.openxmlformats.org/officeDocument/2006/relationships/slide" Target="/ppt/slides/slide3.xml" Id="Rab819ed658df497e" /><Relationship Type="http://schemas.openxmlformats.org/officeDocument/2006/relationships/slide" Target="/ppt/slides/slide4.xml" Id="R88149a2b4dee4c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95ef4b19534e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a1b9952800469e" /><Relationship Type="http://schemas.openxmlformats.org/officeDocument/2006/relationships/notesMaster" Target="/ppt/notesMasters/notesMaster1.xml" Id="R6982eeb6005847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5bf7f47e7b4c42" /><Relationship Type="http://schemas.openxmlformats.org/officeDocument/2006/relationships/notesMaster" Target="/ppt/notesMasters/notesMaster1.xml" Id="R631632046a814b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2dba4c081043e8" /><Relationship Type="http://schemas.openxmlformats.org/officeDocument/2006/relationships/notesMaster" Target="/ppt/notesMasters/notesMaster1.xml" Id="R7210e36cfab64f2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e5d88c91cc4310" /><Relationship Type="http://schemas.openxmlformats.org/officeDocument/2006/relationships/notesMaster" Target="/ppt/notesMasters/notesMaster1.xml" Id="Rd835053be1e043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資料來源：YouBike Report API（總用量、2.0E租借次數、2.0E敬老使用次數）；Looker Studio 性別年齡月別資料（65–100歲）。2026年9月65歲以上資料尚未發布，表中留白，不以敬老卡票種替代。台北敬老卡9/1–9/23另與Google表單W欄核對；9/24–9/27採Report API。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資料來源：YouBike Report API（總用量、2.0E租借次數、2.0E敬老使用次數）；Looker Studio 性別年齡月別資料（65–100歲）。歷史折線只呈現2025年7月至2026年8月；2026年9月敬老卡占比為單期票種指標，未串接為65歲以上歷史趨勢。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資料來源：YouBike Report API（總用量、2.0E租借次數、2.0E敬老使用次數）；Looker Studio 性別年齡月別資料（65–100歲）。2026年9月65歲以上資料尚未發布，表中留白，不以敬老卡票種替代。台北敬老卡9/1–9/23另與Google表單W欄核對；9/24–9/27採Report API。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資料來源：YouBike Report API（總用量、2.0E租借次數、2.0E敬老使用次數）；Looker Studio 性別年齡月別資料（65–100歲）。歷史折線只呈現2025年7月至2026年8月；2026年9月敬老卡占比為單期票種指標，未串接為65歲以上歷史趨勢。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a1c5fa3d5347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4f68f6341049d2" /><Relationship Type="http://schemas.openxmlformats.org/officeDocument/2006/relationships/slideLayout" Target="/ppt/slideLayouts/slideLayout1.xml" Id="R34518d8c35fa47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518d8c35fa47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a48befccca40d9" /><Relationship Type="http://schemas.openxmlformats.org/officeDocument/2006/relationships/notesSlide" Target="/ppt/notesSlides/notesSlide1.xml" Id="Rade421e3492f41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1b92de230348bb" /><Relationship Type="http://schemas.openxmlformats.org/officeDocument/2006/relationships/chart" Target="/ppt/slides/charts/chart1.xml" Id="R3b5df51a5ebb4150" /><Relationship Type="http://schemas.openxmlformats.org/officeDocument/2006/relationships/chart" Target="/ppt/slides/charts/chart2.xml" Id="R20eed7b1e4be484f" /><Relationship Type="http://schemas.openxmlformats.org/officeDocument/2006/relationships/notesSlide" Target="/ppt/notesSlides/notesSlide2.xml" Id="Rf161ad1826cd484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64d196259944e4" /><Relationship Type="http://schemas.openxmlformats.org/officeDocument/2006/relationships/notesSlide" Target="/ppt/notesSlides/notesSlide3.xml" Id="Rdfe3a5c0a8f746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75a0fcaecc4702" /><Relationship Type="http://schemas.openxmlformats.org/officeDocument/2006/relationships/chart" Target="/ppt/slides/charts/chart3.xml" Id="R64350c3daabd4fb1" /><Relationship Type="http://schemas.openxmlformats.org/officeDocument/2006/relationships/chart" Target="/ppt/slides/charts/chart4.xml" Id="R0bd623be541d485e" /><Relationship Type="http://schemas.openxmlformats.org/officeDocument/2006/relationships/notesSlide" Target="/ppt/notesSlides/notesSlide4.xml" Id="R9b40471fdc8e402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20272D"/>
                </a:solidFill>
                <a:latin typeface="Noto Sans TC"/>
                <a:ea typeface="Noto Sans TC"/>
                <a:cs typeface="Noto Sans TC"/>
              </a:rPr>
              <a:t>2.0E占總用量與65歲以上占2.0E（至2026.8）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0">
              <a:solidFill>
                <a:srgbClr val="20272D"/>
              </a:solidFill>
              <a:latin typeface="Noto Sans TC"/>
              <a:ea typeface="Noto Sans TC"/>
              <a:cs typeface="Noto Sans TC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2.0E占總用量</c:v>
          </c:tx>
          <c:spPr>
            <a:ln xmlns:a="http://schemas.openxmlformats.org/drawingml/2006/main" w="28575">
              <a:solidFill>
                <a:srgbClr val="4F96D1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F96D1"/>
              </a:solidFill>
            </c:spPr>
          </c:marke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 b="1">
                      <a:solidFill>
                        <a:srgbClr val="4F96D1"/>
                      </a:solidFill>
                      <a:latin typeface="Noto Sans TC"/>
                      <a:ea typeface="Noto Sans TC"/>
                      <a:cs typeface="Noto Sans T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 b="1">
                      <a:solidFill>
                        <a:srgbClr val="4F96D1"/>
                      </a:solidFill>
                      <a:latin typeface="Noto Sans TC"/>
                      <a:ea typeface="Noto Sans TC"/>
                      <a:cs typeface="Noto Sans T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Noto Sans TC"/>
                    <a:ea typeface="Noto Sans TC"/>
                    <a:cs typeface="Noto Sans TC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Data'!$A$2:$A$15</c:f>
              <c:strCache>
                <c:ptCount val="14"/>
                <c:pt idx="0">
                  <c:v>25-7月</c:v>
                </c:pt>
                <c:pt idx="1">
                  <c:v>25-8月</c:v>
                </c:pt>
                <c:pt idx="2">
                  <c:v>25-9月</c:v>
                </c:pt>
                <c:pt idx="3">
                  <c:v>25-10月</c:v>
                </c:pt>
                <c:pt idx="4">
                  <c:v>25-11月</c:v>
                </c:pt>
                <c:pt idx="5">
                  <c:v>25-12月</c:v>
                </c:pt>
                <c:pt idx="6">
                  <c:v>26-1月</c:v>
                </c:pt>
                <c:pt idx="7">
                  <c:v>26-2月</c:v>
                </c:pt>
                <c:pt idx="8">
                  <c:v>26-3月</c:v>
                </c:pt>
                <c:pt idx="9">
                  <c:v>26-4月</c:v>
                </c:pt>
                <c:pt idx="10">
                  <c:v>26-5月</c:v>
                </c:pt>
                <c:pt idx="11">
                  <c:v>26-6月</c:v>
                </c:pt>
                <c:pt idx="12">
                  <c:v>26-7月</c:v>
                </c:pt>
                <c:pt idx="13">
                  <c:v>26-8月</c:v>
                </c:pt>
              </c:strCache>
            </c:strRef>
          </c:cat>
          <c:val>
            <c:numRef>
              <c:f>'Chart Data'!$B$2:$B$15</c:f>
              <c:numCache>
                <c:formatCode>0.0%</c:formatCode>
                <c:ptCount val="14"/>
                <c:pt idx="0">
                  <c:v>0.0394487995</c:v>
                </c:pt>
                <c:pt idx="1">
                  <c:v>0.0413729717</c:v>
                </c:pt>
                <c:pt idx="2">
                  <c:v>0.049549786</c:v>
                </c:pt>
                <c:pt idx="3">
                  <c:v>0.0483904519</c:v>
                </c:pt>
                <c:pt idx="4">
                  <c:v>0.0486050688</c:v>
                </c:pt>
                <c:pt idx="5">
                  <c:v>0.0522251145</c:v>
                </c:pt>
                <c:pt idx="6">
                  <c:v>0.0533562181</c:v>
                </c:pt>
                <c:pt idx="7">
                  <c:v>0.0577504943</c:v>
                </c:pt>
                <c:pt idx="8">
                  <c:v>0.0616708018</c:v>
                </c:pt>
                <c:pt idx="9">
                  <c:v>0.0617916703</c:v>
                </c:pt>
                <c:pt idx="10">
                  <c:v>0.0662541341</c:v>
                </c:pt>
                <c:pt idx="11">
                  <c:v>0.0679742465</c:v>
                </c:pt>
                <c:pt idx="12">
                  <c:v>0.0869187876</c:v>
                </c:pt>
                <c:pt idx="13">
                  <c:v>0.0957720627</c:v>
                </c:pt>
              </c:numCache>
            </c:numRef>
          </c:val>
          <c:smooth val="0"/>
        </c:ser>
        <c:ser>
          <c:idx val="1"/>
          <c:order val="1"/>
          <c:tx>
            <c:v>65歲以上占2.0E</c:v>
          </c:tx>
          <c:spPr>
            <a:ln xmlns:a="http://schemas.openxmlformats.org/drawingml/2006/main" w="28575">
              <a:solidFill>
                <a:srgbClr val="00A95C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00A95C"/>
              </a:solidFill>
            </c:spPr>
          </c:marke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 b="1">
                      <a:solidFill>
                        <a:srgbClr val="00A95C"/>
                      </a:solidFill>
                      <a:latin typeface="Noto Sans TC"/>
                      <a:ea typeface="Noto Sans TC"/>
                      <a:cs typeface="Noto Sans T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 b="1">
                      <a:solidFill>
                        <a:srgbClr val="00A95C"/>
                      </a:solidFill>
                      <a:latin typeface="Noto Sans TC"/>
                      <a:ea typeface="Noto Sans TC"/>
                      <a:cs typeface="Noto Sans T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Noto Sans TC"/>
                    <a:ea typeface="Noto Sans TC"/>
                    <a:cs typeface="Noto Sans TC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Data'!$C$2:$C$15</c:f>
              <c:strCache>
                <c:ptCount val="14"/>
                <c:pt idx="0">
                  <c:v>25-7月</c:v>
                </c:pt>
                <c:pt idx="1">
                  <c:v>25-8月</c:v>
                </c:pt>
                <c:pt idx="2">
                  <c:v>25-9月</c:v>
                </c:pt>
                <c:pt idx="3">
                  <c:v>25-10月</c:v>
                </c:pt>
                <c:pt idx="4">
                  <c:v>25-11月</c:v>
                </c:pt>
                <c:pt idx="5">
                  <c:v>25-12月</c:v>
                </c:pt>
                <c:pt idx="6">
                  <c:v>26-1月</c:v>
                </c:pt>
                <c:pt idx="7">
                  <c:v>26-2月</c:v>
                </c:pt>
                <c:pt idx="8">
                  <c:v>26-3月</c:v>
                </c:pt>
                <c:pt idx="9">
                  <c:v>26-4月</c:v>
                </c:pt>
                <c:pt idx="10">
                  <c:v>26-5月</c:v>
                </c:pt>
                <c:pt idx="11">
                  <c:v>26-6月</c:v>
                </c:pt>
                <c:pt idx="12">
                  <c:v>26-7月</c:v>
                </c:pt>
                <c:pt idx="13">
                  <c:v>26-8月</c:v>
                </c:pt>
              </c:strCache>
            </c:strRef>
          </c:cat>
          <c:val>
            <c:numRef>
              <c:f>'Chart Data'!$D$2:$D$15</c:f>
              <c:numCache>
                <c:formatCode>0.0%</c:formatCode>
                <c:ptCount val="14"/>
                <c:pt idx="0">
                  <c:v>0.0940087416</c:v>
                </c:pt>
                <c:pt idx="1">
                  <c:v>0.087523544</c:v>
                </c:pt>
                <c:pt idx="2">
                  <c:v>0.0781452065</c:v>
                </c:pt>
                <c:pt idx="3">
                  <c:v>0.0847326022</c:v>
                </c:pt>
                <c:pt idx="4">
                  <c:v>0.083379234</c:v>
                </c:pt>
                <c:pt idx="5">
                  <c:v>0.0797142453</c:v>
                </c:pt>
                <c:pt idx="6">
                  <c:v>0.0794468524</c:v>
                </c:pt>
                <c:pt idx="7">
                  <c:v>0.0839060651</c:v>
                </c:pt>
                <c:pt idx="8">
                  <c:v>0.0691826399</c:v>
                </c:pt>
                <c:pt idx="9">
                  <c:v>0.0660890401</c:v>
                </c:pt>
                <c:pt idx="10">
                  <c:v>0.0617343275</c:v>
                </c:pt>
                <c:pt idx="11">
                  <c:v>0.0659168307</c:v>
                </c:pt>
                <c:pt idx="12">
                  <c:v>0.1445266432</c:v>
                </c:pt>
                <c:pt idx="13">
                  <c:v>0.1734856461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TC"/>
                  <a:ea typeface="Noto Sans TC"/>
                  <a:cs typeface="Noto Sans T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2D7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65">
                <a:solidFill>
                  <a:srgbClr val="65717B"/>
                </a:solidFill>
                <a:latin typeface="Noto Sans TC"/>
                <a:ea typeface="Noto Sans TC"/>
                <a:cs typeface="Noto Sans TC"/>
              </a:defRPr>
            </a:pPr>
          </a:p>
        </c:txPr>
        <c:crossAx val="48672768"/>
      </c:catAx>
      <c:valAx>
        <c:axId val="48672768"/>
        <c:scaling>
          <c:orientation val="minMax"/>
          <c:max val="0.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2D7DC"/>
              </a:solidFill>
              <a:prstDash val="dash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2D7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5717B"/>
                </a:solidFill>
                <a:latin typeface="Noto Sans TC"/>
                <a:ea typeface="Noto Sans TC"/>
                <a:cs typeface="Noto Sans TC"/>
              </a:defRPr>
            </a:pPr>
          </a:p>
        </c:txPr>
        <c:crossAx val="48650112"/>
        <c:crossBetween val="between"/>
        <c:majorUnit val="0.0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65717B"/>
              </a:solidFill>
              <a:latin typeface="Noto Sans TC"/>
              <a:ea typeface="Noto Sans TC"/>
              <a:cs typeface="Noto Sans TC"/>
            </a:defRPr>
          </a:pPr>
        </a:p>
      </c:txPr>
    </c:legend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DCE0"/>
      </a:solidFill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敬老卡占2.0E</c:v>
          </c:tx>
          <c:spPr>
            <a:solidFill xmlns:a="http://schemas.openxmlformats.org/drawingml/2006/main">
              <a:srgbClr val="F17624"/>
            </a:solidFill>
          </c:spPr>
          <c:cat>
            <c:strRef>
              <c:f>'Chart Data'!$A$2:$A$2</c:f>
              <c:strCache>
                <c:ptCount val="1"/>
                <c:pt idx="0">
                  <c:v>敬老卡</c:v>
                </c:pt>
              </c:strCache>
            </c:strRef>
          </c:cat>
          <c:val>
            <c:numRef>
              <c:f>'Chart Data'!$B$2:$B$2</c:f>
              <c:numCache>
                <c:formatCode>0.0%</c:formatCode>
                <c:ptCount val="1"/>
                <c:pt idx="0">
                  <c:v>0.3503994729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F17624"/>
                  </a:solidFill>
                  <a:latin typeface="Noto Sans TC"/>
                  <a:ea typeface="Noto Sans TC"/>
                  <a:cs typeface="Noto Sans T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2D7DC"/>
              </a:solidFill>
              <a:prstDash val="dash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2D7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5717B"/>
                </a:solidFill>
                <a:latin typeface="Noto Sans TC"/>
                <a:ea typeface="Noto Sans TC"/>
                <a:cs typeface="Noto Sans T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17B"/>
                </a:solidFill>
                <a:latin typeface="Noto Sans TC"/>
                <a:ea typeface="Noto Sans TC"/>
                <a:cs typeface="Noto Sans T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DCE0"/>
      </a:solidFill>
      <a:prstDash val="solid"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20272D"/>
                </a:solidFill>
                <a:latin typeface="Noto Sans TC"/>
                <a:ea typeface="Noto Sans TC"/>
                <a:cs typeface="Noto Sans TC"/>
              </a:rPr>
              <a:t>2.0E占總用量與65歲以上占2.0E（至2026.8）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0">
              <a:solidFill>
                <a:srgbClr val="20272D"/>
              </a:solidFill>
              <a:latin typeface="Noto Sans TC"/>
              <a:ea typeface="Noto Sans TC"/>
              <a:cs typeface="Noto Sans TC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2.0E占總用量</c:v>
          </c:tx>
          <c:spPr>
            <a:ln xmlns:a="http://schemas.openxmlformats.org/drawingml/2006/main" w="28575">
              <a:solidFill>
                <a:srgbClr val="4F96D1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F96D1"/>
              </a:solidFill>
            </c:spPr>
          </c:marke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 b="1">
                      <a:solidFill>
                        <a:srgbClr val="4F96D1"/>
                      </a:solidFill>
                      <a:latin typeface="Noto Sans TC"/>
                      <a:ea typeface="Noto Sans TC"/>
                      <a:cs typeface="Noto Sans T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 b="1">
                      <a:solidFill>
                        <a:srgbClr val="4F96D1"/>
                      </a:solidFill>
                      <a:latin typeface="Noto Sans TC"/>
                      <a:ea typeface="Noto Sans TC"/>
                      <a:cs typeface="Noto Sans T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Noto Sans TC"/>
                    <a:ea typeface="Noto Sans TC"/>
                    <a:cs typeface="Noto Sans TC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Data'!$A$2:$A$15</c:f>
              <c:strCache>
                <c:ptCount val="14"/>
                <c:pt idx="0">
                  <c:v>25-7月</c:v>
                </c:pt>
                <c:pt idx="1">
                  <c:v>25-8月</c:v>
                </c:pt>
                <c:pt idx="2">
                  <c:v>25-9月</c:v>
                </c:pt>
                <c:pt idx="3">
                  <c:v>25-10月</c:v>
                </c:pt>
                <c:pt idx="4">
                  <c:v>25-11月</c:v>
                </c:pt>
                <c:pt idx="5">
                  <c:v>25-12月</c:v>
                </c:pt>
                <c:pt idx="6">
                  <c:v>26-1月</c:v>
                </c:pt>
                <c:pt idx="7">
                  <c:v>26-2月</c:v>
                </c:pt>
                <c:pt idx="8">
                  <c:v>26-3月</c:v>
                </c:pt>
                <c:pt idx="9">
                  <c:v>26-4月</c:v>
                </c:pt>
                <c:pt idx="10">
                  <c:v>26-5月</c:v>
                </c:pt>
                <c:pt idx="11">
                  <c:v>26-6月</c:v>
                </c:pt>
                <c:pt idx="12">
                  <c:v>26-7月</c:v>
                </c:pt>
                <c:pt idx="13">
                  <c:v>26-8月</c:v>
                </c:pt>
              </c:strCache>
            </c:strRef>
          </c:cat>
          <c:val>
            <c:numRef>
              <c:f>'Chart Data'!$B$2:$B$15</c:f>
              <c:numCache>
                <c:formatCode>0.0%</c:formatCode>
                <c:ptCount val="14"/>
                <c:pt idx="0">
                  <c:v>0.0709204816</c:v>
                </c:pt>
                <c:pt idx="1">
                  <c:v>0.0737694668</c:v>
                </c:pt>
                <c:pt idx="2">
                  <c:v>0.0695336478</c:v>
                </c:pt>
                <c:pt idx="3">
                  <c:v>0.0685033662</c:v>
                </c:pt>
                <c:pt idx="4">
                  <c:v>0.0669787906</c:v>
                </c:pt>
                <c:pt idx="5">
                  <c:v>0.0647238908</c:v>
                </c:pt>
                <c:pt idx="6">
                  <c:v>0.0683482856</c:v>
                </c:pt>
                <c:pt idx="7">
                  <c:v>0.0742554078</c:v>
                </c:pt>
                <c:pt idx="8">
                  <c:v>0.0686769684</c:v>
                </c:pt>
                <c:pt idx="9">
                  <c:v>0.072590948</c:v>
                </c:pt>
                <c:pt idx="10">
                  <c:v>0.0771906773</c:v>
                </c:pt>
                <c:pt idx="11">
                  <c:v>0.0760427433</c:v>
                </c:pt>
                <c:pt idx="12">
                  <c:v>0.0823429581</c:v>
                </c:pt>
                <c:pt idx="13">
                  <c:v>0.0890608814</c:v>
                </c:pt>
              </c:numCache>
            </c:numRef>
          </c:val>
          <c:smooth val="0"/>
        </c:ser>
        <c:ser>
          <c:idx val="1"/>
          <c:order val="1"/>
          <c:tx>
            <c:v>65歲以上占2.0E</c:v>
          </c:tx>
          <c:spPr>
            <a:ln xmlns:a="http://schemas.openxmlformats.org/drawingml/2006/main" w="28575">
              <a:solidFill>
                <a:srgbClr val="00A95C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00A95C"/>
              </a:solidFill>
            </c:spPr>
          </c:marke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 b="1">
                      <a:solidFill>
                        <a:srgbClr val="00A95C"/>
                      </a:solidFill>
                      <a:latin typeface="Noto Sans TC"/>
                      <a:ea typeface="Noto Sans TC"/>
                      <a:cs typeface="Noto Sans T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 b="1">
                      <a:solidFill>
                        <a:srgbClr val="00A95C"/>
                      </a:solidFill>
                      <a:latin typeface="Noto Sans TC"/>
                      <a:ea typeface="Noto Sans TC"/>
                      <a:cs typeface="Noto Sans T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Noto Sans TC"/>
                    <a:ea typeface="Noto Sans TC"/>
                    <a:cs typeface="Noto Sans TC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Data'!$C$2:$C$15</c:f>
              <c:strCache>
                <c:ptCount val="14"/>
                <c:pt idx="0">
                  <c:v>25-7月</c:v>
                </c:pt>
                <c:pt idx="1">
                  <c:v>25-8月</c:v>
                </c:pt>
                <c:pt idx="2">
                  <c:v>25-9月</c:v>
                </c:pt>
                <c:pt idx="3">
                  <c:v>25-10月</c:v>
                </c:pt>
                <c:pt idx="4">
                  <c:v>25-11月</c:v>
                </c:pt>
                <c:pt idx="5">
                  <c:v>25-12月</c:v>
                </c:pt>
                <c:pt idx="6">
                  <c:v>26-1月</c:v>
                </c:pt>
                <c:pt idx="7">
                  <c:v>26-2月</c:v>
                </c:pt>
                <c:pt idx="8">
                  <c:v>26-3月</c:v>
                </c:pt>
                <c:pt idx="9">
                  <c:v>26-4月</c:v>
                </c:pt>
                <c:pt idx="10">
                  <c:v>26-5月</c:v>
                </c:pt>
                <c:pt idx="11">
                  <c:v>26-6月</c:v>
                </c:pt>
                <c:pt idx="12">
                  <c:v>26-7月</c:v>
                </c:pt>
                <c:pt idx="13">
                  <c:v>26-8月</c:v>
                </c:pt>
              </c:strCache>
            </c:strRef>
          </c:cat>
          <c:val>
            <c:numRef>
              <c:f>'Chart Data'!$D$2:$D$15</c:f>
              <c:numCache>
                <c:formatCode>0.0%</c:formatCode>
                <c:ptCount val="14"/>
                <c:pt idx="0">
                  <c:v>0.0646740045</c:v>
                </c:pt>
                <c:pt idx="1">
                  <c:v>0.0625885077</c:v>
                </c:pt>
                <c:pt idx="2">
                  <c:v>0.061732765</c:v>
                </c:pt>
                <c:pt idx="3">
                  <c:v>0.0651373891</c:v>
                </c:pt>
                <c:pt idx="4">
                  <c:v>0.0658623172</c:v>
                </c:pt>
                <c:pt idx="5">
                  <c:v>0.0638199233</c:v>
                </c:pt>
                <c:pt idx="6">
                  <c:v>0.0608797052</c:v>
                </c:pt>
                <c:pt idx="7">
                  <c:v>0.0637257538</c:v>
                </c:pt>
                <c:pt idx="8">
                  <c:v>0.057266253</c:v>
                </c:pt>
                <c:pt idx="9">
                  <c:v>0.0540515413</c:v>
                </c:pt>
                <c:pt idx="10">
                  <c:v>0.0517967775</c:v>
                </c:pt>
                <c:pt idx="11">
                  <c:v>0.0540467917</c:v>
                </c:pt>
                <c:pt idx="12">
                  <c:v>0.112583335</c:v>
                </c:pt>
                <c:pt idx="13">
                  <c:v>0.1247808452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TC"/>
                  <a:ea typeface="Noto Sans TC"/>
                  <a:cs typeface="Noto Sans T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2D7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65">
                <a:solidFill>
                  <a:srgbClr val="65717B"/>
                </a:solidFill>
                <a:latin typeface="Noto Sans TC"/>
                <a:ea typeface="Noto Sans TC"/>
                <a:cs typeface="Noto Sans TC"/>
              </a:defRPr>
            </a:pPr>
          </a:p>
        </c:txPr>
        <c:crossAx val="48672768"/>
      </c:catAx>
      <c:valAx>
        <c:axId val="48672768"/>
        <c:scaling>
          <c:orientation val="minMax"/>
          <c:max val="0.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2D7DC"/>
              </a:solidFill>
              <a:prstDash val="dash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2D7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5717B"/>
                </a:solidFill>
                <a:latin typeface="Noto Sans TC"/>
                <a:ea typeface="Noto Sans TC"/>
                <a:cs typeface="Noto Sans TC"/>
              </a:defRPr>
            </a:pPr>
          </a:p>
        </c:txPr>
        <c:crossAx val="48650112"/>
        <c:crossBetween val="between"/>
        <c:majorUnit val="0.0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65717B"/>
              </a:solidFill>
              <a:latin typeface="Noto Sans TC"/>
              <a:ea typeface="Noto Sans TC"/>
              <a:cs typeface="Noto Sans TC"/>
            </a:defRPr>
          </a:pPr>
        </a:p>
      </c:txPr>
    </c:legend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DCE0"/>
      </a:solidFill>
      <a:prstDash val="solid"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敬老卡占2.0E</c:v>
          </c:tx>
          <c:spPr>
            <a:solidFill xmlns:a="http://schemas.openxmlformats.org/drawingml/2006/main">
              <a:srgbClr val="F17624"/>
            </a:solidFill>
          </c:spPr>
          <c:cat>
            <c:strRef>
              <c:f>'Chart Data'!$A$2:$A$2</c:f>
              <c:strCache>
                <c:ptCount val="1"/>
                <c:pt idx="0">
                  <c:v>敬老卡</c:v>
                </c:pt>
              </c:strCache>
            </c:strRef>
          </c:cat>
          <c:val>
            <c:numRef>
              <c:f>'Chart Data'!$B$2:$B$2</c:f>
              <c:numCache>
                <c:formatCode>0.0%</c:formatCode>
                <c:ptCount val="1"/>
                <c:pt idx="0">
                  <c:v>0.2677634689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F17624"/>
                  </a:solidFill>
                  <a:latin typeface="Noto Sans TC"/>
                  <a:ea typeface="Noto Sans TC"/>
                  <a:cs typeface="Noto Sans T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2D7DC"/>
              </a:solidFill>
              <a:prstDash val="dash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2D7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5717B"/>
                </a:solidFill>
                <a:latin typeface="Noto Sans TC"/>
                <a:ea typeface="Noto Sans TC"/>
                <a:cs typeface="Noto Sans T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17B"/>
                </a:solidFill>
                <a:latin typeface="Noto Sans TC"/>
                <a:ea typeface="Noto Sans TC"/>
                <a:cs typeface="Noto Sans T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DCE0"/>
      </a:solidFill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F1F483-08B6-4DA9-A518-15541EDB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4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05B72C-114B-4D94-9E13-DA3E904F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238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63746"/>
                </a:solidFill>
                <a:latin typeface="Noto Sans TC"/>
                <a:ea typeface="Noto Sans TC"/>
                <a:cs typeface="Noto Sans TC"/>
              </a:defRPr>
            </a:pPr>
            <a:r>
              <a:rPr sz="3000" b="1">
                <a:solidFill>
                  <a:srgbClr val="263746"/>
                </a:solidFill>
                <a:latin typeface="Noto Sans TC"/>
                <a:ea typeface="Noto Sans TC"/>
                <a:cs typeface="Noto Sans TC"/>
              </a:rPr>
              <a:t>敬老愛心用量變化（台北）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8CF514-4976-45B0-B165-F56D9113B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66775"/>
            <a:ext cx="868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0272D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20272D"/>
                </a:solidFill>
                <a:latin typeface="Noto Sans TC"/>
                <a:ea typeface="Noto Sans TC"/>
                <a:cs typeface="Noto Sans TC"/>
              </a:rPr>
              <a:t>台北2.0E占總用量：3.9% 至 9.6%　　65歲以上占2.0E：9.4% 至 17.3%　　9月敬老卡占2.0E：35.0%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171450" y="1257300"/>
          <a:ext xmlns:a="http://schemas.openxmlformats.org/drawingml/2006/main" cx="8801100" cy="4667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52450"/>
                <a:gridCol w="981075"/>
                <a:gridCol w="866775"/>
                <a:gridCol w="695325"/>
                <a:gridCol w="1323975"/>
                <a:gridCol w="990600"/>
                <a:gridCol w="1600200"/>
                <a:gridCol w="1790700"/>
              </a:tblGrid>
              <a:tr h="47625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6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月份</a:t>
                      </a:r>
                    </a:p>
                  </a:txBody>
                  <a:tcPr marL="19050" marR="19050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6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總用量</a:t>
                      </a:r>
                    </a:p>
                  </a:txBody>
                  <a:tcPr marL="19050" marR="19050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6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2.0E</a:t>
                      </a:r>
                    </a:p>
                    <a:p>
                      <a:pPr algn="ctr"/>
                      <a:r>
                        <a:rPr sz="106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次數</a:t>
                      </a:r>
                    </a:p>
                  </a:txBody>
                  <a:tcPr marL="19050" marR="19050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6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2.0E</a:t>
                      </a:r>
                    </a:p>
                    <a:p>
                      <a:pPr algn="ctr"/>
                      <a:r>
                        <a:rPr sz="106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比例</a:t>
                      </a:r>
                    </a:p>
                  </a:txBody>
                  <a:tcPr marL="19050" marR="19050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6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2.0E敬老愛心</a:t>
                      </a:r>
                    </a:p>
                    <a:p>
                      <a:pPr algn="ctr"/>
                      <a:r>
                        <a:rPr sz="106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使用次數</a:t>
                      </a:r>
                    </a:p>
                  </a:txBody>
                  <a:tcPr marL="19050" marR="19050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6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敬老愛心</a:t>
                      </a:r>
                    </a:p>
                    <a:p>
                      <a:pPr algn="ctr"/>
                      <a:r>
                        <a:rPr sz="106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占2.0E</a:t>
                      </a:r>
                    </a:p>
                  </a:txBody>
                  <a:tcPr marL="19050" marR="19050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6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65歲以上使用</a:t>
                      </a:r>
                    </a:p>
                    <a:p>
                      <a:pPr algn="ctr"/>
                      <a:r>
                        <a:rPr sz="106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2.0E次數</a:t>
                      </a:r>
                    </a:p>
                  </a:txBody>
                  <a:tcPr marL="19050" marR="19050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6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65歲以上使用</a:t>
                      </a:r>
                    </a:p>
                    <a:p>
                      <a:pPr algn="ctr"/>
                      <a:r>
                        <a:rPr sz="106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2.0E比例</a:t>
                      </a:r>
                    </a:p>
                  </a:txBody>
                  <a:tcPr marL="19050" marR="19050" marT="19050" marB="19050" anchor="ctr">
                    <a:solidFill>
                      <a:srgbClr val="183B63"/>
                    </a:solidFill>
                  </a:tcPr>
                </a:tc>
              </a:tr>
              <a:tr h="279083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114.7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6,640,633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261,965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3.9%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24,627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9.4%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</a:tr>
              <a:tr h="279083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114.8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7,430,044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307,403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4.1%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26,905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8.8%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</a:tr>
              <a:tr h="279083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114.9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7,600,053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376,581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5.0%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29,428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7.8%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</a:tr>
              <a:tr h="279083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114.10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6,600,331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319,393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4.8%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27,063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8.5%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</a:tr>
              <a:tr h="279083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114.11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6,947,547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337,686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4.9%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28,156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8.3%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</a:tr>
              <a:tr h="279083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114.12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7,309,242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381,726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5.2%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30,429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8.0%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</a:tr>
              <a:tr h="279083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115.1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6,810,359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363,375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5.3%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28,869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7.9%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</a:tr>
              <a:tr h="279083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115.2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5,837,647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337,127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5.8%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28,287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8.4%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</a:tr>
              <a:tr h="279083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115.3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7,751,464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478,039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6.2%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33,072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6.9%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</a:tr>
              <a:tr h="279083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115.4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7,389,038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456,581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6.2%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30,175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6.6%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</a:tr>
              <a:tr h="279083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115.5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8,197,979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543,150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6.6%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33,531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6.2%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</a:tr>
              <a:tr h="279083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115.6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6,406,441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435,473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6.8%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28,705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6.6%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</a:tr>
              <a:tr h="279083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115.7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7,755,642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674,111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8.7%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97,427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14.5%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</a:tr>
              <a:tr h="279083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115.8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7,418,322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710,468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9.6%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123,256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17.3%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</a:tr>
              <a:tr h="279083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115.9*</a:t>
                      </a:r>
                    </a:p>
                  </a:txBody>
                  <a:tcPr marL="19050" marR="19050" marT="9525" marB="9525" anchor="ctr">
                    <a:solidFill>
                      <a:srgbClr val="FFF3CB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6,798,269</a:t>
                      </a:r>
                    </a:p>
                  </a:txBody>
                  <a:tcPr marL="19050" marR="19050" marT="9525" marB="9525" anchor="ctr">
                    <a:solidFill>
                      <a:srgbClr val="FFF3CB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667,755</a:t>
                      </a:r>
                    </a:p>
                  </a:txBody>
                  <a:tcPr marL="19050" marR="19050" marT="9525" marB="9525" anchor="ctr">
                    <a:solidFill>
                      <a:srgbClr val="FFF3CB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9.8%</a:t>
                      </a:r>
                    </a:p>
                  </a:txBody>
                  <a:tcPr marL="19050" marR="19050" marT="9525" marB="9525" anchor="ctr">
                    <a:solidFill>
                      <a:srgbClr val="FFF3CB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233,981</a:t>
                      </a:r>
                    </a:p>
                  </a:txBody>
                  <a:tcPr marL="19050" marR="19050" marT="9525" marB="9525" anchor="ctr">
                    <a:solidFill>
                      <a:srgbClr val="FFF3CB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35.0%</a:t>
                      </a:r>
                    </a:p>
                  </a:txBody>
                  <a:tcPr marL="19050" marR="19050" marT="9525" marB="9525" anchor="ctr">
                    <a:solidFill>
                      <a:srgbClr val="FFF3CB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待更新</a:t>
                      </a:r>
                    </a:p>
                  </a:txBody>
                  <a:tcPr marL="19050" marR="19050" marT="9525" marB="9525" anchor="ctr">
                    <a:solidFill>
                      <a:srgbClr val="FFF3CB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待更新</a:t>
                      </a:r>
                    </a:p>
                  </a:txBody>
                  <a:tcPr marL="19050" marR="19050" marT="9525" marB="9525" anchor="ctr">
                    <a:solidFill>
                      <a:srgbClr val="FFF3CB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A52568-809A-4326-B6F5-15CF39515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6057900"/>
            <a:ext cx="866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5717B"/>
                </a:solidFill>
                <a:latin typeface="Noto Sans TC"/>
                <a:ea typeface="Noto Sans TC"/>
                <a:cs typeface="Noto Sans TC"/>
              </a:defRPr>
            </a:pPr>
            <a:r>
              <a:rPr sz="1013">
                <a:solidFill>
                  <a:srgbClr val="65717B"/>
                </a:solidFill>
                <a:latin typeface="Noto Sans TC"/>
                <a:ea typeface="Noto Sans TC"/>
                <a:cs typeface="Noto Sans TC"/>
              </a:rPr>
              <a:t>* 115.9為2026/9/1–9/27；65歲以上9月資料待Looker Studio更新，敬老卡僅列9月可驗證值。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2D300D-78FA-4928-A6BC-BB132057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66103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7C858D"/>
                </a:solidFill>
                <a:latin typeface="Noto Sans TC"/>
                <a:ea typeface="Noto Sans TC"/>
                <a:cs typeface="Noto Sans TC"/>
              </a:defRPr>
            </a:pPr>
            <a:r>
              <a:rPr sz="900">
                <a:solidFill>
                  <a:srgbClr val="7C858D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954843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0CC83F-31C3-457D-82BC-43083637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4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BA426C-942D-4864-A457-CFC845EF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238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63746"/>
                </a:solidFill>
                <a:latin typeface="Noto Sans TC"/>
                <a:ea typeface="Noto Sans TC"/>
                <a:cs typeface="Noto Sans TC"/>
              </a:defRPr>
            </a:pPr>
            <a:r>
              <a:rPr sz="3000" b="1">
                <a:solidFill>
                  <a:srgbClr val="263746"/>
                </a:solidFill>
                <a:latin typeface="Noto Sans TC"/>
                <a:ea typeface="Noto Sans TC"/>
                <a:cs typeface="Noto Sans TC"/>
              </a:rPr>
              <a:t>敬老愛心用量變化（台北）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9276BB-437A-4619-9DA9-5D416492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857250"/>
            <a:ext cx="861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65717B"/>
                </a:solidFill>
                <a:latin typeface="Noto Sans TC"/>
                <a:ea typeface="Noto Sans TC"/>
                <a:cs typeface="Noto Sans TC"/>
              </a:defRPr>
            </a:pPr>
            <a:r>
              <a:rPr sz="1163">
                <a:solidFill>
                  <a:srgbClr val="65717B"/>
                </a:solidFill>
                <a:latin typeface="Noto Sans TC"/>
                <a:ea typeface="Noto Sans TC"/>
                <a:cs typeface="Noto Sans TC"/>
              </a:rPr>
              <a:t>歷史趨勢列示至2026.8；右側敬老卡為2026.9/1–9/27單期值，不與65歲以上趨勢線相連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285750" y="1200150"/>
          <a:ext xmlns:a="http://schemas.openxmlformats.org/drawingml/2006/main" cx="6096000" cy="4686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b5df51a5ebb4150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BC61C1-3BFF-4429-A495-7DF7308F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304925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72D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20272D"/>
                </a:solidFill>
                <a:latin typeface="Noto Sans TC"/>
                <a:ea typeface="Noto Sans TC"/>
                <a:cs typeface="Noto Sans TC"/>
              </a:rPr>
              <a:t>2026.9 敬老卡占2.0E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715125" y="1676400"/>
          <a:ext xmlns:a="http://schemas.openxmlformats.org/drawingml/2006/main" cx="2095500" cy="2362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0eed7b1e4be484f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EA0DCE-8021-4D4E-9153-A7697B0B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19575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17624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F17624"/>
                </a:solidFill>
                <a:latin typeface="Noto Sans TC"/>
                <a:ea typeface="Noto Sans TC"/>
                <a:cs typeface="Noto Sans TC"/>
              </a:rPr>
              <a:t>233,981 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FB99AC-3ABB-46B4-8EC8-4595FD86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8630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65717B"/>
                </a:solidFill>
                <a:latin typeface="Noto Sans TC"/>
                <a:ea typeface="Noto Sans TC"/>
                <a:cs typeface="Noto Sans TC"/>
              </a:defRPr>
            </a:pPr>
            <a:r>
              <a:rPr sz="1050">
                <a:solidFill>
                  <a:srgbClr val="65717B"/>
                </a:solidFill>
                <a:latin typeface="Noto Sans TC"/>
                <a:ea typeface="Noto Sans TC"/>
                <a:cs typeface="Noto Sans TC"/>
              </a:rPr>
              <a:t>敬老卡使用次數</a:t>
            </a:r>
          </a:p>
          <a:p xmlns:a="http://schemas.openxmlformats.org/drawingml/2006/main">
            <a:pPr algn="ctr">
              <a:defRPr sz="1050">
                <a:solidFill>
                  <a:srgbClr val="65717B"/>
                </a:solidFill>
                <a:latin typeface="Noto Sans TC"/>
                <a:ea typeface="Noto Sans TC"/>
                <a:cs typeface="Noto Sans TC"/>
              </a:defRPr>
            </a:pPr>
            <a:r>
              <a:rPr sz="1050">
                <a:solidFill>
                  <a:srgbClr val="65717B"/>
                </a:solidFill>
                <a:latin typeface="Noto Sans TC"/>
                <a:ea typeface="Noto Sans TC"/>
                <a:cs typeface="Noto Sans TC"/>
              </a:rPr>
              <a:t>÷ 2.0E租借次數 667,755 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299915-E770-4FF3-86EE-3E7389A3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3911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4F96D1"/>
                </a:solidFill>
                <a:latin typeface="Noto Sans TC"/>
                <a:ea typeface="Noto Sans TC"/>
                <a:cs typeface="Noto Sans TC"/>
              </a:defRPr>
            </a:pPr>
            <a:r>
              <a:rPr sz="1163" b="1">
                <a:solidFill>
                  <a:srgbClr val="4F96D1"/>
                </a:solidFill>
                <a:latin typeface="Noto Sans TC"/>
                <a:ea typeface="Noto Sans TC"/>
                <a:cs typeface="Noto Sans TC"/>
              </a:rPr>
              <a:t>9月2.0E占總用量 9.8%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789D89-F1D8-45C0-B163-DCF5BE46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038850"/>
            <a:ext cx="843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>
                <a:solidFill>
                  <a:srgbClr val="65717B"/>
                </a:solidFill>
                <a:latin typeface="Noto Sans TC"/>
                <a:ea typeface="Noto Sans TC"/>
                <a:cs typeface="Noto Sans TC"/>
              </a:defRPr>
            </a:pPr>
            <a:r>
              <a:rPr sz="1013">
                <a:solidFill>
                  <a:srgbClr val="65717B"/>
                </a:solidFill>
                <a:latin typeface="Noto Sans TC"/>
                <a:ea typeface="Noto Sans TC"/>
                <a:cs typeface="Noto Sans TC"/>
              </a:rPr>
              <a:t>9月65歲以上資料待Looker Studio更新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AEA5A1-130C-46F2-BF45-59D69960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66103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7C858D"/>
                </a:solidFill>
                <a:latin typeface="Noto Sans TC"/>
                <a:ea typeface="Noto Sans TC"/>
                <a:cs typeface="Noto Sans TC"/>
              </a:defRPr>
            </a:pPr>
            <a:r>
              <a:rPr sz="900">
                <a:solidFill>
                  <a:srgbClr val="7C858D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625790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64D865-E900-41E2-A3EA-E6B19C8F9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4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77E25E-E28A-4219-9CC9-3F164BDD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238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63746"/>
                </a:solidFill>
                <a:latin typeface="Noto Sans TC"/>
                <a:ea typeface="Noto Sans TC"/>
                <a:cs typeface="Noto Sans TC"/>
              </a:defRPr>
            </a:pPr>
            <a:r>
              <a:rPr sz="3000" b="1">
                <a:solidFill>
                  <a:srgbClr val="263746"/>
                </a:solidFill>
                <a:latin typeface="Noto Sans TC"/>
                <a:ea typeface="Noto Sans TC"/>
                <a:cs typeface="Noto Sans TC"/>
              </a:rPr>
              <a:t>敬老愛心用量變化（新北）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9BB105-06DB-451B-A9BE-5CB7E9EE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66775"/>
            <a:ext cx="868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0272D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20272D"/>
                </a:solidFill>
                <a:latin typeface="Noto Sans TC"/>
                <a:ea typeface="Noto Sans TC"/>
                <a:cs typeface="Noto Sans TC"/>
              </a:rPr>
              <a:t>新北2.0E占總用量：7.1% 至 8.9%　　65歲以上占2.0E：6.5% 至 12.5%　　9月敬老卡占2.0E：26.8%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171450" y="1257300"/>
          <a:ext xmlns:a="http://schemas.openxmlformats.org/drawingml/2006/main" cx="8801100" cy="4667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52450"/>
                <a:gridCol w="981075"/>
                <a:gridCol w="866775"/>
                <a:gridCol w="695325"/>
                <a:gridCol w="1323975"/>
                <a:gridCol w="990600"/>
                <a:gridCol w="1600200"/>
                <a:gridCol w="1790700"/>
              </a:tblGrid>
              <a:tr h="47625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6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月份</a:t>
                      </a:r>
                    </a:p>
                  </a:txBody>
                  <a:tcPr marL="19050" marR="19050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6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總用量</a:t>
                      </a:r>
                    </a:p>
                  </a:txBody>
                  <a:tcPr marL="19050" marR="19050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6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2.0E</a:t>
                      </a:r>
                    </a:p>
                    <a:p>
                      <a:pPr algn="ctr"/>
                      <a:r>
                        <a:rPr sz="106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次數</a:t>
                      </a:r>
                    </a:p>
                  </a:txBody>
                  <a:tcPr marL="19050" marR="19050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6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2.0E</a:t>
                      </a:r>
                    </a:p>
                    <a:p>
                      <a:pPr algn="ctr"/>
                      <a:r>
                        <a:rPr sz="106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比例</a:t>
                      </a:r>
                    </a:p>
                  </a:txBody>
                  <a:tcPr marL="19050" marR="19050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6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2.0E敬老愛心</a:t>
                      </a:r>
                    </a:p>
                    <a:p>
                      <a:pPr algn="ctr"/>
                      <a:r>
                        <a:rPr sz="106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使用次數</a:t>
                      </a:r>
                    </a:p>
                  </a:txBody>
                  <a:tcPr marL="19050" marR="19050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6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敬老愛心</a:t>
                      </a:r>
                    </a:p>
                    <a:p>
                      <a:pPr algn="ctr"/>
                      <a:r>
                        <a:rPr sz="106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占2.0E</a:t>
                      </a:r>
                    </a:p>
                  </a:txBody>
                  <a:tcPr marL="19050" marR="19050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6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65歲以上使用</a:t>
                      </a:r>
                    </a:p>
                    <a:p>
                      <a:pPr algn="ctr"/>
                      <a:r>
                        <a:rPr sz="106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2.0E次數</a:t>
                      </a:r>
                    </a:p>
                  </a:txBody>
                  <a:tcPr marL="19050" marR="19050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6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65歲以上使用</a:t>
                      </a:r>
                    </a:p>
                    <a:p>
                      <a:pPr algn="ctr"/>
                      <a:r>
                        <a:rPr sz="106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2.0E比例</a:t>
                      </a:r>
                    </a:p>
                  </a:txBody>
                  <a:tcPr marL="19050" marR="19050" marT="19050" marB="19050" anchor="ctr">
                    <a:solidFill>
                      <a:srgbClr val="183B63"/>
                    </a:solidFill>
                  </a:tcPr>
                </a:tc>
              </a:tr>
              <a:tr h="279083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114.7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3,437,103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243,761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7.1%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15,765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6.5%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</a:tr>
              <a:tr h="279083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114.8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3,934,270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290,229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7.4%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18,165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6.3%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</a:tr>
              <a:tr h="279083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114.9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3,941,056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274,036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7.0%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16,917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6.2%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</a:tr>
              <a:tr h="279083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114.10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3,502,587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239,939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6.9%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15,629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6.5%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</a:tr>
              <a:tr h="279083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114.11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3,608,396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241,686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6.7%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15,918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6.6%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</a:tr>
              <a:tr h="279083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114.12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3,732,563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241,586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6.5%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15,418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6.4%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</a:tr>
              <a:tr h="279083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115.1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3,676,259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251,266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6.8%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15,297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6.1%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</a:tr>
              <a:tr h="279083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115.2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3,255,507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241,739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7.4%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15,405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6.4%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</a:tr>
              <a:tr h="279083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115.3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4,130,060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283,640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6.9%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16,243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5.7%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</a:tr>
              <a:tr h="279083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115.4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4,000,609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290,408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7.3%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15,697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5.4%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</a:tr>
              <a:tr h="279083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115.5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4,587,782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354,134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7.7%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18,343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5.2%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</a:tr>
              <a:tr h="279083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115.6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3,621,529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275,391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7.6%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14,884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5.4%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</a:tr>
              <a:tr h="279083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115.7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4,359,122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358,943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8.2%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40,411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11.3%</a:t>
                      </a:r>
                    </a:p>
                  </a:txBody>
                  <a:tcPr marL="19050" marR="19050" marT="9525" marB="9525" anchor="ctr">
                    <a:solidFill>
                      <a:srgbClr val="E8F0F7"/>
                    </a:solidFill>
                  </a:tcPr>
                </a:tc>
              </a:tr>
              <a:tr h="279083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115.8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4,290,885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382,150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8.9%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47,685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12.5%</a:t>
                      </a:r>
                    </a:p>
                  </a:txBody>
                  <a:tcPr marL="19050" marR="19050" marT="9525" marB="9525" anchor="ctr">
                    <a:solidFill>
                      <a:srgbClr val="FFFFFF"/>
                    </a:solidFill>
                  </a:tcPr>
                </a:tc>
              </a:tr>
              <a:tr h="279083"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115.9*</a:t>
                      </a:r>
                    </a:p>
                  </a:txBody>
                  <a:tcPr marL="19050" marR="19050" marT="9525" marB="9525" anchor="ctr">
                    <a:solidFill>
                      <a:srgbClr val="FFF3CB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3,826,282</a:t>
                      </a:r>
                    </a:p>
                  </a:txBody>
                  <a:tcPr marL="19050" marR="19050" marT="9525" marB="9525" anchor="ctr">
                    <a:solidFill>
                      <a:srgbClr val="FFF3CB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346,948</a:t>
                      </a:r>
                    </a:p>
                  </a:txBody>
                  <a:tcPr marL="19050" marR="19050" marT="9525" marB="9525" anchor="ctr">
                    <a:solidFill>
                      <a:srgbClr val="FFF3CB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9.1%</a:t>
                      </a:r>
                    </a:p>
                  </a:txBody>
                  <a:tcPr marL="19050" marR="19050" marT="9525" marB="9525" anchor="ctr">
                    <a:solidFill>
                      <a:srgbClr val="FFF3CB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92,900</a:t>
                      </a:r>
                    </a:p>
                  </a:txBody>
                  <a:tcPr marL="19050" marR="19050" marT="9525" marB="9525" anchor="ctr">
                    <a:solidFill>
                      <a:srgbClr val="FFF3CB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26.8%</a:t>
                      </a:r>
                    </a:p>
                  </a:txBody>
                  <a:tcPr marL="19050" marR="19050" marT="9525" marB="9525" anchor="ctr">
                    <a:solidFill>
                      <a:srgbClr val="FFF3CB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待更新</a:t>
                      </a:r>
                    </a:p>
                  </a:txBody>
                  <a:tcPr marL="19050" marR="19050" marT="9525" marB="9525" anchor="ctr">
                    <a:solidFill>
                      <a:srgbClr val="FFF3CB"/>
                    </a:solidFill>
                  </a:tcPr>
                </a:tc>
                <a:tc>
                  <a:txBody>
                    <a:bodyPr wrap="none" anchor="ctr">
                      <a:normAutofit/>
                    </a:bodyPr>
                    <a:lstStyle/>
                    <a:p>
                      <a:pPr algn="ctr"/>
                      <a:r>
                        <a:rPr sz="108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待更新</a:t>
                      </a:r>
                    </a:p>
                  </a:txBody>
                  <a:tcPr marL="19050" marR="19050" marT="9525" marB="9525" anchor="ctr">
                    <a:solidFill>
                      <a:srgbClr val="FFF3CB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446E4D-CD14-47CB-ACA9-2BED3077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6057900"/>
            <a:ext cx="866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>
                <a:solidFill>
                  <a:srgbClr val="65717B"/>
                </a:solidFill>
                <a:latin typeface="Noto Sans TC"/>
                <a:ea typeface="Noto Sans TC"/>
                <a:cs typeface="Noto Sans TC"/>
              </a:defRPr>
            </a:pPr>
            <a:r>
              <a:rPr sz="1013">
                <a:solidFill>
                  <a:srgbClr val="65717B"/>
                </a:solidFill>
                <a:latin typeface="Noto Sans TC"/>
                <a:ea typeface="Noto Sans TC"/>
                <a:cs typeface="Noto Sans TC"/>
              </a:rPr>
              <a:t>* 115.9為2026/9/1–9/27；65歲以上9月資料待Looker Studio更新，敬老卡僅列9月可驗證值。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FFAA24-917F-4550-9BC5-4D469776D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66103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7C858D"/>
                </a:solidFill>
                <a:latin typeface="Noto Sans TC"/>
                <a:ea typeface="Noto Sans TC"/>
                <a:cs typeface="Noto Sans TC"/>
              </a:defRPr>
            </a:pPr>
            <a:r>
              <a:rPr sz="900">
                <a:solidFill>
                  <a:srgbClr val="7C858D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565100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1E3102-B97E-493C-B21B-F3B08129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4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D0D9B8-DF12-4517-957C-7026CE19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238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63746"/>
                </a:solidFill>
                <a:latin typeface="Noto Sans TC"/>
                <a:ea typeface="Noto Sans TC"/>
                <a:cs typeface="Noto Sans TC"/>
              </a:defRPr>
            </a:pPr>
            <a:r>
              <a:rPr sz="3000" b="1">
                <a:solidFill>
                  <a:srgbClr val="263746"/>
                </a:solidFill>
                <a:latin typeface="Noto Sans TC"/>
                <a:ea typeface="Noto Sans TC"/>
                <a:cs typeface="Noto Sans TC"/>
              </a:rPr>
              <a:t>敬老愛心用量變化（新北）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3FC68F-F5F6-46F5-8C4F-02176061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857250"/>
            <a:ext cx="861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65717B"/>
                </a:solidFill>
                <a:latin typeface="Noto Sans TC"/>
                <a:ea typeface="Noto Sans TC"/>
                <a:cs typeface="Noto Sans TC"/>
              </a:defRPr>
            </a:pPr>
            <a:r>
              <a:rPr sz="1163">
                <a:solidFill>
                  <a:srgbClr val="65717B"/>
                </a:solidFill>
                <a:latin typeface="Noto Sans TC"/>
                <a:ea typeface="Noto Sans TC"/>
                <a:cs typeface="Noto Sans TC"/>
              </a:rPr>
              <a:t>歷史趨勢列示至2026.8；右側敬老卡為2026.9/1–9/27單期值，不與65歲以上趨勢線相連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285750" y="1200150"/>
          <a:ext xmlns:a="http://schemas.openxmlformats.org/drawingml/2006/main" cx="6096000" cy="4686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4350c3daabd4fb1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B21811-5B6B-4008-B00E-5D5E31E1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304925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72D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20272D"/>
                </a:solidFill>
                <a:latin typeface="Noto Sans TC"/>
                <a:ea typeface="Noto Sans TC"/>
                <a:cs typeface="Noto Sans TC"/>
              </a:rPr>
              <a:t>2026.9 敬老卡占2.0E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715125" y="1676400"/>
          <a:ext xmlns:a="http://schemas.openxmlformats.org/drawingml/2006/main" cx="2095500" cy="2362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bd623be541d485e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C2CBF7-8A23-483E-91FA-8F94B35FC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19575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17624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F17624"/>
                </a:solidFill>
                <a:latin typeface="Noto Sans TC"/>
                <a:ea typeface="Noto Sans TC"/>
                <a:cs typeface="Noto Sans TC"/>
              </a:rPr>
              <a:t>92,900 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257D61-1A5A-420D-94AC-C320DF71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8630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65717B"/>
                </a:solidFill>
                <a:latin typeface="Noto Sans TC"/>
                <a:ea typeface="Noto Sans TC"/>
                <a:cs typeface="Noto Sans TC"/>
              </a:defRPr>
            </a:pPr>
            <a:r>
              <a:rPr sz="1050">
                <a:solidFill>
                  <a:srgbClr val="65717B"/>
                </a:solidFill>
                <a:latin typeface="Noto Sans TC"/>
                <a:ea typeface="Noto Sans TC"/>
                <a:cs typeface="Noto Sans TC"/>
              </a:rPr>
              <a:t>敬老卡使用次數</a:t>
            </a:r>
          </a:p>
          <a:p xmlns:a="http://schemas.openxmlformats.org/drawingml/2006/main">
            <a:pPr algn="ctr">
              <a:defRPr sz="1050">
                <a:solidFill>
                  <a:srgbClr val="65717B"/>
                </a:solidFill>
                <a:latin typeface="Noto Sans TC"/>
                <a:ea typeface="Noto Sans TC"/>
                <a:cs typeface="Noto Sans TC"/>
              </a:defRPr>
            </a:pPr>
            <a:r>
              <a:rPr sz="1050">
                <a:solidFill>
                  <a:srgbClr val="65717B"/>
                </a:solidFill>
                <a:latin typeface="Noto Sans TC"/>
                <a:ea typeface="Noto Sans TC"/>
                <a:cs typeface="Noto Sans TC"/>
              </a:rPr>
              <a:t>÷ 2.0E租借次數 346,948 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D2DD45-C4FC-427C-B48A-326E5EBD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3911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4F96D1"/>
                </a:solidFill>
                <a:latin typeface="Noto Sans TC"/>
                <a:ea typeface="Noto Sans TC"/>
                <a:cs typeface="Noto Sans TC"/>
              </a:defRPr>
            </a:pPr>
            <a:r>
              <a:rPr sz="1163" b="1">
                <a:solidFill>
                  <a:srgbClr val="4F96D1"/>
                </a:solidFill>
                <a:latin typeface="Noto Sans TC"/>
                <a:ea typeface="Noto Sans TC"/>
                <a:cs typeface="Noto Sans TC"/>
              </a:rPr>
              <a:t>9月2.0E占總用量 9.1%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E34D4F-FE32-40BA-9B77-1E19137F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038850"/>
            <a:ext cx="843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>
                <a:solidFill>
                  <a:srgbClr val="65717B"/>
                </a:solidFill>
                <a:latin typeface="Noto Sans TC"/>
                <a:ea typeface="Noto Sans TC"/>
                <a:cs typeface="Noto Sans TC"/>
              </a:defRPr>
            </a:pPr>
            <a:r>
              <a:rPr sz="1013">
                <a:solidFill>
                  <a:srgbClr val="65717B"/>
                </a:solidFill>
                <a:latin typeface="Noto Sans TC"/>
                <a:ea typeface="Noto Sans TC"/>
                <a:cs typeface="Noto Sans TC"/>
              </a:rPr>
              <a:t>9月65歲以上資料待Looker Studio更新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D22E2E-57B7-48E3-9907-1C3E9A97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66103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7C858D"/>
                </a:solidFill>
                <a:latin typeface="Noto Sans TC"/>
                <a:ea typeface="Noto Sans TC"/>
                <a:cs typeface="Noto Sans TC"/>
              </a:defRPr>
            </a:pPr>
            <a:r>
              <a:rPr sz="900">
                <a:solidFill>
                  <a:srgbClr val="7C858D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446897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2026-09-29T06:22:22.0270000Z</dcterms:created>
  <dcterms:modified xsi:type="dcterms:W3CDTF">2026-09-29T06:22:22.0270000Z</dcterms:modified>
</coreProperties>
</file>