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aa43c15c074006" /><Relationship Type="http://schemas.openxmlformats.org/officeDocument/2006/relationships/extended-properties" Target="/docProps/app.xml" Id="Rf540c681b4244f61" /><Relationship Type="http://schemas.openxmlformats.org/officeDocument/2006/relationships/officeDocument" Target="/ppt/presentation.xml" Id="R214482134f3945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64d58c53d84aeb"/>
  </p:sldMasterIdLst>
  <p:notesMasterIdLst>
    <p:notesMasterId xmlns:r="http://schemas.openxmlformats.org/officeDocument/2006/relationships" r:id="Ra181c6a2b53d471e"/>
  </p:notesMasterIdLst>
  <p:sldIdLst>
    <p:sldId xmlns:r="http://schemas.openxmlformats.org/officeDocument/2006/relationships" id="256" r:id="Rd0227e9dce9d4efc"/>
    <p:sldId xmlns:r="http://schemas.openxmlformats.org/officeDocument/2006/relationships" id="257" r:id="R1158840c7e7d443f"/>
    <p:sldId xmlns:r="http://schemas.openxmlformats.org/officeDocument/2006/relationships" id="258" r:id="R5f95602dcf2342be"/>
    <p:sldId xmlns:r="http://schemas.openxmlformats.org/officeDocument/2006/relationships" id="259" r:id="Rd4508dc021fc4a40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09107792e84caa" /><Relationship Type="http://schemas.openxmlformats.org/officeDocument/2006/relationships/slideMaster" Target="/ppt/slideMasters/slideMaster1.xml" Id="R4e64d58c53d84aeb" /><Relationship Type="http://schemas.openxmlformats.org/officeDocument/2006/relationships/notesMaster" Target="/ppt/notesMasters/notesMaster1.xml" Id="Ra181c6a2b53d471e" /><Relationship Type="http://schemas.openxmlformats.org/officeDocument/2006/relationships/presProps" Target="/ppt/presProps.xml" Id="Ra77b42d45d014364" /><Relationship Type="http://schemas.openxmlformats.org/officeDocument/2006/relationships/tableStyles" Target="/ppt/tableStyles.xml" Id="R6688564b49384b26" /><Relationship Type="http://schemas.openxmlformats.org/officeDocument/2006/relationships/slide" Target="/ppt/slides/slide1.xml" Id="Rd0227e9dce9d4efc" /><Relationship Type="http://schemas.openxmlformats.org/officeDocument/2006/relationships/slide" Target="/ppt/slides/slide2.xml" Id="R1158840c7e7d443f" /><Relationship Type="http://schemas.openxmlformats.org/officeDocument/2006/relationships/slide" Target="/ppt/slides/slide3.xml" Id="R5f95602dcf2342be" /><Relationship Type="http://schemas.openxmlformats.org/officeDocument/2006/relationships/slide" Target="/ppt/slides/slide4.xml" Id="Rd4508dc021fc4a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e848d6f0fa4f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f71811827d4d5a" /><Relationship Type="http://schemas.openxmlformats.org/officeDocument/2006/relationships/notesMaster" Target="/ppt/notesMasters/notesMaster1.xml" Id="R91a749dd328d4e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c54eb792fb45f8" /><Relationship Type="http://schemas.openxmlformats.org/officeDocument/2006/relationships/notesMaster" Target="/ppt/notesMasters/notesMaster1.xml" Id="R1fac1c3c583442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8d9d272c0d41b2" /><Relationship Type="http://schemas.openxmlformats.org/officeDocument/2006/relationships/notesMaster" Target="/ppt/notesMasters/notesMaster1.xml" Id="R6ed397af536644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38d5f3a510460e" /><Relationship Type="http://schemas.openxmlformats.org/officeDocument/2006/relationships/notesMaster" Target="/ppt/notesMasters/notesMaster1.xml" Id="R2127be2ac80648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資料來源：YouBike Report（總用量、2.0E租借次數、2.0E敬老使用次數）；歷史65歲以上來自Looker Studio data_analysis.visual_report；2026年9月65歲以上來自Report/BigQuery yb2.bike_transaction與data_center.INSUR有效保險卡65–100歲分組。統計至2026/9/28。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資料來源：YouBike Report（總用量、2.0E租借次數、2.0E敬老使用次數）；歷史65歲以上來自Looker Studio；2026年9月65歲以上來自Report/BigQuery與有效保險卡65–100歲分組。統計至2026/9/28。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資料來源：YouBike Report（總用量、2.0E租借次數、2.0E敬老使用次數）；歷史65歲以上來自Looker Studio data_analysis.visual_report；2026年9月65歲以上來自Report/BigQuery yb2.bike_transaction與data_center.INSUR有效保險卡65–100歲分組。統計至2026/9/28。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資料來源：YouBike Report（總用量、2.0E租借次數、2.0E敬老使用次數）；歷史65歲以上來自Looker Studio；2026年9月65歲以上來自Report/BigQuery與有效保險卡65–100歲分組。統計至2026/9/28。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7a43cc1074d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f0fd97934d4776" /><Relationship Type="http://schemas.openxmlformats.org/officeDocument/2006/relationships/slideLayout" Target="/ppt/slideLayouts/slideLayout1.xml" Id="R30f9f7ca4aa940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f9f7ca4aa940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c3fabd16545e2" /><Relationship Type="http://schemas.openxmlformats.org/officeDocument/2006/relationships/notesSlide" Target="/ppt/notesSlides/notesSlide1.xml" Id="Re3bbbf8d28f54c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f334bd5674479" /><Relationship Type="http://schemas.openxmlformats.org/officeDocument/2006/relationships/chart" Target="/ppt/slides/charts/chart1.xml" Id="R113c3e81c3c34c43" /><Relationship Type="http://schemas.openxmlformats.org/officeDocument/2006/relationships/notesSlide" Target="/ppt/notesSlides/notesSlide2.xml" Id="Ra46bda83e90d47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2df0b8014491e" /><Relationship Type="http://schemas.openxmlformats.org/officeDocument/2006/relationships/notesSlide" Target="/ppt/notesSlides/notesSlide3.xml" Id="Re933fe3a5c6649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d53479504487c" /><Relationship Type="http://schemas.openxmlformats.org/officeDocument/2006/relationships/chart" Target="/ppt/slides/charts/chart2.xml" Id="Rffaea72d3aac40e1" /><Relationship Type="http://schemas.openxmlformats.org/officeDocument/2006/relationships/notesSlide" Target="/ppt/notesSlides/notesSlide4.xml" Id="R9214a52eadec448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2.0E占總用量</c:v>
          </c:tx>
          <c:spPr>
            <a:ln xmlns:a="http://schemas.openxmlformats.org/drawingml/2006/main" w="28575">
              <a:solidFill>
                <a:srgbClr val="4F96D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F96D1"/>
              </a:solidFill>
            </c:spPr>
          </c:marker>
          <c:dLbls>
            <c:dLbl>
              <c:idx val="1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solidFill>
                        <a:srgbClr val="4F96D1"/>
                      </a:solidFill>
                      <a:latin typeface="Noto Sans TC"/>
                      <a:ea typeface="Noto Sans TC"/>
                      <a:cs typeface="Noto Sans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Noto Sans TC"/>
                    <a:ea typeface="Noto Sans TC"/>
                    <a:cs typeface="Noto Sans T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Data'!$A$2:$A$16</c:f>
              <c:strCache>
                <c:ptCount val="15"/>
                <c:pt idx="0">
                  <c:v>25-7月</c:v>
                </c:pt>
                <c:pt idx="1">
                  <c:v>25-8月</c:v>
                </c:pt>
                <c:pt idx="2">
                  <c:v>25-9月</c:v>
                </c:pt>
                <c:pt idx="3">
                  <c:v>25-10月</c:v>
                </c:pt>
                <c:pt idx="4">
                  <c:v>25-11月</c:v>
                </c:pt>
                <c:pt idx="5">
                  <c:v>25-12月</c:v>
                </c:pt>
                <c:pt idx="6">
                  <c:v>26-1月</c:v>
                </c:pt>
                <c:pt idx="7">
                  <c:v>26-2月</c:v>
                </c:pt>
                <c:pt idx="8">
                  <c:v>26-3月</c:v>
                </c:pt>
                <c:pt idx="9">
                  <c:v>26-4月</c:v>
                </c:pt>
                <c:pt idx="10">
                  <c:v>26-5月</c:v>
                </c:pt>
                <c:pt idx="11">
                  <c:v>26-6月</c:v>
                </c:pt>
                <c:pt idx="12">
                  <c:v>26-7月</c:v>
                </c:pt>
                <c:pt idx="13">
                  <c:v>26-8月</c:v>
                </c:pt>
                <c:pt idx="14">
                  <c:v>26-9月</c:v>
                </c:pt>
              </c:strCache>
            </c:strRef>
          </c:cat>
          <c:val>
            <c:numRef>
              <c:f>'Chart Data'!$B$2:$B$16</c:f>
              <c:numCache>
                <c:formatCode>0.0%</c:formatCode>
                <c:ptCount val="15"/>
                <c:pt idx="0">
                  <c:v>0.0394</c:v>
                </c:pt>
                <c:pt idx="1">
                  <c:v>0.0414</c:v>
                </c:pt>
                <c:pt idx="2">
                  <c:v>0.0495</c:v>
                </c:pt>
                <c:pt idx="3">
                  <c:v>0.0484</c:v>
                </c:pt>
                <c:pt idx="4">
                  <c:v>0.0486</c:v>
                </c:pt>
                <c:pt idx="5">
                  <c:v>0.0522</c:v>
                </c:pt>
                <c:pt idx="6">
                  <c:v>0.0534</c:v>
                </c:pt>
                <c:pt idx="7">
                  <c:v>0.0578</c:v>
                </c:pt>
                <c:pt idx="8">
                  <c:v>0.0617</c:v>
                </c:pt>
                <c:pt idx="9">
                  <c:v>0.0618</c:v>
                </c:pt>
                <c:pt idx="10">
                  <c:v>0.0663</c:v>
                </c:pt>
                <c:pt idx="11">
                  <c:v>0.068</c:v>
                </c:pt>
                <c:pt idx="12">
                  <c:v>0.0869</c:v>
                </c:pt>
                <c:pt idx="13">
                  <c:v>0.0958</c:v>
                </c:pt>
                <c:pt idx="14">
                  <c:v>0.0983</c:v>
                </c:pt>
              </c:numCache>
            </c:numRef>
          </c:val>
          <c:smooth val="0"/>
        </c:ser>
        <c:ser>
          <c:idx val="1"/>
          <c:order val="1"/>
          <c:tx>
            <c:v>65歲以上占2.0E</c:v>
          </c:tx>
          <c:spPr>
            <a:ln xmlns:a="http://schemas.openxmlformats.org/drawingml/2006/main" w="28575">
              <a:solidFill>
                <a:srgbClr val="00A95C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A95C"/>
              </a:solidFill>
            </c:spPr>
          </c:marker>
          <c:dLbls>
            <c:dLbl>
              <c:idx val="1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solidFill>
                        <a:srgbClr val="00A95C"/>
                      </a:solidFill>
                      <a:latin typeface="Noto Sans TC"/>
                      <a:ea typeface="Noto Sans TC"/>
                      <a:cs typeface="Noto Sans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Noto Sans TC"/>
                    <a:ea typeface="Noto Sans TC"/>
                    <a:cs typeface="Noto Sans T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Data'!$C$2:$C$16</c:f>
              <c:strCache>
                <c:ptCount val="15"/>
                <c:pt idx="0">
                  <c:v>25-7月</c:v>
                </c:pt>
                <c:pt idx="1">
                  <c:v>25-8月</c:v>
                </c:pt>
                <c:pt idx="2">
                  <c:v>25-9月</c:v>
                </c:pt>
                <c:pt idx="3">
                  <c:v>25-10月</c:v>
                </c:pt>
                <c:pt idx="4">
                  <c:v>25-11月</c:v>
                </c:pt>
                <c:pt idx="5">
                  <c:v>25-12月</c:v>
                </c:pt>
                <c:pt idx="6">
                  <c:v>26-1月</c:v>
                </c:pt>
                <c:pt idx="7">
                  <c:v>26-2月</c:v>
                </c:pt>
                <c:pt idx="8">
                  <c:v>26-3月</c:v>
                </c:pt>
                <c:pt idx="9">
                  <c:v>26-4月</c:v>
                </c:pt>
                <c:pt idx="10">
                  <c:v>26-5月</c:v>
                </c:pt>
                <c:pt idx="11">
                  <c:v>26-6月</c:v>
                </c:pt>
                <c:pt idx="12">
                  <c:v>26-7月</c:v>
                </c:pt>
                <c:pt idx="13">
                  <c:v>26-8月</c:v>
                </c:pt>
                <c:pt idx="14">
                  <c:v>26-9月</c:v>
                </c:pt>
              </c:strCache>
            </c:strRef>
          </c:cat>
          <c:val>
            <c:numRef>
              <c:f>'Chart Data'!$D$2:$D$16</c:f>
              <c:numCache>
                <c:formatCode>0.0%</c:formatCode>
                <c:ptCount val="15"/>
                <c:pt idx="0">
                  <c:v>0.094</c:v>
                </c:pt>
                <c:pt idx="1">
                  <c:v>0.0875</c:v>
                </c:pt>
                <c:pt idx="2">
                  <c:v>0.0781</c:v>
                </c:pt>
                <c:pt idx="3">
                  <c:v>0.0847</c:v>
                </c:pt>
                <c:pt idx="4">
                  <c:v>0.0834</c:v>
                </c:pt>
                <c:pt idx="5">
                  <c:v>0.0797</c:v>
                </c:pt>
                <c:pt idx="6">
                  <c:v>0.0794</c:v>
                </c:pt>
                <c:pt idx="7">
                  <c:v>0.0839</c:v>
                </c:pt>
                <c:pt idx="8">
                  <c:v>0.0692</c:v>
                </c:pt>
                <c:pt idx="9">
                  <c:v>0.0661</c:v>
                </c:pt>
                <c:pt idx="10">
                  <c:v>0.0617</c:v>
                </c:pt>
                <c:pt idx="11">
                  <c:v>0.0659</c:v>
                </c:pt>
                <c:pt idx="12">
                  <c:v>0.1445</c:v>
                </c:pt>
                <c:pt idx="13">
                  <c:v>0.1735</c:v>
                </c:pt>
                <c:pt idx="14">
                  <c:v>0.17</c:v>
                </c:pt>
              </c:numCache>
            </c:numRef>
          </c:val>
          <c:smooth val="0"/>
        </c:ser>
        <c:ser>
          <c:idx val="2"/>
          <c:order val="2"/>
          <c:tx>
            <c:v>敬老卡占2.0E</c:v>
          </c:tx>
          <c:spPr>
            <a:ln xmlns:a="http://schemas.openxmlformats.org/drawingml/2006/main" w="28575">
              <a:solidFill>
                <a:srgbClr val="F1762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17624"/>
              </a:solidFill>
            </c:spPr>
          </c:marker>
          <c:dLbls>
            <c:dLbl>
              <c:idx val="1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solidFill>
                        <a:srgbClr val="F17624"/>
                      </a:solidFill>
                      <a:latin typeface="Noto Sans TC"/>
                      <a:ea typeface="Noto Sans TC"/>
                      <a:cs typeface="Noto Sans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Noto Sans TC"/>
                    <a:ea typeface="Noto Sans TC"/>
                    <a:cs typeface="Noto Sans T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Data'!$E$2:$E$16</c:f>
              <c:strCache>
                <c:ptCount val="15"/>
                <c:pt idx="0">
                  <c:v>25-7月</c:v>
                </c:pt>
                <c:pt idx="1">
                  <c:v>25-8月</c:v>
                </c:pt>
                <c:pt idx="2">
                  <c:v>25-9月</c:v>
                </c:pt>
                <c:pt idx="3">
                  <c:v>25-10月</c:v>
                </c:pt>
                <c:pt idx="4">
                  <c:v>25-11月</c:v>
                </c:pt>
                <c:pt idx="5">
                  <c:v>25-12月</c:v>
                </c:pt>
                <c:pt idx="6">
                  <c:v>26-1月</c:v>
                </c:pt>
                <c:pt idx="7">
                  <c:v>26-2月</c:v>
                </c:pt>
                <c:pt idx="8">
                  <c:v>26-3月</c:v>
                </c:pt>
                <c:pt idx="9">
                  <c:v>26-4月</c:v>
                </c:pt>
                <c:pt idx="10">
                  <c:v>26-5月</c:v>
                </c:pt>
                <c:pt idx="11">
                  <c:v>26-6月</c:v>
                </c:pt>
                <c:pt idx="12">
                  <c:v>26-7月</c:v>
                </c:pt>
                <c:pt idx="13">
                  <c:v>26-8月</c:v>
                </c:pt>
                <c:pt idx="14">
                  <c:v>26-9月</c:v>
                </c:pt>
              </c:strCache>
            </c:strRef>
          </c:cat>
          <c:val>
            <c:numRef>
              <c:f>'Chart Data'!$F$2:$F$16</c:f>
              <c:numCache>
                <c:formatCode>0.0%</c:formatCode>
                <c:ptCount val="15"/>
                <c:pt idx="0">
                  <c:v>0.1152</c:v>
                </c:pt>
                <c:pt idx="1">
                  <c:v>0.1104</c:v>
                </c:pt>
                <c:pt idx="2">
                  <c:v>0.1028</c:v>
                </c:pt>
                <c:pt idx="3">
                  <c:v>0.1144</c:v>
                </c:pt>
                <c:pt idx="4">
                  <c:v>0.117</c:v>
                </c:pt>
                <c:pt idx="5">
                  <c:v>0.1157</c:v>
                </c:pt>
                <c:pt idx="6">
                  <c:v>0.1211</c:v>
                </c:pt>
                <c:pt idx="7">
                  <c:v>0.1298</c:v>
                </c:pt>
                <c:pt idx="8">
                  <c:v>0.1138</c:v>
                </c:pt>
                <c:pt idx="9">
                  <c:v>0.1138</c:v>
                </c:pt>
                <c:pt idx="10">
                  <c:v>0.1091</c:v>
                </c:pt>
                <c:pt idx="11">
                  <c:v>0.1215</c:v>
                </c:pt>
                <c:pt idx="12">
                  <c:v>0.2737</c:v>
                </c:pt>
                <c:pt idx="13">
                  <c:v>0.344</c:v>
                </c:pt>
                <c:pt idx="14">
                  <c:v>0.3514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TC"/>
                  <a:ea typeface="Noto Sans TC"/>
                  <a:cs typeface="Noto Sans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65717B"/>
              </a:solidFill>
              <a:latin typeface="Noto Sans TC"/>
              <a:ea typeface="Noto Sans TC"/>
              <a:cs typeface="Noto Sans TC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2.0E占總用量</c:v>
          </c:tx>
          <c:spPr>
            <a:ln xmlns:a="http://schemas.openxmlformats.org/drawingml/2006/main" w="28575">
              <a:solidFill>
                <a:srgbClr val="4F96D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F96D1"/>
              </a:solidFill>
            </c:spPr>
          </c:marker>
          <c:dLbls>
            <c:dLbl>
              <c:idx val="1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solidFill>
                        <a:srgbClr val="4F96D1"/>
                      </a:solidFill>
                      <a:latin typeface="Noto Sans TC"/>
                      <a:ea typeface="Noto Sans TC"/>
                      <a:cs typeface="Noto Sans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Noto Sans TC"/>
                    <a:ea typeface="Noto Sans TC"/>
                    <a:cs typeface="Noto Sans T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Data'!$A$2:$A$16</c:f>
              <c:strCache>
                <c:ptCount val="15"/>
                <c:pt idx="0">
                  <c:v>25-7月</c:v>
                </c:pt>
                <c:pt idx="1">
                  <c:v>25-8月</c:v>
                </c:pt>
                <c:pt idx="2">
                  <c:v>25-9月</c:v>
                </c:pt>
                <c:pt idx="3">
                  <c:v>25-10月</c:v>
                </c:pt>
                <c:pt idx="4">
                  <c:v>25-11月</c:v>
                </c:pt>
                <c:pt idx="5">
                  <c:v>25-12月</c:v>
                </c:pt>
                <c:pt idx="6">
                  <c:v>26-1月</c:v>
                </c:pt>
                <c:pt idx="7">
                  <c:v>26-2月</c:v>
                </c:pt>
                <c:pt idx="8">
                  <c:v>26-3月</c:v>
                </c:pt>
                <c:pt idx="9">
                  <c:v>26-4月</c:v>
                </c:pt>
                <c:pt idx="10">
                  <c:v>26-5月</c:v>
                </c:pt>
                <c:pt idx="11">
                  <c:v>26-6月</c:v>
                </c:pt>
                <c:pt idx="12">
                  <c:v>26-7月</c:v>
                </c:pt>
                <c:pt idx="13">
                  <c:v>26-8月</c:v>
                </c:pt>
                <c:pt idx="14">
                  <c:v>26-9月</c:v>
                </c:pt>
              </c:strCache>
            </c:strRef>
          </c:cat>
          <c:val>
            <c:numRef>
              <c:f>'Chart Data'!$B$2:$B$16</c:f>
              <c:numCache>
                <c:formatCode>0.0%</c:formatCode>
                <c:ptCount val="15"/>
                <c:pt idx="0">
                  <c:v>0.0709</c:v>
                </c:pt>
                <c:pt idx="1">
                  <c:v>0.0738</c:v>
                </c:pt>
                <c:pt idx="2">
                  <c:v>0.0695</c:v>
                </c:pt>
                <c:pt idx="3">
                  <c:v>0.0685</c:v>
                </c:pt>
                <c:pt idx="4">
                  <c:v>0.067</c:v>
                </c:pt>
                <c:pt idx="5">
                  <c:v>0.0647</c:v>
                </c:pt>
                <c:pt idx="6">
                  <c:v>0.0683</c:v>
                </c:pt>
                <c:pt idx="7">
                  <c:v>0.0743</c:v>
                </c:pt>
                <c:pt idx="8">
                  <c:v>0.0687</c:v>
                </c:pt>
                <c:pt idx="9">
                  <c:v>0.0726</c:v>
                </c:pt>
                <c:pt idx="10">
                  <c:v>0.0772</c:v>
                </c:pt>
                <c:pt idx="11">
                  <c:v>0.076</c:v>
                </c:pt>
                <c:pt idx="12">
                  <c:v>0.0823</c:v>
                </c:pt>
                <c:pt idx="13">
                  <c:v>0.0891</c:v>
                </c:pt>
                <c:pt idx="14">
                  <c:v>0.0909</c:v>
                </c:pt>
              </c:numCache>
            </c:numRef>
          </c:val>
          <c:smooth val="0"/>
        </c:ser>
        <c:ser>
          <c:idx val="1"/>
          <c:order val="1"/>
          <c:tx>
            <c:v>65歲以上占2.0E</c:v>
          </c:tx>
          <c:spPr>
            <a:ln xmlns:a="http://schemas.openxmlformats.org/drawingml/2006/main" w="28575">
              <a:solidFill>
                <a:srgbClr val="00A95C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A95C"/>
              </a:solidFill>
            </c:spPr>
          </c:marker>
          <c:dLbls>
            <c:dLbl>
              <c:idx val="1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solidFill>
                        <a:srgbClr val="00A95C"/>
                      </a:solidFill>
                      <a:latin typeface="Noto Sans TC"/>
                      <a:ea typeface="Noto Sans TC"/>
                      <a:cs typeface="Noto Sans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Noto Sans TC"/>
                    <a:ea typeface="Noto Sans TC"/>
                    <a:cs typeface="Noto Sans T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Data'!$C$2:$C$16</c:f>
              <c:strCache>
                <c:ptCount val="15"/>
                <c:pt idx="0">
                  <c:v>25-7月</c:v>
                </c:pt>
                <c:pt idx="1">
                  <c:v>25-8月</c:v>
                </c:pt>
                <c:pt idx="2">
                  <c:v>25-9月</c:v>
                </c:pt>
                <c:pt idx="3">
                  <c:v>25-10月</c:v>
                </c:pt>
                <c:pt idx="4">
                  <c:v>25-11月</c:v>
                </c:pt>
                <c:pt idx="5">
                  <c:v>25-12月</c:v>
                </c:pt>
                <c:pt idx="6">
                  <c:v>26-1月</c:v>
                </c:pt>
                <c:pt idx="7">
                  <c:v>26-2月</c:v>
                </c:pt>
                <c:pt idx="8">
                  <c:v>26-3月</c:v>
                </c:pt>
                <c:pt idx="9">
                  <c:v>26-4月</c:v>
                </c:pt>
                <c:pt idx="10">
                  <c:v>26-5月</c:v>
                </c:pt>
                <c:pt idx="11">
                  <c:v>26-6月</c:v>
                </c:pt>
                <c:pt idx="12">
                  <c:v>26-7月</c:v>
                </c:pt>
                <c:pt idx="13">
                  <c:v>26-8月</c:v>
                </c:pt>
                <c:pt idx="14">
                  <c:v>26-9月</c:v>
                </c:pt>
              </c:strCache>
            </c:strRef>
          </c:cat>
          <c:val>
            <c:numRef>
              <c:f>'Chart Data'!$D$2:$D$16</c:f>
              <c:numCache>
                <c:formatCode>0.0%</c:formatCode>
                <c:ptCount val="15"/>
                <c:pt idx="0">
                  <c:v>0.0647</c:v>
                </c:pt>
                <c:pt idx="1">
                  <c:v>0.0626</c:v>
                </c:pt>
                <c:pt idx="2">
                  <c:v>0.0617</c:v>
                </c:pt>
                <c:pt idx="3">
                  <c:v>0.0651</c:v>
                </c:pt>
                <c:pt idx="4">
                  <c:v>0.0659</c:v>
                </c:pt>
                <c:pt idx="5">
                  <c:v>0.0638</c:v>
                </c:pt>
                <c:pt idx="6">
                  <c:v>0.0609</c:v>
                </c:pt>
                <c:pt idx="7">
                  <c:v>0.0637</c:v>
                </c:pt>
                <c:pt idx="8">
                  <c:v>0.0573</c:v>
                </c:pt>
                <c:pt idx="9">
                  <c:v>0.0541</c:v>
                </c:pt>
                <c:pt idx="10">
                  <c:v>0.0518</c:v>
                </c:pt>
                <c:pt idx="11">
                  <c:v>0.054</c:v>
                </c:pt>
                <c:pt idx="12">
                  <c:v>0.1126</c:v>
                </c:pt>
                <c:pt idx="13">
                  <c:v>0.1248</c:v>
                </c:pt>
                <c:pt idx="14">
                  <c:v>0.1268</c:v>
                </c:pt>
              </c:numCache>
            </c:numRef>
          </c:val>
          <c:smooth val="0"/>
        </c:ser>
        <c:ser>
          <c:idx val="2"/>
          <c:order val="2"/>
          <c:tx>
            <c:v>敬老卡占2.0E</c:v>
          </c:tx>
          <c:spPr>
            <a:ln xmlns:a="http://schemas.openxmlformats.org/drawingml/2006/main" w="28575">
              <a:solidFill>
                <a:srgbClr val="F1762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17624"/>
              </a:solidFill>
            </c:spPr>
          </c:marker>
          <c:dLbls>
            <c:dLbl>
              <c:idx val="1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solidFill>
                        <a:srgbClr val="F17624"/>
                      </a:solidFill>
                      <a:latin typeface="Noto Sans TC"/>
                      <a:ea typeface="Noto Sans TC"/>
                      <a:cs typeface="Noto Sans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Noto Sans TC"/>
                    <a:ea typeface="Noto Sans TC"/>
                    <a:cs typeface="Noto Sans T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Data'!$E$2:$E$16</c:f>
              <c:strCache>
                <c:ptCount val="15"/>
                <c:pt idx="0">
                  <c:v>25-7月</c:v>
                </c:pt>
                <c:pt idx="1">
                  <c:v>25-8月</c:v>
                </c:pt>
                <c:pt idx="2">
                  <c:v>25-9月</c:v>
                </c:pt>
                <c:pt idx="3">
                  <c:v>25-10月</c:v>
                </c:pt>
                <c:pt idx="4">
                  <c:v>25-11月</c:v>
                </c:pt>
                <c:pt idx="5">
                  <c:v>25-12月</c:v>
                </c:pt>
                <c:pt idx="6">
                  <c:v>26-1月</c:v>
                </c:pt>
                <c:pt idx="7">
                  <c:v>26-2月</c:v>
                </c:pt>
                <c:pt idx="8">
                  <c:v>26-3月</c:v>
                </c:pt>
                <c:pt idx="9">
                  <c:v>26-4月</c:v>
                </c:pt>
                <c:pt idx="10">
                  <c:v>26-5月</c:v>
                </c:pt>
                <c:pt idx="11">
                  <c:v>26-6月</c:v>
                </c:pt>
                <c:pt idx="12">
                  <c:v>26-7月</c:v>
                </c:pt>
                <c:pt idx="13">
                  <c:v>26-8月</c:v>
                </c:pt>
                <c:pt idx="14">
                  <c:v>26-9月</c:v>
                </c:pt>
              </c:strCache>
            </c:strRef>
          </c:cat>
          <c:val>
            <c:numRef>
              <c:f>'Chart Data'!$F$2:$F$16</c:f>
              <c:numCache>
                <c:formatCode>0.0%</c:formatCode>
                <c:ptCount val="15"/>
                <c:pt idx="0">
                  <c:v>0.0841</c:v>
                </c:pt>
                <c:pt idx="1">
                  <c:v>0.0833</c:v>
                </c:pt>
                <c:pt idx="2">
                  <c:v>0.0868</c:v>
                </c:pt>
                <c:pt idx="3">
                  <c:v>0.0943</c:v>
                </c:pt>
                <c:pt idx="4">
                  <c:v>0.0988</c:v>
                </c:pt>
                <c:pt idx="5">
                  <c:v>0.1009</c:v>
                </c:pt>
                <c:pt idx="6">
                  <c:v>0.1006</c:v>
                </c:pt>
                <c:pt idx="7">
                  <c:v>0.1056</c:v>
                </c:pt>
                <c:pt idx="8">
                  <c:v>0.1022</c:v>
                </c:pt>
                <c:pt idx="9">
                  <c:v>0.0973</c:v>
                </c:pt>
                <c:pt idx="10">
                  <c:v>0.0945</c:v>
                </c:pt>
                <c:pt idx="11">
                  <c:v>0.1052</c:v>
                </c:pt>
                <c:pt idx="12">
                  <c:v>0.2182</c:v>
                </c:pt>
                <c:pt idx="13">
                  <c:v>0.2565</c:v>
                </c:pt>
                <c:pt idx="14">
                  <c:v>0.2671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TC"/>
                  <a:ea typeface="Noto Sans TC"/>
                  <a:cs typeface="Noto Sans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65717B"/>
              </a:solidFill>
              <a:latin typeface="Noto Sans TC"/>
              <a:ea typeface="Noto Sans TC"/>
              <a:cs typeface="Noto Sans TC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ABBAC-AF95-49E2-ADFB-32B1E4A0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93C83-45D0-441F-8D1E-106FC9B9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敬老愛心用量變化（台北）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1D517-6D44-44CB-8F52-87DCFBD8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28675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4F96D1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4F96D1"/>
                </a:solidFill>
                <a:latin typeface="Noto Sans TC"/>
                <a:ea typeface="Noto Sans TC"/>
                <a:cs typeface="Noto Sans TC"/>
              </a:rPr>
              <a:t>2.0E占總用量</a:t>
            </a:r>
          </a:p>
          <a:p xmlns:a="http://schemas.openxmlformats.org/drawingml/2006/main">
            <a:pPr algn="ctr">
              <a:defRPr sz="1238" b="1">
                <a:solidFill>
                  <a:srgbClr val="4F96D1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4F96D1"/>
                </a:solidFill>
                <a:latin typeface="Noto Sans TC"/>
                <a:ea typeface="Noto Sans TC"/>
                <a:cs typeface="Noto Sans TC"/>
              </a:rPr>
              <a:t>3.9% 至 9.8%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F3CBE-8F10-4CA8-AEB6-E72D62FA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828675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A95C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00A95C"/>
                </a:solidFill>
                <a:latin typeface="Noto Sans TC"/>
                <a:ea typeface="Noto Sans TC"/>
                <a:cs typeface="Noto Sans TC"/>
              </a:rPr>
              <a:t>65歲以上占2.0E</a:t>
            </a:r>
          </a:p>
          <a:p xmlns:a="http://schemas.openxmlformats.org/drawingml/2006/main">
            <a:pPr algn="ctr">
              <a:defRPr sz="1238" b="1">
                <a:solidFill>
                  <a:srgbClr val="00A95C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00A95C"/>
                </a:solidFill>
                <a:latin typeface="Noto Sans TC"/>
                <a:ea typeface="Noto Sans TC"/>
                <a:cs typeface="Noto Sans TC"/>
              </a:rPr>
              <a:t>9.4% 至 17.0%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695D3-AF7A-43C8-B45B-C5072B4D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828675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17624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F17624"/>
                </a:solidFill>
                <a:latin typeface="Noto Sans TC"/>
                <a:ea typeface="Noto Sans TC"/>
                <a:cs typeface="Noto Sans TC"/>
              </a:rPr>
              <a:t>敬老卡占2.0E</a:t>
            </a:r>
          </a:p>
          <a:p xmlns:a="http://schemas.openxmlformats.org/drawingml/2006/main">
            <a:pPr algn="ctr">
              <a:defRPr sz="1238" b="1">
                <a:solidFill>
                  <a:srgbClr val="F17624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F17624"/>
                </a:solidFill>
                <a:latin typeface="Noto Sans TC"/>
                <a:ea typeface="Noto Sans TC"/>
                <a:cs typeface="Noto Sans TC"/>
              </a:rPr>
              <a:t>11.5% 至 35.1%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71450" y="1285875"/>
          <a:ext xmlns:a="http://schemas.openxmlformats.org/drawingml/2006/main" cx="8801100" cy="4648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52450"/>
                <a:gridCol w="981075"/>
                <a:gridCol w="866775"/>
                <a:gridCol w="695325"/>
                <a:gridCol w="1323975"/>
                <a:gridCol w="990600"/>
                <a:gridCol w="1600200"/>
                <a:gridCol w="1790700"/>
              </a:tblGrid>
              <a:tr h="4762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月份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總用量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次數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比例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2.0E敬老愛心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使用次數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敬老愛心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占2.0E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65歲以上使用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2.0E次數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65歲以上使用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2.0E比例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6,640,633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261,965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3.9%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30,177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11.5%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24,627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9.4%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7,430,044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307,403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4.1%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33,938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11.0%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26,905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8.8%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114.9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7,600,053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376,581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5.0%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38,706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10.3%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29,428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7.8%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114.10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6,600,331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319,393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4.8%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36,546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27,063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8.5%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114.11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6,947,547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337,686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4.9%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39,509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11.7%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28,156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8.3%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114.12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7,309,242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381,726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5.2%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44,149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11.6%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30,429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8.0%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6,810,359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363,375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5.3%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43,993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12.1%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28,869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7.9%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115.2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5,837,647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337,127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5.8%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43,773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13.0%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28,287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7,751,464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478,039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6.2%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54,393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11.4%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33,072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6.9%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115.4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7,389,038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456,581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6.2%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51,939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30,175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6.6%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115.5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8,197,979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543,150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6.6%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59,278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10.9%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33,531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6.2%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115.6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6,406,441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435,473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6.8%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52,896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12.2%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28,705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6.6%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7,755,642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674,111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8.7%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184,497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27.4%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97,427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14.4%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7,418,322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710,468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9.6%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244,401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34.4%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123,256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17.3%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1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115.9*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1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7,019,508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1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689,697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1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9.8%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1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242,367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1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35.1%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1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117,229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1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17.0%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31723-C386-454C-A870-E078926C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67425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01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* 115.9為2026/9/1–9/28；65歲以上與敬老卡為不同口徑，分開計算。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DEC64-7992-4D4F-B5DE-91AF6DB1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294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65608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F36D0-A860-4568-8A00-5D75A160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66775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275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2025-07至2026-09三項比例，2026-09統計至9/28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400050" y="1219200"/>
          <a:ext xmlns:a="http://schemas.openxmlformats.org/drawingml/2006/main" cx="834390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3c3e81c3c34c43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FA9EB-3ADF-4ABC-BF40-1EC9AA40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FBDF5-249B-4742-B700-5321509B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敬老愛心用量變化（台北）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E7A75-13E4-4AD2-B3BC-1A773EA0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57900"/>
            <a:ext cx="845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01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65歲以上使用者與敬老卡票種分開統計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4993D-81BB-49F6-A42E-0F10FCBD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294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339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8D079-D230-41A4-8A5E-AC967A10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70C47-595B-405D-AD2F-E7C1077C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敬老愛心用量變化（新北）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FAA17-878E-4AE2-AB09-0765E4F1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28675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4F96D1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4F96D1"/>
                </a:solidFill>
                <a:latin typeface="Noto Sans TC"/>
                <a:ea typeface="Noto Sans TC"/>
                <a:cs typeface="Noto Sans TC"/>
              </a:rPr>
              <a:t>2.0E占總用量</a:t>
            </a:r>
          </a:p>
          <a:p xmlns:a="http://schemas.openxmlformats.org/drawingml/2006/main">
            <a:pPr algn="ctr">
              <a:defRPr sz="1238" b="1">
                <a:solidFill>
                  <a:srgbClr val="4F96D1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4F96D1"/>
                </a:solidFill>
                <a:latin typeface="Noto Sans TC"/>
                <a:ea typeface="Noto Sans TC"/>
                <a:cs typeface="Noto Sans TC"/>
              </a:rPr>
              <a:t>7.1% 至 9.1%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0EA8C-982B-4EC4-B305-F32F8106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828675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A95C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00A95C"/>
                </a:solidFill>
                <a:latin typeface="Noto Sans TC"/>
                <a:ea typeface="Noto Sans TC"/>
                <a:cs typeface="Noto Sans TC"/>
              </a:rPr>
              <a:t>65歲以上占2.0E</a:t>
            </a:r>
          </a:p>
          <a:p xmlns:a="http://schemas.openxmlformats.org/drawingml/2006/main">
            <a:pPr algn="ctr">
              <a:defRPr sz="1238" b="1">
                <a:solidFill>
                  <a:srgbClr val="00A95C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00A95C"/>
                </a:solidFill>
                <a:latin typeface="Noto Sans TC"/>
                <a:ea typeface="Noto Sans TC"/>
                <a:cs typeface="Noto Sans TC"/>
              </a:rPr>
              <a:t>6.5% 至 12.7%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3296F-4A25-4CB1-ADB3-6974F0F5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828675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17624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F17624"/>
                </a:solidFill>
                <a:latin typeface="Noto Sans TC"/>
                <a:ea typeface="Noto Sans TC"/>
                <a:cs typeface="Noto Sans TC"/>
              </a:rPr>
              <a:t>敬老卡占2.0E</a:t>
            </a:r>
          </a:p>
          <a:p xmlns:a="http://schemas.openxmlformats.org/drawingml/2006/main">
            <a:pPr algn="ctr">
              <a:defRPr sz="1238" b="1">
                <a:solidFill>
                  <a:srgbClr val="F17624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F17624"/>
                </a:solidFill>
                <a:latin typeface="Noto Sans TC"/>
                <a:ea typeface="Noto Sans TC"/>
                <a:cs typeface="Noto Sans TC"/>
              </a:rPr>
              <a:t>8.4% 至 26.7%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71450" y="1285875"/>
          <a:ext xmlns:a="http://schemas.openxmlformats.org/drawingml/2006/main" cx="8801100" cy="4648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52450"/>
                <a:gridCol w="981075"/>
                <a:gridCol w="866775"/>
                <a:gridCol w="695325"/>
                <a:gridCol w="1323975"/>
                <a:gridCol w="990600"/>
                <a:gridCol w="1600200"/>
                <a:gridCol w="1790700"/>
              </a:tblGrid>
              <a:tr h="4762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月份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總用量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次數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比例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2.0E敬老愛心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使用次數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敬老愛心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占2.0E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65歲以上使用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2.0E次數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65歲以上使用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2.0E比例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3,437,103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243,761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7.1%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20,505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8.4%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15,765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6.5%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3,934,270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290,229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24,174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8.3%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18,165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6.3%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114.9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3,941,056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274,036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7.0%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23,787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8.7%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16,917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6.2%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114.10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3,502,587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239,939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6.9%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22,631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15,629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6.5%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114.11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3,608,396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241,686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6.7%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23,888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9.9%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15,918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6.6%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114.12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3,732,563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241,586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6.5%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24,385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10.1%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15,418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3,676,259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251,266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6.8%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25,280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10.1%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15,297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6.1%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115.2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3,255,507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241,739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25,527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10.6%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15,405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4,130,060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283,640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6.9%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28,990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10.2%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16,243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5.7%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115.4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4,000,609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290,408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7.3%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28,271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9.7%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15,697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115.5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4,587,782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354,134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7.7%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33,458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9.4%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18,343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5.2%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115.6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3,621,529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275,391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7.6%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28,959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10.5%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14,884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4,359,122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358,943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8.2%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78,318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21.8%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40,411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11.3%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4,290,885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382,150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8.9%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98,016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25.7%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47,685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12.5%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1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115.9*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1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3,972,968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1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361,241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1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9.1%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1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96,477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1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26.7%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1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45,800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95" b="1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12.7%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E3C9E-709D-4146-A961-6751D5C6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67425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01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* 115.9為2026/9/1–9/28；65歲以上與敬老卡為不同口徑，分開計算。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A87DC-23B8-4290-BAB7-5B826803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294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4542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B69FE-BC1D-40A9-ADED-6ABF9371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66775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275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2025-07至2026-09三項比例，2026-09統計至9/28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400050" y="1219200"/>
          <a:ext xmlns:a="http://schemas.openxmlformats.org/drawingml/2006/main" cx="834390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aea72d3aac40e1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B5BC1-71C1-4753-9E02-8F11FEFC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0C6AC-7F92-40D4-8FD8-33BFB5F9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敬老愛心用量變化（新北）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3E396-F43E-4E8F-B351-1416ACDC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57900"/>
            <a:ext cx="845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01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65歲以上使用者與敬老卡票種分開統計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22960-EFCF-4EEF-AAD3-4463A2BF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294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18000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2026-09-29T07:24:34.1060000Z</dcterms:created>
  <dcterms:modified xsi:type="dcterms:W3CDTF">2026-09-29T07:24:34.1060000Z</dcterms:modified>
</coreProperties>
</file>