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4475adcd6e4a2c" /><Relationship Type="http://schemas.openxmlformats.org/officeDocument/2006/relationships/extended-properties" Target="/docProps/app.xml" Id="R69779b6e1bab4d56" /><Relationship Type="http://schemas.openxmlformats.org/officeDocument/2006/relationships/officeDocument" Target="/ppt/presentation.xml" Id="Rcd279da424c24025" /></Relationships>
</file>

<file path=ppt/presentation.xml><?xml version="1.0" encoding="utf-8"?>
<p:presentation xmlns:p="http://schemas.openxmlformats.org/presentationml/2006/main">
  <p:sldMasterIdLst>
    <p:sldMasterId xmlns:r="http://schemas.openxmlformats.org/officeDocument/2006/relationships" id="2147483648" r:id="R820fe705270f48ac"/>
  </p:sldMasterIdLst>
  <p:notesMasterIdLst>
    <p:notesMasterId xmlns:r="http://schemas.openxmlformats.org/officeDocument/2006/relationships" r:id="Ra7a7bb5914474881"/>
  </p:notesMasterIdLst>
  <p:sldIdLst>
    <p:sldId xmlns:r="http://schemas.openxmlformats.org/officeDocument/2006/relationships" id="256" r:id="Raa444a6ed32d4abc"/>
    <p:sldId xmlns:r="http://schemas.openxmlformats.org/officeDocument/2006/relationships" id="257" r:id="Rdfce251bf1a84fa9"/>
    <p:sldId xmlns:r="http://schemas.openxmlformats.org/officeDocument/2006/relationships" id="258" r:id="R909274f3cf804aa4"/>
    <p:sldId xmlns:r="http://schemas.openxmlformats.org/officeDocument/2006/relationships" id="259" r:id="R2f871d5ce9994cf4"/>
    <p:sldId xmlns:r="http://schemas.openxmlformats.org/officeDocument/2006/relationships" id="260" r:id="Ra4fbd3aaeaad4836"/>
    <p:sldId xmlns:r="http://schemas.openxmlformats.org/officeDocument/2006/relationships" id="261" r:id="R342ceca51a9340bc"/>
    <p:sldId xmlns:r="http://schemas.openxmlformats.org/officeDocument/2006/relationships" id="262" r:id="R52d484b4b1644825"/>
    <p:sldId xmlns:r="http://schemas.openxmlformats.org/officeDocument/2006/relationships" id="263" r:id="R2a708d4010394753"/>
    <p:sldId xmlns:r="http://schemas.openxmlformats.org/officeDocument/2006/relationships" id="264" r:id="Ref98d09254e94ae5"/>
    <p:sldId xmlns:r="http://schemas.openxmlformats.org/officeDocument/2006/relationships" id="265" r:id="R157a22d646e74dbc"/>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中等深淺樣式 3 - 輔色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中等深淺樣式 3 - 輔色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FECB4D8-DB02-4DC6-A0A2-4F2EBAE1DC90}" styleName="中等深淺樣式 1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90c35ba299b44cc2" /><Relationship Type="http://schemas.openxmlformats.org/officeDocument/2006/relationships/slideMaster" Target="/ppt/slideMasters/slideMaster1.xml" Id="R820fe705270f48ac" /><Relationship Type="http://schemas.openxmlformats.org/officeDocument/2006/relationships/notesMaster" Target="/ppt/notesMasters/notesMaster1.xml" Id="Ra7a7bb5914474881" /><Relationship Type="http://schemas.openxmlformats.org/officeDocument/2006/relationships/presProps" Target="/ppt/presProps.xml" Id="Re0631bfe75ec48ed" /><Relationship Type="http://schemas.openxmlformats.org/officeDocument/2006/relationships/viewProps" Target="/ppt/viewProps.xml" Id="Re2f97c9df2334a27" /><Relationship Type="http://schemas.openxmlformats.org/officeDocument/2006/relationships/tableStyles" Target="/ppt/tableStyles.xml" Id="Rb788f6e32b064e34" /><Relationship Type="http://schemas.openxmlformats.org/officeDocument/2006/relationships/slide" Target="/ppt/slides/slide1.xml" Id="Raa444a6ed32d4abc" /><Relationship Type="http://schemas.openxmlformats.org/officeDocument/2006/relationships/slide" Target="/ppt/slides/slide2.xml" Id="Rdfce251bf1a84fa9" /><Relationship Type="http://schemas.openxmlformats.org/officeDocument/2006/relationships/slide" Target="/ppt/slides/slide3.xml" Id="R909274f3cf804aa4" /><Relationship Type="http://schemas.openxmlformats.org/officeDocument/2006/relationships/slide" Target="/ppt/slides/slide4.xml" Id="R2f871d5ce9994cf4" /><Relationship Type="http://schemas.openxmlformats.org/officeDocument/2006/relationships/slide" Target="/ppt/slides/slide5.xml" Id="Ra4fbd3aaeaad4836" /><Relationship Type="http://schemas.openxmlformats.org/officeDocument/2006/relationships/slide" Target="/ppt/slides/slide6.xml" Id="R342ceca51a9340bc" /><Relationship Type="http://schemas.openxmlformats.org/officeDocument/2006/relationships/slide" Target="/ppt/slides/slide7.xml" Id="R52d484b4b1644825" /><Relationship Type="http://schemas.openxmlformats.org/officeDocument/2006/relationships/slide" Target="/ppt/slides/slide8.xml" Id="R2a708d4010394753" /><Relationship Type="http://schemas.openxmlformats.org/officeDocument/2006/relationships/slide" Target="/ppt/slides/slide9.xml" Id="Ref98d09254e94ae5" /><Relationship Type="http://schemas.openxmlformats.org/officeDocument/2006/relationships/slide" Target="/ppt/slides/slide10.xml" Id="R157a22d646e74d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13752a614c4d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619152fdfb4595" /><Relationship Type="http://schemas.openxmlformats.org/officeDocument/2006/relationships/notesMaster" Target="/ppt/notesMasters/notesMaster1.xml" Id="R293d53166fef49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4576418fdf4346" /><Relationship Type="http://schemas.openxmlformats.org/officeDocument/2006/relationships/notesMaster" Target="/ppt/notesMasters/notesMaster1.xml" Id="R3bf1bdeed30043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46a8bd71834152" /><Relationship Type="http://schemas.openxmlformats.org/officeDocument/2006/relationships/notesMaster" Target="/ppt/notesMasters/notesMaster1.xml" Id="R1ccb92e2a00043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f10b78124e417e" /><Relationship Type="http://schemas.openxmlformats.org/officeDocument/2006/relationships/notesMaster" Target="/ppt/notesMasters/notesMaster1.xml" Id="R9a54378dc28540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4ce8c665374dbb" /><Relationship Type="http://schemas.openxmlformats.org/officeDocument/2006/relationships/notesMaster" Target="/ppt/notesMasters/notesMaster1.xml" Id="Rf3029b83fce44c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901910ec7641f9" /><Relationship Type="http://schemas.openxmlformats.org/officeDocument/2006/relationships/notesMaster" Target="/ppt/notesMasters/notesMaster1.xml" Id="Rca147bf7648741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0b832aed634c5b" /><Relationship Type="http://schemas.openxmlformats.org/officeDocument/2006/relationships/notesMaster" Target="/ppt/notesMasters/notesMaster1.xml" Id="R119987ff193349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a6a3defb47466f" /><Relationship Type="http://schemas.openxmlformats.org/officeDocument/2006/relationships/notesMaster" Target="/ppt/notesMasters/notesMaster1.xml" Id="R756f2c41687043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7112c8d0564079" /><Relationship Type="http://schemas.openxmlformats.org/officeDocument/2006/relationships/notesMaster" Target="/ppt/notesMasters/notesMaster1.xml" Id="R44405431834c41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f326bdab4d4b20" /><Relationship Type="http://schemas.openxmlformats.org/officeDocument/2006/relationships/notesMaster" Target="/ppt/notesMasters/notesMaster1.xml" Id="R22ebb352e6f541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見車率/見位率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見車率/見位率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見車率/見位率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見車率/見位率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覆蓋率概念示意。地圖沿用既有『雙北 YouBike 各站半小時動態熱力圖 V7版』之 Leaflet／OpenStreetMap 底圖與原始四色標記：滿借橘紅、空還綠、調出／綁車藍、調入／解綁車紫。畫面條件為2026年9月平日、雙北、08:00–08:29、場站平日日均用量大於100次，僅作判讀示意。統計單位為場站×日期×小時，同站同小時多次事件只算一個站時。滿借同向調度含調出與綁車；空還同向調度含調入與解綁車。假設例10個站時中3個覆蓋，用於說明比率算法。地圖來源：本專案 youbike-hourly-heatmap／friendly-relay-v7；底圖 © OpenStreetMap contributors，https://www.openstreetmap.org/copyright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資料期間：2026年7–8月平日，06:00–23:59。覆蓋率＝同站×同日×同小時發生事件且存在同向調度的站時數÷事件站時數。滿借同向為調出或綁車，空還同向為調入或解綁車。台北市分級：A≥200、B 100–199、C&lt;100。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資料期間：2026-07-01 至 2026-08-31，僅納入有效平日。</a:t>
            </a:r>
          </a:p>
          <a:p xmlns:a="http://schemas.openxmlformats.org/drawingml/2006/main">
            <a:r>
              <a:t>有效日：7月22日、8月21日，共43日。7月10日無可用資料。</a:t>
            </a:r>
          </a:p>
          <a:p xmlns:a="http://schemas.openxmlformats.org/drawingml/2006/main">
            <a:r>
              <a:t>虛線為同一場站、同一日期、同一小時發生滿借或空還的友愛接力站數，逐時值為43個有效平日的每日平均。</a:t>
            </a:r>
          </a:p>
          <a:p xmlns:a="http://schemas.openxmlformats.org/drawingml/2006/main">
            <a:r>
              <a:t>調度線都只計入同站同日同小時存在對應友愛接力事件的調度行為站數。滿借分別比較調出及綁車，空還分別比較調入及解綁車。</a:t>
            </a:r>
          </a:p>
          <a:p xmlns:a="http://schemas.openxmlformats.org/drawingml/2006/main">
            <a:r>
              <a:t>圖例編碼：顏色區分A、B、C級；粗實線圓點表示調出或調入，細實線菱形表示綁車或解綁車，虛線表示滿借或空還。</a:t>
            </a:r>
          </a:p>
          <a:p xmlns:a="http://schemas.openxmlformats.org/drawingml/2006/main">
            <a:r>
              <a:t>調出、綁車、調入、解綁車各自逐時取43個有效平日樣本的單日最大站數。每一種動作的最大值可能來自不同日期，不能彼此相加解讀為調度聯集。</a:t>
            </a:r>
          </a:p>
          <a:p xmlns:a="http://schemas.openxmlformats.org/drawingml/2006/main">
            <a:r>
              <a:t>同站同日同小時同一指標多筆只計一次。因圖中調度線為單日最大值、友愛接力線為每日平均值，各線不可直接解讀為覆蓋率。</a:t>
            </a:r>
          </a:p>
          <a:p xmlns:a="http://schemas.openxmlformats.org/drawingml/2006/main">
            <a:r>
              <a:t>分級依各月平日日均用量：台北 A≥200、B 100–199、C&lt;100；新北 A≥100、B 50–99、C&lt;50。</a:t>
            </a:r>
          </a:p>
          <a:p xmlns:a="http://schemas.openxmlformats.org/drawingml/2006/main">
            <a:r>
              <a:t>來源：CPS RewardLog、VDS 人員作業明細及7–8月友愛接力覆蓋率資料。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資料期間：2026年7–8月平日，06:00–23:59。覆蓋率＝同站×同日×同小時發生事件且存在同向調度的站時數÷事件站時數。滿借同向為調出或綁車，空還同向為調入或解綁車。新北市分級：A≥100、B 50–99、C&lt;50。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資料期間：2026-07-01 至 2026-08-31，僅納入有效平日。</a:t>
            </a:r>
          </a:p>
          <a:p xmlns:a="http://schemas.openxmlformats.org/drawingml/2006/main">
            <a:r>
              <a:t>有效日：7月22日、8月21日，共43日。7月10日無可用資料。</a:t>
            </a:r>
          </a:p>
          <a:p xmlns:a="http://schemas.openxmlformats.org/drawingml/2006/main">
            <a:r>
              <a:t>虛線為同一場站、同一日期、同一小時發生滿借或空還的友愛接力站數，逐時值為43個有效平日的每日平均。</a:t>
            </a:r>
          </a:p>
          <a:p xmlns:a="http://schemas.openxmlformats.org/drawingml/2006/main">
            <a:r>
              <a:t>調度線都只計入同站同日同小時存在對應友愛接力事件的調度行為站數。滿借分別比較調出及綁車，空還分別比較調入及解綁車。</a:t>
            </a:r>
          </a:p>
          <a:p xmlns:a="http://schemas.openxmlformats.org/drawingml/2006/main">
            <a:r>
              <a:t>圖例編碼：顏色區分A、B、C級；粗實線圓點表示調出或調入，細實線菱形表示綁車或解綁車，虛線表示滿借或空還。</a:t>
            </a:r>
          </a:p>
          <a:p xmlns:a="http://schemas.openxmlformats.org/drawingml/2006/main">
            <a:r>
              <a:t>調出、綁車、調入、解綁車各自逐時取43個有效平日樣本的單日最大站數。每一種動作的最大值可能來自不同日期，不能彼此相加解讀為調度聯集。</a:t>
            </a:r>
          </a:p>
          <a:p xmlns:a="http://schemas.openxmlformats.org/drawingml/2006/main">
            <a:r>
              <a:t>同站同日同小時同一指標多筆只計一次。因圖中調度線為單日最大值、友愛接力線為每日平均值，各線不可直接解讀為覆蓋率。</a:t>
            </a:r>
          </a:p>
          <a:p xmlns:a="http://schemas.openxmlformats.org/drawingml/2006/main">
            <a:r>
              <a:t>分級依各月平日日均用量：台北 A≥200、B 100–199、C&lt;100；新北 A≥100、B 50–99、C&lt;50。</a:t>
            </a:r>
          </a:p>
          <a:p xmlns:a="http://schemas.openxmlformats.org/drawingml/2006/main">
            <a:r>
              <a:t>來源：CPS RewardLog、VDS 人員作業明細及7–8月友愛接力覆蓋率資料。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資料期間：2026年7–8月平日，06:00–23:59。台北分級：A日均用量≥200、B 100–199、C&lt;100；新北分級：A≥100、B 50–99、C&lt;50。覆蓋率來源：CPS RewardLog與VDS；見車／見位率來源：Report逐站逐時可用站日觀測。建議為描述性統計推導，執行後仍需用相同日期條件驗證。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d162c571324bf0" /><Relationship Type="http://schemas.openxmlformats.org/officeDocument/2006/relationships/image" Target="/ppt/media/image.png" Id="R638d416cbe834b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73b838e64447e6" /><Relationship Type="http://schemas.openxmlformats.org/officeDocument/2006/relationships/image" Target="/ppt/media/image2.png" Id="R94fe1828fee54ce4" /><Relationship Type="http://schemas.openxmlformats.org/officeDocument/2006/relationships/image" Target="/ppt/media/image3.png" Id="R133ba16f11f34a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19d8a899d824cc6" /></Relationships>
</file>

<file path=ppt/slideLayouts/slideLayout1.xml><?xml version="1.0" encoding="utf-8"?>
<p:sldLayout xmlns:p="http://schemas.openxmlformats.org/presentationml/2006/main" preserve="1" userDrawn="1">
  <p:cSld name="標題投影片">
    <p:spTree>
      <p:nvGrpSpPr>
        <p:cNvPr id="1" name=""/>
        <p:cNvGrpSpPr/>
        <p:nvPr/>
      </p:nvGrpSpPr>
      <p:grpSpPr>
        <a:xfrm xmlns:a="http://schemas.openxmlformats.org/drawingml/2006/main"/>
      </p:grpSpPr>
      <p:sp>
        <p:nvSpPr>
          <p:cNvPr id="4" name="日期版面配置區 3">
            <a:extLst xmlns:a="http://schemas.openxmlformats.org/drawingml/2006/main">
              <a:ext uri="{FF2B5EF4-FFF2-40B4-BE49-F238E27FC236}">
                <a16:creationId xmlns:a16="http://schemas.microsoft.com/office/drawing/2014/main" id="{3DEAEFC7-384A-45B6-9212-B12F000CE7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頁尾版面配置區 4">
            <a:extLst xmlns:a="http://schemas.openxmlformats.org/drawingml/2006/main">
              <a:ext uri="{FF2B5EF4-FFF2-40B4-BE49-F238E27FC236}">
                <a16:creationId xmlns:a16="http://schemas.microsoft.com/office/drawing/2014/main" id="{676D72A9-9C30-43E5-8E50-C658597268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D6C59149-1C1E-47A6-A5FB-8AE3DA0F11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6F19A45-BA0D-45DE-A687-A591EF4A02CE}" type="slidenum">
              <a:t>‹#›</a:t>
            </a:fld>
            <a:endParaRPr/>
          </a:p>
        </p:txBody>
      </p:sp>
      <p:pic>
        <p:nvPicPr>
          <p:cNvPr id="11" name="圖片 14"/>
          <p:cNvPicPr>
            <a:picLocks xmlns:a="http://schemas.openxmlformats.org/drawingml/2006/main" noChangeAspect="1"/>
          </p:cNvPicPr>
          <p:nvPr/>
        </p:nvPicPr>
        <p:blipFill>
          <a:blip xmlns:r="http://schemas.openxmlformats.org/officeDocument/2006/relationships" xmlns:a="http://schemas.openxmlformats.org/drawingml/2006/main" r:embed="R638d416cbe834b39"/>
          <a:stretch xmlns:a="http://schemas.openxmlformats.org/drawingml/2006/main">
            <a:fillRect l="0" t="0" r="0" b="0"/>
          </a:stretch>
        </p:blipFill>
        <p:spPr>
          <a:xfrm xmlns:a="http://schemas.openxmlformats.org/drawingml/2006/main">
            <a:off x="-1" y="4884462"/>
            <a:ext cx="9144001" cy="2000922"/>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標題及物件">
    <p:spTree>
      <p:nvGrpSpPr>
        <p:cNvPr id="1" name=""/>
        <p:cNvGrpSpPr/>
        <p:nvPr/>
      </p:nvGrpSpPr>
      <p:grpSpPr>
        <a:xfrm xmlns:a="http://schemas.openxmlformats.org/drawingml/2006/main"/>
      </p:grpSpPr>
      <p:sp>
        <p:nvSpPr>
          <p:cNvPr id="3" name="內容版面配置區 2">
            <a:extLst xmlns:a="http://schemas.openxmlformats.org/drawingml/2006/main">
              <a:ext uri="{FF2B5EF4-FFF2-40B4-BE49-F238E27FC236}">
                <a16:creationId xmlns:a16="http://schemas.microsoft.com/office/drawing/2014/main" id="{773CCBC9-AA66-44CC-A841-61FE07F3B22B}"/>
              </a:ext>
            </a:extLst>
          </p:cNvPr>
          <p:cNvSpPr>
            <a:spLocks xmlns:a="http://schemas.openxmlformats.org/drawingml/2006/main" noGrp="1"/>
          </p:cNvSpPr>
          <p:nvPr>
            <p:ph idx="1"/>
          </p:nvPr>
        </p:nvSpPr>
        <p:spPr>
          <a:xfrm xmlns:a="http://schemas.openxmlformats.org/drawingml/2006/main">
            <a:off x="457200" y="1052738"/>
            <a:ext cx="8229600" cy="5073427"/>
          </a:xfrm>
          <a:prstGeom xmlns:a="http://schemas.openxmlformats.org/drawingml/2006/main" prst="rect">
            <a:avLst/>
          </a:prstGeom>
        </p:spPr>
        <p:txBody>
          <a:bodyPr xmlns:a="http://schemas.openxmlformats.org/drawingml/2006/main"/>
          <a:lstStyle xmlns:a="http://schemas.openxmlformats.org/drawingml/2006/main">
            <a:lvl1pPr>
              <a:buNone/>
              <a:defRPr>
                <a:latin typeface="微軟正黑體"/>
                <a:ea typeface="微軟正黑體"/>
                <a:cs typeface="微軟正黑體"/>
              </a:defRPr>
            </a:lvl1pPr>
            <a:lvl2pPr>
              <a:buNone/>
              <a:defRPr>
                <a:latin typeface="微軟正黑體"/>
                <a:ea typeface="微軟正黑體"/>
                <a:cs typeface="微軟正黑體"/>
              </a:defRPr>
            </a:lvl2pPr>
            <a:lvl3pPr>
              <a:buNone/>
              <a:defRPr>
                <a:latin typeface="微軟正黑體"/>
                <a:ea typeface="微軟正黑體"/>
                <a:cs typeface="微軟正黑體"/>
              </a:defRPr>
            </a:lvl3pPr>
            <a:lvl4pPr>
              <a:buNone/>
              <a:defRPr>
                <a:latin typeface="微軟正黑體"/>
                <a:ea typeface="微軟正黑體"/>
                <a:cs typeface="微軟正黑體"/>
              </a:defRPr>
            </a:lvl4pPr>
            <a:lvl5pPr>
              <a:buNone/>
              <a:defRPr>
                <a:latin typeface="微軟正黑體"/>
                <a:ea typeface="微軟正黑體"/>
                <a:cs typeface="微軟正黑體"/>
              </a:defRPr>
            </a:lvl5pPr>
          </a:lstStyle>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4" name="日期版面配置區 3">
            <a:extLst xmlns:a="http://schemas.openxmlformats.org/drawingml/2006/main">
              <a:ext uri="{FF2B5EF4-FFF2-40B4-BE49-F238E27FC236}">
                <a16:creationId xmlns:a16="http://schemas.microsoft.com/office/drawing/2014/main" id="{5BFC3CCE-7F2F-4BA3-945A-E887C73AE4A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頁尾版面配置區 4">
            <a:extLst xmlns:a="http://schemas.openxmlformats.org/drawingml/2006/main">
              <a:ext uri="{FF2B5EF4-FFF2-40B4-BE49-F238E27FC236}">
                <a16:creationId xmlns:a16="http://schemas.microsoft.com/office/drawing/2014/main" id="{7B9B70ED-2069-4764-88C7-2B75EFCEB6B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E9498B34-9E33-443E-A369-F7D593C33F5C}"/>
              </a:ext>
            </a:extLst>
          </p:cNvPr>
          <p:cNvSpPr>
            <a:spLocks xmlns:a="http://schemas.openxmlformats.org/drawingml/2006/main" noGrp="1"/>
          </p:cNvSpPr>
          <p:nvPr>
            <p:ph type="sldNum" idx="12"/>
          </p:nvPr>
        </p:nvSpPr>
        <p:spPr>
          <a:xfrm xmlns:a="http://schemas.openxmlformats.org/drawingml/2006/main">
            <a:off x="8018040" y="5733258"/>
            <a:ext cx="874440" cy="365125"/>
          </a:xfrm>
        </p:spPr>
        <p:txBody>
          <a:bodyPr xmlns:a="http://schemas.openxmlformats.org/drawingml/2006/main"/>
          <a:lstStyle xmlns:a="http://schemas.openxmlformats.org/drawingml/2006/main">
            <a:lvl1pPr>
              <a:buNone/>
              <a:defRPr sz="2000">
                <a:solidFill>
                  <a:schemeClr val="tx1">
                    <a:lumMod val="65000"/>
                    <a:lumOff val="35000"/>
                  </a:schemeClr>
                </a:solidFill>
                <a:latin typeface="微軟正黑體"/>
                <a:ea typeface="微軟正黑體"/>
                <a:cs typeface="微軟正黑體"/>
              </a:defRPr>
            </a:lvl1pPr>
          </a:lstStyle>
          <a:p xmlns:a="http://schemas.openxmlformats.org/drawingml/2006/main">
            <a:fld id="{06F19A45-BA0D-45DE-A687-A591EF4A02CE}" type="slidenum">
              <a:t>‹#›</a:t>
            </a:fld>
            <a:endParaRPr/>
          </a:p>
        </p:txBody>
      </p:sp>
      <p:sp>
        <p:nvSpPr>
          <p:cNvPr id="9" name="標題 10">
            <a:extLst xmlns:a="http://schemas.openxmlformats.org/drawingml/2006/main">
              <a:ext uri="{FF2B5EF4-FFF2-40B4-BE49-F238E27FC236}">
                <a16:creationId xmlns:a16="http://schemas.microsoft.com/office/drawing/2014/main" id="{5C063A1E-C9F7-4B11-A407-3C753BAC8BCA}"/>
              </a:ext>
            </a:extLst>
          </p:cNvPr>
          <p:cNvSpPr>
            <a:spLocks xmlns:a="http://schemas.openxmlformats.org/drawingml/2006/main" noGrp="1"/>
          </p:cNvSpPr>
          <p:nvPr/>
        </p:nvSpPr>
        <p:spPr>
          <a:xfrm xmlns:a="http://schemas.openxmlformats.org/drawingml/2006/main">
            <a:off x="467544" y="30571"/>
            <a:ext cx="2314600" cy="980728"/>
          </a:xfrm>
          <a:prstGeom xmlns:a="http://schemas.openxmlformats.org/drawingml/2006/main" prst="rect">
            <a:avLst/>
          </a:prstGeom>
        </p:spPr>
        <p:txBody>
          <a:bodyPr xmlns:a="http://schemas.openxmlformats.org/drawingml/2006/main">
            <a:normAutofit/>
          </a:bodyPr>
          <a:lstStyle xmlns:a="http://schemas.openxmlformats.org/drawingml/2006/main">
            <a:lvl1pPr algn="ctr" defTabSz="914400">
              <a:spcBef>
                <a:spcPct val="0"/>
              </a:spcBef>
              <a:buNone/>
              <a:defRPr sz="4400" kern="1200">
                <a:solidFill>
                  <a:schemeClr val="tx1"/>
                </a:solidFill>
                <a:latin typeface="+mj-lt"/>
                <a:ea typeface="+mj-lt"/>
                <a:cs typeface="+mj-lt"/>
              </a:defRPr>
            </a:lvl1pPr>
          </a:lstStyle>
          <a:p xmlns:a="http://schemas.openxmlformats.org/drawingml/2006/main">
            <a:pPr algn="l">
              <a:buNone/>
            </a:pPr>
            <a:endParaRPr sz="3600" b="1">
              <a:solidFill>
                <a:schemeClr val="tx1">
                  <a:lumMod val="50000"/>
                  <a:lumOff val="50000"/>
                </a:schemeClr>
              </a:solidFill>
              <a:latin typeface="微軟正黑體"/>
              <a:ea typeface="微軟正黑體"/>
              <a:cs typeface="微軟正黑體"/>
            </a:endParaRPr>
          </a:p>
        </p:txBody>
      </p:sp>
      <p:sp>
        <p:nvSpPr>
          <p:cNvPr id="13" name="矩形 12">
            <a:extLst xmlns:a="http://schemas.openxmlformats.org/drawingml/2006/main">
              <a:ext uri="{FF2B5EF4-FFF2-40B4-BE49-F238E27FC236}">
                <a16:creationId xmlns:a16="http://schemas.microsoft.com/office/drawing/2014/main" id="{977DA8B1-471F-4762-9217-5BCBF93AC0E9}"/>
              </a:ext>
            </a:extLst>
          </p:cNvPr>
          <p:cNvSpPr>
            <a:spLocks xmlns:a="http://schemas.openxmlformats.org/drawingml/2006/main" noGrp="1"/>
          </p:cNvSpPr>
          <p:nvPr/>
        </p:nvSpPr>
        <p:spPr>
          <a:xfrm xmlns:a="http://schemas.openxmlformats.org/drawingml/2006/main">
            <a:off x="0" y="6624736"/>
            <a:ext cx="9144000" cy="233264"/>
          </a:xfrm>
          <a:prstGeom xmlns:a="http://schemas.openxmlformats.org/drawingml/2006/main" prst="rect">
            <a:avLst/>
          </a:prstGeom>
          <a:solidFill xmlns:a="http://schemas.openxmlformats.org/drawingml/2006/main">
            <a:srgbClr val="F9DC4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pic>
        <p:nvPicPr>
          <p:cNvPr id="25" name="圖片 13"/>
          <p:cNvPicPr>
            <a:picLocks xmlns:a="http://schemas.openxmlformats.org/drawingml/2006/main" noChangeAspect="1"/>
          </p:cNvPicPr>
          <p:nvPr/>
        </p:nvPicPr>
        <p:blipFill rotWithShape="1">
          <a:blip xmlns:r="http://schemas.openxmlformats.org/officeDocument/2006/relationships" xmlns:a="http://schemas.openxmlformats.org/drawingml/2006/main" r:embed="R94fe1828fee54ce4"/>
          <a:srcRect xmlns:a="http://schemas.openxmlformats.org/drawingml/2006/main" l="0" t="-4376" r="0" b="-1"/>
          <a:stretch xmlns:a="http://schemas.openxmlformats.org/drawingml/2006/main"/>
        </p:blipFill>
        <p:spPr>
          <a:xfrm xmlns:a="http://schemas.openxmlformats.org/drawingml/2006/main">
            <a:off x="0" y="4941168"/>
            <a:ext cx="9143999" cy="1616764"/>
          </a:xfrm>
          <a:prstGeom xmlns:a="http://schemas.openxmlformats.org/drawingml/2006/main" prst="rect">
            <a:avLst/>
          </a:prstGeom>
        </p:spPr>
      </p:pic>
      <p:sp>
        <p:nvSpPr>
          <p:cNvPr id="16" name="矩形 15">
            <a:extLst xmlns:a="http://schemas.openxmlformats.org/drawingml/2006/main">
              <a:ext uri="{FF2B5EF4-FFF2-40B4-BE49-F238E27FC236}">
                <a16:creationId xmlns:a16="http://schemas.microsoft.com/office/drawing/2014/main" id="{AC0F815C-BEF6-5646-BD65-C1F93FD4B4C4}"/>
              </a:ext>
            </a:extLst>
          </p:cNvPr>
          <p:cNvSpPr>
            <a:spLocks xmlns:a="http://schemas.openxmlformats.org/drawingml/2006/main" noGrp="1"/>
          </p:cNvSpPr>
          <p:nvPr/>
        </p:nvSpPr>
        <p:spPr>
          <a:xfrm xmlns:a="http://schemas.openxmlformats.org/drawingml/2006/main">
            <a:off x="395537" y="836713"/>
            <a:ext cx="8352928" cy="45719"/>
          </a:xfrm>
          <a:prstGeom xmlns:a="http://schemas.openxmlformats.org/drawingml/2006/main" prst="rect">
            <a:avLst/>
          </a:prstGeom>
          <a:solidFill xmlns:a="http://schemas.openxmlformats.org/drawingml/2006/main">
            <a:schemeClr val="bg1">
              <a:lumMod val="8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pic>
        <p:nvPicPr>
          <p:cNvPr id="27" name="圖片 16"/>
          <p:cNvPicPr>
            <a:picLocks xmlns:a="http://schemas.openxmlformats.org/drawingml/2006/main" noChangeAspect="1"/>
          </p:cNvPicPr>
          <p:nvPr/>
        </p:nvPicPr>
        <p:blipFill>
          <a:blip xmlns:r="http://schemas.openxmlformats.org/officeDocument/2006/relationships" xmlns:a="http://schemas.openxmlformats.org/drawingml/2006/main" r:embed="R133ba16f11f34aaf"/>
          <a:stretch xmlns:a="http://schemas.openxmlformats.org/drawingml/2006/main">
            <a:fillRect l="0" t="0" r="0" b="0"/>
          </a:stretch>
        </p:blipFill>
        <p:spPr>
          <a:xfrm xmlns:a="http://schemas.openxmlformats.org/drawingml/2006/main">
            <a:off x="7703567" y="198024"/>
            <a:ext cx="1026465" cy="638689"/>
          </a:xfrm>
          <a:prstGeom xmlns:a="http://schemas.openxmlformats.org/drawingml/2006/main" prst="rect">
            <a:avLst/>
          </a:prstGeom>
        </p:spPr>
      </p:pic>
    </p:spTree>
  </p:cSld>
</p:sldLayout>
</file>

<file path=ppt/slideLayouts/slideLayout3.xml><?xml version="1.0" encoding="utf-8"?>
<p:sldLayout xmlns:p="http://schemas.openxmlformats.org/presentationml/2006/main" userDrawn="1">
  <p:cSld name="1_標題及物件">
    <p:spTree>
      <p:nvGrpSpPr>
        <p:cNvPr id="1" name=""/>
        <p:cNvGrpSpPr/>
        <p:nvPr/>
      </p:nvGrpSpPr>
      <p:grpSpPr>
        <a:xfrm xmlns:a="http://schemas.openxmlformats.org/drawingml/2006/main"/>
      </p:grpSpPr>
      <p:sp>
        <p:nvSpPr>
          <p:cNvPr id="3" name="內容版面配置區 2">
            <a:extLst xmlns:a="http://schemas.openxmlformats.org/drawingml/2006/main">
              <a:ext uri="{FF2B5EF4-FFF2-40B4-BE49-F238E27FC236}">
                <a16:creationId xmlns:a16="http://schemas.microsoft.com/office/drawing/2014/main" id="{424F98B3-2A23-4762-AEA9-F100CC6CDF11}"/>
              </a:ext>
            </a:extLst>
          </p:cNvPr>
          <p:cNvSpPr>
            <a:spLocks xmlns:a="http://schemas.openxmlformats.org/drawingml/2006/main" noGrp="1"/>
          </p:cNvSpPr>
          <p:nvPr>
            <p:ph idx="1"/>
          </p:nvPr>
        </p:nvSpPr>
        <p:spPr>
          <a:xfrm xmlns:a="http://schemas.openxmlformats.org/drawingml/2006/main">
            <a:off x="628650" y="1825625"/>
            <a:ext cx="78867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mn-ea"/>
                <a:ea typeface="+mn-ea"/>
                <a:cs typeface="+mn-ea"/>
              </a:defRPr>
            </a:lvl1pPr>
            <a:lvl2pPr>
              <a:buNone/>
              <a:defRPr>
                <a:latin typeface="+mn-ea"/>
                <a:ea typeface="+mn-ea"/>
                <a:cs typeface="+mn-ea"/>
              </a:defRPr>
            </a:lvl2pPr>
            <a:lvl3pPr>
              <a:buNone/>
              <a:defRPr>
                <a:latin typeface="+mn-ea"/>
                <a:ea typeface="+mn-ea"/>
                <a:cs typeface="+mn-ea"/>
              </a:defRPr>
            </a:lvl3pPr>
            <a:lvl4pPr>
              <a:buNone/>
              <a:defRPr>
                <a:latin typeface="+mn-ea"/>
                <a:ea typeface="+mn-ea"/>
                <a:cs typeface="+mn-ea"/>
              </a:defRPr>
            </a:lvl4pPr>
            <a:lvl5pPr>
              <a:buNone/>
              <a:defRPr>
                <a:latin typeface="+mn-ea"/>
                <a:ea typeface="+mn-ea"/>
                <a:cs typeface="+mn-ea"/>
              </a:defRPr>
            </a:lvl5pPr>
          </a:lstStyle>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4" name="Rectangle 4">
            <a:extLst xmlns:a="http://schemas.openxmlformats.org/drawingml/2006/main">
              <a:ext uri="{FF2B5EF4-FFF2-40B4-BE49-F238E27FC236}">
                <a16:creationId xmlns:a16="http://schemas.microsoft.com/office/drawing/2014/main" id="{C0EE32BF-F123-4792-A157-D13808990F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Rectangle 5">
            <a:extLst xmlns:a="http://schemas.openxmlformats.org/drawingml/2006/main">
              <a:ext uri="{FF2B5EF4-FFF2-40B4-BE49-F238E27FC236}">
                <a16:creationId xmlns:a16="http://schemas.microsoft.com/office/drawing/2014/main" id="{F71E268D-6E53-421A-B0E7-12500E77C71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5490C5D0-1A06-4631-9873-316F353E0C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fld id="{F4223C03-1ED5-402E-8F3E-89A17789C924}" type="slidenum">
              <a:t>‹#›</a:t>
            </a:fld>
            <a:endParaRPr/>
          </a:p>
        </p:txBody>
      </p:sp>
      <p:sp>
        <p:nvSpPr>
          <p:cNvPr id="9" name="矩形 8">
            <a:extLst xmlns:a="http://schemas.openxmlformats.org/drawingml/2006/main">
              <a:ext uri="{FF2B5EF4-FFF2-40B4-BE49-F238E27FC236}">
                <a16:creationId xmlns:a16="http://schemas.microsoft.com/office/drawing/2014/main" id="{C47DC70B-29C4-41D2-8800-6E96317D569F}"/>
              </a:ext>
            </a:extLst>
          </p:cNvPr>
          <p:cNvSpPr>
            <a:spLocks xmlns:a="http://schemas.openxmlformats.org/drawingml/2006/main" noGrp="1"/>
          </p:cNvSpPr>
          <p:nvPr/>
        </p:nvSpPr>
        <p:spPr>
          <a:xfrm xmlns:a="http://schemas.openxmlformats.org/drawingml/2006/main">
            <a:off x="8215339" y="0"/>
            <a:ext cx="714380" cy="785794"/>
          </a:xfrm>
          <a:prstGeom xmlns:a="http://schemas.openxmlformats.org/drawingml/2006/main" prst="rect">
            <a:avLst/>
          </a:prstGeom>
          <a:solidFill xmlns:a="http://schemas.openxmlformats.org/drawingml/2006/main">
            <a:schemeClr val="bg1"/>
          </a:solidFill>
          <a:ln xmlns:a="http://schemas.openxmlformats.org/drawingml/2006/main" w="12700" cmpd="sng">
            <a:solidFill>
              <a:schemeClr val="bg1"/>
            </a:solidFill>
            <a:prstDash val="dash"/>
            <a:headEnd type="none" w="med" len="med"/>
            <a:tailEnd type="none" w="med" len="med"/>
          </a:ln>
        </p:spPr>
        <p:txBody>
          <a:bodyPr xmlns:a="http://schemas.openxmlformats.org/drawingml/2006/main" vert="horz" wrap="none" lIns="91440" tIns="45720" rIns="91440" bIns="45720" anchor="ctr"/>
          <a:lstStyle xmlns:a="http://schemas.openxmlformats.org/drawingml/2006/main"/>
          <a:p xmlns:a="http://schemas.openxmlformats.org/drawingml/2006/main">
            <a:pPr marL="0" marR="0" indent="0" algn="ctr" defTabSz="914400">
              <a:lnSpc>
                <a:spcPct val="100000"/>
              </a:lnSpc>
              <a:spcBef>
                <a:spcPct val="0"/>
              </a:spcBef>
              <a:spcAft>
                <a:spcPct val="0"/>
              </a:spcAft>
              <a:buClrTx/>
              <a:buSzTx/>
              <a:buFontTx/>
              <a:buNone/>
            </a:pPr>
            <a:endParaRPr sz="3200" b="0" i="0" u="none" cap="none" baseline="0">
              <a:ln>
                <a:noFill/>
              </a:ln>
              <a:solidFill>
                <a:schemeClr val="tx1"/>
              </a:solidFill>
              <a:latin typeface="標楷體"/>
              <a:ea typeface="標楷體"/>
              <a:cs typeface="標楷體"/>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7d7f01c3a4489b" /><Relationship Type="http://schemas.openxmlformats.org/officeDocument/2006/relationships/slideLayout" Target="/ppt/slideLayouts/slideLayout1.xml" Id="R295c1333e80a4bd3" /><Relationship Type="http://schemas.openxmlformats.org/officeDocument/2006/relationships/slideLayout" Target="/ppt/slideLayouts/slideLayout2.xml" Id="R13fc40509f924ffa" /><Relationship Type="http://schemas.openxmlformats.org/officeDocument/2006/relationships/slideLayout" Target="/ppt/slideLayouts/slideLayout3.xml" Id="R558f1a1b67ff440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4" name="日期版面配置區 3">
            <a:extLst xmlns:a="http://schemas.openxmlformats.org/drawingml/2006/main">
              <a:ext uri="{FF2B5EF4-FFF2-40B4-BE49-F238E27FC236}">
                <a16:creationId xmlns:a16="http://schemas.microsoft.com/office/drawing/2014/main" id="{4697BDE1-F9F9-47C0-8910-E93CB9B61697}"/>
              </a:ext>
            </a:extLst>
          </p:cNvPr>
          <p:cNvSpPr>
            <a:spLocks xmlns:a="http://schemas.openxmlformats.org/drawingml/2006/main" noGrp="1"/>
          </p:cNvSpPr>
          <p:nvPr>
            <p:ph type="dt" idx="2"/>
          </p:nvPr>
        </p:nvSpPr>
        <p:spPr>
          <a:xfrm xmlns:a="http://schemas.openxmlformats.org/drawingml/2006/main">
            <a:off x="457200" y="6356352"/>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p>
        </p:txBody>
      </p:sp>
      <p:sp>
        <p:nvSpPr>
          <p:cNvPr id="5" name="頁尾版面配置區 4">
            <a:extLst xmlns:a="http://schemas.openxmlformats.org/drawingml/2006/main">
              <a:ext uri="{FF2B5EF4-FFF2-40B4-BE49-F238E27FC236}">
                <a16:creationId xmlns:a16="http://schemas.microsoft.com/office/drawing/2014/main" id="{084C43F3-D9AA-4E26-93D5-6D015F0E340E}"/>
              </a:ext>
            </a:extLst>
          </p:cNvPr>
          <p:cNvSpPr>
            <a:spLocks xmlns:a="http://schemas.openxmlformats.org/drawingml/2006/main" noGrp="1"/>
          </p:cNvSpPr>
          <p:nvPr>
            <p:ph type="ftr" idx="3"/>
          </p:nvPr>
        </p:nvSpPr>
        <p:spPr>
          <a:xfrm xmlns:a="http://schemas.openxmlformats.org/drawingml/2006/main">
            <a:off x="3124200" y="6356352"/>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0F00F049-780E-4FE5-95C3-A26F0097EB82}"/>
              </a:ext>
            </a:extLst>
          </p:cNvPr>
          <p:cNvSpPr>
            <a:spLocks xmlns:a="http://schemas.openxmlformats.org/drawingml/2006/main" noGrp="1"/>
          </p:cNvSpPr>
          <p:nvPr>
            <p:ph type="sldNum" idx="4"/>
          </p:nvPr>
        </p:nvSpPr>
        <p:spPr>
          <a:xfrm xmlns:a="http://schemas.openxmlformats.org/drawingml/2006/main">
            <a:off x="6553200" y="6356352"/>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06F19A45-BA0D-45DE-A687-A591EF4A02CE}"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5c1333e80a4bd3"/>
    <p:sldLayoutId xmlns:r="http://schemas.openxmlformats.org/officeDocument/2006/relationships" id="2147483650" r:id="R13fc40509f924ffa"/>
    <p:sldLayoutId xmlns:r="http://schemas.openxmlformats.org/officeDocument/2006/relationships" id="2147483651" r:id="R558f1a1b67ff440a"/>
  </p:sldLayoutIdLst>
  <p:hf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8941a620823b4fff" /><Relationship Type="http://schemas.openxmlformats.org/officeDocument/2006/relationships/notesSlide" Target="/ppt/notesSlides/notesSlide1.xml" Id="R94539d7696904c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7bcaf1e175054bb2" /><Relationship Type="http://schemas.openxmlformats.org/officeDocument/2006/relationships/image" Target="/ppt/media/image4.png" Id="R5f58b83b45e44419" /><Relationship Type="http://schemas.openxmlformats.org/officeDocument/2006/relationships/image" Target="/ppt/media/image5.png" Id="R358cd9b3a01e4046" /><Relationship Type="http://schemas.openxmlformats.org/officeDocument/2006/relationships/notesSlide" Target="/ppt/notesSlides/notesSlide2.xml" Id="R2ef9f62bf72d4d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23c7169dc3684d2b" /><Relationship Type="http://schemas.openxmlformats.org/officeDocument/2006/relationships/notesSlide" Target="/ppt/notesSlides/notesSlide3.xml" Id="Ra9367ec2bf844f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ad93763f66484b79" /><Relationship Type="http://schemas.openxmlformats.org/officeDocument/2006/relationships/image" Target="/ppt/media/image6.png" Id="R0892d30b5e3d4d47" /><Relationship Type="http://schemas.openxmlformats.org/officeDocument/2006/relationships/image" Target="/ppt/media/image7.png" Id="Rb52b87242984440e" /><Relationship Type="http://schemas.openxmlformats.org/officeDocument/2006/relationships/notesSlide" Target="/ppt/notesSlides/notesSlide4.xml" Id="Ra08d22662d8b40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993465b3c9b5423b" /><Relationship Type="http://schemas.openxmlformats.org/officeDocument/2006/relationships/image" Target="/ppt/media/image8.png" Id="Rc97e76e5c26b4629" /><Relationship Type="http://schemas.openxmlformats.org/officeDocument/2006/relationships/notesSlide" Target="/ppt/notesSlides/notesSlide5.xml" Id="R95a27c0a30494c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7d718bb0d3684efc" /><Relationship Type="http://schemas.openxmlformats.org/officeDocument/2006/relationships/chart" Target="/ppt/slides/charts/chart1.xml" Id="Ra2b96c32f7e3485e" /><Relationship Type="http://schemas.openxmlformats.org/officeDocument/2006/relationships/chart" Target="/ppt/slides/charts/chart2.xml" Id="Rad778621d9c347aa" /><Relationship Type="http://schemas.openxmlformats.org/officeDocument/2006/relationships/notesSlide" Target="/ppt/notesSlides/notesSlide6.xml" Id="R1f98b521e6354a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99f17523f3494e2e" /><Relationship Type="http://schemas.openxmlformats.org/officeDocument/2006/relationships/chart" Target="/ppt/slides/charts/chart3.xml" Id="Rd74add10807841be" /><Relationship Type="http://schemas.openxmlformats.org/officeDocument/2006/relationships/chart" Target="/ppt/slides/charts/chart4.xml" Id="R7f3286ab261940d8" /><Relationship Type="http://schemas.openxmlformats.org/officeDocument/2006/relationships/notesSlide" Target="/ppt/notesSlides/notesSlide7.xml" Id="Rf7c2a434cbb049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d568a3f27e3847c2" /><Relationship Type="http://schemas.openxmlformats.org/officeDocument/2006/relationships/chart" Target="/ppt/slides/charts/chart5.xml" Id="Rce4e2ce3dba040b9" /><Relationship Type="http://schemas.openxmlformats.org/officeDocument/2006/relationships/chart" Target="/ppt/slides/charts/chart6.xml" Id="Raf9683f9e3894378" /><Relationship Type="http://schemas.openxmlformats.org/officeDocument/2006/relationships/notesSlide" Target="/ppt/notesSlides/notesSlide8.xml" Id="Re61fbcfc3d2248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ecbcaa0f2c9f4cec" /><Relationship Type="http://schemas.openxmlformats.org/officeDocument/2006/relationships/chart" Target="/ppt/slides/charts/chart7.xml" Id="Rd209a69978a24b91" /><Relationship Type="http://schemas.openxmlformats.org/officeDocument/2006/relationships/chart" Target="/ppt/slides/charts/chart8.xml" Id="R1cb37e92f5a0434f" /><Relationship Type="http://schemas.openxmlformats.org/officeDocument/2006/relationships/notesSlide" Target="/ppt/notesSlides/notesSlide9.xml" Id="Ra6eb786f8b764d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3376ebc17d324f26" /><Relationship Type="http://schemas.openxmlformats.org/officeDocument/2006/relationships/notesSlide" Target="/ppt/notesSlides/notesSlide10.xml" Id="R22a84171d8c5408a"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00" b="1">
                <a:solidFill>
                  <a:srgbClr val="404040"/>
                </a:solidFill>
                <a:latin typeface="微軟正黑體"/>
                <a:ea typeface="微軟正黑體"/>
                <a:cs typeface="微軟正黑體"/>
              </a:rPr>
              <a:t>滿借覆蓋率</a:t>
            </a:r>
          </a:p>
        </c:rich>
      </c:tx>
      <c:overlay val="0"/>
      <c:txPr>
        <a:bodyPr xmlns:a="http://schemas.openxmlformats.org/drawingml/2006/main" anchorCtr="1"/>
        <a:lstStyle xmlns:a="http://schemas.openxmlformats.org/drawingml/2006/main"/>
        <a:p xmlns:a="http://schemas.openxmlformats.org/drawingml/2006/main">
          <a:pPr>
            <a:defRPr sz="1800" b="1">
              <a:solidFill>
                <a:srgbClr val="404040"/>
              </a:solidFill>
              <a:latin typeface="微軟正黑體"/>
              <a:ea typeface="微軟正黑體"/>
              <a:cs typeface="微軟正黑體"/>
            </a:defRPr>
          </a:pPr>
        </a:p>
      </c:txPr>
    </c:title>
    <c:plotArea>
      <c:lineChart>
        <c:grouping val="standard"/>
        <c:varyColors val="0"/>
        <c:ser>
          <c:idx val="0"/>
          <c:order val="0"/>
          <c:tx>
            <c:v>A級</c:v>
          </c:tx>
          <c:spPr>
            <a:ln xmlns:a="http://schemas.openxmlformats.org/drawingml/2006/main" w="33338">
              <a:solidFill>
                <a:srgbClr val="4472C4"/>
              </a:solidFill>
              <a:prstDash val="solid"/>
            </a:ln>
          </c:spPr>
          <c:marker>
            <c:symbol val="circle"/>
            <c:size val="6"/>
            <c:spPr>
              <a:solidFill xmlns:a="http://schemas.openxmlformats.org/drawingml/2006/main">
                <a:srgbClr val="4472C4"/>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0.01312</c:v>
              </c:pt>
              <c:pt idx="1">
                <c:v>0.12197</c:v>
              </c:pt>
              <c:pt idx="2">
                <c:v>0.18342</c:v>
              </c:pt>
              <c:pt idx="3">
                <c:v>0.27891</c:v>
              </c:pt>
              <c:pt idx="4">
                <c:v>0.25041</c:v>
              </c:pt>
              <c:pt idx="5">
                <c:v>0.11469</c:v>
              </c:pt>
              <c:pt idx="6">
                <c:v>0.08087</c:v>
              </c:pt>
              <c:pt idx="7">
                <c:v>0.15584</c:v>
              </c:pt>
              <c:pt idx="8">
                <c:v>0.11788</c:v>
              </c:pt>
              <c:pt idx="9">
                <c:v>0.06721</c:v>
              </c:pt>
              <c:pt idx="10">
                <c:v>0.02415</c:v>
              </c:pt>
              <c:pt idx="11">
                <c:v>0.06494</c:v>
              </c:pt>
              <c:pt idx="12">
                <c:v>0.10906</c:v>
              </c:pt>
              <c:pt idx="13">
                <c:v>0.14785</c:v>
              </c:pt>
              <c:pt idx="14">
                <c:v>0.14471</c:v>
              </c:pt>
              <c:pt idx="15">
                <c:v>0.12624</c:v>
              </c:pt>
              <c:pt idx="16">
                <c:v>0.18664</c:v>
              </c:pt>
              <c:pt idx="17">
                <c:v>0.23357</c:v>
              </c:pt>
            </c:numLit>
          </c:val>
          <c:smooth val="0"/>
        </c:ser>
        <c:ser>
          <c:idx val="1"/>
          <c:order val="1"/>
          <c:tx>
            <c:v>B級</c:v>
          </c:tx>
          <c:spPr>
            <a:ln xmlns:a="http://schemas.openxmlformats.org/drawingml/2006/main" w="33338">
              <a:solidFill>
                <a:srgbClr val="ED7D31"/>
              </a:solidFill>
              <a:prstDash val="solid"/>
            </a:ln>
          </c:spPr>
          <c:marker>
            <c:symbol val="circle"/>
            <c:size val="6"/>
            <c:spPr>
              <a:solidFill xmlns:a="http://schemas.openxmlformats.org/drawingml/2006/main">
                <a:srgbClr val="ED7D31"/>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0.02079</c:v>
              </c:pt>
              <c:pt idx="1">
                <c:v>0.07571</c:v>
              </c:pt>
              <c:pt idx="2">
                <c:v>0.1708</c:v>
              </c:pt>
              <c:pt idx="3">
                <c:v>0.24919</c:v>
              </c:pt>
              <c:pt idx="4">
                <c:v>0.20521</c:v>
              </c:pt>
              <c:pt idx="5">
                <c:v>0.06974</c:v>
              </c:pt>
              <c:pt idx="6">
                <c:v>0.06079</c:v>
              </c:pt>
              <c:pt idx="7">
                <c:v>0.11935</c:v>
              </c:pt>
              <c:pt idx="8">
                <c:v>0.10428</c:v>
              </c:pt>
              <c:pt idx="9">
                <c:v>0.05548</c:v>
              </c:pt>
              <c:pt idx="10">
                <c:v>0.02986</c:v>
              </c:pt>
              <c:pt idx="11">
                <c:v>0.06929</c:v>
              </c:pt>
              <c:pt idx="12">
                <c:v>0.18295</c:v>
              </c:pt>
              <c:pt idx="13">
                <c:v>0.2427</c:v>
              </c:pt>
              <c:pt idx="14">
                <c:v>0.19832</c:v>
              </c:pt>
              <c:pt idx="15">
                <c:v>0.13343</c:v>
              </c:pt>
              <c:pt idx="16">
                <c:v>0.15633</c:v>
              </c:pt>
              <c:pt idx="17">
                <c:v>0.22103</c:v>
              </c:pt>
            </c:numLit>
          </c:val>
          <c:smooth val="0"/>
        </c:ser>
        <c:ser>
          <c:idx val="2"/>
          <c:order val="2"/>
          <c:tx>
            <c:v>C級</c:v>
          </c:tx>
          <c:spPr>
            <a:ln xmlns:a="http://schemas.openxmlformats.org/drawingml/2006/main" w="33338">
              <a:solidFill>
                <a:srgbClr val="70AD47"/>
              </a:solidFill>
              <a:prstDash val="solid"/>
            </a:ln>
          </c:spPr>
          <c:marker>
            <c:symbol val="circle"/>
            <c:size val="6"/>
            <c:spPr>
              <a:solidFill xmlns:a="http://schemas.openxmlformats.org/drawingml/2006/main">
                <a:srgbClr val="70AD47"/>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0.01362</c:v>
              </c:pt>
              <c:pt idx="1">
                <c:v>0.06897</c:v>
              </c:pt>
              <c:pt idx="2">
                <c:v>0.13603</c:v>
              </c:pt>
              <c:pt idx="3">
                <c:v>0.25054</c:v>
              </c:pt>
              <c:pt idx="4">
                <c:v>0.21845</c:v>
              </c:pt>
              <c:pt idx="5">
                <c:v>0.10492</c:v>
              </c:pt>
              <c:pt idx="6">
                <c:v>0.08055</c:v>
              </c:pt>
              <c:pt idx="7">
                <c:v>0.1482</c:v>
              </c:pt>
              <c:pt idx="8">
                <c:v>0.14869</c:v>
              </c:pt>
              <c:pt idx="9">
                <c:v>0.08919</c:v>
              </c:pt>
              <c:pt idx="10">
                <c:v>0.05997</c:v>
              </c:pt>
              <c:pt idx="11">
                <c:v>0.09273</c:v>
              </c:pt>
              <c:pt idx="12">
                <c:v>0.21091</c:v>
              </c:pt>
              <c:pt idx="13">
                <c:v>0.29433</c:v>
              </c:pt>
              <c:pt idx="14">
                <c:v>0.27778</c:v>
              </c:pt>
              <c:pt idx="15">
                <c:v>0.12647</c:v>
              </c:pt>
              <c:pt idx="16">
                <c:v>0.17843</c:v>
              </c:pt>
              <c:pt idx="17">
                <c:v>0.22462</c:v>
              </c:pt>
            </c:numLit>
          </c:val>
          <c:smooth val="0"/>
        </c:ser>
        <c:dLbls>
          <c:txPr>
            <a:bodyPr xmlns:a="http://schemas.openxmlformats.org/drawingml/2006/main" anchorCtr="1"/>
            <a:lstStyle xmlns:a="http://schemas.openxmlformats.org/drawingml/2006/main"/>
            <a:p xmlns:a="http://schemas.openxmlformats.org/drawingml/2006/main">
              <a:pPr>
                <a:defRPr>
                  <a:latin typeface="微軟正黑體"/>
                  <a:ea typeface="微軟正黑體"/>
                  <a:cs typeface="微軟正黑體"/>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425">
                <a:solidFill>
                  <a:srgbClr val="404040"/>
                </a:solidFill>
                <a:latin typeface="微軟正黑體"/>
                <a:ea typeface="微軟正黑體"/>
                <a:cs typeface="微軟正黑體"/>
              </a:defRPr>
            </a:pPr>
          </a:p>
        </c:txPr>
        <c:crossAx val="48672768"/>
      </c:catAx>
      <c:valAx>
        <c:axId val="48672768"/>
        <c:scaling>
          <c:orientation val="minMax"/>
          <c:max val="0.45"/>
          <c:min val="0"/>
        </c:scaling>
        <c:delete val="0"/>
        <c:axPos val="l"/>
        <c:majorGridlines>
          <c:spPr>
            <a:ln xmlns:a="http://schemas.openxmlformats.org/drawingml/2006/main" w="9525">
              <a:solidFill>
                <a:srgbClr val="D9D9D9"/>
              </a:solidFill>
              <a:prstDash val="solid"/>
            </a:ln>
          </c:spPr>
        </c:majorGridlines>
        <c:numFmt formatCode="0%" sourceLinked="0"/>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425">
                <a:solidFill>
                  <a:srgbClr val="404040"/>
                </a:solidFill>
                <a:latin typeface="微軟正黑體"/>
                <a:ea typeface="微軟正黑體"/>
                <a:cs typeface="微軟正黑體"/>
              </a:defRPr>
            </a:pPr>
          </a:p>
        </c:txPr>
        <c:crossAx val="48650112"/>
        <c:crossBetween val="between"/>
        <c:majorUnit val="0.1"/>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solidFill>
                <a:srgbClr val="404040"/>
              </a:solidFill>
              <a:latin typeface="微軟正黑體"/>
              <a:ea typeface="微軟正黑體"/>
              <a:cs typeface="微軟正黑體"/>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00" b="1">
                <a:solidFill>
                  <a:srgbClr val="404040"/>
                </a:solidFill>
                <a:latin typeface="微軟正黑體"/>
                <a:ea typeface="微軟正黑體"/>
                <a:cs typeface="微軟正黑體"/>
              </a:rPr>
              <a:t>空還覆蓋率</a:t>
            </a:r>
          </a:p>
        </c:rich>
      </c:tx>
      <c:overlay val="0"/>
      <c:txPr>
        <a:bodyPr xmlns:a="http://schemas.openxmlformats.org/drawingml/2006/main" anchorCtr="1"/>
        <a:lstStyle xmlns:a="http://schemas.openxmlformats.org/drawingml/2006/main"/>
        <a:p xmlns:a="http://schemas.openxmlformats.org/drawingml/2006/main">
          <a:pPr>
            <a:defRPr sz="1800" b="1">
              <a:solidFill>
                <a:srgbClr val="404040"/>
              </a:solidFill>
              <a:latin typeface="微軟正黑體"/>
              <a:ea typeface="微軟正黑體"/>
              <a:cs typeface="微軟正黑體"/>
            </a:defRPr>
          </a:pPr>
        </a:p>
      </c:txPr>
    </c:title>
    <c:plotArea>
      <c:lineChart>
        <c:grouping val="standard"/>
        <c:varyColors val="0"/>
        <c:ser>
          <c:idx val="0"/>
          <c:order val="0"/>
          <c:tx>
            <c:v>A級</c:v>
          </c:tx>
          <c:spPr>
            <a:ln xmlns:a="http://schemas.openxmlformats.org/drawingml/2006/main" w="33338">
              <a:solidFill>
                <a:srgbClr val="4472C4"/>
              </a:solidFill>
              <a:prstDash val="solid"/>
            </a:ln>
          </c:spPr>
          <c:marker>
            <c:symbol val="circle"/>
            <c:size val="6"/>
            <c:spPr>
              <a:solidFill xmlns:a="http://schemas.openxmlformats.org/drawingml/2006/main">
                <a:srgbClr val="4472C4"/>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0.01783</c:v>
              </c:pt>
              <c:pt idx="1">
                <c:v>0.08566</c:v>
              </c:pt>
              <c:pt idx="2">
                <c:v>0.08736</c:v>
              </c:pt>
              <c:pt idx="3">
                <c:v>0.05553</c:v>
              </c:pt>
              <c:pt idx="4">
                <c:v>0.06895</c:v>
              </c:pt>
              <c:pt idx="5">
                <c:v>0.03727</c:v>
              </c:pt>
              <c:pt idx="6">
                <c:v>0.03522</c:v>
              </c:pt>
              <c:pt idx="7">
                <c:v>0.05436</c:v>
              </c:pt>
              <c:pt idx="8">
                <c:v>0.04561</c:v>
              </c:pt>
              <c:pt idx="9">
                <c:v>0.03153</c:v>
              </c:pt>
              <c:pt idx="10">
                <c:v>0.03698</c:v>
              </c:pt>
              <c:pt idx="11">
                <c:v>0.06628</c:v>
              </c:pt>
              <c:pt idx="12">
                <c:v>0.0897</c:v>
              </c:pt>
              <c:pt idx="13">
                <c:v>0.05813</c:v>
              </c:pt>
              <c:pt idx="14">
                <c:v>0.04839</c:v>
              </c:pt>
              <c:pt idx="15">
                <c:v>0.04228</c:v>
              </c:pt>
              <c:pt idx="16">
                <c:v>0.06234</c:v>
              </c:pt>
              <c:pt idx="17">
                <c:v>0.10823</c:v>
              </c:pt>
            </c:numLit>
          </c:val>
          <c:smooth val="0"/>
        </c:ser>
        <c:ser>
          <c:idx val="1"/>
          <c:order val="1"/>
          <c:tx>
            <c:v>B級</c:v>
          </c:tx>
          <c:spPr>
            <a:ln xmlns:a="http://schemas.openxmlformats.org/drawingml/2006/main" w="33338">
              <a:solidFill>
                <a:srgbClr val="ED7D31"/>
              </a:solidFill>
              <a:prstDash val="solid"/>
            </a:ln>
          </c:spPr>
          <c:marker>
            <c:symbol val="circle"/>
            <c:size val="6"/>
            <c:spPr>
              <a:solidFill xmlns:a="http://schemas.openxmlformats.org/drawingml/2006/main">
                <a:srgbClr val="ED7D31"/>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0.01612</c:v>
              </c:pt>
              <c:pt idx="1">
                <c:v>0.14</c:v>
              </c:pt>
              <c:pt idx="2">
                <c:v>0.13696</c:v>
              </c:pt>
              <c:pt idx="3">
                <c:v>0.09383</c:v>
              </c:pt>
              <c:pt idx="4">
                <c:v>0.07736</c:v>
              </c:pt>
              <c:pt idx="5">
                <c:v>0.05541</c:v>
              </c:pt>
              <c:pt idx="6">
                <c:v>0.0295</c:v>
              </c:pt>
              <c:pt idx="7">
                <c:v>0.05426</c:v>
              </c:pt>
              <c:pt idx="8">
                <c:v>0.05465</c:v>
              </c:pt>
              <c:pt idx="9">
                <c:v>0.03805</c:v>
              </c:pt>
              <c:pt idx="10">
                <c:v>0.02676</c:v>
              </c:pt>
              <c:pt idx="11">
                <c:v>0.05354</c:v>
              </c:pt>
              <c:pt idx="12">
                <c:v>0.07106</c:v>
              </c:pt>
              <c:pt idx="13">
                <c:v>0.04481</c:v>
              </c:pt>
              <c:pt idx="14">
                <c:v>0.04268</c:v>
              </c:pt>
              <c:pt idx="15">
                <c:v>0.02807</c:v>
              </c:pt>
              <c:pt idx="16">
                <c:v>0.03343</c:v>
              </c:pt>
              <c:pt idx="17">
                <c:v>0.09284</c:v>
              </c:pt>
            </c:numLit>
          </c:val>
          <c:smooth val="0"/>
        </c:ser>
        <c:ser>
          <c:idx val="2"/>
          <c:order val="2"/>
          <c:tx>
            <c:v>C級</c:v>
          </c:tx>
          <c:spPr>
            <a:ln xmlns:a="http://schemas.openxmlformats.org/drawingml/2006/main" w="33338">
              <a:solidFill>
                <a:srgbClr val="70AD47"/>
              </a:solidFill>
              <a:prstDash val="solid"/>
            </a:ln>
          </c:spPr>
          <c:marker>
            <c:symbol val="circle"/>
            <c:size val="6"/>
            <c:spPr>
              <a:solidFill xmlns:a="http://schemas.openxmlformats.org/drawingml/2006/main">
                <a:srgbClr val="70AD47"/>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0.01435</c:v>
              </c:pt>
              <c:pt idx="1">
                <c:v>0.12633</c:v>
              </c:pt>
              <c:pt idx="2">
                <c:v>0.12516</c:v>
              </c:pt>
              <c:pt idx="3">
                <c:v>0.10947</c:v>
              </c:pt>
              <c:pt idx="4">
                <c:v>0.11272</c:v>
              </c:pt>
              <c:pt idx="5">
                <c:v>0.06253</c:v>
              </c:pt>
              <c:pt idx="6">
                <c:v>0.03093</c:v>
              </c:pt>
              <c:pt idx="7">
                <c:v>0.07854</c:v>
              </c:pt>
              <c:pt idx="8">
                <c:v>0.07688</c:v>
              </c:pt>
              <c:pt idx="9">
                <c:v>0.04379</c:v>
              </c:pt>
              <c:pt idx="10">
                <c:v>0.0184</c:v>
              </c:pt>
              <c:pt idx="11">
                <c:v>0.03544</c:v>
              </c:pt>
              <c:pt idx="12">
                <c:v>0.05284</c:v>
              </c:pt>
              <c:pt idx="13">
                <c:v>0.04888</c:v>
              </c:pt>
              <c:pt idx="14">
                <c:v>0.04385</c:v>
              </c:pt>
              <c:pt idx="15">
                <c:v>0.03032</c:v>
              </c:pt>
              <c:pt idx="16">
                <c:v>0.03297</c:v>
              </c:pt>
              <c:pt idx="17">
                <c:v>0.08828</c:v>
              </c:pt>
            </c:numLit>
          </c:val>
          <c:smooth val="0"/>
        </c:ser>
        <c:dLbls>
          <c:txPr>
            <a:bodyPr xmlns:a="http://schemas.openxmlformats.org/drawingml/2006/main" anchorCtr="1"/>
            <a:lstStyle xmlns:a="http://schemas.openxmlformats.org/drawingml/2006/main"/>
            <a:p xmlns:a="http://schemas.openxmlformats.org/drawingml/2006/main">
              <a:pPr>
                <a:defRPr>
                  <a:latin typeface="微軟正黑體"/>
                  <a:ea typeface="微軟正黑體"/>
                  <a:cs typeface="微軟正黑體"/>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425">
                <a:solidFill>
                  <a:srgbClr val="404040"/>
                </a:solidFill>
                <a:latin typeface="微軟正黑體"/>
                <a:ea typeface="微軟正黑體"/>
                <a:cs typeface="微軟正黑體"/>
              </a:defRPr>
            </a:pPr>
          </a:p>
        </c:txPr>
        <c:crossAx val="48672768"/>
      </c:catAx>
      <c:valAx>
        <c:axId val="48672768"/>
        <c:scaling>
          <c:orientation val="minMax"/>
          <c:max val="0.45"/>
          <c:min val="0"/>
        </c:scaling>
        <c:delete val="0"/>
        <c:axPos val="l"/>
        <c:majorGridlines>
          <c:spPr>
            <a:ln xmlns:a="http://schemas.openxmlformats.org/drawingml/2006/main" w="9525">
              <a:solidFill>
                <a:srgbClr val="D9D9D9"/>
              </a:solidFill>
              <a:prstDash val="solid"/>
            </a:ln>
          </c:spPr>
        </c:majorGridlines>
        <c:numFmt formatCode="0%" sourceLinked="0"/>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425">
                <a:solidFill>
                  <a:srgbClr val="404040"/>
                </a:solidFill>
                <a:latin typeface="微軟正黑體"/>
                <a:ea typeface="微軟正黑體"/>
                <a:cs typeface="微軟正黑體"/>
              </a:defRPr>
            </a:pPr>
          </a:p>
        </c:txPr>
        <c:crossAx val="48650112"/>
        <c:crossBetween val="between"/>
        <c:majorUnit val="0.1"/>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solidFill>
                <a:srgbClr val="404040"/>
              </a:solidFill>
              <a:latin typeface="微軟正黑體"/>
              <a:ea typeface="微軟正黑體"/>
              <a:cs typeface="微軟正黑體"/>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lineChart>
        <c:grouping val="standard"/>
        <c:varyColors val="0"/>
        <c:ser>
          <c:idx val="0"/>
          <c:order val="0"/>
          <c:tx>
            <c:v>A調出</c:v>
          </c:tx>
          <c:spPr>
            <a:ln xmlns:a="http://schemas.openxmlformats.org/drawingml/2006/main" w="38100">
              <a:solidFill>
                <a:srgbClr val="4472C4"/>
              </a:solidFill>
              <a:prstDash val="solid"/>
            </a:ln>
          </c:spPr>
          <c:marker>
            <c:symbol val="circle"/>
            <c:size val="7"/>
            <c:spPr>
              <a:solidFill xmlns:a="http://schemas.openxmlformats.org/drawingml/2006/main">
                <a:srgbClr val="4472C4"/>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2</c:v>
              </c:pt>
              <c:pt idx="1">
                <c:v>7</c:v>
              </c:pt>
              <c:pt idx="2">
                <c:v>10</c:v>
              </c:pt>
              <c:pt idx="3">
                <c:v>13</c:v>
              </c:pt>
              <c:pt idx="4">
                <c:v>15</c:v>
              </c:pt>
              <c:pt idx="5">
                <c:v>8</c:v>
              </c:pt>
              <c:pt idx="6">
                <c:v>8</c:v>
              </c:pt>
              <c:pt idx="7">
                <c:v>12</c:v>
              </c:pt>
              <c:pt idx="8">
                <c:v>13</c:v>
              </c:pt>
              <c:pt idx="9">
                <c:v>8</c:v>
              </c:pt>
              <c:pt idx="10">
                <c:v>4</c:v>
              </c:pt>
              <c:pt idx="11">
                <c:v>10</c:v>
              </c:pt>
              <c:pt idx="12">
                <c:v>9</c:v>
              </c:pt>
              <c:pt idx="13">
                <c:v>8</c:v>
              </c:pt>
              <c:pt idx="14">
                <c:v>5</c:v>
              </c:pt>
              <c:pt idx="15">
                <c:v>3</c:v>
              </c:pt>
              <c:pt idx="16">
                <c:v>7</c:v>
              </c:pt>
              <c:pt idx="17">
                <c:v>10</c:v>
              </c:pt>
            </c:numLit>
          </c:val>
          <c:smooth val="0"/>
        </c:ser>
        <c:ser>
          <c:idx val="1"/>
          <c:order val="1"/>
          <c:tx>
            <c:v>A綁車</c:v>
          </c:tx>
          <c:spPr>
            <a:ln xmlns:a="http://schemas.openxmlformats.org/drawingml/2006/main" w="21431">
              <a:solidFill>
                <a:srgbClr val="4472C4"/>
              </a:solidFill>
              <a:prstDash val="solid"/>
            </a:ln>
          </c:spPr>
          <c:marker>
            <c:symbol val="diamond"/>
            <c:size val="7"/>
            <c:spPr>
              <a:solidFill xmlns:a="http://schemas.openxmlformats.org/drawingml/2006/main">
                <a:srgbClr val="4472C4"/>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c:v>
              </c:pt>
              <c:pt idx="1">
                <c:v>4</c:v>
              </c:pt>
              <c:pt idx="2">
                <c:v>12</c:v>
              </c:pt>
              <c:pt idx="3">
                <c:v>19</c:v>
              </c:pt>
              <c:pt idx="4">
                <c:v>9</c:v>
              </c:pt>
              <c:pt idx="5">
                <c:v>7</c:v>
              </c:pt>
              <c:pt idx="6">
                <c:v>3</c:v>
              </c:pt>
              <c:pt idx="7">
                <c:v>3</c:v>
              </c:pt>
              <c:pt idx="8">
                <c:v>1</c:v>
              </c:pt>
              <c:pt idx="9">
                <c:v>1</c:v>
              </c:pt>
              <c:pt idx="10">
                <c:v>1</c:v>
              </c:pt>
              <c:pt idx="11">
                <c:v>5</c:v>
              </c:pt>
              <c:pt idx="12">
                <c:v>10</c:v>
              </c:pt>
              <c:pt idx="13">
                <c:v>9</c:v>
              </c:pt>
              <c:pt idx="14">
                <c:v>7</c:v>
              </c:pt>
              <c:pt idx="15">
                <c:v>7</c:v>
              </c:pt>
              <c:pt idx="16">
                <c:v>9</c:v>
              </c:pt>
              <c:pt idx="17">
                <c:v>6</c:v>
              </c:pt>
            </c:numLit>
          </c:val>
          <c:smooth val="0"/>
        </c:ser>
        <c:ser>
          <c:idx val="2"/>
          <c:order val="2"/>
          <c:tx>
            <c:v>A滿借</c:v>
          </c:tx>
          <c:spPr>
            <a:ln xmlns:a="http://schemas.openxmlformats.org/drawingml/2006/main" w="28575">
              <a:solidFill>
                <a:srgbClr val="4472C4"/>
              </a:solidFill>
              <a:prstDash val="dash"/>
            </a:ln>
          </c:spPr>
          <c:marker>
            <c:symbol val="none"/>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15.953488</c:v>
              </c:pt>
              <c:pt idx="1">
                <c:v>39.27907</c:v>
              </c:pt>
              <c:pt idx="2">
                <c:v>58.069767</c:v>
              </c:pt>
              <c:pt idx="3">
                <c:v>57.116279</c:v>
              </c:pt>
              <c:pt idx="4">
                <c:v>43</c:v>
              </c:pt>
              <c:pt idx="5">
                <c:v>39.744186</c:v>
              </c:pt>
              <c:pt idx="6">
                <c:v>49.465116</c:v>
              </c:pt>
              <c:pt idx="7">
                <c:v>48.348837</c:v>
              </c:pt>
              <c:pt idx="8">
                <c:v>41.627907</c:v>
              </c:pt>
              <c:pt idx="9">
                <c:v>37.023256</c:v>
              </c:pt>
              <c:pt idx="10">
                <c:v>42.372093</c:v>
              </c:pt>
              <c:pt idx="11">
                <c:v>61.953488</c:v>
              </c:pt>
              <c:pt idx="12">
                <c:v>66.744186</c:v>
              </c:pt>
              <c:pt idx="13">
                <c:v>51.906977</c:v>
              </c:pt>
              <c:pt idx="14">
                <c:v>34.069767</c:v>
              </c:pt>
              <c:pt idx="15">
                <c:v>28.186047</c:v>
              </c:pt>
              <c:pt idx="16">
                <c:v>32.023256</c:v>
              </c:pt>
              <c:pt idx="17">
                <c:v>23</c:v>
              </c:pt>
            </c:numLit>
          </c:val>
          <c:smooth val="0"/>
        </c:ser>
        <c:ser>
          <c:idx val="3"/>
          <c:order val="3"/>
          <c:tx>
            <c:v>B調出</c:v>
          </c:tx>
          <c:spPr>
            <a:ln xmlns:a="http://schemas.openxmlformats.org/drawingml/2006/main" w="38100">
              <a:solidFill>
                <a:srgbClr val="ED7D31"/>
              </a:solidFill>
              <a:prstDash val="solid"/>
            </a:ln>
          </c:spPr>
          <c:marker>
            <c:symbol val="circle"/>
            <c:size val="7"/>
            <c:spPr>
              <a:solidFill xmlns:a="http://schemas.openxmlformats.org/drawingml/2006/main">
                <a:srgbClr val="ED7D31"/>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2</c:v>
              </c:pt>
              <c:pt idx="1">
                <c:v>3</c:v>
              </c:pt>
              <c:pt idx="2">
                <c:v>12</c:v>
              </c:pt>
              <c:pt idx="3">
                <c:v>11</c:v>
              </c:pt>
              <c:pt idx="4">
                <c:v>11</c:v>
              </c:pt>
              <c:pt idx="5">
                <c:v>5</c:v>
              </c:pt>
              <c:pt idx="6">
                <c:v>5</c:v>
              </c:pt>
              <c:pt idx="7">
                <c:v>8</c:v>
              </c:pt>
              <c:pt idx="8">
                <c:v>8</c:v>
              </c:pt>
              <c:pt idx="9">
                <c:v>5</c:v>
              </c:pt>
              <c:pt idx="10">
                <c:v>3</c:v>
              </c:pt>
              <c:pt idx="11">
                <c:v>4</c:v>
              </c:pt>
              <c:pt idx="12">
                <c:v>8</c:v>
              </c:pt>
              <c:pt idx="13">
                <c:v>9</c:v>
              </c:pt>
              <c:pt idx="14">
                <c:v>7</c:v>
              </c:pt>
              <c:pt idx="15">
                <c:v>5</c:v>
              </c:pt>
              <c:pt idx="16">
                <c:v>8</c:v>
              </c:pt>
              <c:pt idx="17">
                <c:v>11</c:v>
              </c:pt>
            </c:numLit>
          </c:val>
          <c:smooth val="0"/>
        </c:ser>
        <c:ser>
          <c:idx val="4"/>
          <c:order val="4"/>
          <c:tx>
            <c:v>B綁車</c:v>
          </c:tx>
          <c:spPr>
            <a:ln xmlns:a="http://schemas.openxmlformats.org/drawingml/2006/main" w="21431">
              <a:solidFill>
                <a:srgbClr val="ED7D31"/>
              </a:solidFill>
              <a:prstDash val="solid"/>
            </a:ln>
          </c:spPr>
          <c:marker>
            <c:symbol val="diamond"/>
            <c:size val="7"/>
            <c:spPr>
              <a:solidFill xmlns:a="http://schemas.openxmlformats.org/drawingml/2006/main">
                <a:srgbClr val="ED7D31"/>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c:v>
              </c:pt>
              <c:pt idx="1">
                <c:v>5</c:v>
              </c:pt>
              <c:pt idx="2">
                <c:v>13</c:v>
              </c:pt>
              <c:pt idx="3">
                <c:v>24</c:v>
              </c:pt>
              <c:pt idx="4">
                <c:v>13</c:v>
              </c:pt>
              <c:pt idx="5">
                <c:v>7</c:v>
              </c:pt>
              <c:pt idx="6">
                <c:v>2</c:v>
              </c:pt>
              <c:pt idx="7">
                <c:v>4</c:v>
              </c:pt>
              <c:pt idx="8">
                <c:v>2</c:v>
              </c:pt>
              <c:pt idx="9">
                <c:v>1</c:v>
              </c:pt>
              <c:pt idx="10">
                <c:v>3</c:v>
              </c:pt>
              <c:pt idx="11">
                <c:v>5</c:v>
              </c:pt>
              <c:pt idx="12">
                <c:v>15</c:v>
              </c:pt>
              <c:pt idx="13">
                <c:v>24</c:v>
              </c:pt>
              <c:pt idx="14">
                <c:v>13</c:v>
              </c:pt>
              <c:pt idx="15">
                <c:v>9</c:v>
              </c:pt>
              <c:pt idx="16">
                <c:v>10</c:v>
              </c:pt>
              <c:pt idx="17">
                <c:v>7</c:v>
              </c:pt>
            </c:numLit>
          </c:val>
          <c:smooth val="0"/>
        </c:ser>
        <c:ser>
          <c:idx val="5"/>
          <c:order val="5"/>
          <c:tx>
            <c:v>B滿借</c:v>
          </c:tx>
          <c:spPr>
            <a:ln xmlns:a="http://schemas.openxmlformats.org/drawingml/2006/main" w="28575">
              <a:solidFill>
                <a:srgbClr val="ED7D31"/>
              </a:solidFill>
              <a:prstDash val="dash"/>
            </a:ln>
          </c:spPr>
          <c:marker>
            <c:symbol val="none"/>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10.069767</c:v>
              </c:pt>
              <c:pt idx="1">
                <c:v>36.860465</c:v>
              </c:pt>
              <c:pt idx="2">
                <c:v>62.767442</c:v>
              </c:pt>
              <c:pt idx="3">
                <c:v>64.395349</c:v>
              </c:pt>
              <c:pt idx="4">
                <c:v>46.465116</c:v>
              </c:pt>
              <c:pt idx="5">
                <c:v>38.348837</c:v>
              </c:pt>
              <c:pt idx="6">
                <c:v>39.023256</c:v>
              </c:pt>
              <c:pt idx="7">
                <c:v>42.674419</c:v>
              </c:pt>
              <c:pt idx="8">
                <c:v>39.697674</c:v>
              </c:pt>
              <c:pt idx="9">
                <c:v>35.209302</c:v>
              </c:pt>
              <c:pt idx="10">
                <c:v>36.604651</c:v>
              </c:pt>
              <c:pt idx="11">
                <c:v>47.325581</c:v>
              </c:pt>
              <c:pt idx="12">
                <c:v>56.186047</c:v>
              </c:pt>
              <c:pt idx="13">
                <c:v>55.767442</c:v>
              </c:pt>
              <c:pt idx="14">
                <c:v>44.209302</c:v>
              </c:pt>
              <c:pt idx="15">
                <c:v>46.534884</c:v>
              </c:pt>
              <c:pt idx="16">
                <c:v>54</c:v>
              </c:pt>
              <c:pt idx="17">
                <c:v>36.72093</c:v>
              </c:pt>
            </c:numLit>
          </c:val>
          <c:smooth val="0"/>
        </c:ser>
        <c:ser>
          <c:idx val="6"/>
          <c:order val="6"/>
          <c:tx>
            <c:v>C調出</c:v>
          </c:tx>
          <c:spPr>
            <a:ln xmlns:a="http://schemas.openxmlformats.org/drawingml/2006/main" w="38100">
              <a:solidFill>
                <a:srgbClr val="70AD47"/>
              </a:solidFill>
              <a:prstDash val="solid"/>
            </a:ln>
          </c:spPr>
          <c:marker>
            <c:symbol val="circle"/>
            <c:size val="7"/>
            <c:spPr>
              <a:solidFill xmlns:a="http://schemas.openxmlformats.org/drawingml/2006/main">
                <a:srgbClr val="70AD47"/>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c:v>
              </c:pt>
              <c:pt idx="1">
                <c:v>4</c:v>
              </c:pt>
              <c:pt idx="2">
                <c:v>5</c:v>
              </c:pt>
              <c:pt idx="3">
                <c:v>8</c:v>
              </c:pt>
              <c:pt idx="4">
                <c:v>6</c:v>
              </c:pt>
              <c:pt idx="5">
                <c:v>5</c:v>
              </c:pt>
              <c:pt idx="6">
                <c:v>5</c:v>
              </c:pt>
              <c:pt idx="7">
                <c:v>7</c:v>
              </c:pt>
              <c:pt idx="8">
                <c:v>6</c:v>
              </c:pt>
              <c:pt idx="9">
                <c:v>3</c:v>
              </c:pt>
              <c:pt idx="10">
                <c:v>3</c:v>
              </c:pt>
              <c:pt idx="11">
                <c:v>3</c:v>
              </c:pt>
              <c:pt idx="12">
                <c:v>5</c:v>
              </c:pt>
              <c:pt idx="13">
                <c:v>6</c:v>
              </c:pt>
              <c:pt idx="14">
                <c:v>6</c:v>
              </c:pt>
              <c:pt idx="15">
                <c:v>2</c:v>
              </c:pt>
              <c:pt idx="16">
                <c:v>8</c:v>
              </c:pt>
              <c:pt idx="17">
                <c:v>6</c:v>
              </c:pt>
            </c:numLit>
          </c:val>
          <c:smooth val="0"/>
        </c:ser>
        <c:ser>
          <c:idx val="7"/>
          <c:order val="7"/>
          <c:tx>
            <c:v>C綁車</c:v>
          </c:tx>
          <c:spPr>
            <a:ln xmlns:a="http://schemas.openxmlformats.org/drawingml/2006/main" w="21431">
              <a:solidFill>
                <a:srgbClr val="70AD47"/>
              </a:solidFill>
              <a:prstDash val="solid"/>
            </a:ln>
          </c:spPr>
          <c:marker>
            <c:symbol val="diamond"/>
            <c:size val="7"/>
            <c:spPr>
              <a:solidFill xmlns:a="http://schemas.openxmlformats.org/drawingml/2006/main">
                <a:srgbClr val="70AD47"/>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c:v>
              </c:pt>
              <c:pt idx="1">
                <c:v>4</c:v>
              </c:pt>
              <c:pt idx="2">
                <c:v>7</c:v>
              </c:pt>
              <c:pt idx="3">
                <c:v>12</c:v>
              </c:pt>
              <c:pt idx="4">
                <c:v>7</c:v>
              </c:pt>
              <c:pt idx="5">
                <c:v>4</c:v>
              </c:pt>
              <c:pt idx="6">
                <c:v>2</c:v>
              </c:pt>
              <c:pt idx="7">
                <c:v>1</c:v>
              </c:pt>
              <c:pt idx="8">
                <c:v>3</c:v>
              </c:pt>
              <c:pt idx="9">
                <c:v>1</c:v>
              </c:pt>
              <c:pt idx="10">
                <c:v>2</c:v>
              </c:pt>
              <c:pt idx="11">
                <c:v>5</c:v>
              </c:pt>
              <c:pt idx="12">
                <c:v>14</c:v>
              </c:pt>
              <c:pt idx="13">
                <c:v>17</c:v>
              </c:pt>
              <c:pt idx="14">
                <c:v>11</c:v>
              </c:pt>
              <c:pt idx="15">
                <c:v>8</c:v>
              </c:pt>
              <c:pt idx="16">
                <c:v>8</c:v>
              </c:pt>
              <c:pt idx="17">
                <c:v>6</c:v>
              </c:pt>
            </c:numLit>
          </c:val>
          <c:smooth val="0"/>
        </c:ser>
        <c:ser>
          <c:idx val="8"/>
          <c:order val="8"/>
          <c:tx>
            <c:v>C滿借</c:v>
          </c:tx>
          <c:spPr>
            <a:ln xmlns:a="http://schemas.openxmlformats.org/drawingml/2006/main" w="28575">
              <a:solidFill>
                <a:srgbClr val="70AD47"/>
              </a:solidFill>
              <a:prstDash val="dash"/>
            </a:ln>
          </c:spPr>
          <c:marker>
            <c:symbol val="none"/>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8.534884</c:v>
              </c:pt>
              <c:pt idx="1">
                <c:v>26.976744</c:v>
              </c:pt>
              <c:pt idx="2">
                <c:v>37.953488</c:v>
              </c:pt>
              <c:pt idx="3">
                <c:v>32.116279</c:v>
              </c:pt>
              <c:pt idx="4">
                <c:v>19.162791</c:v>
              </c:pt>
              <c:pt idx="5">
                <c:v>14.186047</c:v>
              </c:pt>
              <c:pt idx="6">
                <c:v>15.302326</c:v>
              </c:pt>
              <c:pt idx="7">
                <c:v>18.046512</c:v>
              </c:pt>
              <c:pt idx="8">
                <c:v>15.953488</c:v>
              </c:pt>
              <c:pt idx="9">
                <c:v>13.55814</c:v>
              </c:pt>
              <c:pt idx="10">
                <c:v>17.837209</c:v>
              </c:pt>
              <c:pt idx="11">
                <c:v>22.069767</c:v>
              </c:pt>
              <c:pt idx="12">
                <c:v>29</c:v>
              </c:pt>
              <c:pt idx="13">
                <c:v>31.604651</c:v>
              </c:pt>
              <c:pt idx="14">
                <c:v>24.27907</c:v>
              </c:pt>
              <c:pt idx="15">
                <c:v>25.744186</c:v>
              </c:pt>
              <c:pt idx="16">
                <c:v>29.325581</c:v>
              </c:pt>
              <c:pt idx="17">
                <c:v>18.325581</c:v>
              </c:pt>
            </c:numLit>
          </c:val>
          <c:smooth val="0"/>
        </c:ser>
        <c:dLbls>
          <c:txPr>
            <a:bodyPr xmlns:a="http://schemas.openxmlformats.org/drawingml/2006/main" anchorCtr="1"/>
            <a:lstStyle xmlns:a="http://schemas.openxmlformats.org/drawingml/2006/main"/>
            <a:p xmlns:a="http://schemas.openxmlformats.org/drawingml/2006/main">
              <a:pPr>
                <a:defRPr>
                  <a:latin typeface="微軟正黑體"/>
                  <a:ea typeface="微軟正黑體"/>
                  <a:cs typeface="微軟正黑體"/>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275">
                <a:solidFill>
                  <a:srgbClr val="404040"/>
                </a:solidFill>
                <a:latin typeface="微軟正黑體"/>
                <a:ea typeface="微軟正黑體"/>
                <a:cs typeface="微軟正黑體"/>
              </a:defRPr>
            </a:pPr>
          </a:p>
        </c:txPr>
        <c:crossAx val="48672768"/>
      </c:catAx>
      <c:valAx>
        <c:axId val="48672768"/>
        <c:scaling>
          <c:orientation val="minMax"/>
          <c:max val="80"/>
          <c:min val="0"/>
        </c:scaling>
        <c:delete val="0"/>
        <c:axPos val="l"/>
        <c:majorGridlines>
          <c:spPr>
            <a:ln xmlns:a="http://schemas.openxmlformats.org/drawingml/2006/main" w="9525">
              <a:solidFill>
                <a:srgbClr val="E7E6E6"/>
              </a:solidFill>
              <a:prstDash val="solid"/>
            </a:ln>
          </c:spPr>
        </c:majorGridlines>
        <c:numFmt formatCode="0" sourceLinked="0"/>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350">
                <a:solidFill>
                  <a:srgbClr val="404040"/>
                </a:solidFill>
                <a:latin typeface="微軟正黑體"/>
                <a:ea typeface="微軟正黑體"/>
                <a:cs typeface="微軟正黑體"/>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lineChart>
        <c:grouping val="standard"/>
        <c:varyColors val="0"/>
        <c:ser>
          <c:idx val="0"/>
          <c:order val="0"/>
          <c:tx>
            <c:v>A調入</c:v>
          </c:tx>
          <c:spPr>
            <a:ln xmlns:a="http://schemas.openxmlformats.org/drawingml/2006/main" w="38100">
              <a:solidFill>
                <a:srgbClr val="4472C4"/>
              </a:solidFill>
              <a:prstDash val="solid"/>
            </a:ln>
          </c:spPr>
          <c:marker>
            <c:symbol val="circle"/>
            <c:size val="7"/>
            <c:spPr>
              <a:solidFill xmlns:a="http://schemas.openxmlformats.org/drawingml/2006/main">
                <a:srgbClr val="4472C4"/>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2</c:v>
              </c:pt>
              <c:pt idx="1">
                <c:v>4</c:v>
              </c:pt>
              <c:pt idx="2">
                <c:v>9</c:v>
              </c:pt>
              <c:pt idx="3">
                <c:v>11</c:v>
              </c:pt>
              <c:pt idx="4">
                <c:v>10</c:v>
              </c:pt>
              <c:pt idx="5">
                <c:v>9</c:v>
              </c:pt>
              <c:pt idx="6">
                <c:v>6</c:v>
              </c:pt>
              <c:pt idx="7">
                <c:v>11</c:v>
              </c:pt>
              <c:pt idx="8">
                <c:v>8</c:v>
              </c:pt>
              <c:pt idx="9">
                <c:v>5</c:v>
              </c:pt>
              <c:pt idx="10">
                <c:v>4</c:v>
              </c:pt>
              <c:pt idx="11">
                <c:v>7</c:v>
              </c:pt>
              <c:pt idx="12">
                <c:v>10</c:v>
              </c:pt>
              <c:pt idx="13">
                <c:v>9</c:v>
              </c:pt>
              <c:pt idx="14">
                <c:v>11</c:v>
              </c:pt>
              <c:pt idx="15">
                <c:v>10</c:v>
              </c:pt>
              <c:pt idx="16">
                <c:v>15</c:v>
              </c:pt>
              <c:pt idx="17">
                <c:v>20</c:v>
              </c:pt>
            </c:numLit>
          </c:val>
          <c:smooth val="0"/>
        </c:ser>
        <c:ser>
          <c:idx val="1"/>
          <c:order val="1"/>
          <c:tx>
            <c:v>A解綁車</c:v>
          </c:tx>
          <c:spPr>
            <a:ln xmlns:a="http://schemas.openxmlformats.org/drawingml/2006/main" w="21431">
              <a:solidFill>
                <a:srgbClr val="4472C4"/>
              </a:solidFill>
              <a:prstDash val="solid"/>
            </a:ln>
          </c:spPr>
          <c:marker>
            <c:symbol val="diamond"/>
            <c:size val="7"/>
            <c:spPr>
              <a:solidFill xmlns:a="http://schemas.openxmlformats.org/drawingml/2006/main">
                <a:srgbClr val="4472C4"/>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2</c:v>
              </c:pt>
              <c:pt idx="1">
                <c:v>13</c:v>
              </c:pt>
              <c:pt idx="2">
                <c:v>13</c:v>
              </c:pt>
              <c:pt idx="3">
                <c:v>4</c:v>
              </c:pt>
              <c:pt idx="4">
                <c:v>6</c:v>
              </c:pt>
              <c:pt idx="5">
                <c:v>5</c:v>
              </c:pt>
              <c:pt idx="6">
                <c:v>5</c:v>
              </c:pt>
              <c:pt idx="7">
                <c:v>5</c:v>
              </c:pt>
              <c:pt idx="8">
                <c:v>3</c:v>
              </c:pt>
              <c:pt idx="9">
                <c:v>5</c:v>
              </c:pt>
              <c:pt idx="10">
                <c:v>7</c:v>
              </c:pt>
              <c:pt idx="11">
                <c:v>10</c:v>
              </c:pt>
              <c:pt idx="12">
                <c:v>13</c:v>
              </c:pt>
              <c:pt idx="13">
                <c:v>4</c:v>
              </c:pt>
              <c:pt idx="14">
                <c:v>4</c:v>
              </c:pt>
              <c:pt idx="15">
                <c:v>4</c:v>
              </c:pt>
              <c:pt idx="16">
                <c:v>3</c:v>
              </c:pt>
              <c:pt idx="17">
                <c:v>3</c:v>
              </c:pt>
            </c:numLit>
          </c:val>
          <c:smooth val="0"/>
        </c:ser>
        <c:ser>
          <c:idx val="2"/>
          <c:order val="2"/>
          <c:tx>
            <c:v>A空還</c:v>
          </c:tx>
          <c:spPr>
            <a:ln xmlns:a="http://schemas.openxmlformats.org/drawingml/2006/main" w="28575">
              <a:solidFill>
                <a:srgbClr val="4472C4"/>
              </a:solidFill>
              <a:prstDash val="dash"/>
            </a:ln>
          </c:spPr>
          <c:marker>
            <c:symbol val="none"/>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33.906977</c:v>
              </c:pt>
              <c:pt idx="1">
                <c:v>88.232558</c:v>
              </c:pt>
              <c:pt idx="2">
                <c:v>141.883721</c:v>
              </c:pt>
              <c:pt idx="3">
                <c:v>139.046512</c:v>
              </c:pt>
              <c:pt idx="4">
                <c:v>130.534884</c:v>
              </c:pt>
              <c:pt idx="5">
                <c:v>119.790698</c:v>
              </c:pt>
              <c:pt idx="6">
                <c:v>111.604651</c:v>
              </c:pt>
              <c:pt idx="7">
                <c:v>99.674419</c:v>
              </c:pt>
              <c:pt idx="8">
                <c:v>89.232558</c:v>
              </c:pt>
              <c:pt idx="9">
                <c:v>81.883721</c:v>
              </c:pt>
              <c:pt idx="10">
                <c:v>86.162791</c:v>
              </c:pt>
              <c:pt idx="11">
                <c:v>108.767442</c:v>
              </c:pt>
              <c:pt idx="12">
                <c:v>124.186047</c:v>
              </c:pt>
              <c:pt idx="13">
                <c:v>111.209302</c:v>
              </c:pt>
              <c:pt idx="14">
                <c:v>118.232558</c:v>
              </c:pt>
              <c:pt idx="15">
                <c:v>141.906977</c:v>
              </c:pt>
              <c:pt idx="16">
                <c:v>145.860465</c:v>
              </c:pt>
              <c:pt idx="17">
                <c:v>111.953488</c:v>
              </c:pt>
            </c:numLit>
          </c:val>
          <c:smooth val="0"/>
        </c:ser>
        <c:ser>
          <c:idx val="3"/>
          <c:order val="3"/>
          <c:tx>
            <c:v>B調入</c:v>
          </c:tx>
          <c:spPr>
            <a:ln xmlns:a="http://schemas.openxmlformats.org/drawingml/2006/main" w="38100">
              <a:solidFill>
                <a:srgbClr val="ED7D31"/>
              </a:solidFill>
              <a:prstDash val="solid"/>
            </a:ln>
          </c:spPr>
          <c:marker>
            <c:symbol val="circle"/>
            <c:size val="7"/>
            <c:spPr>
              <a:solidFill xmlns:a="http://schemas.openxmlformats.org/drawingml/2006/main">
                <a:srgbClr val="ED7D31"/>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2</c:v>
              </c:pt>
              <c:pt idx="1">
                <c:v>6</c:v>
              </c:pt>
              <c:pt idx="2">
                <c:v>17</c:v>
              </c:pt>
              <c:pt idx="3">
                <c:v>19</c:v>
              </c:pt>
              <c:pt idx="4">
                <c:v>18</c:v>
              </c:pt>
              <c:pt idx="5">
                <c:v>12</c:v>
              </c:pt>
              <c:pt idx="6">
                <c:v>7</c:v>
              </c:pt>
              <c:pt idx="7">
                <c:v>14</c:v>
              </c:pt>
              <c:pt idx="8">
                <c:v>11</c:v>
              </c:pt>
              <c:pt idx="9">
                <c:v>7</c:v>
              </c:pt>
              <c:pt idx="10">
                <c:v>4</c:v>
              </c:pt>
              <c:pt idx="11">
                <c:v>7</c:v>
              </c:pt>
              <c:pt idx="12">
                <c:v>15</c:v>
              </c:pt>
              <c:pt idx="13">
                <c:v>11</c:v>
              </c:pt>
              <c:pt idx="14">
                <c:v>12</c:v>
              </c:pt>
              <c:pt idx="15">
                <c:v>7</c:v>
              </c:pt>
              <c:pt idx="16">
                <c:v>8</c:v>
              </c:pt>
              <c:pt idx="17">
                <c:v>10</c:v>
              </c:pt>
            </c:numLit>
          </c:val>
          <c:smooth val="0"/>
        </c:ser>
        <c:ser>
          <c:idx val="4"/>
          <c:order val="4"/>
          <c:tx>
            <c:v>B解綁車</c:v>
          </c:tx>
          <c:spPr>
            <a:ln xmlns:a="http://schemas.openxmlformats.org/drawingml/2006/main" w="21431">
              <a:solidFill>
                <a:srgbClr val="ED7D31"/>
              </a:solidFill>
              <a:prstDash val="solid"/>
            </a:ln>
          </c:spPr>
          <c:marker>
            <c:symbol val="diamond"/>
            <c:size val="7"/>
            <c:spPr>
              <a:solidFill xmlns:a="http://schemas.openxmlformats.org/drawingml/2006/main">
                <a:srgbClr val="ED7D31"/>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3</c:v>
              </c:pt>
              <c:pt idx="1">
                <c:v>21</c:v>
              </c:pt>
              <c:pt idx="2">
                <c:v>21</c:v>
              </c:pt>
              <c:pt idx="3">
                <c:v>11</c:v>
              </c:pt>
              <c:pt idx="4">
                <c:v>5</c:v>
              </c:pt>
              <c:pt idx="5">
                <c:v>4</c:v>
              </c:pt>
              <c:pt idx="6">
                <c:v>4</c:v>
              </c:pt>
              <c:pt idx="7">
                <c:v>3</c:v>
              </c:pt>
              <c:pt idx="8">
                <c:v>2</c:v>
              </c:pt>
              <c:pt idx="9">
                <c:v>3</c:v>
              </c:pt>
              <c:pt idx="10">
                <c:v>8</c:v>
              </c:pt>
              <c:pt idx="11">
                <c:v>11</c:v>
              </c:pt>
              <c:pt idx="12">
                <c:v>15</c:v>
              </c:pt>
              <c:pt idx="13">
                <c:v>6</c:v>
              </c:pt>
              <c:pt idx="14">
                <c:v>4</c:v>
              </c:pt>
              <c:pt idx="15">
                <c:v>4</c:v>
              </c:pt>
              <c:pt idx="16">
                <c:v>3</c:v>
              </c:pt>
              <c:pt idx="17">
                <c:v>4</c:v>
              </c:pt>
            </c:numLit>
          </c:val>
          <c:smooth val="0"/>
        </c:ser>
        <c:ser>
          <c:idx val="5"/>
          <c:order val="5"/>
          <c:tx>
            <c:v>B空還</c:v>
          </c:tx>
          <c:spPr>
            <a:ln xmlns:a="http://schemas.openxmlformats.org/drawingml/2006/main" w="28575">
              <a:solidFill>
                <a:srgbClr val="ED7D31"/>
              </a:solidFill>
              <a:prstDash val="dash"/>
            </a:ln>
          </c:spPr>
          <c:marker>
            <c:symbol val="none"/>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43.27907</c:v>
              </c:pt>
              <c:pt idx="1">
                <c:v>109.302326</c:v>
              </c:pt>
              <c:pt idx="2">
                <c:v>167.255814</c:v>
              </c:pt>
              <c:pt idx="3">
                <c:v>154.906977</c:v>
              </c:pt>
              <c:pt idx="4">
                <c:v>142.790698</c:v>
              </c:pt>
              <c:pt idx="5">
                <c:v>141.860465</c:v>
              </c:pt>
              <c:pt idx="6">
                <c:v>156.116279</c:v>
              </c:pt>
              <c:pt idx="7">
                <c:v>125.581395</c:v>
              </c:pt>
              <c:pt idx="8">
                <c:v>106.813953</c:v>
              </c:pt>
              <c:pt idx="9">
                <c:v>99.023256</c:v>
              </c:pt>
              <c:pt idx="10">
                <c:v>112.093023</c:v>
              </c:pt>
              <c:pt idx="11">
                <c:v>155.488372</c:v>
              </c:pt>
              <c:pt idx="12">
                <c:v>172.139535</c:v>
              </c:pt>
              <c:pt idx="13">
                <c:v>140.651163</c:v>
              </c:pt>
              <c:pt idx="14">
                <c:v>125.860465</c:v>
              </c:pt>
              <c:pt idx="15">
                <c:v>127.604651</c:v>
              </c:pt>
              <c:pt idx="16">
                <c:v>107.837209</c:v>
              </c:pt>
              <c:pt idx="17">
                <c:v>66.627907</c:v>
              </c:pt>
            </c:numLit>
          </c:val>
          <c:smooth val="0"/>
        </c:ser>
        <c:ser>
          <c:idx val="6"/>
          <c:order val="6"/>
          <c:tx>
            <c:v>C調入</c:v>
          </c:tx>
          <c:spPr>
            <a:ln xmlns:a="http://schemas.openxmlformats.org/drawingml/2006/main" w="38100">
              <a:solidFill>
                <a:srgbClr val="70AD47"/>
              </a:solidFill>
              <a:prstDash val="solid"/>
            </a:ln>
          </c:spPr>
          <c:marker>
            <c:symbol val="circle"/>
            <c:size val="7"/>
            <c:spPr>
              <a:solidFill xmlns:a="http://schemas.openxmlformats.org/drawingml/2006/main">
                <a:srgbClr val="70AD47"/>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c:v>
              </c:pt>
              <c:pt idx="1">
                <c:v>8</c:v>
              </c:pt>
              <c:pt idx="2">
                <c:v>14</c:v>
              </c:pt>
              <c:pt idx="3">
                <c:v>17</c:v>
              </c:pt>
              <c:pt idx="4">
                <c:v>19</c:v>
              </c:pt>
              <c:pt idx="5">
                <c:v>12</c:v>
              </c:pt>
              <c:pt idx="6">
                <c:v>8</c:v>
              </c:pt>
              <c:pt idx="7">
                <c:v>16</c:v>
              </c:pt>
              <c:pt idx="8">
                <c:v>11</c:v>
              </c:pt>
              <c:pt idx="9">
                <c:v>9</c:v>
              </c:pt>
              <c:pt idx="10">
                <c:v>4</c:v>
              </c:pt>
              <c:pt idx="11">
                <c:v>7</c:v>
              </c:pt>
              <c:pt idx="12">
                <c:v>10</c:v>
              </c:pt>
              <c:pt idx="13">
                <c:v>8</c:v>
              </c:pt>
              <c:pt idx="14">
                <c:v>7</c:v>
              </c:pt>
              <c:pt idx="15">
                <c:v>5</c:v>
              </c:pt>
              <c:pt idx="16">
                <c:v>4</c:v>
              </c:pt>
              <c:pt idx="17">
                <c:v>8</c:v>
              </c:pt>
            </c:numLit>
          </c:val>
          <c:smooth val="0"/>
        </c:ser>
        <c:ser>
          <c:idx val="7"/>
          <c:order val="7"/>
          <c:tx>
            <c:v>C解綁車</c:v>
          </c:tx>
          <c:spPr>
            <a:ln xmlns:a="http://schemas.openxmlformats.org/drawingml/2006/main" w="21431">
              <a:solidFill>
                <a:srgbClr val="70AD47"/>
              </a:solidFill>
              <a:prstDash val="solid"/>
            </a:ln>
          </c:spPr>
          <c:marker>
            <c:symbol val="diamond"/>
            <c:size val="7"/>
            <c:spPr>
              <a:solidFill xmlns:a="http://schemas.openxmlformats.org/drawingml/2006/main">
                <a:srgbClr val="70AD47"/>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2</c:v>
              </c:pt>
              <c:pt idx="1">
                <c:v>13</c:v>
              </c:pt>
              <c:pt idx="2">
                <c:v>17</c:v>
              </c:pt>
              <c:pt idx="3">
                <c:v>8</c:v>
              </c:pt>
              <c:pt idx="4">
                <c:v>5</c:v>
              </c:pt>
              <c:pt idx="5">
                <c:v>3</c:v>
              </c:pt>
              <c:pt idx="6">
                <c:v>2</c:v>
              </c:pt>
              <c:pt idx="7">
                <c:v>3</c:v>
              </c:pt>
              <c:pt idx="8">
                <c:v>2</c:v>
              </c:pt>
              <c:pt idx="9">
                <c:v>2</c:v>
              </c:pt>
              <c:pt idx="10">
                <c:v>3</c:v>
              </c:pt>
              <c:pt idx="11">
                <c:v>6</c:v>
              </c:pt>
              <c:pt idx="12">
                <c:v>12</c:v>
              </c:pt>
              <c:pt idx="13">
                <c:v>7</c:v>
              </c:pt>
              <c:pt idx="14">
                <c:v>5</c:v>
              </c:pt>
              <c:pt idx="15">
                <c:v>2</c:v>
              </c:pt>
              <c:pt idx="16">
                <c:v>3</c:v>
              </c:pt>
              <c:pt idx="17">
                <c:v>3</c:v>
              </c:pt>
            </c:numLit>
          </c:val>
          <c:smooth val="0"/>
        </c:ser>
        <c:ser>
          <c:idx val="8"/>
          <c:order val="8"/>
          <c:tx>
            <c:v>C空還</c:v>
          </c:tx>
          <c:spPr>
            <a:ln xmlns:a="http://schemas.openxmlformats.org/drawingml/2006/main" w="28575">
              <a:solidFill>
                <a:srgbClr val="70AD47"/>
              </a:solidFill>
              <a:prstDash val="dash"/>
            </a:ln>
          </c:spPr>
          <c:marker>
            <c:symbol val="none"/>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29.162791</c:v>
              </c:pt>
              <c:pt idx="1">
                <c:v>76.395349</c:v>
              </c:pt>
              <c:pt idx="2">
                <c:v>131.186047</c:v>
              </c:pt>
              <c:pt idx="3">
                <c:v>122.581395</c:v>
              </c:pt>
              <c:pt idx="4">
                <c:v>107.697674</c:v>
              </c:pt>
              <c:pt idx="5">
                <c:v>104.139535</c:v>
              </c:pt>
              <c:pt idx="6">
                <c:v>130.093023</c:v>
              </c:pt>
              <c:pt idx="7">
                <c:v>104.813953</c:v>
              </c:pt>
              <c:pt idx="8">
                <c:v>86.209302</c:v>
              </c:pt>
              <c:pt idx="9">
                <c:v>82.325581</c:v>
              </c:pt>
              <c:pt idx="10">
                <c:v>104.906977</c:v>
              </c:pt>
              <c:pt idx="11">
                <c:v>145.023256</c:v>
              </c:pt>
              <c:pt idx="12">
                <c:v>150.093023</c:v>
              </c:pt>
              <c:pt idx="13">
                <c:v>109.418605</c:v>
              </c:pt>
              <c:pt idx="14">
                <c:v>86.44186</c:v>
              </c:pt>
              <c:pt idx="15">
                <c:v>75.930233</c:v>
              </c:pt>
              <c:pt idx="16">
                <c:v>59.255814</c:v>
              </c:pt>
              <c:pt idx="17">
                <c:v>29.767442</c:v>
              </c:pt>
            </c:numLit>
          </c:val>
          <c:smooth val="0"/>
        </c:ser>
        <c:dLbls>
          <c:txPr>
            <a:bodyPr xmlns:a="http://schemas.openxmlformats.org/drawingml/2006/main" anchorCtr="1"/>
            <a:lstStyle xmlns:a="http://schemas.openxmlformats.org/drawingml/2006/main"/>
            <a:p xmlns:a="http://schemas.openxmlformats.org/drawingml/2006/main">
              <a:pPr>
                <a:defRPr>
                  <a:latin typeface="微軟正黑體"/>
                  <a:ea typeface="微軟正黑體"/>
                  <a:cs typeface="微軟正黑體"/>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275">
                <a:solidFill>
                  <a:srgbClr val="404040"/>
                </a:solidFill>
                <a:latin typeface="微軟正黑體"/>
                <a:ea typeface="微軟正黑體"/>
                <a:cs typeface="微軟正黑體"/>
              </a:defRPr>
            </a:pPr>
          </a:p>
        </c:txPr>
        <c:crossAx val="48672768"/>
      </c:catAx>
      <c:valAx>
        <c:axId val="48672768"/>
        <c:scaling>
          <c:orientation val="minMax"/>
          <c:max val="200"/>
          <c:min val="0"/>
        </c:scaling>
        <c:delete val="0"/>
        <c:axPos val="l"/>
        <c:majorGridlines>
          <c:spPr>
            <a:ln xmlns:a="http://schemas.openxmlformats.org/drawingml/2006/main" w="9525">
              <a:solidFill>
                <a:srgbClr val="E7E6E6"/>
              </a:solidFill>
              <a:prstDash val="solid"/>
            </a:ln>
          </c:spPr>
        </c:majorGridlines>
        <c:numFmt formatCode="0" sourceLinked="0"/>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350">
                <a:solidFill>
                  <a:srgbClr val="404040"/>
                </a:solidFill>
                <a:latin typeface="微軟正黑體"/>
                <a:ea typeface="微軟正黑體"/>
                <a:cs typeface="微軟正黑體"/>
              </a:defRPr>
            </a:pPr>
          </a:p>
        </c:txPr>
        <c:crossAx val="48650112"/>
        <c:crossBetween val="between"/>
        <c:majorUnit val="50"/>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00" b="1">
                <a:solidFill>
                  <a:srgbClr val="404040"/>
                </a:solidFill>
                <a:latin typeface="微軟正黑體"/>
                <a:ea typeface="微軟正黑體"/>
                <a:cs typeface="微軟正黑體"/>
              </a:rPr>
              <a:t>滿借覆蓋率</a:t>
            </a:r>
          </a:p>
        </c:rich>
      </c:tx>
      <c:overlay val="0"/>
      <c:txPr>
        <a:bodyPr xmlns:a="http://schemas.openxmlformats.org/drawingml/2006/main" anchorCtr="1"/>
        <a:lstStyle xmlns:a="http://schemas.openxmlformats.org/drawingml/2006/main"/>
        <a:p xmlns:a="http://schemas.openxmlformats.org/drawingml/2006/main">
          <a:pPr>
            <a:defRPr sz="1800" b="1">
              <a:solidFill>
                <a:srgbClr val="404040"/>
              </a:solidFill>
              <a:latin typeface="微軟正黑體"/>
              <a:ea typeface="微軟正黑體"/>
              <a:cs typeface="微軟正黑體"/>
            </a:defRPr>
          </a:pPr>
        </a:p>
      </c:txPr>
    </c:title>
    <c:plotArea>
      <c:lineChart>
        <c:grouping val="standard"/>
        <c:varyColors val="0"/>
        <c:ser>
          <c:idx val="0"/>
          <c:order val="0"/>
          <c:tx>
            <c:v>A級</c:v>
          </c:tx>
          <c:spPr>
            <a:ln xmlns:a="http://schemas.openxmlformats.org/drawingml/2006/main" w="33338">
              <a:solidFill>
                <a:srgbClr val="4472C4"/>
              </a:solidFill>
              <a:prstDash val="solid"/>
            </a:ln>
          </c:spPr>
          <c:marker>
            <c:symbol val="circle"/>
            <c:size val="6"/>
            <c:spPr>
              <a:solidFill xmlns:a="http://schemas.openxmlformats.org/drawingml/2006/main">
                <a:srgbClr val="4472C4"/>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0.10549</c:v>
              </c:pt>
              <c:pt idx="1">
                <c:v>0.18433</c:v>
              </c:pt>
              <c:pt idx="2">
                <c:v>0.28356</c:v>
              </c:pt>
              <c:pt idx="3">
                <c:v>0.32927</c:v>
              </c:pt>
              <c:pt idx="4">
                <c:v>0.21053</c:v>
              </c:pt>
              <c:pt idx="5">
                <c:v>0.21127</c:v>
              </c:pt>
              <c:pt idx="6">
                <c:v>0.13551</c:v>
              </c:pt>
              <c:pt idx="7">
                <c:v>0.2138</c:v>
              </c:pt>
              <c:pt idx="8">
                <c:v>0.20889</c:v>
              </c:pt>
              <c:pt idx="9">
                <c:v>0.12434</c:v>
              </c:pt>
              <c:pt idx="10">
                <c:v>0.07799</c:v>
              </c:pt>
              <c:pt idx="11">
                <c:v>0.14994</c:v>
              </c:pt>
              <c:pt idx="12">
                <c:v>0.30745</c:v>
              </c:pt>
              <c:pt idx="13">
                <c:v>0.3437</c:v>
              </c:pt>
              <c:pt idx="14">
                <c:v>0.2796</c:v>
              </c:pt>
              <c:pt idx="15">
                <c:v>0.26073</c:v>
              </c:pt>
              <c:pt idx="16">
                <c:v>0.38889</c:v>
              </c:pt>
              <c:pt idx="17">
                <c:v>0.39918</c:v>
              </c:pt>
            </c:numLit>
          </c:val>
          <c:smooth val="0"/>
        </c:ser>
        <c:ser>
          <c:idx val="1"/>
          <c:order val="1"/>
          <c:tx>
            <c:v>B級</c:v>
          </c:tx>
          <c:spPr>
            <a:ln xmlns:a="http://schemas.openxmlformats.org/drawingml/2006/main" w="33338">
              <a:solidFill>
                <a:srgbClr val="ED7D31"/>
              </a:solidFill>
              <a:prstDash val="solid"/>
            </a:ln>
          </c:spPr>
          <c:marker>
            <c:symbol val="circle"/>
            <c:size val="6"/>
            <c:spPr>
              <a:solidFill xmlns:a="http://schemas.openxmlformats.org/drawingml/2006/main">
                <a:srgbClr val="ED7D31"/>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0.02572</c:v>
              </c:pt>
              <c:pt idx="1">
                <c:v>0.0876</c:v>
              </c:pt>
              <c:pt idx="2">
                <c:v>0.27224</c:v>
              </c:pt>
              <c:pt idx="3">
                <c:v>0.33088</c:v>
              </c:pt>
              <c:pt idx="4">
                <c:v>0.30392</c:v>
              </c:pt>
              <c:pt idx="5">
                <c:v>0.19192</c:v>
              </c:pt>
              <c:pt idx="6">
                <c:v>0.08333</c:v>
              </c:pt>
              <c:pt idx="7">
                <c:v>0.15859</c:v>
              </c:pt>
              <c:pt idx="8">
                <c:v>0.17778</c:v>
              </c:pt>
              <c:pt idx="9">
                <c:v>0.23567</c:v>
              </c:pt>
              <c:pt idx="10">
                <c:v>0.09778</c:v>
              </c:pt>
              <c:pt idx="11">
                <c:v>0.22822</c:v>
              </c:pt>
              <c:pt idx="12">
                <c:v>0.35788</c:v>
              </c:pt>
              <c:pt idx="13">
                <c:v>0.40641</c:v>
              </c:pt>
              <c:pt idx="14">
                <c:v>0.3192</c:v>
              </c:pt>
              <c:pt idx="15">
                <c:v>0.31781</c:v>
              </c:pt>
              <c:pt idx="16">
                <c:v>0.37701</c:v>
              </c:pt>
              <c:pt idx="17">
                <c:v>0.36017</c:v>
              </c:pt>
            </c:numLit>
          </c:val>
          <c:smooth val="0"/>
        </c:ser>
        <c:ser>
          <c:idx val="2"/>
          <c:order val="2"/>
          <c:tx>
            <c:v>C級</c:v>
          </c:tx>
          <c:spPr>
            <a:ln xmlns:a="http://schemas.openxmlformats.org/drawingml/2006/main" w="33338">
              <a:solidFill>
                <a:srgbClr val="70AD47"/>
              </a:solidFill>
              <a:prstDash val="solid"/>
            </a:ln>
          </c:spPr>
          <c:marker>
            <c:symbol val="circle"/>
            <c:size val="6"/>
            <c:spPr>
              <a:solidFill xmlns:a="http://schemas.openxmlformats.org/drawingml/2006/main">
                <a:srgbClr val="70AD47"/>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0.03704</c:v>
              </c:pt>
              <c:pt idx="1">
                <c:v>0.16256</c:v>
              </c:pt>
              <c:pt idx="2">
                <c:v>0.23881</c:v>
              </c:pt>
              <c:pt idx="3">
                <c:v>0.25664</c:v>
              </c:pt>
              <c:pt idx="4">
                <c:v>0.25</c:v>
              </c:pt>
              <c:pt idx="5">
                <c:v>0.17647</c:v>
              </c:pt>
              <c:pt idx="6">
                <c:v>0.10294</c:v>
              </c:pt>
              <c:pt idx="7">
                <c:v>0.30488</c:v>
              </c:pt>
              <c:pt idx="8">
                <c:v>0.19277</c:v>
              </c:pt>
              <c:pt idx="9">
                <c:v>0.17582</c:v>
              </c:pt>
              <c:pt idx="10">
                <c:v>0.08462</c:v>
              </c:pt>
              <c:pt idx="11">
                <c:v>0.26794</c:v>
              </c:pt>
              <c:pt idx="12">
                <c:v>0.38</c:v>
              </c:pt>
              <c:pt idx="13">
                <c:v>0.41322</c:v>
              </c:pt>
              <c:pt idx="14">
                <c:v>0.40698</c:v>
              </c:pt>
              <c:pt idx="15">
                <c:v>0.25676</c:v>
              </c:pt>
              <c:pt idx="16">
                <c:v>0.2716</c:v>
              </c:pt>
              <c:pt idx="17">
                <c:v>0.33333</c:v>
              </c:pt>
            </c:numLit>
          </c:val>
          <c:smooth val="0"/>
        </c:ser>
        <c:dLbls>
          <c:txPr>
            <a:bodyPr xmlns:a="http://schemas.openxmlformats.org/drawingml/2006/main" anchorCtr="1"/>
            <a:lstStyle xmlns:a="http://schemas.openxmlformats.org/drawingml/2006/main"/>
            <a:p xmlns:a="http://schemas.openxmlformats.org/drawingml/2006/main">
              <a:pPr>
                <a:defRPr>
                  <a:latin typeface="微軟正黑體"/>
                  <a:ea typeface="微軟正黑體"/>
                  <a:cs typeface="微軟正黑體"/>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425">
                <a:solidFill>
                  <a:srgbClr val="404040"/>
                </a:solidFill>
                <a:latin typeface="微軟正黑體"/>
                <a:ea typeface="微軟正黑體"/>
                <a:cs typeface="微軟正黑體"/>
              </a:defRPr>
            </a:pPr>
          </a:p>
        </c:txPr>
        <c:crossAx val="48672768"/>
      </c:catAx>
      <c:valAx>
        <c:axId val="48672768"/>
        <c:scaling>
          <c:orientation val="minMax"/>
          <c:max val="0.45"/>
          <c:min val="0"/>
        </c:scaling>
        <c:delete val="0"/>
        <c:axPos val="l"/>
        <c:majorGridlines>
          <c:spPr>
            <a:ln xmlns:a="http://schemas.openxmlformats.org/drawingml/2006/main" w="9525">
              <a:solidFill>
                <a:srgbClr val="D9D9D9"/>
              </a:solidFill>
              <a:prstDash val="solid"/>
            </a:ln>
          </c:spPr>
        </c:majorGridlines>
        <c:numFmt formatCode="0%" sourceLinked="0"/>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425">
                <a:solidFill>
                  <a:srgbClr val="404040"/>
                </a:solidFill>
                <a:latin typeface="微軟正黑體"/>
                <a:ea typeface="微軟正黑體"/>
                <a:cs typeface="微軟正黑體"/>
              </a:defRPr>
            </a:pPr>
          </a:p>
        </c:txPr>
        <c:crossAx val="48650112"/>
        <c:crossBetween val="between"/>
        <c:majorUnit val="0.1"/>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solidFill>
                <a:srgbClr val="404040"/>
              </a:solidFill>
              <a:latin typeface="微軟正黑體"/>
              <a:ea typeface="微軟正黑體"/>
              <a:cs typeface="微軟正黑體"/>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00" b="1">
                <a:solidFill>
                  <a:srgbClr val="404040"/>
                </a:solidFill>
                <a:latin typeface="微軟正黑體"/>
                <a:ea typeface="微軟正黑體"/>
                <a:cs typeface="微軟正黑體"/>
              </a:rPr>
              <a:t>空還覆蓋率</a:t>
            </a:r>
          </a:p>
        </c:rich>
      </c:tx>
      <c:overlay val="0"/>
      <c:txPr>
        <a:bodyPr xmlns:a="http://schemas.openxmlformats.org/drawingml/2006/main" anchorCtr="1"/>
        <a:lstStyle xmlns:a="http://schemas.openxmlformats.org/drawingml/2006/main"/>
        <a:p xmlns:a="http://schemas.openxmlformats.org/drawingml/2006/main">
          <a:pPr>
            <a:defRPr sz="1800" b="1">
              <a:solidFill>
                <a:srgbClr val="404040"/>
              </a:solidFill>
              <a:latin typeface="微軟正黑體"/>
              <a:ea typeface="微軟正黑體"/>
              <a:cs typeface="微軟正黑體"/>
            </a:defRPr>
          </a:pPr>
        </a:p>
      </c:txPr>
    </c:title>
    <c:plotArea>
      <c:lineChart>
        <c:grouping val="standard"/>
        <c:varyColors val="0"/>
        <c:ser>
          <c:idx val="0"/>
          <c:order val="0"/>
          <c:tx>
            <c:v>A級</c:v>
          </c:tx>
          <c:spPr>
            <a:ln xmlns:a="http://schemas.openxmlformats.org/drawingml/2006/main" w="33338">
              <a:solidFill>
                <a:srgbClr val="4472C4"/>
              </a:solidFill>
              <a:prstDash val="solid"/>
            </a:ln>
          </c:spPr>
          <c:marker>
            <c:symbol val="circle"/>
            <c:size val="6"/>
            <c:spPr>
              <a:solidFill xmlns:a="http://schemas.openxmlformats.org/drawingml/2006/main">
                <a:srgbClr val="4472C4"/>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0.05955</c:v>
              </c:pt>
              <c:pt idx="1">
                <c:v>0.15909</c:v>
              </c:pt>
              <c:pt idx="2">
                <c:v>0.13773</c:v>
              </c:pt>
              <c:pt idx="3">
                <c:v>0.12031</c:v>
              </c:pt>
              <c:pt idx="4">
                <c:v>0.13703</c:v>
              </c:pt>
              <c:pt idx="5">
                <c:v>0.11007</c:v>
              </c:pt>
              <c:pt idx="6">
                <c:v>0.03032</c:v>
              </c:pt>
              <c:pt idx="7">
                <c:v>0.05401</c:v>
              </c:pt>
              <c:pt idx="8">
                <c:v>0.0685</c:v>
              </c:pt>
              <c:pt idx="9">
                <c:v>0.03534</c:v>
              </c:pt>
              <c:pt idx="10">
                <c:v>0.04562</c:v>
              </c:pt>
              <c:pt idx="11">
                <c:v>0.05706</c:v>
              </c:pt>
              <c:pt idx="12">
                <c:v>0.14085</c:v>
              </c:pt>
              <c:pt idx="13">
                <c:v>0.14247</c:v>
              </c:pt>
              <c:pt idx="14">
                <c:v>0.13899</c:v>
              </c:pt>
              <c:pt idx="15">
                <c:v>0.10423</c:v>
              </c:pt>
              <c:pt idx="16">
                <c:v>0.20156</c:v>
              </c:pt>
              <c:pt idx="17">
                <c:v>0.2107</c:v>
              </c:pt>
            </c:numLit>
          </c:val>
          <c:smooth val="0"/>
        </c:ser>
        <c:ser>
          <c:idx val="1"/>
          <c:order val="1"/>
          <c:tx>
            <c:v>B級</c:v>
          </c:tx>
          <c:spPr>
            <a:ln xmlns:a="http://schemas.openxmlformats.org/drawingml/2006/main" w="33338">
              <a:solidFill>
                <a:srgbClr val="ED7D31"/>
              </a:solidFill>
              <a:prstDash val="solid"/>
            </a:ln>
          </c:spPr>
          <c:marker>
            <c:symbol val="circle"/>
            <c:size val="6"/>
            <c:spPr>
              <a:solidFill xmlns:a="http://schemas.openxmlformats.org/drawingml/2006/main">
                <a:srgbClr val="ED7D31"/>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0.06151</c:v>
              </c:pt>
              <c:pt idx="1">
                <c:v>0.1544</c:v>
              </c:pt>
              <c:pt idx="2">
                <c:v>0.15115</c:v>
              </c:pt>
              <c:pt idx="3">
                <c:v>0.14164</c:v>
              </c:pt>
              <c:pt idx="4">
                <c:v>0.14704</c:v>
              </c:pt>
              <c:pt idx="5">
                <c:v>0.095</c:v>
              </c:pt>
              <c:pt idx="6">
                <c:v>0.03821</c:v>
              </c:pt>
              <c:pt idx="7">
                <c:v>0.06415</c:v>
              </c:pt>
              <c:pt idx="8">
                <c:v>0.06718</c:v>
              </c:pt>
              <c:pt idx="9">
                <c:v>0.0347</c:v>
              </c:pt>
              <c:pt idx="10">
                <c:v>0.01355</c:v>
              </c:pt>
              <c:pt idx="11">
                <c:v>0.04352</c:v>
              </c:pt>
              <c:pt idx="12">
                <c:v>0.05941</c:v>
              </c:pt>
              <c:pt idx="13">
                <c:v>0.07795</c:v>
              </c:pt>
              <c:pt idx="14">
                <c:v>0.08319</c:v>
              </c:pt>
              <c:pt idx="15">
                <c:v>0.0416</c:v>
              </c:pt>
              <c:pt idx="16">
                <c:v>0.1157</c:v>
              </c:pt>
              <c:pt idx="17">
                <c:v>0.2184</c:v>
              </c:pt>
            </c:numLit>
          </c:val>
          <c:smooth val="0"/>
        </c:ser>
        <c:ser>
          <c:idx val="2"/>
          <c:order val="2"/>
          <c:tx>
            <c:v>C級</c:v>
          </c:tx>
          <c:spPr>
            <a:ln xmlns:a="http://schemas.openxmlformats.org/drawingml/2006/main" w="33338">
              <a:solidFill>
                <a:srgbClr val="70AD47"/>
              </a:solidFill>
              <a:prstDash val="solid"/>
            </a:ln>
          </c:spPr>
          <c:marker>
            <c:symbol val="circle"/>
            <c:size val="6"/>
            <c:spPr>
              <a:solidFill xmlns:a="http://schemas.openxmlformats.org/drawingml/2006/main">
                <a:srgbClr val="70AD47"/>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0.00587</c:v>
              </c:pt>
              <c:pt idx="1">
                <c:v>0.07703</c:v>
              </c:pt>
              <c:pt idx="2">
                <c:v>0.08485</c:v>
              </c:pt>
              <c:pt idx="3">
                <c:v>0.10661</c:v>
              </c:pt>
              <c:pt idx="4">
                <c:v>0.10804</c:v>
              </c:pt>
              <c:pt idx="5">
                <c:v>0.08567</c:v>
              </c:pt>
              <c:pt idx="6">
                <c:v>0.04095</c:v>
              </c:pt>
              <c:pt idx="7">
                <c:v>0.05192</c:v>
              </c:pt>
              <c:pt idx="8">
                <c:v>0.06692</c:v>
              </c:pt>
              <c:pt idx="9">
                <c:v>0.04728</c:v>
              </c:pt>
              <c:pt idx="10">
                <c:v>0.00977</c:v>
              </c:pt>
              <c:pt idx="11">
                <c:v>0.02555</c:v>
              </c:pt>
              <c:pt idx="12">
                <c:v>0.04361</c:v>
              </c:pt>
              <c:pt idx="13">
                <c:v>0.05707</c:v>
              </c:pt>
              <c:pt idx="14">
                <c:v>0.06643</c:v>
              </c:pt>
              <c:pt idx="15">
                <c:v>0.03849</c:v>
              </c:pt>
              <c:pt idx="16">
                <c:v>0.08535</c:v>
              </c:pt>
              <c:pt idx="17">
                <c:v>0.11241</c:v>
              </c:pt>
            </c:numLit>
          </c:val>
          <c:smooth val="0"/>
        </c:ser>
        <c:dLbls>
          <c:txPr>
            <a:bodyPr xmlns:a="http://schemas.openxmlformats.org/drawingml/2006/main" anchorCtr="1"/>
            <a:lstStyle xmlns:a="http://schemas.openxmlformats.org/drawingml/2006/main"/>
            <a:p xmlns:a="http://schemas.openxmlformats.org/drawingml/2006/main">
              <a:pPr>
                <a:defRPr>
                  <a:latin typeface="微軟正黑體"/>
                  <a:ea typeface="微軟正黑體"/>
                  <a:cs typeface="微軟正黑體"/>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425">
                <a:solidFill>
                  <a:srgbClr val="404040"/>
                </a:solidFill>
                <a:latin typeface="微軟正黑體"/>
                <a:ea typeface="微軟正黑體"/>
                <a:cs typeface="微軟正黑體"/>
              </a:defRPr>
            </a:pPr>
          </a:p>
        </c:txPr>
        <c:crossAx val="48672768"/>
      </c:catAx>
      <c:valAx>
        <c:axId val="48672768"/>
        <c:scaling>
          <c:orientation val="minMax"/>
          <c:max val="0.45"/>
          <c:min val="0"/>
        </c:scaling>
        <c:delete val="0"/>
        <c:axPos val="l"/>
        <c:majorGridlines>
          <c:spPr>
            <a:ln xmlns:a="http://schemas.openxmlformats.org/drawingml/2006/main" w="9525">
              <a:solidFill>
                <a:srgbClr val="D9D9D9"/>
              </a:solidFill>
              <a:prstDash val="solid"/>
            </a:ln>
          </c:spPr>
        </c:majorGridlines>
        <c:numFmt formatCode="0%" sourceLinked="0"/>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425">
                <a:solidFill>
                  <a:srgbClr val="404040"/>
                </a:solidFill>
                <a:latin typeface="微軟正黑體"/>
                <a:ea typeface="微軟正黑體"/>
                <a:cs typeface="微軟正黑體"/>
              </a:defRPr>
            </a:pPr>
          </a:p>
        </c:txPr>
        <c:crossAx val="48650112"/>
        <c:crossBetween val="between"/>
        <c:majorUnit val="0.1"/>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solidFill>
                <a:srgbClr val="404040"/>
              </a:solidFill>
              <a:latin typeface="微軟正黑體"/>
              <a:ea typeface="微軟正黑體"/>
              <a:cs typeface="微軟正黑體"/>
            </a:defRPr>
          </a:pPr>
        </a:p>
      </c:txPr>
    </c:legend>
    <c:plotVisOnly val="1"/>
  </c:chart>
  <c:spPr>
    <a:solidFill xmlns:a="http://schemas.openxmlformats.org/drawingml/2006/main">
      <a:srgbClr val="FFFFFF"/>
    </a:solidFill>
  </c:spPr>
</c:chartSpace>
</file>

<file path=ppt/slides/charts/chart7.xml><?xml version="1.0" encoding="utf-8"?>
<c:chartSpace xmlns:c="http://schemas.openxmlformats.org/drawingml/2006/chart">
  <c:lang val="en-US"/>
  <c:chart>
    <c:plotArea>
      <c:lineChart>
        <c:grouping val="standard"/>
        <c:varyColors val="0"/>
        <c:ser>
          <c:idx val="0"/>
          <c:order val="0"/>
          <c:tx>
            <c:v>A調出</c:v>
          </c:tx>
          <c:spPr>
            <a:ln xmlns:a="http://schemas.openxmlformats.org/drawingml/2006/main" w="38100">
              <a:solidFill>
                <a:srgbClr val="4472C4"/>
              </a:solidFill>
              <a:prstDash val="solid"/>
            </a:ln>
          </c:spPr>
          <c:marker>
            <c:symbol val="circle"/>
            <c:size val="7"/>
            <c:spPr>
              <a:solidFill xmlns:a="http://schemas.openxmlformats.org/drawingml/2006/main">
                <a:srgbClr val="4472C4"/>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2</c:v>
              </c:pt>
              <c:pt idx="1">
                <c:v>5</c:v>
              </c:pt>
              <c:pt idx="2">
                <c:v>6</c:v>
              </c:pt>
              <c:pt idx="3">
                <c:v>4</c:v>
              </c:pt>
              <c:pt idx="4">
                <c:v>4</c:v>
              </c:pt>
              <c:pt idx="5">
                <c:v>5</c:v>
              </c:pt>
              <c:pt idx="6">
                <c:v>5</c:v>
              </c:pt>
              <c:pt idx="7">
                <c:v>8</c:v>
              </c:pt>
              <c:pt idx="8">
                <c:v>6</c:v>
              </c:pt>
              <c:pt idx="9">
                <c:v>4</c:v>
              </c:pt>
              <c:pt idx="10">
                <c:v>2</c:v>
              </c:pt>
              <c:pt idx="11">
                <c:v>6</c:v>
              </c:pt>
              <c:pt idx="12">
                <c:v>8</c:v>
              </c:pt>
              <c:pt idx="13">
                <c:v>7</c:v>
              </c:pt>
              <c:pt idx="14">
                <c:v>3</c:v>
              </c:pt>
              <c:pt idx="15">
                <c:v>2</c:v>
              </c:pt>
              <c:pt idx="16">
                <c:v>8</c:v>
              </c:pt>
              <c:pt idx="17">
                <c:v>5</c:v>
              </c:pt>
            </c:numLit>
          </c:val>
          <c:smooth val="0"/>
        </c:ser>
        <c:ser>
          <c:idx val="1"/>
          <c:order val="1"/>
          <c:tx>
            <c:v>A綁車</c:v>
          </c:tx>
          <c:spPr>
            <a:ln xmlns:a="http://schemas.openxmlformats.org/drawingml/2006/main" w="21431">
              <a:solidFill>
                <a:srgbClr val="4472C4"/>
              </a:solidFill>
              <a:prstDash val="solid"/>
            </a:ln>
          </c:spPr>
          <c:marker>
            <c:symbol val="diamond"/>
            <c:size val="7"/>
            <c:spPr>
              <a:solidFill xmlns:a="http://schemas.openxmlformats.org/drawingml/2006/main">
                <a:srgbClr val="4472C4"/>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2</c:v>
              </c:pt>
              <c:pt idx="1">
                <c:v>7</c:v>
              </c:pt>
              <c:pt idx="2">
                <c:v>8</c:v>
              </c:pt>
              <c:pt idx="3">
                <c:v>7</c:v>
              </c:pt>
              <c:pt idx="4">
                <c:v>4</c:v>
              </c:pt>
              <c:pt idx="5">
                <c:v>3</c:v>
              </c:pt>
              <c:pt idx="6">
                <c:v>2</c:v>
              </c:pt>
              <c:pt idx="7">
                <c:v>5</c:v>
              </c:pt>
              <c:pt idx="8">
                <c:v>3</c:v>
              </c:pt>
              <c:pt idx="9">
                <c:v>2</c:v>
              </c:pt>
              <c:pt idx="10">
                <c:v>3</c:v>
              </c:pt>
              <c:pt idx="11">
                <c:v>4</c:v>
              </c:pt>
              <c:pt idx="12">
                <c:v>11</c:v>
              </c:pt>
              <c:pt idx="13">
                <c:v>9</c:v>
              </c:pt>
              <c:pt idx="14">
                <c:v>5</c:v>
              </c:pt>
              <c:pt idx="15">
                <c:v>5</c:v>
              </c:pt>
              <c:pt idx="16">
                <c:v>3</c:v>
              </c:pt>
              <c:pt idx="17">
                <c:v>4</c:v>
              </c:pt>
            </c:numLit>
          </c:val>
          <c:smooth val="0"/>
        </c:ser>
        <c:ser>
          <c:idx val="2"/>
          <c:order val="2"/>
          <c:tx>
            <c:v>A滿借</c:v>
          </c:tx>
          <c:spPr>
            <a:ln xmlns:a="http://schemas.openxmlformats.org/drawingml/2006/main" w="28575">
              <a:solidFill>
                <a:srgbClr val="4472C4"/>
              </a:solidFill>
              <a:prstDash val="dash"/>
            </a:ln>
          </c:spPr>
          <c:marker>
            <c:symbol val="none"/>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11.023256</c:v>
              </c:pt>
              <c:pt idx="1">
                <c:v>20.186047</c:v>
              </c:pt>
              <c:pt idx="2">
                <c:v>16.976744</c:v>
              </c:pt>
              <c:pt idx="3">
                <c:v>11.44186</c:v>
              </c:pt>
              <c:pt idx="4">
                <c:v>7.953488</c:v>
              </c:pt>
              <c:pt idx="5">
                <c:v>8.255814</c:v>
              </c:pt>
              <c:pt idx="6">
                <c:v>13.55814</c:v>
              </c:pt>
              <c:pt idx="7">
                <c:v>13.813953</c:v>
              </c:pt>
              <c:pt idx="8">
                <c:v>10.465116</c:v>
              </c:pt>
              <c:pt idx="9">
                <c:v>8.790698</c:v>
              </c:pt>
              <c:pt idx="10">
                <c:v>13.418605</c:v>
              </c:pt>
              <c:pt idx="11">
                <c:v>20.162791</c:v>
              </c:pt>
              <c:pt idx="12">
                <c:v>22.465116</c:v>
              </c:pt>
              <c:pt idx="13">
                <c:v>15.697674</c:v>
              </c:pt>
              <c:pt idx="14">
                <c:v>9.232558</c:v>
              </c:pt>
              <c:pt idx="15">
                <c:v>7.046512</c:v>
              </c:pt>
              <c:pt idx="16">
                <c:v>7.953488</c:v>
              </c:pt>
              <c:pt idx="17">
                <c:v>5.651163</c:v>
              </c:pt>
            </c:numLit>
          </c:val>
          <c:smooth val="0"/>
        </c:ser>
        <c:ser>
          <c:idx val="3"/>
          <c:order val="3"/>
          <c:tx>
            <c:v>B調出</c:v>
          </c:tx>
          <c:spPr>
            <a:ln xmlns:a="http://schemas.openxmlformats.org/drawingml/2006/main" w="38100">
              <a:solidFill>
                <a:srgbClr val="ED7D31"/>
              </a:solidFill>
              <a:prstDash val="solid"/>
            </a:ln>
          </c:spPr>
          <c:marker>
            <c:symbol val="circle"/>
            <c:size val="7"/>
            <c:spPr>
              <a:solidFill xmlns:a="http://schemas.openxmlformats.org/drawingml/2006/main">
                <a:srgbClr val="ED7D31"/>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c:v>
              </c:pt>
              <c:pt idx="1">
                <c:v>2</c:v>
              </c:pt>
              <c:pt idx="2">
                <c:v>4</c:v>
              </c:pt>
              <c:pt idx="3">
                <c:v>3</c:v>
              </c:pt>
              <c:pt idx="4">
                <c:v>2</c:v>
              </c:pt>
              <c:pt idx="5">
                <c:v>1</c:v>
              </c:pt>
              <c:pt idx="6">
                <c:v>2</c:v>
              </c:pt>
              <c:pt idx="7">
                <c:v>2</c:v>
              </c:pt>
              <c:pt idx="8">
                <c:v>3</c:v>
              </c:pt>
              <c:pt idx="9">
                <c:v>3</c:v>
              </c:pt>
              <c:pt idx="10">
                <c:v>1</c:v>
              </c:pt>
              <c:pt idx="11">
                <c:v>4</c:v>
              </c:pt>
              <c:pt idx="12">
                <c:v>5</c:v>
              </c:pt>
              <c:pt idx="13">
                <c:v>5</c:v>
              </c:pt>
              <c:pt idx="14">
                <c:v>4</c:v>
              </c:pt>
              <c:pt idx="15">
                <c:v>2</c:v>
              </c:pt>
              <c:pt idx="16">
                <c:v>7</c:v>
              </c:pt>
              <c:pt idx="17">
                <c:v>5</c:v>
              </c:pt>
            </c:numLit>
          </c:val>
          <c:smooth val="0"/>
        </c:ser>
        <c:ser>
          <c:idx val="4"/>
          <c:order val="4"/>
          <c:tx>
            <c:v>B綁車</c:v>
          </c:tx>
          <c:spPr>
            <a:ln xmlns:a="http://schemas.openxmlformats.org/drawingml/2006/main" w="21431">
              <a:solidFill>
                <a:srgbClr val="ED7D31"/>
              </a:solidFill>
              <a:prstDash val="solid"/>
            </a:ln>
          </c:spPr>
          <c:marker>
            <c:symbol val="diamond"/>
            <c:size val="7"/>
            <c:spPr>
              <a:solidFill xmlns:a="http://schemas.openxmlformats.org/drawingml/2006/main">
                <a:srgbClr val="ED7D31"/>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c:v>
              </c:pt>
              <c:pt idx="1">
                <c:v>3</c:v>
              </c:pt>
              <c:pt idx="2">
                <c:v>5</c:v>
              </c:pt>
              <c:pt idx="3">
                <c:v>3</c:v>
              </c:pt>
              <c:pt idx="4">
                <c:v>2</c:v>
              </c:pt>
              <c:pt idx="5">
                <c:v>2</c:v>
              </c:pt>
              <c:pt idx="6">
                <c:v>1</c:v>
              </c:pt>
              <c:pt idx="7">
                <c:v>1</c:v>
              </c:pt>
              <c:pt idx="8">
                <c:v>1</c:v>
              </c:pt>
              <c:pt idx="9">
                <c:v>1</c:v>
              </c:pt>
              <c:pt idx="10">
                <c:v>1</c:v>
              </c:pt>
              <c:pt idx="11">
                <c:v>7</c:v>
              </c:pt>
              <c:pt idx="12">
                <c:v>10</c:v>
              </c:pt>
              <c:pt idx="13">
                <c:v>11</c:v>
              </c:pt>
              <c:pt idx="14">
                <c:v>7</c:v>
              </c:pt>
              <c:pt idx="15">
                <c:v>5</c:v>
              </c:pt>
              <c:pt idx="16">
                <c:v>3</c:v>
              </c:pt>
              <c:pt idx="17">
                <c:v>3</c:v>
              </c:pt>
            </c:numLit>
          </c:val>
          <c:smooth val="0"/>
        </c:ser>
        <c:ser>
          <c:idx val="5"/>
          <c:order val="5"/>
          <c:tx>
            <c:v>B滿借</c:v>
          </c:tx>
          <c:spPr>
            <a:ln xmlns:a="http://schemas.openxmlformats.org/drawingml/2006/main" w="28575">
              <a:solidFill>
                <a:srgbClr val="ED7D31"/>
              </a:solidFill>
              <a:prstDash val="dash"/>
            </a:ln>
          </c:spPr>
          <c:marker>
            <c:symbol val="none"/>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7.232558</c:v>
              </c:pt>
              <c:pt idx="1">
                <c:v>14.069767</c:v>
              </c:pt>
              <c:pt idx="2">
                <c:v>8.627907</c:v>
              </c:pt>
              <c:pt idx="3">
                <c:v>3.162791</c:v>
              </c:pt>
              <c:pt idx="4">
                <c:v>2.372093</c:v>
              </c:pt>
              <c:pt idx="5">
                <c:v>2.302326</c:v>
              </c:pt>
              <c:pt idx="6">
                <c:v>4.465116</c:v>
              </c:pt>
              <c:pt idx="7">
                <c:v>5.27907</c:v>
              </c:pt>
              <c:pt idx="8">
                <c:v>4.186047</c:v>
              </c:pt>
              <c:pt idx="9">
                <c:v>3.651163</c:v>
              </c:pt>
              <c:pt idx="10">
                <c:v>5.232558</c:v>
              </c:pt>
              <c:pt idx="11">
                <c:v>11.209302</c:v>
              </c:pt>
              <c:pt idx="12">
                <c:v>15.790698</c:v>
              </c:pt>
              <c:pt idx="13">
                <c:v>13.790698</c:v>
              </c:pt>
              <c:pt idx="14">
                <c:v>9.325581</c:v>
              </c:pt>
              <c:pt idx="15">
                <c:v>8.488372</c:v>
              </c:pt>
              <c:pt idx="16">
                <c:v>10.116279</c:v>
              </c:pt>
              <c:pt idx="17">
                <c:v>5.488372</c:v>
              </c:pt>
            </c:numLit>
          </c:val>
          <c:smooth val="0"/>
        </c:ser>
        <c:ser>
          <c:idx val="6"/>
          <c:order val="6"/>
          <c:tx>
            <c:v>C調出</c:v>
          </c:tx>
          <c:spPr>
            <a:ln xmlns:a="http://schemas.openxmlformats.org/drawingml/2006/main" w="38100">
              <a:solidFill>
                <a:srgbClr val="70AD47"/>
              </a:solidFill>
              <a:prstDash val="solid"/>
            </a:ln>
          </c:spPr>
          <c:marker>
            <c:symbol val="circle"/>
            <c:size val="7"/>
            <c:spPr>
              <a:solidFill xmlns:a="http://schemas.openxmlformats.org/drawingml/2006/main">
                <a:srgbClr val="70AD47"/>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c:v>
              </c:pt>
              <c:pt idx="1">
                <c:v>1</c:v>
              </c:pt>
              <c:pt idx="2">
                <c:v>2</c:v>
              </c:pt>
              <c:pt idx="3">
                <c:v>2</c:v>
              </c:pt>
              <c:pt idx="4">
                <c:v>2</c:v>
              </c:pt>
              <c:pt idx="5">
                <c:v>2</c:v>
              </c:pt>
              <c:pt idx="6">
                <c:v>2</c:v>
              </c:pt>
              <c:pt idx="7">
                <c:v>3</c:v>
              </c:pt>
              <c:pt idx="8">
                <c:v>2</c:v>
              </c:pt>
              <c:pt idx="9">
                <c:v>4</c:v>
              </c:pt>
              <c:pt idx="10">
                <c:v>1</c:v>
              </c:pt>
              <c:pt idx="11">
                <c:v>1</c:v>
              </c:pt>
              <c:pt idx="12">
                <c:v>3</c:v>
              </c:pt>
              <c:pt idx="13">
                <c:v>3</c:v>
              </c:pt>
              <c:pt idx="14">
                <c:v>2</c:v>
              </c:pt>
              <c:pt idx="15">
                <c:v>2</c:v>
              </c:pt>
              <c:pt idx="16">
                <c:v>3</c:v>
              </c:pt>
              <c:pt idx="17">
                <c:v>2</c:v>
              </c:pt>
            </c:numLit>
          </c:val>
          <c:smooth val="0"/>
        </c:ser>
        <c:ser>
          <c:idx val="7"/>
          <c:order val="7"/>
          <c:tx>
            <c:v>C綁車</c:v>
          </c:tx>
          <c:spPr>
            <a:ln xmlns:a="http://schemas.openxmlformats.org/drawingml/2006/main" w="21431">
              <a:solidFill>
                <a:srgbClr val="70AD47"/>
              </a:solidFill>
              <a:prstDash val="solid"/>
            </a:ln>
          </c:spPr>
          <c:marker>
            <c:symbol val="diamond"/>
            <c:size val="7"/>
            <c:spPr>
              <a:solidFill xmlns:a="http://schemas.openxmlformats.org/drawingml/2006/main">
                <a:srgbClr val="70AD47"/>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c:v>
              </c:pt>
              <c:pt idx="1">
                <c:v>3</c:v>
              </c:pt>
              <c:pt idx="2">
                <c:v>3</c:v>
              </c:pt>
              <c:pt idx="3">
                <c:v>3</c:v>
              </c:pt>
              <c:pt idx="4">
                <c:v>1</c:v>
              </c:pt>
              <c:pt idx="5">
                <c:v>1</c:v>
              </c:pt>
              <c:pt idx="6">
                <c:v>1</c:v>
              </c:pt>
              <c:pt idx="7">
                <c:v>2</c:v>
              </c:pt>
              <c:pt idx="8">
                <c:v>1</c:v>
              </c:pt>
              <c:pt idx="9">
                <c:v>1</c:v>
              </c:pt>
              <c:pt idx="10">
                <c:v>1</c:v>
              </c:pt>
              <c:pt idx="11">
                <c:v>5</c:v>
              </c:pt>
              <c:pt idx="12">
                <c:v>4</c:v>
              </c:pt>
              <c:pt idx="13">
                <c:v>3</c:v>
              </c:pt>
              <c:pt idx="14">
                <c:v>3</c:v>
              </c:pt>
              <c:pt idx="15">
                <c:v>2</c:v>
              </c:pt>
              <c:pt idx="16">
                <c:v>1</c:v>
              </c:pt>
              <c:pt idx="17">
                <c:v>1</c:v>
              </c:pt>
            </c:numLit>
          </c:val>
          <c:smooth val="0"/>
        </c:ser>
        <c:ser>
          <c:idx val="8"/>
          <c:order val="8"/>
          <c:tx>
            <c:v>C滿借</c:v>
          </c:tx>
          <c:spPr>
            <a:ln xmlns:a="http://schemas.openxmlformats.org/drawingml/2006/main" w="28575">
              <a:solidFill>
                <a:srgbClr val="70AD47"/>
              </a:solidFill>
              <a:prstDash val="dash"/>
            </a:ln>
          </c:spPr>
          <c:marker>
            <c:symbol val="none"/>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1.883721</c:v>
              </c:pt>
              <c:pt idx="1">
                <c:v>4.72093</c:v>
              </c:pt>
              <c:pt idx="2">
                <c:v>4.674419</c:v>
              </c:pt>
              <c:pt idx="3">
                <c:v>2.627907</c:v>
              </c:pt>
              <c:pt idx="4">
                <c:v>1.488372</c:v>
              </c:pt>
              <c:pt idx="5">
                <c:v>1.186047</c:v>
              </c:pt>
              <c:pt idx="6">
                <c:v>1.581395</c:v>
              </c:pt>
              <c:pt idx="7">
                <c:v>1.906977</c:v>
              </c:pt>
              <c:pt idx="8">
                <c:v>1.930233</c:v>
              </c:pt>
              <c:pt idx="9">
                <c:v>2.116279</c:v>
              </c:pt>
              <c:pt idx="10">
                <c:v>3.023256</c:v>
              </c:pt>
              <c:pt idx="11">
                <c:v>4.860465</c:v>
              </c:pt>
              <c:pt idx="12">
                <c:v>3.488372</c:v>
              </c:pt>
              <c:pt idx="13">
                <c:v>2.813953</c:v>
              </c:pt>
              <c:pt idx="14">
                <c:v>2</c:v>
              </c:pt>
              <c:pt idx="15">
                <c:v>1.72093</c:v>
              </c:pt>
              <c:pt idx="16">
                <c:v>1.883721</c:v>
              </c:pt>
              <c:pt idx="17">
                <c:v>1.255814</c:v>
              </c:pt>
            </c:numLit>
          </c:val>
          <c:smooth val="0"/>
        </c:ser>
        <c:dLbls>
          <c:txPr>
            <a:bodyPr xmlns:a="http://schemas.openxmlformats.org/drawingml/2006/main" anchorCtr="1"/>
            <a:lstStyle xmlns:a="http://schemas.openxmlformats.org/drawingml/2006/main"/>
            <a:p xmlns:a="http://schemas.openxmlformats.org/drawingml/2006/main">
              <a:pPr>
                <a:defRPr>
                  <a:latin typeface="微軟正黑體"/>
                  <a:ea typeface="微軟正黑體"/>
                  <a:cs typeface="微軟正黑體"/>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275">
                <a:solidFill>
                  <a:srgbClr val="404040"/>
                </a:solidFill>
                <a:latin typeface="微軟正黑體"/>
                <a:ea typeface="微軟正黑體"/>
                <a:cs typeface="微軟正黑體"/>
              </a:defRPr>
            </a:pPr>
          </a:p>
        </c:txPr>
        <c:crossAx val="48672768"/>
      </c:catAx>
      <c:valAx>
        <c:axId val="48672768"/>
        <c:scaling>
          <c:orientation val="minMax"/>
          <c:max val="25"/>
          <c:min val="0"/>
        </c:scaling>
        <c:delete val="0"/>
        <c:axPos val="l"/>
        <c:majorGridlines>
          <c:spPr>
            <a:ln xmlns:a="http://schemas.openxmlformats.org/drawingml/2006/main" w="9525">
              <a:solidFill>
                <a:srgbClr val="E7E6E6"/>
              </a:solidFill>
              <a:prstDash val="solid"/>
            </a:ln>
          </c:spPr>
        </c:majorGridlines>
        <c:numFmt formatCode="0" sourceLinked="0"/>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350">
                <a:solidFill>
                  <a:srgbClr val="404040"/>
                </a:solidFill>
                <a:latin typeface="微軟正黑體"/>
                <a:ea typeface="微軟正黑體"/>
                <a:cs typeface="微軟正黑體"/>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8.xml><?xml version="1.0" encoding="utf-8"?>
<c:chartSpace xmlns:c="http://schemas.openxmlformats.org/drawingml/2006/chart">
  <c:lang val="en-US"/>
  <c:chart>
    <c:plotArea>
      <c:lineChart>
        <c:grouping val="standard"/>
        <c:varyColors val="0"/>
        <c:ser>
          <c:idx val="0"/>
          <c:order val="0"/>
          <c:tx>
            <c:v>A調入</c:v>
          </c:tx>
          <c:spPr>
            <a:ln xmlns:a="http://schemas.openxmlformats.org/drawingml/2006/main" w="38100">
              <a:solidFill>
                <a:srgbClr val="4472C4"/>
              </a:solidFill>
              <a:prstDash val="solid"/>
            </a:ln>
          </c:spPr>
          <c:marker>
            <c:symbol val="circle"/>
            <c:size val="7"/>
            <c:spPr>
              <a:solidFill xmlns:a="http://schemas.openxmlformats.org/drawingml/2006/main">
                <a:srgbClr val="4472C4"/>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3</c:v>
              </c:pt>
              <c:pt idx="1">
                <c:v>15</c:v>
              </c:pt>
              <c:pt idx="2">
                <c:v>35</c:v>
              </c:pt>
              <c:pt idx="3">
                <c:v>25</c:v>
              </c:pt>
              <c:pt idx="4">
                <c:v>24</c:v>
              </c:pt>
              <c:pt idx="5">
                <c:v>22</c:v>
              </c:pt>
              <c:pt idx="6">
                <c:v>8</c:v>
              </c:pt>
              <c:pt idx="7">
                <c:v>12</c:v>
              </c:pt>
              <c:pt idx="8">
                <c:v>13</c:v>
              </c:pt>
              <c:pt idx="9">
                <c:v>7</c:v>
              </c:pt>
              <c:pt idx="10">
                <c:v>4</c:v>
              </c:pt>
              <c:pt idx="11">
                <c:v>10</c:v>
              </c:pt>
              <c:pt idx="12">
                <c:v>18</c:v>
              </c:pt>
              <c:pt idx="13">
                <c:v>22</c:v>
              </c:pt>
              <c:pt idx="14">
                <c:v>26</c:v>
              </c:pt>
              <c:pt idx="15">
                <c:v>19</c:v>
              </c:pt>
              <c:pt idx="16">
                <c:v>35</c:v>
              </c:pt>
              <c:pt idx="17">
                <c:v>30</c:v>
              </c:pt>
            </c:numLit>
          </c:val>
          <c:smooth val="0"/>
        </c:ser>
        <c:ser>
          <c:idx val="1"/>
          <c:order val="1"/>
          <c:tx>
            <c:v>A解綁車</c:v>
          </c:tx>
          <c:spPr>
            <a:ln xmlns:a="http://schemas.openxmlformats.org/drawingml/2006/main" w="21431">
              <a:solidFill>
                <a:srgbClr val="4472C4"/>
              </a:solidFill>
              <a:prstDash val="solid"/>
            </a:ln>
          </c:spPr>
          <c:marker>
            <c:symbol val="diamond"/>
            <c:size val="7"/>
            <c:spPr>
              <a:solidFill xmlns:a="http://schemas.openxmlformats.org/drawingml/2006/main">
                <a:srgbClr val="4472C4"/>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6</c:v>
              </c:pt>
              <c:pt idx="1">
                <c:v>16</c:v>
              </c:pt>
              <c:pt idx="2">
                <c:v>8</c:v>
              </c:pt>
              <c:pt idx="3">
                <c:v>9</c:v>
              </c:pt>
              <c:pt idx="4">
                <c:v>7</c:v>
              </c:pt>
              <c:pt idx="5">
                <c:v>4</c:v>
              </c:pt>
              <c:pt idx="6">
                <c:v>4</c:v>
              </c:pt>
              <c:pt idx="7">
                <c:v>6</c:v>
              </c:pt>
              <c:pt idx="8">
                <c:v>4</c:v>
              </c:pt>
              <c:pt idx="9">
                <c:v>4</c:v>
              </c:pt>
              <c:pt idx="10">
                <c:v>9</c:v>
              </c:pt>
              <c:pt idx="11">
                <c:v>9</c:v>
              </c:pt>
              <c:pt idx="12">
                <c:v>16</c:v>
              </c:pt>
              <c:pt idx="13">
                <c:v>15</c:v>
              </c:pt>
              <c:pt idx="14">
                <c:v>7</c:v>
              </c:pt>
              <c:pt idx="15">
                <c:v>5</c:v>
              </c:pt>
              <c:pt idx="16">
                <c:v>9</c:v>
              </c:pt>
              <c:pt idx="17">
                <c:v>4</c:v>
              </c:pt>
            </c:numLit>
          </c:val>
          <c:smooth val="0"/>
        </c:ser>
        <c:ser>
          <c:idx val="2"/>
          <c:order val="2"/>
          <c:tx>
            <c:v>A空還</c:v>
          </c:tx>
          <c:spPr>
            <a:ln xmlns:a="http://schemas.openxmlformats.org/drawingml/2006/main" w="28575">
              <a:solidFill>
                <a:srgbClr val="4472C4"/>
              </a:solidFill>
              <a:prstDash val="dash"/>
            </a:ln>
          </c:spPr>
          <c:marker>
            <c:symbol val="none"/>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35.930233</c:v>
              </c:pt>
              <c:pt idx="1">
                <c:v>116.651163</c:v>
              </c:pt>
              <c:pt idx="2">
                <c:v>183.883721</c:v>
              </c:pt>
              <c:pt idx="3">
                <c:v>165.465116</c:v>
              </c:pt>
              <c:pt idx="4">
                <c:v>147.139535</c:v>
              </c:pt>
              <c:pt idx="5">
                <c:v>129.511628</c:v>
              </c:pt>
              <c:pt idx="6">
                <c:v>150.348837</c:v>
              </c:pt>
              <c:pt idx="7">
                <c:v>132.627907</c:v>
              </c:pt>
              <c:pt idx="8">
                <c:v>110</c:v>
              </c:pt>
              <c:pt idx="9">
                <c:v>100.023256</c:v>
              </c:pt>
              <c:pt idx="10">
                <c:v>108.069767</c:v>
              </c:pt>
              <c:pt idx="11">
                <c:v>116.976744</c:v>
              </c:pt>
              <c:pt idx="12">
                <c:v>109.302326</c:v>
              </c:pt>
              <c:pt idx="13">
                <c:v>112.139535</c:v>
              </c:pt>
              <c:pt idx="14">
                <c:v>122.139535</c:v>
              </c:pt>
              <c:pt idx="15">
                <c:v>138.116279</c:v>
              </c:pt>
              <c:pt idx="16">
                <c:v>134.186047</c:v>
              </c:pt>
              <c:pt idx="17">
                <c:v>89.069767</c:v>
              </c:pt>
            </c:numLit>
          </c:val>
          <c:smooth val="0"/>
        </c:ser>
        <c:ser>
          <c:idx val="3"/>
          <c:order val="3"/>
          <c:tx>
            <c:v>B調入</c:v>
          </c:tx>
          <c:spPr>
            <a:ln xmlns:a="http://schemas.openxmlformats.org/drawingml/2006/main" w="38100">
              <a:solidFill>
                <a:srgbClr val="ED7D31"/>
              </a:solidFill>
              <a:prstDash val="solid"/>
            </a:ln>
          </c:spPr>
          <c:marker>
            <c:symbol val="circle"/>
            <c:size val="7"/>
            <c:spPr>
              <a:solidFill xmlns:a="http://schemas.openxmlformats.org/drawingml/2006/main">
                <a:srgbClr val="ED7D31"/>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2</c:v>
              </c:pt>
              <c:pt idx="1">
                <c:v>11</c:v>
              </c:pt>
              <c:pt idx="2">
                <c:v>22</c:v>
              </c:pt>
              <c:pt idx="3">
                <c:v>23</c:v>
              </c:pt>
              <c:pt idx="4">
                <c:v>20</c:v>
              </c:pt>
              <c:pt idx="5">
                <c:v>15</c:v>
              </c:pt>
              <c:pt idx="6">
                <c:v>9</c:v>
              </c:pt>
              <c:pt idx="7">
                <c:v>12</c:v>
              </c:pt>
              <c:pt idx="8">
                <c:v>14</c:v>
              </c:pt>
              <c:pt idx="9">
                <c:v>6</c:v>
              </c:pt>
              <c:pt idx="10">
                <c:v>3</c:v>
              </c:pt>
              <c:pt idx="11">
                <c:v>6</c:v>
              </c:pt>
              <c:pt idx="12">
                <c:v>7</c:v>
              </c:pt>
              <c:pt idx="13">
                <c:v>5</c:v>
              </c:pt>
              <c:pt idx="14">
                <c:v>5</c:v>
              </c:pt>
              <c:pt idx="15">
                <c:v>3</c:v>
              </c:pt>
              <c:pt idx="16">
                <c:v>5</c:v>
              </c:pt>
              <c:pt idx="17">
                <c:v>8</c:v>
              </c:pt>
            </c:numLit>
          </c:val>
          <c:smooth val="0"/>
        </c:ser>
        <c:ser>
          <c:idx val="4"/>
          <c:order val="4"/>
          <c:tx>
            <c:v>B解綁車</c:v>
          </c:tx>
          <c:spPr>
            <a:ln xmlns:a="http://schemas.openxmlformats.org/drawingml/2006/main" w="21431">
              <a:solidFill>
                <a:srgbClr val="ED7D31"/>
              </a:solidFill>
              <a:prstDash val="solid"/>
            </a:ln>
          </c:spPr>
          <c:marker>
            <c:symbol val="diamond"/>
            <c:size val="7"/>
            <c:spPr>
              <a:solidFill xmlns:a="http://schemas.openxmlformats.org/drawingml/2006/main">
                <a:srgbClr val="ED7D31"/>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5</c:v>
              </c:pt>
              <c:pt idx="1">
                <c:v>16</c:v>
              </c:pt>
              <c:pt idx="2">
                <c:v>13</c:v>
              </c:pt>
              <c:pt idx="3">
                <c:v>5</c:v>
              </c:pt>
              <c:pt idx="4">
                <c:v>4</c:v>
              </c:pt>
              <c:pt idx="5">
                <c:v>2</c:v>
              </c:pt>
              <c:pt idx="6">
                <c:v>3</c:v>
              </c:pt>
              <c:pt idx="7">
                <c:v>2</c:v>
              </c:pt>
              <c:pt idx="8">
                <c:v>2</c:v>
              </c:pt>
              <c:pt idx="9">
                <c:v>2</c:v>
              </c:pt>
              <c:pt idx="10">
                <c:v>4</c:v>
              </c:pt>
              <c:pt idx="11">
                <c:v>9</c:v>
              </c:pt>
              <c:pt idx="12">
                <c:v>10</c:v>
              </c:pt>
              <c:pt idx="13">
                <c:v>10</c:v>
              </c:pt>
              <c:pt idx="14">
                <c:v>12</c:v>
              </c:pt>
              <c:pt idx="15">
                <c:v>5</c:v>
              </c:pt>
              <c:pt idx="16">
                <c:v>8</c:v>
              </c:pt>
              <c:pt idx="17">
                <c:v>4</c:v>
              </c:pt>
            </c:numLit>
          </c:val>
          <c:smooth val="0"/>
        </c:ser>
        <c:ser>
          <c:idx val="5"/>
          <c:order val="5"/>
          <c:tx>
            <c:v>B空還</c:v>
          </c:tx>
          <c:spPr>
            <a:ln xmlns:a="http://schemas.openxmlformats.org/drawingml/2006/main" w="28575">
              <a:solidFill>
                <a:srgbClr val="ED7D31"/>
              </a:solidFill>
              <a:prstDash val="dash"/>
            </a:ln>
          </c:spPr>
          <c:marker>
            <c:symbol val="none"/>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26.465116</c:v>
              </c:pt>
              <c:pt idx="1">
                <c:v>86.906977</c:v>
              </c:pt>
              <c:pt idx="2">
                <c:v>121.860465</c:v>
              </c:pt>
              <c:pt idx="3">
                <c:v>106.395349</c:v>
              </c:pt>
              <c:pt idx="4">
                <c:v>89.674419</c:v>
              </c:pt>
              <c:pt idx="5">
                <c:v>83.72093</c:v>
              </c:pt>
              <c:pt idx="6">
                <c:v>104.697674</c:v>
              </c:pt>
              <c:pt idx="7">
                <c:v>99.325581</c:v>
              </c:pt>
              <c:pt idx="8">
                <c:v>81</c:v>
              </c:pt>
              <c:pt idx="9">
                <c:v>80.418605</c:v>
              </c:pt>
              <c:pt idx="10">
                <c:v>96.093023</c:v>
              </c:pt>
              <c:pt idx="11">
                <c:v>115.418605</c:v>
              </c:pt>
              <c:pt idx="12">
                <c:v>98.651163</c:v>
              </c:pt>
              <c:pt idx="13">
                <c:v>76.674419</c:v>
              </c:pt>
              <c:pt idx="14">
                <c:v>69.325581</c:v>
              </c:pt>
              <c:pt idx="15">
                <c:v>61.488372</c:v>
              </c:pt>
              <c:pt idx="16">
                <c:v>48.44186</c:v>
              </c:pt>
              <c:pt idx="17">
                <c:v>25.023256</c:v>
              </c:pt>
            </c:numLit>
          </c:val>
          <c:smooth val="0"/>
        </c:ser>
        <c:ser>
          <c:idx val="6"/>
          <c:order val="6"/>
          <c:tx>
            <c:v>C調入</c:v>
          </c:tx>
          <c:spPr>
            <a:ln xmlns:a="http://schemas.openxmlformats.org/drawingml/2006/main" w="38100">
              <a:solidFill>
                <a:srgbClr val="70AD47"/>
              </a:solidFill>
              <a:prstDash val="solid"/>
            </a:ln>
          </c:spPr>
          <c:marker>
            <c:symbol val="circle"/>
            <c:size val="7"/>
            <c:spPr>
              <a:solidFill xmlns:a="http://schemas.openxmlformats.org/drawingml/2006/main">
                <a:srgbClr val="70AD47"/>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0</c:v>
              </c:pt>
              <c:pt idx="1">
                <c:v>3</c:v>
              </c:pt>
              <c:pt idx="2">
                <c:v>7</c:v>
              </c:pt>
              <c:pt idx="3">
                <c:v>7</c:v>
              </c:pt>
              <c:pt idx="4">
                <c:v>8</c:v>
              </c:pt>
              <c:pt idx="5">
                <c:v>5</c:v>
              </c:pt>
              <c:pt idx="6">
                <c:v>8</c:v>
              </c:pt>
              <c:pt idx="7">
                <c:v>7</c:v>
              </c:pt>
              <c:pt idx="8">
                <c:v>6</c:v>
              </c:pt>
              <c:pt idx="9">
                <c:v>6</c:v>
              </c:pt>
              <c:pt idx="10">
                <c:v>3</c:v>
              </c:pt>
              <c:pt idx="11">
                <c:v>6</c:v>
              </c:pt>
              <c:pt idx="12">
                <c:v>6</c:v>
              </c:pt>
              <c:pt idx="13">
                <c:v>6</c:v>
              </c:pt>
              <c:pt idx="14">
                <c:v>7</c:v>
              </c:pt>
              <c:pt idx="15">
                <c:v>2</c:v>
              </c:pt>
              <c:pt idx="16">
                <c:v>3</c:v>
              </c:pt>
              <c:pt idx="17">
                <c:v>4</c:v>
              </c:pt>
            </c:numLit>
          </c:val>
          <c:smooth val="0"/>
        </c:ser>
        <c:ser>
          <c:idx val="7"/>
          <c:order val="7"/>
          <c:tx>
            <c:v>C解綁車</c:v>
          </c:tx>
          <c:spPr>
            <a:ln xmlns:a="http://schemas.openxmlformats.org/drawingml/2006/main" w="21431">
              <a:solidFill>
                <a:srgbClr val="70AD47"/>
              </a:solidFill>
              <a:prstDash val="solid"/>
            </a:ln>
          </c:spPr>
          <c:marker>
            <c:symbol val="diamond"/>
            <c:size val="7"/>
            <c:spPr>
              <a:solidFill xmlns:a="http://schemas.openxmlformats.org/drawingml/2006/main">
                <a:srgbClr val="70AD47"/>
              </a:solidFill>
            </c:spPr>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c:v>
              </c:pt>
              <c:pt idx="1">
                <c:v>4</c:v>
              </c:pt>
              <c:pt idx="2">
                <c:v>2</c:v>
              </c:pt>
              <c:pt idx="3">
                <c:v>2</c:v>
              </c:pt>
              <c:pt idx="4">
                <c:v>2</c:v>
              </c:pt>
              <c:pt idx="5">
                <c:v>1</c:v>
              </c:pt>
              <c:pt idx="6">
                <c:v>2</c:v>
              </c:pt>
              <c:pt idx="7">
                <c:v>1</c:v>
              </c:pt>
              <c:pt idx="8">
                <c:v>1</c:v>
              </c:pt>
              <c:pt idx="9">
                <c:v>1</c:v>
              </c:pt>
              <c:pt idx="10">
                <c:v>3</c:v>
              </c:pt>
              <c:pt idx="11">
                <c:v>3</c:v>
              </c:pt>
              <c:pt idx="12">
                <c:v>3</c:v>
              </c:pt>
              <c:pt idx="13">
                <c:v>3</c:v>
              </c:pt>
              <c:pt idx="14">
                <c:v>2</c:v>
              </c:pt>
              <c:pt idx="15">
                <c:v>2</c:v>
              </c:pt>
              <c:pt idx="16">
                <c:v>3</c:v>
              </c:pt>
              <c:pt idx="17">
                <c:v>2</c:v>
              </c:pt>
            </c:numLit>
          </c:val>
          <c:smooth val="0"/>
        </c:ser>
        <c:ser>
          <c:idx val="8"/>
          <c:order val="8"/>
          <c:tx>
            <c:v>C空還</c:v>
          </c:tx>
          <c:spPr>
            <a:ln xmlns:a="http://schemas.openxmlformats.org/drawingml/2006/main" w="28575">
              <a:solidFill>
                <a:srgbClr val="70AD47"/>
              </a:solidFill>
              <a:prstDash val="dash"/>
            </a:ln>
          </c:spPr>
          <c:marker>
            <c:symbol val="none"/>
          </c:marker>
          <c:cat>
            <c:numLit>
              <c:formatCode>General</c:formatCode>
              <c:ptCount val="18"/>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pt idx="17">
                <c:v>23</c:v>
              </c:pt>
            </c:numLit>
          </c:cat>
          <c:val>
            <c:numLit>
              <c:formatCode>0</c:formatCode>
              <c:ptCount val="18"/>
              <c:pt idx="0">
                <c:v>11.883721</c:v>
              </c:pt>
              <c:pt idx="1">
                <c:v>34.116279</c:v>
              </c:pt>
              <c:pt idx="2">
                <c:v>40.837209</c:v>
              </c:pt>
              <c:pt idx="3">
                <c:v>34.465116</c:v>
              </c:pt>
              <c:pt idx="4">
                <c:v>27.767442</c:v>
              </c:pt>
              <c:pt idx="5">
                <c:v>27.418605</c:v>
              </c:pt>
              <c:pt idx="6">
                <c:v>40.325581</c:v>
              </c:pt>
              <c:pt idx="7">
                <c:v>36.27907</c:v>
              </c:pt>
              <c:pt idx="8">
                <c:v>30.232558</c:v>
              </c:pt>
              <c:pt idx="9">
                <c:v>32.953488</c:v>
              </c:pt>
              <c:pt idx="10">
                <c:v>47.627907</c:v>
              </c:pt>
              <c:pt idx="11">
                <c:v>68.255814</c:v>
              </c:pt>
              <c:pt idx="12">
                <c:v>70.395349</c:v>
              </c:pt>
              <c:pt idx="13">
                <c:v>47.674419</c:v>
              </c:pt>
              <c:pt idx="14">
                <c:v>39.209302</c:v>
              </c:pt>
              <c:pt idx="15">
                <c:v>31.418605</c:v>
              </c:pt>
              <c:pt idx="16">
                <c:v>18.255814</c:v>
              </c:pt>
              <c:pt idx="17">
                <c:v>9.930233</c:v>
              </c:pt>
            </c:numLit>
          </c:val>
          <c:smooth val="0"/>
        </c:ser>
        <c:dLbls>
          <c:txPr>
            <a:bodyPr xmlns:a="http://schemas.openxmlformats.org/drawingml/2006/main" anchorCtr="1"/>
            <a:lstStyle xmlns:a="http://schemas.openxmlformats.org/drawingml/2006/main"/>
            <a:p xmlns:a="http://schemas.openxmlformats.org/drawingml/2006/main">
              <a:pPr>
                <a:defRPr>
                  <a:latin typeface="微軟正黑體"/>
                  <a:ea typeface="微軟正黑體"/>
                  <a:cs typeface="微軟正黑體"/>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275">
                <a:solidFill>
                  <a:srgbClr val="404040"/>
                </a:solidFill>
                <a:latin typeface="微軟正黑體"/>
                <a:ea typeface="微軟正黑體"/>
                <a:cs typeface="微軟正黑體"/>
              </a:defRPr>
            </a:pPr>
          </a:p>
        </c:txPr>
        <c:crossAx val="48672768"/>
      </c:catAx>
      <c:valAx>
        <c:axId val="48672768"/>
        <c:scaling>
          <c:orientation val="minMax"/>
          <c:max val="200"/>
          <c:min val="0"/>
        </c:scaling>
        <c:delete val="0"/>
        <c:axPos val="l"/>
        <c:majorGridlines>
          <c:spPr>
            <a:ln xmlns:a="http://schemas.openxmlformats.org/drawingml/2006/main" w="9525">
              <a:solidFill>
                <a:srgbClr val="E7E6E6"/>
              </a:solidFill>
              <a:prstDash val="solid"/>
            </a:ln>
          </c:spPr>
        </c:majorGridlines>
        <c:numFmt formatCode="0" sourceLinked="0"/>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1350">
                <a:solidFill>
                  <a:srgbClr val="404040"/>
                </a:solidFill>
                <a:latin typeface="微軟正黑體"/>
                <a:ea typeface="微軟正黑體"/>
                <a:cs typeface="微軟正黑體"/>
              </a:defRPr>
            </a:pPr>
          </a:p>
        </c:txPr>
        <c:crossAx val="48650112"/>
        <c:crossBetween val="between"/>
        <c:majorUnit val="50"/>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投影片編號版面配置區 2">
            <a:extLst xmlns:a="http://schemas.openxmlformats.org/drawingml/2006/main">
              <a:ext uri="{FF2B5EF4-FFF2-40B4-BE49-F238E27FC236}">
                <a16:creationId xmlns:a16="http://schemas.microsoft.com/office/drawing/2014/main" id="{2F0538B9-230B-2673-0CBF-09C5DCF3732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F4223C03-1ED5-402E-8F3E-89A17789C924}" type="slidenum">
              <a:t>1</a:t>
            </a:fld>
            <a:endParaRPr/>
          </a:p>
        </p:txBody>
      </p:sp>
      <p:sp>
        <p:nvSpPr>
          <p:cNvPr id="6" name="標題 1">
            <a:extLst xmlns:a="http://schemas.openxmlformats.org/drawingml/2006/main">
              <a:ext uri="{FF2B5EF4-FFF2-40B4-BE49-F238E27FC236}">
                <a16:creationId xmlns:a16="http://schemas.microsoft.com/office/drawing/2014/main" id="{E26DB488-7653-E7BA-959F-A0EF1B7BEAD8}"/>
              </a:ext>
            </a:extLst>
          </p:cNvPr>
          <p:cNvSpPr>
            <a:spLocks xmlns:a="http://schemas.openxmlformats.org/drawingml/2006/main" noGrp="1"/>
          </p:cNvSpPr>
          <p:nvPr/>
        </p:nvSpPr>
        <p:spPr>
          <a:xfrm xmlns:a="http://schemas.openxmlformats.org/drawingml/2006/main">
            <a:off x="0" y="0"/>
            <a:ext cx="9144000" cy="900000"/>
          </a:xfrm>
          <a:prstGeom xmlns:a="http://schemas.openxmlformats.org/drawingml/2006/main" prst="rect">
            <a:avLst/>
          </a:prstGeom>
          <a:solidFill xmlns:a="http://schemas.openxmlformats.org/drawingml/2006/main">
            <a:srgbClr val="FFD243"/>
          </a:solidFill>
        </p:spPr>
        <p:txBody>
          <a:bodyPr xmlns:a="http://schemas.openxmlformats.org/drawingml/2006/main" anchor="ctr">
            <a:normAutofit/>
          </a:bodyPr>
          <a:lstStyle xmlns:a="http://schemas.openxmlformats.org/drawingml/2006/main">
            <a:lvl1pPr algn="ctr" defTabSz="914400">
              <a:spcBef>
                <a:spcPct val="0"/>
              </a:spcBef>
              <a:buNone/>
              <a:defRPr sz="4400" kern="1200">
                <a:solidFill>
                  <a:schemeClr val="tx1"/>
                </a:solidFill>
                <a:latin typeface="+mj-lt"/>
                <a:ea typeface="+mj-lt"/>
                <a:cs typeface="+mj-lt"/>
              </a:defRPr>
            </a:lvl1pPr>
          </a:lstStyle>
          <a:p xmlns:a="http://schemas.openxmlformats.org/drawingml/2006/main">
            <a:pPr>
              <a:buNone/>
            </a:pPr>
            <a:r>
              <a:rPr sz="3600" b="1">
                <a:solidFill>
                  <a:schemeClr val="tx1">
                    <a:lumMod val="75000"/>
                    <a:lumOff val="25000"/>
                  </a:schemeClr>
                </a:solidFill>
                <a:latin typeface="微軟正黑體"/>
                <a:ea typeface="微軟正黑體"/>
                <a:cs typeface="微軟正黑體"/>
              </a:rPr>
              <a:t>六、雙北專案任務_台大微型調度車營運分析</a:t>
            </a:r>
            <a:endParaRPr sz="4000" b="1">
              <a:solidFill>
                <a:schemeClr val="bg1"/>
              </a:solidFill>
              <a:latin typeface="微軟正黑體"/>
              <a:ea typeface="微軟正黑體"/>
              <a:cs typeface="微軟正黑體"/>
            </a:endParaRPr>
          </a:p>
        </p:txBody>
      </p:sp>
      <p:graphicFrame>
        <p:nvGraphicFramePr>
          <p:cNvPr id="12" name="表格 1"/>
          <p:cNvGraphicFramePr/>
          <p:nvPr/>
        </p:nvGraphicFramePr>
        <p:xfrm>
          <a:off xmlns:a="http://schemas.openxmlformats.org/drawingml/2006/main" x="107504" y="2058298"/>
          <a:ext xmlns:a="http://schemas.openxmlformats.org/drawingml/2006/main" cx="8760402" cy="4179592"/>
        </p:xfrm>
        <a:graphic xmlns:a="http://schemas.openxmlformats.org/drawingml/2006/main">
          <a:graphicData uri="http://schemas.openxmlformats.org/drawingml/2006/table">
            <a:tbl>
              <a:tblPr/>
              <a:tblGrid>
                <a:gridCol w="1631681"/>
                <a:gridCol w="944182"/>
                <a:gridCol w="944182"/>
                <a:gridCol w="1117331"/>
                <a:gridCol w="944182"/>
                <a:gridCol w="1117331"/>
                <a:gridCol w="944182"/>
                <a:gridCol w="1117331"/>
              </a:tblGrid>
              <a:tr h="314727">
                <a:tc>
                  <a:txBody>
                    <a:bodyPr/>
                    <a:lstStyle/>
                    <a:p>
                      <a:pPr algn="ctr">
                        <a:buNone/>
                      </a:pPr>
                      <a:r>
                        <a:rPr sz="1800" b="1" i="0" u="none">
                          <a:solidFill>
                            <a:srgbClr val="202124"/>
                          </a:solidFill>
                          <a:latin typeface="微軟正黑體"/>
                          <a:ea typeface="微軟正黑體"/>
                          <a:cs typeface="微軟正黑體"/>
                        </a:rPr>
                        <a:t>指標</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DF00"/>
                    </a:solidFill>
                  </a:tcPr>
                </a:tc>
                <a:tc>
                  <a:txBody>
                    <a:bodyPr/>
                    <a:lstStyle/>
                    <a:p>
                      <a:pPr algn="ctr">
                        <a:buNone/>
                      </a:pPr>
                      <a:r>
                        <a:rPr sz="1800" b="1" i="0" u="none">
                          <a:solidFill>
                            <a:srgbClr val="202124"/>
                          </a:solidFill>
                          <a:latin typeface="微軟正黑體"/>
                          <a:ea typeface="微軟正黑體"/>
                          <a:cs typeface="微軟正黑體"/>
                        </a:rPr>
                        <a:t>5月平日</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DF00"/>
                    </a:solidFill>
                  </a:tcPr>
                </a:tc>
                <a:tc>
                  <a:txBody>
                    <a:bodyPr/>
                    <a:lstStyle/>
                    <a:p>
                      <a:pPr algn="ctr">
                        <a:buNone/>
                      </a:pPr>
                      <a:r>
                        <a:rPr sz="1800" b="1" i="0" u="none">
                          <a:solidFill>
                            <a:srgbClr val="202124"/>
                          </a:solidFill>
                          <a:latin typeface="微軟正黑體"/>
                          <a:ea typeface="微軟正黑體"/>
                          <a:cs typeface="微軟正黑體"/>
                        </a:rPr>
                        <a:t>8月平日</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DF00"/>
                    </a:solidFill>
                  </a:tcPr>
                </a:tc>
                <a:tc>
                  <a:txBody>
                    <a:bodyPr/>
                    <a:lstStyle/>
                    <a:p>
                      <a:pPr algn="ctr">
                        <a:buNone/>
                      </a:pPr>
                      <a:r>
                        <a:rPr sz="1800" b="1" i="0" u="none">
                          <a:solidFill>
                            <a:srgbClr val="202124"/>
                          </a:solidFill>
                          <a:latin typeface="微軟正黑體"/>
                          <a:ea typeface="微軟正黑體"/>
                          <a:cs typeface="微軟正黑體"/>
                        </a:rPr>
                        <a:t>與5月差異</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DF00"/>
                    </a:solidFill>
                  </a:tcPr>
                </a:tc>
                <a:tc>
                  <a:txBody>
                    <a:bodyPr/>
                    <a:lstStyle/>
                    <a:p>
                      <a:pPr algn="ctr">
                        <a:buNone/>
                      </a:pPr>
                      <a:r>
                        <a:rPr sz="1800" b="1" i="0" u="none">
                          <a:solidFill>
                            <a:srgbClr val="202124"/>
                          </a:solidFill>
                          <a:latin typeface="微軟正黑體"/>
                          <a:ea typeface="微軟正黑體"/>
                          <a:cs typeface="微軟正黑體"/>
                        </a:rPr>
                        <a:t>9/1–9/9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DF00"/>
                    </a:solidFill>
                  </a:tcPr>
                </a:tc>
                <a:tc>
                  <a:txBody>
                    <a:bodyPr/>
                    <a:lstStyle/>
                    <a:p>
                      <a:pPr algn="ctr">
                        <a:buNone/>
                      </a:pPr>
                      <a:r>
                        <a:rPr sz="1800" b="1" i="0" u="none">
                          <a:solidFill>
                            <a:srgbClr val="202124"/>
                          </a:solidFill>
                          <a:latin typeface="微軟正黑體"/>
                          <a:ea typeface="微軟正黑體"/>
                          <a:cs typeface="微軟正黑體"/>
                        </a:rPr>
                        <a:t>與5月差異</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DF00"/>
                    </a:solidFill>
                  </a:tcPr>
                </a:tc>
                <a:tc>
                  <a:txBody>
                    <a:bodyPr/>
                    <a:lstStyle/>
                    <a:p>
                      <a:pPr algn="ctr">
                        <a:buNone/>
                      </a:pPr>
                      <a:r>
                        <a:rPr sz="1800" b="1" i="0" u="none">
                          <a:solidFill>
                            <a:srgbClr val="202124"/>
                          </a:solidFill>
                          <a:latin typeface="微軟正黑體"/>
                          <a:ea typeface="微軟正黑體"/>
                          <a:cs typeface="微軟正黑體"/>
                        </a:rPr>
                        <a:t>9/7–9/9</a:t>
                      </a:r>
                    </a:p>
                    <a:p>
                      <a:pPr algn="ctr">
                        <a:buNone/>
                      </a:pPr>
                      <a:r>
                        <a:rPr sz="1800" b="1" i="0" u="none">
                          <a:solidFill>
                            <a:srgbClr val="202124"/>
                          </a:solidFill>
                          <a:latin typeface="微軟正黑體"/>
                          <a:ea typeface="微軟正黑體"/>
                          <a:cs typeface="微軟正黑體"/>
                        </a:rPr>
                        <a:t>(開學)</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DF00"/>
                    </a:solidFill>
                  </a:tcPr>
                </a:tc>
                <a:tc>
                  <a:txBody>
                    <a:bodyPr/>
                    <a:lstStyle/>
                    <a:p>
                      <a:pPr algn="ctr">
                        <a:buNone/>
                      </a:pPr>
                      <a:r>
                        <a:rPr sz="1800" b="1" i="0" u="none">
                          <a:solidFill>
                            <a:srgbClr val="202124"/>
                          </a:solidFill>
                          <a:latin typeface="微軟正黑體"/>
                          <a:ea typeface="微軟正黑體"/>
                          <a:cs typeface="微軟正黑體"/>
                        </a:rPr>
                        <a:t>與5月差異</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DF00"/>
                    </a:solidFill>
                  </a:tcPr>
                </a:tc>
              </a:tr>
              <a:tr h="240674">
                <a:tc>
                  <a:txBody>
                    <a:bodyPr/>
                    <a:lstStyle/>
                    <a:p>
                      <a:pPr algn="ctr">
                        <a:buNone/>
                      </a:pPr>
                      <a:r>
                        <a:rPr sz="1800" b="0" i="0" u="none">
                          <a:solidFill>
                            <a:srgbClr val="17212B"/>
                          </a:solidFill>
                          <a:latin typeface="微軟正黑體"/>
                          <a:ea typeface="微軟正黑體"/>
                          <a:cs typeface="微軟正黑體"/>
                        </a:rPr>
                        <a:t>日均用量</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15,681</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9,906</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-36.83%</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13,958</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-10.99%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22,518</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43.60%</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0674">
                <a:tc>
                  <a:txBody>
                    <a:bodyPr/>
                    <a:lstStyle/>
                    <a:p>
                      <a:pPr algn="ctr">
                        <a:buNone/>
                      </a:pPr>
                      <a:r>
                        <a:rPr sz="1800" b="0" i="0" u="none">
                          <a:solidFill>
                            <a:srgbClr val="17212B"/>
                          </a:solidFill>
                          <a:latin typeface="微軟正黑體"/>
                          <a:ea typeface="微軟正黑體"/>
                          <a:cs typeface="微軟正黑體"/>
                        </a:rPr>
                        <a:t>日均還量</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15,384</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9,673</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-37.12%</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13,684</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-11.05%</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22,015</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43.10%</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0674">
                <a:tc>
                  <a:txBody>
                    <a:bodyPr/>
                    <a:lstStyle/>
                    <a:p>
                      <a:pPr algn="ctr">
                        <a:buNone/>
                      </a:pPr>
                      <a:r>
                        <a:rPr sz="1800" b="0" i="0" u="none">
                          <a:solidFill>
                            <a:srgbClr val="17212B"/>
                          </a:solidFill>
                          <a:latin typeface="微軟正黑體"/>
                          <a:ea typeface="微軟正黑體"/>
                          <a:cs typeface="微軟正黑體"/>
                        </a:rPr>
                        <a:t>6–24時見車率</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86.60%</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90.36%</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4.34%</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84.76%</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-2.13%</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76.31%</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-11.89%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0674">
                <a:tc>
                  <a:txBody>
                    <a:bodyPr/>
                    <a:lstStyle/>
                    <a:p>
                      <a:pPr algn="ctr">
                        <a:buNone/>
                      </a:pPr>
                      <a:r>
                        <a:rPr sz="1800" b="0" i="0" u="none">
                          <a:solidFill>
                            <a:srgbClr val="17212B"/>
                          </a:solidFill>
                          <a:latin typeface="微軟正黑體"/>
                          <a:ea typeface="微軟正黑體"/>
                          <a:cs typeface="微軟正黑體"/>
                        </a:rPr>
                        <a:t>6–24時用量</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15,459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9,722</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-37.11%</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13,780</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-10.86%</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22,338</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44.50%</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0674">
                <a:tc>
                  <a:txBody>
                    <a:bodyPr/>
                    <a:lstStyle/>
                    <a:p>
                      <a:pPr algn="ctr">
                        <a:buNone/>
                      </a:pPr>
                      <a:r>
                        <a:rPr sz="1800" b="0" i="0" u="none">
                          <a:solidFill>
                            <a:srgbClr val="17212B"/>
                          </a:solidFill>
                          <a:latin typeface="微軟正黑體"/>
                          <a:ea typeface="微軟正黑體"/>
                          <a:cs typeface="微軟正黑體"/>
                        </a:rPr>
                        <a:t>7–9時見車率</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91.50%</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93.14%</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1.79%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89.94%</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-1.71%</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83.77%</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-8.45%</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0674">
                <a:tc>
                  <a:txBody>
                    <a:bodyPr/>
                    <a:lstStyle/>
                    <a:p>
                      <a:pPr algn="ctr">
                        <a:buNone/>
                      </a:pPr>
                      <a:r>
                        <a:rPr sz="1800" b="0" i="0" u="none">
                          <a:solidFill>
                            <a:srgbClr val="17212B"/>
                          </a:solidFill>
                          <a:latin typeface="微軟正黑體"/>
                          <a:ea typeface="微軟正黑體"/>
                          <a:cs typeface="微軟正黑體"/>
                        </a:rPr>
                        <a:t>7–9時用量</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1,013</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1,485</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46.59%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1,922</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89.73%</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2,947</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190.92%</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0674">
                <a:tc>
                  <a:txBody>
                    <a:bodyPr/>
                    <a:lstStyle/>
                    <a:p>
                      <a:pPr algn="ctr">
                        <a:buNone/>
                      </a:pPr>
                      <a:r>
                        <a:rPr sz="1800" b="0" i="0" u="none">
                          <a:solidFill>
                            <a:srgbClr val="17212B"/>
                          </a:solidFill>
                          <a:latin typeface="微軟正黑體"/>
                          <a:ea typeface="微軟正黑體"/>
                          <a:cs typeface="微軟正黑體"/>
                        </a:rPr>
                        <a:t>11–13時見車率</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90.00%</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92.67%</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2.97%</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92.02%</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2.25%</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90.33%</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0.37%</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0674">
                <a:tc>
                  <a:txBody>
                    <a:bodyPr/>
                    <a:lstStyle/>
                    <a:p>
                      <a:pPr algn="ctr">
                        <a:buNone/>
                      </a:pPr>
                      <a:r>
                        <a:rPr sz="1800" b="0" i="0" u="none">
                          <a:solidFill>
                            <a:srgbClr val="17212B"/>
                          </a:solidFill>
                          <a:latin typeface="微軟正黑體"/>
                          <a:ea typeface="微軟正黑體"/>
                          <a:cs typeface="微軟正黑體"/>
                        </a:rPr>
                        <a:t>11–13時用量</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2,656</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2,289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-13.82%</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3,949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48.68%</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6,509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145.07%</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0674">
                <a:tc>
                  <a:txBody>
                    <a:bodyPr/>
                    <a:lstStyle/>
                    <a:p>
                      <a:pPr algn="ctr">
                        <a:buNone/>
                      </a:pPr>
                      <a:r>
                        <a:rPr sz="1800" b="0" i="0" u="none">
                          <a:solidFill>
                            <a:srgbClr val="17212B"/>
                          </a:solidFill>
                          <a:latin typeface="微軟正黑體"/>
                          <a:ea typeface="微軟正黑體"/>
                          <a:cs typeface="微軟正黑體"/>
                        </a:rPr>
                        <a:t>16–20時見車率</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84.50%</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90.22%</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6.77%</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82.49%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-2.38%</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71.06%</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-15.90%</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0674">
                <a:tc>
                  <a:txBody>
                    <a:bodyPr/>
                    <a:lstStyle/>
                    <a:p>
                      <a:pPr algn="ctr">
                        <a:buNone/>
                      </a:pPr>
                      <a:r>
                        <a:rPr sz="1800" b="0" i="0" u="none">
                          <a:solidFill>
                            <a:srgbClr val="17212B"/>
                          </a:solidFill>
                          <a:latin typeface="微軟正黑體"/>
                          <a:ea typeface="微軟正黑體"/>
                          <a:cs typeface="微軟正黑體"/>
                        </a:rPr>
                        <a:t>16–20時用量</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4,948</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3,490</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-29.47%</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3,908</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-21.02%</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6,240</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26.11%</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0674">
                <a:tc>
                  <a:txBody>
                    <a:bodyPr/>
                    <a:lstStyle/>
                    <a:p>
                      <a:pPr algn="ctr">
                        <a:buNone/>
                      </a:pPr>
                      <a:r>
                        <a:rPr sz="1800" b="0" i="0" u="none">
                          <a:solidFill>
                            <a:srgbClr val="17212B"/>
                          </a:solidFill>
                          <a:latin typeface="微軟正黑體"/>
                          <a:ea typeface="微軟正黑體"/>
                          <a:cs typeface="微軟正黑體"/>
                        </a:rPr>
                        <a:t>21–00時見車率</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67.79%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80.48%</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18.72%</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64.26%</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-5.20%</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43.70%</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-35.54%</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0674">
                <a:tc>
                  <a:txBody>
                    <a:bodyPr/>
                    <a:lstStyle/>
                    <a:p>
                      <a:pPr algn="ctr">
                        <a:buNone/>
                      </a:pPr>
                      <a:r>
                        <a:rPr sz="1800" b="0" i="0" u="none">
                          <a:solidFill>
                            <a:srgbClr val="17212B"/>
                          </a:solidFill>
                          <a:latin typeface="微軟正黑體"/>
                          <a:ea typeface="微軟正黑體"/>
                          <a:cs typeface="微軟正黑體"/>
                        </a:rPr>
                        <a:t>21–00時用量</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869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624</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-28.19%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571</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-34.29%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629</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-27.62%</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0674">
                <a:tc>
                  <a:txBody>
                    <a:bodyPr/>
                    <a:lstStyle/>
                    <a:p>
                      <a:pPr algn="ctr">
                        <a:buNone/>
                      </a:pPr>
                      <a:r>
                        <a:rPr sz="1800" b="0" i="0" u="none">
                          <a:solidFill>
                            <a:srgbClr val="17212B"/>
                          </a:solidFill>
                          <a:latin typeface="微軟正黑體"/>
                          <a:ea typeface="微軟正黑體"/>
                          <a:cs typeface="微軟正黑體"/>
                        </a:rPr>
                        <a:t>7–9見位率</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96.50%</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96.57%</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0.08%</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96.63%</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0.14%</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17212B"/>
                          </a:solidFill>
                          <a:latin typeface="微軟正黑體"/>
                          <a:ea typeface="微軟正黑體"/>
                          <a:cs typeface="微軟正黑體"/>
                        </a:rPr>
                        <a:t>94.54%</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u="none">
                          <a:solidFill>
                            <a:srgbClr val="FF0000"/>
                          </a:solidFill>
                          <a:latin typeface="微軟正黑體"/>
                          <a:ea typeface="微軟正黑體"/>
                          <a:cs typeface="微軟正黑體"/>
                        </a:rPr>
                        <a:t>-2.03%</a:t>
                      </a:r>
                    </a:p>
                  </a:txBody>
                  <a:tcPr marL="4628" marR="4628" marT="4628"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
        <p:nvSpPr>
          <p:cNvPr id="8" name="文字方塊 7">
            <a:extLst xmlns:a="http://schemas.openxmlformats.org/drawingml/2006/main">
              <a:ext uri="{FF2B5EF4-FFF2-40B4-BE49-F238E27FC236}">
                <a16:creationId xmlns:a16="http://schemas.microsoft.com/office/drawing/2014/main" id="{4F8FC6BF-C9AC-EB28-6EEE-4268B3153A1B}"/>
              </a:ext>
            </a:extLst>
          </p:cNvPr>
          <p:cNvSpPr>
            <a:spLocks xmlns:a="http://schemas.openxmlformats.org/drawingml/2006/main" noGrp="1"/>
          </p:cNvSpPr>
          <p:nvPr/>
        </p:nvSpPr>
        <p:spPr>
          <a:xfrm xmlns:a="http://schemas.openxmlformats.org/drawingml/2006/main">
            <a:off x="533400" y="1066800"/>
            <a:ext cx="807720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04040"/>
                </a:solidFill>
                <a:latin typeface="微軟正黑體"/>
                <a:ea typeface="微軟正黑體"/>
                <a:cs typeface="微軟正黑體"/>
              </a:defRPr>
            </a:pPr>
            <a:r>
              <a:rPr sz="1800" b="0">
                <a:solidFill>
                  <a:srgbClr val="404040"/>
                </a:solidFill>
                <a:latin typeface="微軟正黑體"/>
                <a:ea typeface="微軟正黑體"/>
                <a:cs typeface="微軟正黑體"/>
              </a:rPr>
              <a:t>1.　台大於9/7開學，用量23,866次，為歷史新高，相較於去年開學21,590次，成長10%，校內增柱408柱已全數啟用，目前校內共2496柱。</a:t>
            </a:r>
          </a:p>
        </p:txBody>
      </p:sp>
    </p:spTree>
    <p:extLst>
      <p:ext uri="{BB962C8B-B14F-4D97-AF65-F5344CB8AC3E}">
        <p14:creationId xmlns:p14="http://schemas.microsoft.com/office/powerpoint/2010/main" val="368211006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投影片編號版面配置區 2">
            <a:extLst xmlns:a="http://schemas.openxmlformats.org/drawingml/2006/main">
              <a:ext uri="{FF2B5EF4-FFF2-40B4-BE49-F238E27FC236}">
                <a16:creationId xmlns:a16="http://schemas.microsoft.com/office/drawing/2014/main" id="{C6D1B48F-346E-8B9E-02BB-D5EC07CA0C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F4223C03-1ED5-402E-8F3E-89A17789C924}" type="slidenum">
              <a:t>2</a:t>
            </a:fld>
            <a:endParaRPr/>
          </a:p>
        </p:txBody>
      </p:sp>
      <p:sp>
        <p:nvSpPr>
          <p:cNvPr id="6" name="標題 1">
            <a:extLst xmlns:a="http://schemas.openxmlformats.org/drawingml/2006/main">
              <a:ext uri="{FF2B5EF4-FFF2-40B4-BE49-F238E27FC236}">
                <a16:creationId xmlns:a16="http://schemas.microsoft.com/office/drawing/2014/main" id="{8429D964-5C23-62EF-30B6-6B906AED29F8}"/>
              </a:ext>
            </a:extLst>
          </p:cNvPr>
          <p:cNvSpPr>
            <a:spLocks xmlns:a="http://schemas.openxmlformats.org/drawingml/2006/main" noGrp="1"/>
          </p:cNvSpPr>
          <p:nvPr/>
        </p:nvSpPr>
        <p:spPr>
          <a:xfrm xmlns:a="http://schemas.openxmlformats.org/drawingml/2006/main">
            <a:off x="0" y="0"/>
            <a:ext cx="9144000" cy="900000"/>
          </a:xfrm>
          <a:prstGeom xmlns:a="http://schemas.openxmlformats.org/drawingml/2006/main" prst="rect">
            <a:avLst/>
          </a:prstGeom>
          <a:solidFill xmlns:a="http://schemas.openxmlformats.org/drawingml/2006/main">
            <a:srgbClr val="FFD243"/>
          </a:solidFill>
        </p:spPr>
        <p:txBody>
          <a:bodyPr xmlns:a="http://schemas.openxmlformats.org/drawingml/2006/main" anchor="ctr">
            <a:normAutofit/>
          </a:bodyPr>
          <a:lstStyle xmlns:a="http://schemas.openxmlformats.org/drawingml/2006/main">
            <a:lvl1pPr algn="ctr" defTabSz="914400">
              <a:spcBef>
                <a:spcPct val="0"/>
              </a:spcBef>
              <a:buNone/>
              <a:defRPr sz="4400" kern="1200">
                <a:solidFill>
                  <a:schemeClr val="tx1"/>
                </a:solidFill>
                <a:latin typeface="+mj-lt"/>
                <a:ea typeface="+mj-lt"/>
                <a:cs typeface="+mj-lt"/>
              </a:defRPr>
            </a:lvl1pPr>
          </a:lstStyle>
          <a:p xmlns:a="http://schemas.openxmlformats.org/drawingml/2006/main">
            <a:pPr>
              <a:buNone/>
            </a:pPr>
            <a:r>
              <a:rPr sz="3600" b="1">
                <a:solidFill>
                  <a:schemeClr val="tx1">
                    <a:lumMod val="75000"/>
                    <a:lumOff val="25000"/>
                  </a:schemeClr>
                </a:solidFill>
                <a:latin typeface="微軟正黑體"/>
                <a:ea typeface="微軟正黑體"/>
                <a:cs typeface="微軟正黑體"/>
              </a:rPr>
              <a:t>六、</a:t>
            </a:r>
            <a:r>
              <a:rPr sz="3600">
                <a:latin typeface="微軟正黑體"/>
                <a:ea typeface="微軟正黑體"/>
                <a:cs typeface="微軟正黑體"/>
              </a:rPr>
              <a:t>電輔微型調度車新增路線</a:t>
            </a:r>
            <a:endParaRPr sz="4000" b="1">
              <a:solidFill>
                <a:schemeClr val="bg1"/>
              </a:solidFill>
              <a:latin typeface="微軟正黑體"/>
              <a:ea typeface="微軟正黑體"/>
              <a:cs typeface="微軟正黑體"/>
            </a:endParaRPr>
          </a:p>
        </p:txBody>
      </p:sp>
      <p:pic>
        <p:nvPicPr>
          <p:cNvPr id="19" name="圖片 7"/>
          <p:cNvPicPr>
            <a:picLocks xmlns:a="http://schemas.openxmlformats.org/drawingml/2006/main" noChangeAspect="1"/>
          </p:cNvPicPr>
          <p:nvPr/>
        </p:nvPicPr>
        <p:blipFill>
          <a:blip xmlns:r="http://schemas.openxmlformats.org/officeDocument/2006/relationships" xmlns:a="http://schemas.openxmlformats.org/drawingml/2006/main" r:embed="R5f58b83b45e44419"/>
          <a:stretch xmlns:a="http://schemas.openxmlformats.org/drawingml/2006/main">
            <a:fillRect l="0" t="0" r="0" b="0"/>
          </a:stretch>
        </p:blipFill>
        <p:spPr>
          <a:xfrm xmlns:a="http://schemas.openxmlformats.org/drawingml/2006/main">
            <a:off x="32775" y="900000"/>
            <a:ext cx="5015860" cy="3549430"/>
          </a:xfrm>
          <a:prstGeom xmlns:a="http://schemas.openxmlformats.org/drawingml/2006/main" prst="rect">
            <a:avLst/>
          </a:prstGeom>
        </p:spPr>
      </p:pic>
      <p:pic>
        <p:nvPicPr>
          <p:cNvPr id="20" name="圖片 9"/>
          <p:cNvPicPr>
            <a:picLocks xmlns:a="http://schemas.openxmlformats.org/drawingml/2006/main" noChangeAspect="1"/>
          </p:cNvPicPr>
          <p:nvPr/>
        </p:nvPicPr>
        <p:blipFill>
          <a:blip xmlns:r="http://schemas.openxmlformats.org/officeDocument/2006/relationships" xmlns:a="http://schemas.openxmlformats.org/drawingml/2006/main" r:embed="R358cd9b3a01e4046"/>
          <a:stretch xmlns:a="http://schemas.openxmlformats.org/drawingml/2006/main">
            <a:fillRect l="0" t="0" r="0" b="0"/>
          </a:stretch>
        </p:blipFill>
        <p:spPr>
          <a:xfrm xmlns:a="http://schemas.openxmlformats.org/drawingml/2006/main">
            <a:off x="3893202" y="4166182"/>
            <a:ext cx="5209727" cy="2691818"/>
          </a:xfrm>
          <a:prstGeom xmlns:a="http://schemas.openxmlformats.org/drawingml/2006/main" prst="rect">
            <a:avLst/>
          </a:prstGeom>
        </p:spPr>
      </p:pic>
      <p:sp>
        <p:nvSpPr>
          <p:cNvPr id="12" name="文字方塊 11">
            <a:extLst xmlns:a="http://schemas.openxmlformats.org/drawingml/2006/main">
              <a:ext uri="{FF2B5EF4-FFF2-40B4-BE49-F238E27FC236}">
                <a16:creationId xmlns:a16="http://schemas.microsoft.com/office/drawing/2014/main" id="{A0813EFA-DAC2-EA52-E2F9-9DEF60123B3E}"/>
              </a:ext>
            </a:extLst>
          </p:cNvPr>
          <p:cNvSpPr>
            <a:spLocks xmlns:a="http://schemas.openxmlformats.org/drawingml/2006/main" noGrp="1"/>
          </p:cNvSpPr>
          <p:nvPr/>
        </p:nvSpPr>
        <p:spPr>
          <a:xfrm xmlns:a="http://schemas.openxmlformats.org/drawingml/2006/main">
            <a:off x="21066" y="903017"/>
            <a:ext cx="5039277" cy="646331"/>
          </a:xfrm>
          <a:prstGeom xmlns:a="http://schemas.openxmlformats.org/drawingml/2006/main" prst="rect">
            <a:avLst/>
          </a:prstGeom>
          <a:solidFill xmlns:a="http://schemas.openxmlformats.org/drawingml/2006/main">
            <a:schemeClr val="bg1"/>
          </a:solidFill>
        </p:spPr>
        <p:txBody>
          <a:bodyPr xmlns:a="http://schemas.openxmlformats.org/drawingml/2006/main" wrap="square">
            <a:spAutoFit/>
          </a:bodyPr>
          <a:lstStyle xmlns:a="http://schemas.openxmlformats.org/drawingml/2006/main"/>
          <a:p xmlns:a="http://schemas.openxmlformats.org/drawingml/2006/main">
            <a:r>
              <a:rPr b="1">
                <a:solidFill>
                  <a:srgbClr val="FF0000"/>
                </a:solidFill>
                <a:latin typeface="微軟正黑體"/>
                <a:ea typeface="微軟正黑體"/>
                <a:cs typeface="微軟正黑體"/>
              </a:rPr>
              <a:t>上午新增路線</a:t>
            </a:r>
          </a:p>
          <a:p xmlns:a="http://schemas.openxmlformats.org/drawingml/2006/main">
            <a:r>
              <a:rPr b="1">
                <a:solidFill>
                  <a:srgbClr val="FF0000"/>
                </a:solidFill>
                <a:latin typeface="微軟正黑體"/>
                <a:ea typeface="微軟正黑體"/>
                <a:cs typeface="微軟正黑體"/>
              </a:rPr>
              <a:t>學新館，鄭江樓&gt;&gt;男六舍、男一舍、男七舍</a:t>
            </a:r>
            <a:endParaRPr sz="1200" b="1">
              <a:solidFill>
                <a:srgbClr val="FF0000"/>
              </a:solidFill>
              <a:latin typeface="微軟正黑體"/>
              <a:ea typeface="微軟正黑體"/>
              <a:cs typeface="微軟正黑體"/>
            </a:endParaRPr>
          </a:p>
        </p:txBody>
      </p:sp>
      <p:sp>
        <p:nvSpPr>
          <p:cNvPr id="14" name="文字方塊 13">
            <a:extLst xmlns:a="http://schemas.openxmlformats.org/drawingml/2006/main">
              <a:ext uri="{FF2B5EF4-FFF2-40B4-BE49-F238E27FC236}">
                <a16:creationId xmlns:a16="http://schemas.microsoft.com/office/drawing/2014/main" id="{DE74C4B3-D49B-2559-A9B6-2C62A0E3E902}"/>
              </a:ext>
            </a:extLst>
          </p:cNvPr>
          <p:cNvSpPr>
            <a:spLocks xmlns:a="http://schemas.openxmlformats.org/drawingml/2006/main" noGrp="1"/>
          </p:cNvSpPr>
          <p:nvPr/>
        </p:nvSpPr>
        <p:spPr>
          <a:xfrm xmlns:a="http://schemas.openxmlformats.org/drawingml/2006/main">
            <a:off x="4348057" y="4076930"/>
            <a:ext cx="4795943" cy="646331"/>
          </a:xfrm>
          <a:prstGeom xmlns:a="http://schemas.openxmlformats.org/drawingml/2006/main" prst="rect">
            <a:avLst/>
          </a:prstGeom>
          <a:solidFill xmlns:a="http://schemas.openxmlformats.org/drawingml/2006/main">
            <a:schemeClr val="bg1"/>
          </a:solidFill>
        </p:spPr>
        <p:txBody>
          <a:bodyPr xmlns:a="http://schemas.openxmlformats.org/drawingml/2006/main" wrap="square">
            <a:spAutoFit/>
          </a:bodyPr>
          <a:lstStyle xmlns:a="http://schemas.openxmlformats.org/drawingml/2006/main"/>
          <a:p xmlns:a="http://schemas.openxmlformats.org/drawingml/2006/main">
            <a:r>
              <a:rPr b="1">
                <a:solidFill>
                  <a:srgbClr val="FF0000"/>
                </a:solidFill>
                <a:latin typeface="微軟正黑體"/>
                <a:ea typeface="微軟正黑體"/>
                <a:cs typeface="微軟正黑體"/>
              </a:rPr>
              <a:t>晚上新增路線</a:t>
            </a:r>
          </a:p>
          <a:p xmlns:a="http://schemas.openxmlformats.org/drawingml/2006/main">
            <a:r>
              <a:rPr b="1">
                <a:solidFill>
                  <a:srgbClr val="FF0000"/>
                </a:solidFill>
                <a:latin typeface="微軟正黑體"/>
                <a:ea typeface="微軟正黑體"/>
                <a:cs typeface="微軟正黑體"/>
              </a:rPr>
              <a:t>男六舍前、男一舍前、男七舍前&gt;&gt;校內空站</a:t>
            </a:r>
            <a:endParaRPr sz="1200" b="1">
              <a:solidFill>
                <a:srgbClr val="FF0000"/>
              </a:solidFill>
              <a:latin typeface="微軟正黑體"/>
              <a:ea typeface="微軟正黑體"/>
              <a:cs typeface="微軟正黑體"/>
            </a:endParaRPr>
          </a:p>
        </p:txBody>
      </p:sp>
    </p:spTree>
    <p:extLst>
      <p:ext uri="{BB962C8B-B14F-4D97-AF65-F5344CB8AC3E}">
        <p14:creationId xmlns:p14="http://schemas.microsoft.com/office/powerpoint/2010/main" val="66665898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投影片編號版面配置區 2">
            <a:extLst xmlns:a="http://schemas.openxmlformats.org/drawingml/2006/main">
              <a:ext uri="{FF2B5EF4-FFF2-40B4-BE49-F238E27FC236}">
                <a16:creationId xmlns:a16="http://schemas.microsoft.com/office/drawing/2014/main" id="{C2B2EFA6-6430-CCF3-74F3-5682E770A4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F4223C03-1ED5-402E-8F3E-89A17789C924}" type="slidenum">
              <a:t>3</a:t>
            </a:fld>
            <a:endParaRPr/>
          </a:p>
        </p:txBody>
      </p:sp>
      <p:sp>
        <p:nvSpPr>
          <p:cNvPr id="6" name="標題 1">
            <a:extLst xmlns:a="http://schemas.openxmlformats.org/drawingml/2006/main">
              <a:ext uri="{FF2B5EF4-FFF2-40B4-BE49-F238E27FC236}">
                <a16:creationId xmlns:a16="http://schemas.microsoft.com/office/drawing/2014/main" id="{C8DDA1BA-6E0E-F1B9-AD17-5E6490A6A207}"/>
              </a:ext>
            </a:extLst>
          </p:cNvPr>
          <p:cNvSpPr>
            <a:spLocks xmlns:a="http://schemas.openxmlformats.org/drawingml/2006/main" noGrp="1"/>
          </p:cNvSpPr>
          <p:nvPr/>
        </p:nvSpPr>
        <p:spPr>
          <a:xfrm xmlns:a="http://schemas.openxmlformats.org/drawingml/2006/main">
            <a:off x="0" y="0"/>
            <a:ext cx="9144000" cy="900000"/>
          </a:xfrm>
          <a:prstGeom xmlns:a="http://schemas.openxmlformats.org/drawingml/2006/main" prst="rect">
            <a:avLst/>
          </a:prstGeom>
          <a:solidFill xmlns:a="http://schemas.openxmlformats.org/drawingml/2006/main">
            <a:srgbClr val="FFD243"/>
          </a:solidFill>
        </p:spPr>
        <p:txBody>
          <a:bodyPr xmlns:a="http://schemas.openxmlformats.org/drawingml/2006/main" anchor="ctr">
            <a:normAutofit/>
          </a:bodyPr>
          <a:lstStyle xmlns:a="http://schemas.openxmlformats.org/drawingml/2006/main">
            <a:lvl1pPr algn="ctr" defTabSz="914400">
              <a:spcBef>
                <a:spcPct val="0"/>
              </a:spcBef>
              <a:buNone/>
              <a:defRPr sz="4400" kern="1200">
                <a:solidFill>
                  <a:schemeClr val="tx1"/>
                </a:solidFill>
                <a:latin typeface="+mj-lt"/>
                <a:ea typeface="+mj-lt"/>
                <a:cs typeface="+mj-lt"/>
              </a:defRPr>
            </a:lvl1pPr>
          </a:lstStyle>
          <a:p xmlns:a="http://schemas.openxmlformats.org/drawingml/2006/main">
            <a:pPr>
              <a:buNone/>
            </a:pPr>
            <a:r>
              <a:rPr sz="3600" b="1">
                <a:solidFill>
                  <a:schemeClr val="tx1">
                    <a:lumMod val="75000"/>
                    <a:lumOff val="25000"/>
                  </a:schemeClr>
                </a:solidFill>
                <a:latin typeface="微軟正黑體"/>
                <a:ea typeface="微軟正黑體"/>
                <a:cs typeface="微軟正黑體"/>
              </a:rPr>
              <a:t>七、友愛接力</a:t>
            </a:r>
            <a:endParaRPr sz="4000" b="1">
              <a:solidFill>
                <a:schemeClr val="bg1"/>
              </a:solidFill>
              <a:latin typeface="微軟正黑體"/>
              <a:ea typeface="微軟正黑體"/>
              <a:cs typeface="微軟正黑體"/>
            </a:endParaRPr>
          </a:p>
        </p:txBody>
      </p:sp>
      <p:sp>
        <p:nvSpPr>
          <p:cNvPr id="5" name="文字方塊 4">
            <a:extLst xmlns:a="http://schemas.openxmlformats.org/drawingml/2006/main">
              <a:ext uri="{FF2B5EF4-FFF2-40B4-BE49-F238E27FC236}">
                <a16:creationId xmlns:a16="http://schemas.microsoft.com/office/drawing/2014/main" id="{EF50D5BE-46A3-2150-3091-29B6394E4B4B}"/>
              </a:ext>
            </a:extLst>
          </p:cNvPr>
          <p:cNvSpPr>
            <a:spLocks xmlns:a="http://schemas.openxmlformats.org/drawingml/2006/main" noGrp="1"/>
          </p:cNvSpPr>
          <p:nvPr/>
        </p:nvSpPr>
        <p:spPr>
          <a:xfrm xmlns:a="http://schemas.openxmlformats.org/drawingml/2006/main">
            <a:off x="75692" y="867095"/>
            <a:ext cx="8992616" cy="603742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457200" indent="-457200">
              <a:lnSpc>
                <a:spcPct val="150000"/>
              </a:lnSpc>
              <a:buAutoNum type="arabicPeriod"/>
            </a:pPr>
            <a:r>
              <a:rPr sz="2000">
                <a:latin typeface="微軟正黑體"/>
                <a:ea typeface="微軟正黑體"/>
                <a:cs typeface="微軟正黑體"/>
              </a:rPr>
              <a:t>資料來源7-9月的平日好天氣數據</a:t>
            </a:r>
          </a:p>
          <a:p xmlns:a="http://schemas.openxmlformats.org/drawingml/2006/main">
            <a:pPr marL="457200" indent="-457200">
              <a:lnSpc>
                <a:spcPct val="150000"/>
              </a:lnSpc>
              <a:buAutoNum type="arabicPeriod"/>
            </a:pPr>
            <a:r>
              <a:rPr sz="2000">
                <a:latin typeface="微軟正黑體"/>
                <a:ea typeface="微軟正黑體"/>
                <a:cs typeface="微軟正黑體"/>
              </a:rPr>
              <a:t>滿借/空還每發生1次，都視為調出/調入1輛車</a:t>
            </a:r>
          </a:p>
          <a:p xmlns:a="http://schemas.openxmlformats.org/drawingml/2006/main">
            <a:pPr marL="457200" indent="-457200">
              <a:lnSpc>
                <a:spcPct val="150000"/>
              </a:lnSpc>
              <a:buAutoNum type="arabicPeriod"/>
            </a:pPr>
            <a:r>
              <a:rPr sz="2000">
                <a:latin typeface="微軟正黑體"/>
                <a:ea typeface="微軟正黑體"/>
                <a:cs typeface="微軟正黑體"/>
              </a:rPr>
              <a:t>滿借覆蓋率:同時段內，調出、綁車總站數/滿借總站數</a:t>
            </a:r>
          </a:p>
          <a:p xmlns:a="http://schemas.openxmlformats.org/drawingml/2006/main">
            <a:pPr marL="457200" indent="-457200">
              <a:lnSpc>
                <a:spcPct val="150000"/>
              </a:lnSpc>
              <a:buFontTx/>
              <a:buAutoNum type="arabicPeriod"/>
            </a:pPr>
            <a:r>
              <a:rPr sz="2000">
                <a:latin typeface="微軟正黑體"/>
                <a:ea typeface="微軟正黑體"/>
                <a:cs typeface="微軟正黑體"/>
              </a:rPr>
              <a:t>空還覆蓋率:同時段內，調入、解綁車總站數/空還總站數(以上計算各時段)</a:t>
            </a:r>
          </a:p>
          <a:p xmlns:a="http://schemas.openxmlformats.org/drawingml/2006/main">
            <a:pPr marL="457200" indent="-457200">
              <a:lnSpc>
                <a:spcPct val="150000"/>
              </a:lnSpc>
              <a:buFontTx/>
              <a:buAutoNum type="arabicPeriod"/>
            </a:pPr>
            <a:r>
              <a:rPr sz="2000">
                <a:latin typeface="微軟正黑體"/>
                <a:ea typeface="微軟正黑體"/>
                <a:cs typeface="微軟正黑體"/>
              </a:rPr>
              <a:t>單站滿借覆蓋率:6-24時，如單小時發生滿借且有調出行為，則視為100%，如發生滿借且無調出行為，則視為0%，如無發生滿借且有調出行為，則視為0%</a:t>
            </a:r>
          </a:p>
          <a:p xmlns:a="http://schemas.openxmlformats.org/drawingml/2006/main">
            <a:pPr marL="457200" indent="-457200">
              <a:lnSpc>
                <a:spcPct val="150000"/>
              </a:lnSpc>
              <a:buFontTx/>
              <a:buAutoNum type="arabicPeriod"/>
            </a:pPr>
            <a:r>
              <a:rPr sz="2000">
                <a:latin typeface="微軟正黑體"/>
                <a:ea typeface="微軟正黑體"/>
                <a:cs typeface="微軟正黑體"/>
              </a:rPr>
              <a:t>設定幾種情況，空還車數大於調入車數(大於等於1)，空還車數小於調入車數，無空還(0)有調入，有空還無調入(0)</a:t>
            </a:r>
          </a:p>
          <a:p xmlns:a="http://schemas.openxmlformats.org/drawingml/2006/main">
            <a:pPr>
              <a:lnSpc>
                <a:spcPct val="150000"/>
              </a:lnSpc>
              <a:buNone/>
            </a:pPr>
            <a:endParaRPr sz="2000">
              <a:latin typeface="微軟正黑體"/>
              <a:ea typeface="微軟正黑體"/>
              <a:cs typeface="微軟正黑體"/>
            </a:endParaRPr>
          </a:p>
          <a:p xmlns:a="http://schemas.openxmlformats.org/drawingml/2006/main">
            <a:pPr marL="457200" indent="-457200">
              <a:lnSpc>
                <a:spcPct val="150000"/>
              </a:lnSpc>
              <a:buFontTx/>
              <a:buAutoNum type="arabicPeriod"/>
            </a:pPr>
            <a:endParaRPr sz="2000">
              <a:latin typeface="微軟正黑體"/>
              <a:ea typeface="微軟正黑體"/>
              <a:cs typeface="微軟正黑體"/>
            </a:endParaRPr>
          </a:p>
          <a:p xmlns:a="http://schemas.openxmlformats.org/drawingml/2006/main">
            <a:pPr>
              <a:lnSpc>
                <a:spcPct val="150000"/>
              </a:lnSpc>
              <a:buNone/>
            </a:pPr>
            <a:endParaRPr sz="2000">
              <a:latin typeface="微軟正黑體"/>
              <a:ea typeface="微軟正黑體"/>
              <a:cs typeface="微軟正黑體"/>
            </a:endParaRPr>
          </a:p>
          <a:p xmlns:a="http://schemas.openxmlformats.org/drawingml/2006/main">
            <a:pPr marL="457200" indent="-457200">
              <a:lnSpc>
                <a:spcPct val="150000"/>
              </a:lnSpc>
              <a:buAutoNum type="arabicPeriod"/>
            </a:pPr>
            <a:endParaRPr sz="2000">
              <a:latin typeface="微軟正黑體"/>
              <a:ea typeface="微軟正黑體"/>
              <a:cs typeface="微軟正黑體"/>
            </a:endParaRPr>
          </a:p>
        </p:txBody>
      </p:sp>
    </p:spTree>
    <p:extLst>
      <p:ext uri="{BB962C8B-B14F-4D97-AF65-F5344CB8AC3E}">
        <p14:creationId xmlns:p14="http://schemas.microsoft.com/office/powerpoint/2010/main" val="369405513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投影片編號版面配置區 2">
            <a:extLst xmlns:a="http://schemas.openxmlformats.org/drawingml/2006/main">
              <a:ext uri="{FF2B5EF4-FFF2-40B4-BE49-F238E27FC236}">
                <a16:creationId xmlns:a16="http://schemas.microsoft.com/office/drawing/2014/main" id="{E3CBCDE1-0B5B-EDC9-3360-F18A3F06AE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F4223C03-1ED5-402E-8F3E-89A17789C924}" type="slidenum">
              <a:t>4</a:t>
            </a:fld>
            <a:endParaRPr/>
          </a:p>
        </p:txBody>
      </p:sp>
      <p:sp>
        <p:nvSpPr>
          <p:cNvPr id="6" name="標題 1">
            <a:extLst xmlns:a="http://schemas.openxmlformats.org/drawingml/2006/main">
              <a:ext uri="{FF2B5EF4-FFF2-40B4-BE49-F238E27FC236}">
                <a16:creationId xmlns:a16="http://schemas.microsoft.com/office/drawing/2014/main" id="{77D48EF8-4498-6E90-00EE-41F5885FE2EA}"/>
              </a:ext>
            </a:extLst>
          </p:cNvPr>
          <p:cNvSpPr>
            <a:spLocks xmlns:a="http://schemas.openxmlformats.org/drawingml/2006/main" noGrp="1"/>
          </p:cNvSpPr>
          <p:nvPr/>
        </p:nvSpPr>
        <p:spPr>
          <a:xfrm xmlns:a="http://schemas.openxmlformats.org/drawingml/2006/main">
            <a:off x="0" y="0"/>
            <a:ext cx="9144000" cy="900000"/>
          </a:xfrm>
          <a:prstGeom xmlns:a="http://schemas.openxmlformats.org/drawingml/2006/main" prst="rect">
            <a:avLst/>
          </a:prstGeom>
          <a:solidFill xmlns:a="http://schemas.openxmlformats.org/drawingml/2006/main">
            <a:srgbClr val="FFD243"/>
          </a:solidFill>
        </p:spPr>
        <p:txBody>
          <a:bodyPr xmlns:a="http://schemas.openxmlformats.org/drawingml/2006/main" anchor="ctr">
            <a:normAutofit/>
          </a:bodyPr>
          <a:lstStyle xmlns:a="http://schemas.openxmlformats.org/drawingml/2006/main">
            <a:lvl1pPr algn="ctr" defTabSz="914400">
              <a:spcBef>
                <a:spcPct val="0"/>
              </a:spcBef>
              <a:buNone/>
              <a:defRPr sz="4400" kern="1200">
                <a:solidFill>
                  <a:schemeClr val="tx1"/>
                </a:solidFill>
                <a:latin typeface="+mj-lt"/>
                <a:ea typeface="+mj-lt"/>
                <a:cs typeface="+mj-lt"/>
              </a:defRPr>
            </a:lvl1pPr>
          </a:lstStyle>
          <a:p xmlns:a="http://schemas.openxmlformats.org/drawingml/2006/main">
            <a:pPr>
              <a:buNone/>
            </a:pPr>
            <a:r>
              <a:rPr sz="3600" b="1">
                <a:solidFill>
                  <a:schemeClr val="tx1">
                    <a:lumMod val="75000"/>
                    <a:lumOff val="25000"/>
                  </a:schemeClr>
                </a:solidFill>
                <a:latin typeface="微軟正黑體"/>
                <a:ea typeface="微軟正黑體"/>
                <a:cs typeface="微軟正黑體"/>
              </a:rPr>
              <a:t>八、智慧調度進度</a:t>
            </a:r>
            <a:endParaRPr sz="4000" b="1">
              <a:solidFill>
                <a:schemeClr val="bg1"/>
              </a:solidFill>
              <a:latin typeface="微軟正黑體"/>
              <a:ea typeface="微軟正黑體"/>
              <a:cs typeface="微軟正黑體"/>
            </a:endParaRPr>
          </a:p>
        </p:txBody>
      </p:sp>
      <p:sp>
        <p:nvSpPr>
          <p:cNvPr id="5" name="文字方塊 4">
            <a:extLst xmlns:a="http://schemas.openxmlformats.org/drawingml/2006/main">
              <a:ext uri="{FF2B5EF4-FFF2-40B4-BE49-F238E27FC236}">
                <a16:creationId xmlns:a16="http://schemas.microsoft.com/office/drawing/2014/main" id="{26705AF6-28A6-3B00-32C4-5E9E4759C42E}"/>
              </a:ext>
            </a:extLst>
          </p:cNvPr>
          <p:cNvSpPr>
            <a:spLocks xmlns:a="http://schemas.openxmlformats.org/drawingml/2006/main" noGrp="1"/>
          </p:cNvSpPr>
          <p:nvPr/>
        </p:nvSpPr>
        <p:spPr>
          <a:xfrm xmlns:a="http://schemas.openxmlformats.org/drawingml/2006/main">
            <a:off x="342900" y="990600"/>
            <a:ext cx="8458200" cy="2834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457200" indent="-457200" algn="l">
              <a:lnSpc>
                <a:spcPct val="150000"/>
              </a:lnSpc>
              <a:buAutoNum type="arabicPeriod"/>
              <a:defRPr sz="1800">
                <a:solidFill>
                  <a:srgbClr val="404040"/>
                </a:solidFill>
                <a:latin typeface="微軟正黑體"/>
                <a:ea typeface="微軟正黑體"/>
                <a:cs typeface="微軟正黑體"/>
              </a:defRPr>
            </a:pPr>
            <a:r>
              <a:rPr sz="1800">
                <a:solidFill>
                  <a:srgbClr val="404040"/>
                </a:solidFill>
                <a:latin typeface="微軟正黑體"/>
                <a:ea typeface="微軟正黑體"/>
                <a:cs typeface="微軟正黑體"/>
              </a:rPr>
              <a:t>目前智慧調度已更新，預計9/12上線，預計實際上線後蒐集2個月的使用數據，作為後續系統持續精進使用。</a:t>
            </a:r>
          </a:p>
          <a:p xmlns:a="http://schemas.openxmlformats.org/drawingml/2006/main">
            <a:pPr marL="457200" indent="-457200" algn="l">
              <a:lnSpc>
                <a:spcPct val="150000"/>
              </a:lnSpc>
              <a:buAutoNum type="arabicPeriod"/>
              <a:defRPr sz="1800">
                <a:solidFill>
                  <a:srgbClr val="404040"/>
                </a:solidFill>
                <a:latin typeface="微軟正黑體"/>
                <a:ea typeface="微軟正黑體"/>
                <a:cs typeface="微軟正黑體"/>
              </a:defRPr>
            </a:pPr>
            <a:r>
              <a:rPr sz="1800">
                <a:solidFill>
                  <a:srgbClr val="404040"/>
                </a:solidFill>
                <a:latin typeface="微軟正黑體"/>
                <a:ea typeface="微軟正黑體"/>
                <a:cs typeface="微軟正黑體"/>
              </a:rPr>
              <a:t>本次新增提供調度車輛數的配對組合，適合新進同仁直接參考並執行作業</a:t>
            </a:r>
          </a:p>
        </p:txBody>
      </p:sp>
      <p:pic>
        <p:nvPicPr>
          <p:cNvPr id="22" name="圖片 9"/>
          <p:cNvPicPr>
            <a:picLocks xmlns:a="http://schemas.openxmlformats.org/drawingml/2006/main" noChangeAspect="1"/>
          </p:cNvPicPr>
          <p:nvPr/>
        </p:nvPicPr>
        <p:blipFill>
          <a:blip xmlns:r="http://schemas.openxmlformats.org/officeDocument/2006/relationships" xmlns:a="http://schemas.openxmlformats.org/drawingml/2006/main" r:embed="R0892d30b5e3d4d47"/>
          <a:stretch xmlns:a="http://schemas.openxmlformats.org/drawingml/2006/main">
            <a:fillRect l="0" t="0" r="0" b="0"/>
          </a:stretch>
        </p:blipFill>
        <p:spPr>
          <a:xfrm xmlns:a="http://schemas.openxmlformats.org/drawingml/2006/main">
            <a:off x="0" y="3879918"/>
            <a:ext cx="3210373" cy="2143424"/>
          </a:xfrm>
          <a:prstGeom xmlns:a="http://schemas.openxmlformats.org/drawingml/2006/main" prst="rect">
            <a:avLst/>
          </a:prstGeom>
        </p:spPr>
      </p:pic>
      <p:pic>
        <p:nvPicPr>
          <p:cNvPr id="23" name="圖片 11"/>
          <p:cNvPicPr>
            <a:picLocks xmlns:a="http://schemas.openxmlformats.org/drawingml/2006/main" noChangeAspect="1"/>
          </p:cNvPicPr>
          <p:nvPr/>
        </p:nvPicPr>
        <p:blipFill>
          <a:blip xmlns:r="http://schemas.openxmlformats.org/officeDocument/2006/relationships" xmlns:a="http://schemas.openxmlformats.org/drawingml/2006/main" r:embed="Rb52b87242984440e"/>
          <a:stretch xmlns:a="http://schemas.openxmlformats.org/drawingml/2006/main">
            <a:fillRect l="0" t="0" r="0" b="0"/>
          </a:stretch>
        </p:blipFill>
        <p:spPr>
          <a:xfrm xmlns:a="http://schemas.openxmlformats.org/drawingml/2006/main">
            <a:off x="4948013" y="3924993"/>
            <a:ext cx="3210373" cy="2627728"/>
          </a:xfrm>
          <a:prstGeom xmlns:a="http://schemas.openxmlformats.org/drawingml/2006/main" prst="rect">
            <a:avLst/>
          </a:prstGeom>
        </p:spPr>
      </p:pic>
      <p:sp>
        <p:nvSpPr>
          <p:cNvPr id="14" name="文字方塊 13">
            <a:extLst xmlns:a="http://schemas.openxmlformats.org/drawingml/2006/main">
              <a:ext uri="{FF2B5EF4-FFF2-40B4-BE49-F238E27FC236}">
                <a16:creationId xmlns:a16="http://schemas.microsoft.com/office/drawing/2014/main" id="{FB6BEFE8-F0A4-DEDA-CFF3-4B3A66FDA79C}"/>
              </a:ext>
            </a:extLst>
          </p:cNvPr>
          <p:cNvSpPr>
            <a:spLocks xmlns:a="http://schemas.openxmlformats.org/drawingml/2006/main" noGrp="1"/>
          </p:cNvSpPr>
          <p:nvPr/>
        </p:nvSpPr>
        <p:spPr>
          <a:xfrm xmlns:a="http://schemas.openxmlformats.org/drawingml/2006/main">
            <a:off x="171450" y="2914650"/>
            <a:ext cx="4048125" cy="1463040"/>
          </a:xfrm>
          <a:prstGeom xmlns:a="http://schemas.openxmlformats.org/drawingml/2006/main" prst="rect">
            <a:avLst/>
          </a:prstGeom>
          <a:solidFill xmlns:a="http://schemas.openxmlformats.org/drawingml/2006/main">
            <a:srgbClr val="FFFF00"/>
          </a:solidFill>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buNone/>
              <a:defRPr sz="1800">
                <a:solidFill>
                  <a:srgbClr val="404040"/>
                </a:solidFill>
                <a:latin typeface="微軟正黑體"/>
                <a:ea typeface="微軟正黑體"/>
                <a:cs typeface="微軟正黑體"/>
              </a:defRPr>
            </a:pPr>
            <a:r>
              <a:rPr sz="1800">
                <a:solidFill>
                  <a:srgbClr val="404040"/>
                </a:solidFill>
                <a:latin typeface="微軟正黑體"/>
                <a:ea typeface="微軟正黑體"/>
                <a:cs typeface="微軟正黑體"/>
              </a:rPr>
              <a:t>原本系統僅提供調度需求，</a:t>
            </a:r>
          </a:p>
          <a:p xmlns:a="http://schemas.openxmlformats.org/drawingml/2006/main">
            <a:pPr algn="l">
              <a:lnSpc>
                <a:spcPct val="150000"/>
              </a:lnSpc>
              <a:buNone/>
              <a:defRPr sz="1800">
                <a:solidFill>
                  <a:srgbClr val="404040"/>
                </a:solidFill>
                <a:latin typeface="微軟正黑體"/>
                <a:ea typeface="微軟正黑體"/>
                <a:cs typeface="微軟正黑體"/>
              </a:defRPr>
            </a:pPr>
            <a:r>
              <a:rPr sz="1800">
                <a:solidFill>
                  <a:srgbClr val="404040"/>
                </a:solidFill>
                <a:latin typeface="微軟正黑體"/>
                <a:ea typeface="微軟正黑體"/>
                <a:cs typeface="微軟正黑體"/>
              </a:rPr>
              <a:t>並未告知同仁車輛該從甚麼場站取得</a:t>
            </a:r>
          </a:p>
        </p:txBody>
      </p:sp>
      <p:sp>
        <p:nvSpPr>
          <p:cNvPr id="16" name="文字方塊 15">
            <a:extLst xmlns:a="http://schemas.openxmlformats.org/drawingml/2006/main">
              <a:ext uri="{FF2B5EF4-FFF2-40B4-BE49-F238E27FC236}">
                <a16:creationId xmlns:a16="http://schemas.microsoft.com/office/drawing/2014/main" id="{12D5789C-927E-2D9F-C2CA-0CD0C2BF020F}"/>
              </a:ext>
            </a:extLst>
          </p:cNvPr>
          <p:cNvSpPr>
            <a:spLocks xmlns:a="http://schemas.openxmlformats.org/drawingml/2006/main" noGrp="1"/>
          </p:cNvSpPr>
          <p:nvPr/>
        </p:nvSpPr>
        <p:spPr>
          <a:xfrm xmlns:a="http://schemas.openxmlformats.org/drawingml/2006/main">
            <a:off x="4924425" y="2914650"/>
            <a:ext cx="4048125" cy="1005840"/>
          </a:xfrm>
          <a:prstGeom xmlns:a="http://schemas.openxmlformats.org/drawingml/2006/main" prst="rect">
            <a:avLst/>
          </a:prstGeom>
          <a:solidFill xmlns:a="http://schemas.openxmlformats.org/drawingml/2006/main">
            <a:srgbClr val="FFFF00"/>
          </a:solidFill>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buNone/>
              <a:defRPr sz="1800">
                <a:solidFill>
                  <a:srgbClr val="404040"/>
                </a:solidFill>
                <a:latin typeface="微軟正黑體"/>
                <a:ea typeface="微軟正黑體"/>
                <a:cs typeface="微軟正黑體"/>
              </a:defRPr>
            </a:pPr>
            <a:r>
              <a:rPr sz="1800">
                <a:solidFill>
                  <a:srgbClr val="404040"/>
                </a:solidFill>
                <a:latin typeface="微軟正黑體"/>
                <a:ea typeface="微軟正黑體"/>
                <a:cs typeface="微軟正黑體"/>
              </a:rPr>
              <a:t>現在可直接指派同仁作業順序，從何處調出，往何處補車</a:t>
            </a:r>
          </a:p>
        </p:txBody>
      </p:sp>
    </p:spTree>
    <p:extLst>
      <p:ext uri="{BB962C8B-B14F-4D97-AF65-F5344CB8AC3E}">
        <p14:creationId xmlns:p14="http://schemas.microsoft.com/office/powerpoint/2010/main" val="25668333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itle-band">
            <a:extLst xmlns:a="http://schemas.openxmlformats.org/drawingml/2006/main">
              <a:ext uri="{FF2B5EF4-FFF2-40B4-BE49-F238E27FC236}">
                <a16:creationId xmlns:a16="http://schemas.microsoft.com/office/drawing/2014/main" id="{C42885C6-FF20-4E88-9E80-D6B9430C4104}"/>
              </a:ext>
            </a:extLst>
          </p:cNvPr>
          <p:cNvSpPr>
            <a:spLocks xmlns:a="http://schemas.openxmlformats.org/drawingml/2006/main" noGrp="1"/>
          </p:cNvSpPr>
          <p:nvPr/>
        </p:nvSpPr>
        <p:spPr>
          <a:xfrm xmlns:a="http://schemas.openxmlformats.org/drawingml/2006/main">
            <a:off x="0" y="0"/>
            <a:ext cx="9144000" cy="900113"/>
          </a:xfrm>
          <a:prstGeom xmlns:a="http://schemas.openxmlformats.org/drawingml/2006/main" prst="rect">
            <a:avLst/>
          </a:prstGeom>
          <a:solidFill xmlns:a="http://schemas.openxmlformats.org/drawingml/2006/main">
            <a:srgbClr val="FFD243"/>
          </a:solidFill>
          <a:ln xmlns:a="http://schemas.openxmlformats.org/drawingml/2006/main" w="0">
            <a:noFill/>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lgn="ctr">
              <a:buNone/>
              <a:defRPr sz="3600" b="1">
                <a:solidFill>
                  <a:srgbClr val="404040"/>
                </a:solidFill>
                <a:latin typeface="微軟正黑體"/>
                <a:ea typeface="微軟正黑體"/>
                <a:cs typeface="微軟正黑體"/>
              </a:defRPr>
            </a:pPr>
            <a:r>
              <a:rPr sz="3600" b="1">
                <a:solidFill>
                  <a:srgbClr val="404040"/>
                </a:solidFill>
                <a:latin typeface="微軟正黑體"/>
                <a:ea typeface="微軟正黑體"/>
                <a:cs typeface="微軟正黑體"/>
              </a:rPr>
              <a:t>九、覆蓋率的判讀方式</a:t>
            </a:r>
          </a:p>
        </p:txBody>
      </p:sp>
      <p:sp>
        <p:nvSpPr>
          <p:cNvPr id="2" name="page-number">
            <a:extLst xmlns:a="http://schemas.openxmlformats.org/drawingml/2006/main">
              <a:ext uri="{FF2B5EF4-FFF2-40B4-BE49-F238E27FC236}">
                <a16:creationId xmlns:a16="http://schemas.microsoft.com/office/drawing/2014/main" id="{49A5CFA8-A861-4923-8377-214C29768337}"/>
              </a:ext>
            </a:extLst>
          </p:cNvPr>
          <p:cNvSpPr>
            <a:spLocks xmlns:a="http://schemas.openxmlformats.org/drawingml/2006/main" noGrp="1"/>
          </p:cNvSpPr>
          <p:nvPr/>
        </p:nvSpPr>
        <p:spPr>
          <a:xfrm xmlns:a="http://schemas.openxmlformats.org/drawingml/2006/main">
            <a:off x="8458200"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buNone/>
              <a:defRPr sz="1500">
                <a:solidFill>
                  <a:srgbClr val="666666"/>
                </a:solidFill>
                <a:latin typeface="微軟正黑體"/>
                <a:ea typeface="微軟正黑體"/>
                <a:cs typeface="微軟正黑體"/>
              </a:defRPr>
            </a:pPr>
            <a:r>
              <a:rPr sz="1500">
                <a:solidFill>
                  <a:srgbClr val="666666"/>
                </a:solidFill>
                <a:latin typeface="微軟正黑體"/>
                <a:ea typeface="微軟正黑體"/>
                <a:cs typeface="微軟正黑體"/>
              </a:rPr>
              <a:t>6</a:t>
            </a:r>
          </a:p>
        </p:txBody>
      </p:sp>
      <p:sp>
        <p:nvSpPr>
          <p:cNvPr id="7" name="color-reading">
            <a:extLst xmlns:a="http://schemas.openxmlformats.org/drawingml/2006/main">
              <a:ext uri="{FF2B5EF4-FFF2-40B4-BE49-F238E27FC236}">
                <a16:creationId xmlns:a16="http://schemas.microsoft.com/office/drawing/2014/main" id="{2CE86E4D-AA9F-4D6E-85EE-631A6251F51A}"/>
              </a:ext>
            </a:extLst>
          </p:cNvPr>
          <p:cNvSpPr>
            <a:spLocks xmlns:a="http://schemas.openxmlformats.org/drawingml/2006/main" noGrp="1"/>
          </p:cNvSpPr>
          <p:nvPr/>
        </p:nvSpPr>
        <p:spPr>
          <a:xfrm xmlns:a="http://schemas.openxmlformats.org/drawingml/2006/main">
            <a:off x="190500" y="49339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lnSpcReduction="10000"/>
          </a:bodyPr>
          <a:lstStyle xmlns:a="http://schemas.openxmlformats.org/drawingml/2006/main"/>
          <a:p xmlns:a="http://schemas.openxmlformats.org/drawingml/2006/main">
            <a:pPr algn="l">
              <a:buNone/>
              <a:defRPr sz="1425" b="1">
                <a:solidFill>
                  <a:srgbClr val="404040"/>
                </a:solidFill>
                <a:latin typeface="微軟正黑體"/>
                <a:ea typeface="微軟正黑體"/>
                <a:cs typeface="微軟正黑體"/>
              </a:defRPr>
            </a:pPr>
            <a:r>
              <a:rPr sz="1725" b="1">
                <a:solidFill>
                  <a:srgbClr val="404040"/>
                </a:solidFill>
                <a:latin typeface="微軟正黑體"/>
                <a:ea typeface="微軟正黑體"/>
                <a:cs typeface="微軟正黑體"/>
              </a:rPr>
              <a:t>顏色判讀</a:t>
            </a:r>
          </a:p>
        </p:txBody>
      </p:sp>
      <p:sp>
        <p:nvSpPr>
          <p:cNvPr id="8" name="full-swatch">
            <a:extLst xmlns:a="http://schemas.openxmlformats.org/drawingml/2006/main">
              <a:ext uri="{FF2B5EF4-FFF2-40B4-BE49-F238E27FC236}">
                <a16:creationId xmlns:a16="http://schemas.microsoft.com/office/drawing/2014/main" id="{5FF42AEB-1123-455F-94ED-6C2B96DDDFDD}"/>
              </a:ext>
            </a:extLst>
          </p:cNvPr>
          <p:cNvSpPr>
            <a:spLocks xmlns:a="http://schemas.openxmlformats.org/drawingml/2006/main" noGrp="1"/>
          </p:cNvSpPr>
          <p:nvPr/>
        </p:nvSpPr>
        <p:spPr>
          <a:xfrm xmlns:a="http://schemas.openxmlformats.org/drawingml/2006/main">
            <a:off x="266700" y="5334000"/>
            <a:ext cx="285750" cy="285750"/>
          </a:xfrm>
          <a:prstGeom xmlns:a="http://schemas.openxmlformats.org/drawingml/2006/main" prst="ellipse">
            <a:avLst/>
          </a:prstGeom>
          <a:solidFill xmlns:a="http://schemas.openxmlformats.org/drawingml/2006/main">
            <a:srgbClr val="F4A261"/>
          </a:solidFill>
          <a:ln xmlns:a="http://schemas.openxmlformats.org/drawingml/2006/main" w="19050">
            <a:solidFill>
              <a:srgbClr val="C1440E"/>
            </a:solid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endParaRPr/>
          </a:p>
        </p:txBody>
      </p:sp>
      <p:sp>
        <p:nvSpPr>
          <p:cNvPr id="9" name="full-label">
            <a:extLst xmlns:a="http://schemas.openxmlformats.org/drawingml/2006/main">
              <a:ext uri="{FF2B5EF4-FFF2-40B4-BE49-F238E27FC236}">
                <a16:creationId xmlns:a16="http://schemas.microsoft.com/office/drawing/2014/main" id="{BD0DC780-3C6F-439F-BC83-E76F1198EDCC}"/>
              </a:ext>
            </a:extLst>
          </p:cNvPr>
          <p:cNvSpPr>
            <a:spLocks xmlns:a="http://schemas.openxmlformats.org/drawingml/2006/main" noGrp="1"/>
          </p:cNvSpPr>
          <p:nvPr/>
        </p:nvSpPr>
        <p:spPr>
          <a:xfrm xmlns:a="http://schemas.openxmlformats.org/drawingml/2006/main">
            <a:off x="609600" y="525780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buNone/>
              <a:defRPr sz="1200" b="1">
                <a:solidFill>
                  <a:srgbClr val="C1440E"/>
                </a:solidFill>
                <a:latin typeface="微軟正黑體"/>
                <a:ea typeface="微軟正黑體"/>
                <a:cs typeface="微軟正黑體"/>
              </a:defRPr>
            </a:pPr>
            <a:r>
              <a:rPr sz="1425" b="1">
                <a:solidFill>
                  <a:srgbClr val="C1440E"/>
                </a:solidFill>
                <a:latin typeface="微軟正黑體"/>
                <a:ea typeface="微軟正黑體"/>
                <a:cs typeface="微軟正黑體"/>
              </a:rPr>
              <a:t>滿借</a:t>
            </a:r>
          </a:p>
        </p:txBody>
      </p:sp>
      <p:sp>
        <p:nvSpPr>
          <p:cNvPr id="10" name="full-plus">
            <a:extLst xmlns:a="http://schemas.openxmlformats.org/drawingml/2006/main">
              <a:ext uri="{FF2B5EF4-FFF2-40B4-BE49-F238E27FC236}">
                <a16:creationId xmlns:a16="http://schemas.microsoft.com/office/drawing/2014/main" id="{EB0A62D5-E2F2-4531-B9DA-39B448BDB5E5}"/>
              </a:ext>
            </a:extLst>
          </p:cNvPr>
          <p:cNvSpPr>
            <a:spLocks xmlns:a="http://schemas.openxmlformats.org/drawingml/2006/main" noGrp="1"/>
          </p:cNvSpPr>
          <p:nvPr/>
        </p:nvSpPr>
        <p:spPr>
          <a:xfrm xmlns:a="http://schemas.openxmlformats.org/drawingml/2006/main">
            <a:off x="1219200" y="5257800"/>
            <a:ext cx="304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1298"/>
          </a:bodyPr>
          <a:lstStyle xmlns:a="http://schemas.openxmlformats.org/drawingml/2006/main"/>
          <a:p xmlns:a="http://schemas.openxmlformats.org/drawingml/2006/main">
            <a:pPr algn="ctr">
              <a:buNone/>
              <a:defRPr sz="1500" b="1">
                <a:solidFill>
                  <a:srgbClr val="17212B"/>
                </a:solidFill>
                <a:latin typeface="微軟正黑體"/>
                <a:ea typeface="微軟正黑體"/>
                <a:cs typeface="微軟正黑體"/>
              </a:defRPr>
            </a:pPr>
            <a:r>
              <a:rPr sz="1650" b="1">
                <a:solidFill>
                  <a:srgbClr val="17212B"/>
                </a:solidFill>
                <a:latin typeface="微軟正黑體"/>
                <a:ea typeface="微軟正黑體"/>
                <a:cs typeface="微軟正黑體"/>
              </a:rPr>
              <a:t>＋</a:t>
            </a:r>
          </a:p>
        </p:txBody>
      </p:sp>
      <p:sp>
        <p:nvSpPr>
          <p:cNvPr id="11" name="out-swatch">
            <a:extLst xmlns:a="http://schemas.openxmlformats.org/drawingml/2006/main">
              <a:ext uri="{FF2B5EF4-FFF2-40B4-BE49-F238E27FC236}">
                <a16:creationId xmlns:a16="http://schemas.microsoft.com/office/drawing/2014/main" id="{7F40B8CE-4E57-4E57-80ED-305484A45D1A}"/>
              </a:ext>
            </a:extLst>
          </p:cNvPr>
          <p:cNvSpPr>
            <a:spLocks xmlns:a="http://schemas.openxmlformats.org/drawingml/2006/main" noGrp="1"/>
          </p:cNvSpPr>
          <p:nvPr/>
        </p:nvSpPr>
        <p:spPr>
          <a:xfrm xmlns:a="http://schemas.openxmlformats.org/drawingml/2006/main">
            <a:off x="1571625" y="5334000"/>
            <a:ext cx="285750" cy="285750"/>
          </a:xfrm>
          <a:prstGeom xmlns:a="http://schemas.openxmlformats.org/drawingml/2006/main" prst="ellipse">
            <a:avLst/>
          </a:prstGeom>
          <a:solidFill xmlns:a="http://schemas.openxmlformats.org/drawingml/2006/main">
            <a:srgbClr val="4EA8DE"/>
          </a:solidFill>
          <a:ln xmlns:a="http://schemas.openxmlformats.org/drawingml/2006/main" w="19050">
            <a:solidFill>
              <a:srgbClr val="274C9C"/>
            </a:solid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endParaRPr/>
          </a:p>
        </p:txBody>
      </p:sp>
      <p:sp>
        <p:nvSpPr>
          <p:cNvPr id="12" name="out-label">
            <a:extLst xmlns:a="http://schemas.openxmlformats.org/drawingml/2006/main">
              <a:ext uri="{FF2B5EF4-FFF2-40B4-BE49-F238E27FC236}">
                <a16:creationId xmlns:a16="http://schemas.microsoft.com/office/drawing/2014/main" id="{240D7C61-028A-4810-9F54-8846AFE9D1D8}"/>
              </a:ext>
            </a:extLst>
          </p:cNvPr>
          <p:cNvSpPr>
            <a:spLocks xmlns:a="http://schemas.openxmlformats.org/drawingml/2006/main" noGrp="1"/>
          </p:cNvSpPr>
          <p:nvPr/>
        </p:nvSpPr>
        <p:spPr>
          <a:xfrm xmlns:a="http://schemas.openxmlformats.org/drawingml/2006/main">
            <a:off x="1914525" y="5257800"/>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buNone/>
              <a:defRPr sz="1200" b="1">
                <a:solidFill>
                  <a:srgbClr val="274C9C"/>
                </a:solidFill>
                <a:latin typeface="微軟正黑體"/>
                <a:ea typeface="微軟正黑體"/>
                <a:cs typeface="微軟正黑體"/>
              </a:defRPr>
            </a:pPr>
            <a:r>
              <a:rPr sz="1425" b="1">
                <a:solidFill>
                  <a:srgbClr val="274C9C"/>
                </a:solidFill>
                <a:latin typeface="微軟正黑體"/>
                <a:ea typeface="微軟正黑體"/>
                <a:cs typeface="微軟正黑體"/>
              </a:rPr>
              <a:t>調出</a:t>
            </a:r>
          </a:p>
        </p:txBody>
      </p:sp>
      <p:sp>
        <p:nvSpPr>
          <p:cNvPr id="13" name="full-covered-label">
            <a:extLst xmlns:a="http://schemas.openxmlformats.org/drawingml/2006/main">
              <a:ext uri="{FF2B5EF4-FFF2-40B4-BE49-F238E27FC236}">
                <a16:creationId xmlns:a16="http://schemas.microsoft.com/office/drawing/2014/main" id="{4BCEB60F-EDE5-42E0-8326-6F3100B3A327}"/>
              </a:ext>
            </a:extLst>
          </p:cNvPr>
          <p:cNvSpPr>
            <a:spLocks xmlns:a="http://schemas.openxmlformats.org/drawingml/2006/main" noGrp="1"/>
          </p:cNvSpPr>
          <p:nvPr/>
        </p:nvSpPr>
        <p:spPr>
          <a:xfrm xmlns:a="http://schemas.openxmlformats.org/drawingml/2006/main">
            <a:off x="2714625" y="5257800"/>
            <a:ext cx="3667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buNone/>
              <a:defRPr sz="1200" b="1">
                <a:solidFill>
                  <a:srgbClr val="17212B"/>
                </a:solidFill>
                <a:latin typeface="微軟正黑體"/>
                <a:ea typeface="微軟正黑體"/>
                <a:cs typeface="微軟正黑體"/>
              </a:defRPr>
            </a:pPr>
            <a:r>
              <a:rPr sz="1425" b="1">
                <a:solidFill>
                  <a:srgbClr val="17212B"/>
                </a:solidFill>
                <a:latin typeface="微軟正黑體"/>
                <a:ea typeface="微軟正黑體"/>
                <a:cs typeface="微軟正黑體"/>
              </a:rPr>
              <a:t>同站同小時，有滿借與調出</a:t>
            </a:r>
            <a:endParaRPr sz="1350" b="1">
              <a:solidFill>
                <a:srgbClr val="17212B"/>
              </a:solidFill>
              <a:latin typeface="微軟正黑體"/>
              <a:ea typeface="微軟正黑體"/>
              <a:cs typeface="微軟正黑體"/>
            </a:endParaRPr>
          </a:p>
        </p:txBody>
      </p:sp>
      <p:sp>
        <p:nvSpPr>
          <p:cNvPr id="14" name="empty-swatch">
            <a:extLst xmlns:a="http://schemas.openxmlformats.org/drawingml/2006/main">
              <a:ext uri="{FF2B5EF4-FFF2-40B4-BE49-F238E27FC236}">
                <a16:creationId xmlns:a16="http://schemas.microsoft.com/office/drawing/2014/main" id="{093DBA64-603A-4025-BD22-B90CCF6CBD97}"/>
              </a:ext>
            </a:extLst>
          </p:cNvPr>
          <p:cNvSpPr>
            <a:spLocks xmlns:a="http://schemas.openxmlformats.org/drawingml/2006/main" noGrp="1"/>
          </p:cNvSpPr>
          <p:nvPr/>
        </p:nvSpPr>
        <p:spPr>
          <a:xfrm xmlns:a="http://schemas.openxmlformats.org/drawingml/2006/main">
            <a:off x="266700" y="5867400"/>
            <a:ext cx="285750" cy="285750"/>
          </a:xfrm>
          <a:prstGeom xmlns:a="http://schemas.openxmlformats.org/drawingml/2006/main" prst="ellipse">
            <a:avLst/>
          </a:prstGeom>
          <a:solidFill xmlns:a="http://schemas.openxmlformats.org/drawingml/2006/main">
            <a:srgbClr val="74C69D"/>
          </a:solidFill>
          <a:ln xmlns:a="http://schemas.openxmlformats.org/drawingml/2006/main" w="19050">
            <a:solidFill>
              <a:srgbClr val="1B7D4F"/>
            </a:solid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endParaRPr/>
          </a:p>
        </p:txBody>
      </p:sp>
      <p:sp>
        <p:nvSpPr>
          <p:cNvPr id="15" name="empty-label">
            <a:extLst xmlns:a="http://schemas.openxmlformats.org/drawingml/2006/main">
              <a:ext uri="{FF2B5EF4-FFF2-40B4-BE49-F238E27FC236}">
                <a16:creationId xmlns:a16="http://schemas.microsoft.com/office/drawing/2014/main" id="{F01BCD28-16B3-423D-9399-0D02B85B472F}"/>
              </a:ext>
            </a:extLst>
          </p:cNvPr>
          <p:cNvSpPr>
            <a:spLocks xmlns:a="http://schemas.openxmlformats.org/drawingml/2006/main" noGrp="1"/>
          </p:cNvSpPr>
          <p:nvPr/>
        </p:nvSpPr>
        <p:spPr>
          <a:xfrm xmlns:a="http://schemas.openxmlformats.org/drawingml/2006/main">
            <a:off x="609600" y="579120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buNone/>
              <a:defRPr sz="1200" b="1">
                <a:solidFill>
                  <a:srgbClr val="1B7D4F"/>
                </a:solidFill>
                <a:latin typeface="微軟正黑體"/>
                <a:ea typeface="微軟正黑體"/>
                <a:cs typeface="微軟正黑體"/>
              </a:defRPr>
            </a:pPr>
            <a:r>
              <a:rPr sz="1425" b="1">
                <a:solidFill>
                  <a:srgbClr val="1B7D4F"/>
                </a:solidFill>
                <a:latin typeface="微軟正黑體"/>
                <a:ea typeface="微軟正黑體"/>
                <a:cs typeface="微軟正黑體"/>
              </a:rPr>
              <a:t>空還</a:t>
            </a:r>
          </a:p>
        </p:txBody>
      </p:sp>
      <p:sp>
        <p:nvSpPr>
          <p:cNvPr id="16" name="empty-plus">
            <a:extLst xmlns:a="http://schemas.openxmlformats.org/drawingml/2006/main">
              <a:ext uri="{FF2B5EF4-FFF2-40B4-BE49-F238E27FC236}">
                <a16:creationId xmlns:a16="http://schemas.microsoft.com/office/drawing/2014/main" id="{C9D2ABF7-BCCA-4288-9916-B13269A5CE2E}"/>
              </a:ext>
            </a:extLst>
          </p:cNvPr>
          <p:cNvSpPr>
            <a:spLocks xmlns:a="http://schemas.openxmlformats.org/drawingml/2006/main" noGrp="1"/>
          </p:cNvSpPr>
          <p:nvPr/>
        </p:nvSpPr>
        <p:spPr>
          <a:xfrm xmlns:a="http://schemas.openxmlformats.org/drawingml/2006/main">
            <a:off x="1219200" y="5791200"/>
            <a:ext cx="304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1298"/>
          </a:bodyPr>
          <a:lstStyle xmlns:a="http://schemas.openxmlformats.org/drawingml/2006/main"/>
          <a:p xmlns:a="http://schemas.openxmlformats.org/drawingml/2006/main">
            <a:pPr algn="ctr">
              <a:buNone/>
              <a:defRPr sz="1500" b="1">
                <a:solidFill>
                  <a:srgbClr val="17212B"/>
                </a:solidFill>
                <a:latin typeface="微軟正黑體"/>
                <a:ea typeface="微軟正黑體"/>
                <a:cs typeface="微軟正黑體"/>
              </a:defRPr>
            </a:pPr>
            <a:r>
              <a:rPr sz="1650" b="1">
                <a:solidFill>
                  <a:srgbClr val="17212B"/>
                </a:solidFill>
                <a:latin typeface="微軟正黑體"/>
                <a:ea typeface="微軟正黑體"/>
                <a:cs typeface="微軟正黑體"/>
              </a:rPr>
              <a:t>＋</a:t>
            </a:r>
          </a:p>
        </p:txBody>
      </p:sp>
      <p:sp>
        <p:nvSpPr>
          <p:cNvPr id="17" name="incoming-swatch">
            <a:extLst xmlns:a="http://schemas.openxmlformats.org/drawingml/2006/main">
              <a:ext uri="{FF2B5EF4-FFF2-40B4-BE49-F238E27FC236}">
                <a16:creationId xmlns:a16="http://schemas.microsoft.com/office/drawing/2014/main" id="{8B17E16F-1B20-4C4E-BC8C-610A7AF7942E}"/>
              </a:ext>
            </a:extLst>
          </p:cNvPr>
          <p:cNvSpPr>
            <a:spLocks xmlns:a="http://schemas.openxmlformats.org/drawingml/2006/main" noGrp="1"/>
          </p:cNvSpPr>
          <p:nvPr/>
        </p:nvSpPr>
        <p:spPr>
          <a:xfrm xmlns:a="http://schemas.openxmlformats.org/drawingml/2006/main">
            <a:off x="1571625" y="5867400"/>
            <a:ext cx="285750" cy="285750"/>
          </a:xfrm>
          <a:prstGeom xmlns:a="http://schemas.openxmlformats.org/drawingml/2006/main" prst="ellipse">
            <a:avLst/>
          </a:prstGeom>
          <a:solidFill xmlns:a="http://schemas.openxmlformats.org/drawingml/2006/main">
            <a:srgbClr val="B57EDC"/>
          </a:solidFill>
          <a:ln xmlns:a="http://schemas.openxmlformats.org/drawingml/2006/main" w="19050">
            <a:solidFill>
              <a:srgbClr val="6A189E"/>
            </a:solid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endParaRPr/>
          </a:p>
        </p:txBody>
      </p:sp>
      <p:sp>
        <p:nvSpPr>
          <p:cNvPr id="18" name="incoming-label">
            <a:extLst xmlns:a="http://schemas.openxmlformats.org/drawingml/2006/main">
              <a:ext uri="{FF2B5EF4-FFF2-40B4-BE49-F238E27FC236}">
                <a16:creationId xmlns:a16="http://schemas.microsoft.com/office/drawing/2014/main" id="{C9D2DB5E-8B22-49BA-B041-E031FE292636}"/>
              </a:ext>
            </a:extLst>
          </p:cNvPr>
          <p:cNvSpPr>
            <a:spLocks xmlns:a="http://schemas.openxmlformats.org/drawingml/2006/main" noGrp="1"/>
          </p:cNvSpPr>
          <p:nvPr/>
        </p:nvSpPr>
        <p:spPr>
          <a:xfrm xmlns:a="http://schemas.openxmlformats.org/drawingml/2006/main">
            <a:off x="1914525" y="5791200"/>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buNone/>
              <a:defRPr sz="1200" b="1">
                <a:solidFill>
                  <a:srgbClr val="6A189E"/>
                </a:solidFill>
                <a:latin typeface="微軟正黑體"/>
                <a:ea typeface="微軟正黑體"/>
                <a:cs typeface="微軟正黑體"/>
              </a:defRPr>
            </a:pPr>
            <a:r>
              <a:rPr sz="1425" b="1">
                <a:solidFill>
                  <a:srgbClr val="6A189E"/>
                </a:solidFill>
                <a:latin typeface="微軟正黑體"/>
                <a:ea typeface="微軟正黑體"/>
                <a:cs typeface="微軟正黑體"/>
              </a:rPr>
              <a:t>調入</a:t>
            </a:r>
          </a:p>
        </p:txBody>
      </p:sp>
      <p:sp>
        <p:nvSpPr>
          <p:cNvPr id="19" name="empty-covered-label">
            <a:extLst xmlns:a="http://schemas.openxmlformats.org/drawingml/2006/main">
              <a:ext uri="{FF2B5EF4-FFF2-40B4-BE49-F238E27FC236}">
                <a16:creationId xmlns:a16="http://schemas.microsoft.com/office/drawing/2014/main" id="{F528D7F3-85EE-4CF1-9BD8-12D9A6186E22}"/>
              </a:ext>
            </a:extLst>
          </p:cNvPr>
          <p:cNvSpPr>
            <a:spLocks xmlns:a="http://schemas.openxmlformats.org/drawingml/2006/main" noGrp="1"/>
          </p:cNvSpPr>
          <p:nvPr/>
        </p:nvSpPr>
        <p:spPr>
          <a:xfrm xmlns:a="http://schemas.openxmlformats.org/drawingml/2006/main">
            <a:off x="2714625" y="5791200"/>
            <a:ext cx="3667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buNone/>
              <a:defRPr sz="1200" b="1">
                <a:solidFill>
                  <a:srgbClr val="17212B"/>
                </a:solidFill>
                <a:latin typeface="微軟正黑體"/>
                <a:ea typeface="微軟正黑體"/>
                <a:cs typeface="微軟正黑體"/>
              </a:defRPr>
            </a:pPr>
            <a:r>
              <a:rPr sz="1425" b="1">
                <a:solidFill>
                  <a:srgbClr val="17212B"/>
                </a:solidFill>
                <a:latin typeface="微軟正黑體"/>
                <a:ea typeface="微軟正黑體"/>
                <a:cs typeface="微軟正黑體"/>
              </a:rPr>
              <a:t>同站同小時，有空還與調入</a:t>
            </a:r>
          </a:p>
        </p:txBody>
      </p:sp>
      <p:sp>
        <p:nvSpPr>
          <p:cNvPr id="21" name="calculation-heading">
            <a:extLst xmlns:a="http://schemas.openxmlformats.org/drawingml/2006/main">
              <a:ext uri="{FF2B5EF4-FFF2-40B4-BE49-F238E27FC236}">
                <a16:creationId xmlns:a16="http://schemas.microsoft.com/office/drawing/2014/main" id="{1AFBE037-F20B-4FAE-A9D8-65500CF57EDE}"/>
              </a:ext>
            </a:extLst>
          </p:cNvPr>
          <p:cNvSpPr>
            <a:spLocks xmlns:a="http://schemas.openxmlformats.org/drawingml/2006/main" noGrp="1"/>
          </p:cNvSpPr>
          <p:nvPr/>
        </p:nvSpPr>
        <p:spPr>
          <a:xfrm xmlns:a="http://schemas.openxmlformats.org/drawingml/2006/main">
            <a:off x="6572250" y="1066800"/>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lgn="ctr">
              <a:buNone/>
              <a:defRPr sz="1875" b="1">
                <a:solidFill>
                  <a:srgbClr val="404040"/>
                </a:solidFill>
                <a:latin typeface="微軟正黑體"/>
                <a:ea typeface="微軟正黑體"/>
                <a:cs typeface="微軟正黑體"/>
              </a:defRPr>
            </a:pPr>
            <a:r>
              <a:rPr sz="2100" b="1">
                <a:solidFill>
                  <a:srgbClr val="404040"/>
                </a:solidFill>
                <a:latin typeface="微軟正黑體"/>
                <a:ea typeface="微軟正黑體"/>
                <a:cs typeface="微軟正黑體"/>
              </a:rPr>
              <a:t>計算方式</a:t>
            </a:r>
            <a:endParaRPr sz="1875" b="1">
              <a:solidFill>
                <a:srgbClr val="404040"/>
              </a:solidFill>
              <a:latin typeface="微軟正黑體"/>
              <a:ea typeface="微軟正黑體"/>
              <a:cs typeface="微軟正黑體"/>
            </a:endParaRPr>
          </a:p>
        </p:txBody>
      </p:sp>
      <p:sp>
        <p:nvSpPr>
          <p:cNvPr id="22" name="full-formula">
            <a:extLst xmlns:a="http://schemas.openxmlformats.org/drawingml/2006/main">
              <a:ext uri="{FF2B5EF4-FFF2-40B4-BE49-F238E27FC236}">
                <a16:creationId xmlns:a16="http://schemas.microsoft.com/office/drawing/2014/main" id="{E8EA2E9E-8648-4A0E-AE46-7B19426339E5}"/>
              </a:ext>
            </a:extLst>
          </p:cNvPr>
          <p:cNvSpPr>
            <a:spLocks xmlns:a="http://schemas.openxmlformats.org/drawingml/2006/main" noGrp="1"/>
          </p:cNvSpPr>
          <p:nvPr/>
        </p:nvSpPr>
        <p:spPr>
          <a:xfrm xmlns:a="http://schemas.openxmlformats.org/drawingml/2006/main">
            <a:off x="6572250" y="1543050"/>
            <a:ext cx="2428875" cy="1238250"/>
          </a:xfrm>
          <a:prstGeom xmlns:a="http://schemas.openxmlformats.org/drawingml/2006/main" prst="roundRect">
            <a:avLst>
              <a:gd name="adj" fmla="val 7547"/>
            </a:avLst>
          </a:prstGeom>
          <a:solidFill xmlns:a="http://schemas.openxmlformats.org/drawingml/2006/main">
            <a:srgbClr val="FFF1E6"/>
          </a:solidFill>
          <a:ln xmlns:a="http://schemas.openxmlformats.org/drawingml/2006/main" w="14288">
            <a:solidFill>
              <a:srgbClr val="C1440E"/>
            </a:solidFill>
            <a:prstDash val="solid"/>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lnSpc>
                <a:spcPct val="120000"/>
              </a:lnSpc>
              <a:buNone/>
              <a:defRPr sz="1275">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滿借覆蓋率</a:t>
            </a:r>
            <a:endParaRPr sz="1275">
              <a:solidFill>
                <a:srgbClr val="17212B"/>
              </a:solidFill>
              <a:latin typeface="微軟正黑體"/>
              <a:ea typeface="微軟正黑體"/>
              <a:cs typeface="微軟正黑體"/>
            </a:endParaRPr>
          </a:p>
          <a:p xmlns:a="http://schemas.openxmlformats.org/drawingml/2006/main">
            <a:pPr>
              <a:lnSpc>
                <a:spcPct val="120000"/>
              </a:lnSpc>
              <a:buNone/>
              <a:defRPr sz="1275">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＝同小時有調出行為的站數</a:t>
            </a:r>
            <a:endParaRPr sz="1275">
              <a:solidFill>
                <a:srgbClr val="17212B"/>
              </a:solidFill>
              <a:latin typeface="微軟正黑體"/>
              <a:ea typeface="微軟正黑體"/>
              <a:cs typeface="微軟正黑體"/>
            </a:endParaRPr>
          </a:p>
          <a:p xmlns:a="http://schemas.openxmlformats.org/drawingml/2006/main">
            <a:pPr>
              <a:lnSpc>
                <a:spcPct val="120000"/>
              </a:lnSpc>
              <a:buNone/>
              <a:defRPr sz="1275">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 全部滿借事件站數</a:t>
            </a:r>
            <a:endParaRPr sz="1275">
              <a:solidFill>
                <a:srgbClr val="17212B"/>
              </a:solidFill>
              <a:latin typeface="微軟正黑體"/>
              <a:ea typeface="微軟正黑體"/>
              <a:cs typeface="微軟正黑體"/>
            </a:endParaRPr>
          </a:p>
        </p:txBody>
      </p:sp>
      <p:sp>
        <p:nvSpPr>
          <p:cNvPr id="23" name="empty-formula">
            <a:extLst xmlns:a="http://schemas.openxmlformats.org/drawingml/2006/main">
              <a:ext uri="{FF2B5EF4-FFF2-40B4-BE49-F238E27FC236}">
                <a16:creationId xmlns:a16="http://schemas.microsoft.com/office/drawing/2014/main" id="{43947CEB-382A-4E03-A727-EC4004BCF998}"/>
              </a:ext>
            </a:extLst>
          </p:cNvPr>
          <p:cNvSpPr>
            <a:spLocks xmlns:a="http://schemas.openxmlformats.org/drawingml/2006/main" noGrp="1"/>
          </p:cNvSpPr>
          <p:nvPr/>
        </p:nvSpPr>
        <p:spPr>
          <a:xfrm xmlns:a="http://schemas.openxmlformats.org/drawingml/2006/main">
            <a:off x="6572250" y="2914650"/>
            <a:ext cx="2428875" cy="1238250"/>
          </a:xfrm>
          <a:prstGeom xmlns:a="http://schemas.openxmlformats.org/drawingml/2006/main" prst="roundRect">
            <a:avLst>
              <a:gd name="adj" fmla="val 7547"/>
            </a:avLst>
          </a:prstGeom>
          <a:solidFill xmlns:a="http://schemas.openxmlformats.org/drawingml/2006/main">
            <a:srgbClr val="EAF7EF"/>
          </a:solidFill>
          <a:ln xmlns:a="http://schemas.openxmlformats.org/drawingml/2006/main" w="14288">
            <a:solidFill>
              <a:srgbClr val="1B7D4F"/>
            </a:solidFill>
            <a:prstDash val="solid"/>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lnSpc>
                <a:spcPct val="120000"/>
              </a:lnSpc>
              <a:buNone/>
              <a:defRPr sz="1275">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空還覆蓋率</a:t>
            </a:r>
            <a:endParaRPr sz="1275">
              <a:solidFill>
                <a:srgbClr val="17212B"/>
              </a:solidFill>
              <a:latin typeface="微軟正黑體"/>
              <a:ea typeface="微軟正黑體"/>
              <a:cs typeface="微軟正黑體"/>
            </a:endParaRPr>
          </a:p>
          <a:p xmlns:a="http://schemas.openxmlformats.org/drawingml/2006/main">
            <a:pPr>
              <a:lnSpc>
                <a:spcPct val="120000"/>
              </a:lnSpc>
              <a:buNone/>
              <a:defRPr sz="1275">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＝同時段有調入行為的站數</a:t>
            </a:r>
            <a:endParaRPr sz="1275">
              <a:solidFill>
                <a:srgbClr val="17212B"/>
              </a:solidFill>
              <a:latin typeface="微軟正黑體"/>
              <a:ea typeface="微軟正黑體"/>
              <a:cs typeface="微軟正黑體"/>
            </a:endParaRPr>
          </a:p>
          <a:p xmlns:a="http://schemas.openxmlformats.org/drawingml/2006/main">
            <a:pPr>
              <a:lnSpc>
                <a:spcPct val="120000"/>
              </a:lnSpc>
              <a:buNone/>
              <a:defRPr sz="1275">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 全部空還事件站數</a:t>
            </a:r>
            <a:endParaRPr sz="1275">
              <a:solidFill>
                <a:srgbClr val="17212B"/>
              </a:solidFill>
              <a:latin typeface="微軟正黑體"/>
              <a:ea typeface="微軟正黑體"/>
              <a:cs typeface="微軟正黑體"/>
            </a:endParaRPr>
          </a:p>
        </p:txBody>
      </p:sp>
      <p:sp>
        <p:nvSpPr>
          <p:cNvPr id="25" name="example-note">
            <a:extLst xmlns:a="http://schemas.openxmlformats.org/drawingml/2006/main">
              <a:ext uri="{FF2B5EF4-FFF2-40B4-BE49-F238E27FC236}">
                <a16:creationId xmlns:a16="http://schemas.microsoft.com/office/drawing/2014/main" id="{C9AAFE1D-6095-4C6A-8D1F-147418CADC33}"/>
              </a:ext>
            </a:extLst>
          </p:cNvPr>
          <p:cNvSpPr>
            <a:spLocks xmlns:a="http://schemas.openxmlformats.org/drawingml/2006/main" noGrp="1"/>
          </p:cNvSpPr>
          <p:nvPr/>
        </p:nvSpPr>
        <p:spPr>
          <a:xfrm xmlns:a="http://schemas.openxmlformats.org/drawingml/2006/main">
            <a:off x="6572250" y="4267200"/>
            <a:ext cx="2428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l">
              <a:buNone/>
              <a:defRPr sz="1125">
                <a:solidFill>
                  <a:srgbClr val="666666"/>
                </a:solidFill>
                <a:latin typeface="微軟正黑體"/>
                <a:ea typeface="微軟正黑體"/>
                <a:cs typeface="微軟正黑體"/>
              </a:defRPr>
            </a:pPr>
            <a:r>
              <a:rPr sz="1425" b="1">
                <a:solidFill>
                  <a:srgbClr val="FF0000"/>
                </a:solidFill>
                <a:latin typeface="微軟正黑體"/>
                <a:ea typeface="微軟正黑體"/>
                <a:cs typeface="微軟正黑體"/>
              </a:rPr>
              <a:t>例:同時段內共發生10 個滿借事件，其中3站有調出行為，滿借覆蓋率為 30%。</a:t>
            </a:r>
          </a:p>
        </p:txBody>
      </p:sp>
      <p:pic>
        <p:nvPicPr>
          <p:cNvPr id="47" name="圖片 46"/>
          <p:cNvPicPr>
            <a:picLocks xmlns:a="http://schemas.openxmlformats.org/drawingml/2006/main" noChangeAspect="1"/>
          </p:cNvPicPr>
          <p:nvPr/>
        </p:nvPicPr>
        <p:blipFill>
          <a:blip xmlns:r="http://schemas.openxmlformats.org/officeDocument/2006/relationships" xmlns:a="http://schemas.openxmlformats.org/drawingml/2006/main" r:embed="Rc97e76e5c26b4629"/>
          <a:srcRect xmlns:a="http://schemas.openxmlformats.org/drawingml/2006/main" l="0" t="0" r="0" b="0"/>
          <a:stretch xmlns:a="http://schemas.openxmlformats.org/drawingml/2006/main">
            <a:fillRect l="0" t="0" r="0" b="0"/>
          </a:stretch>
        </p:blipFill>
        <p:spPr>
          <a:xfrm xmlns:a="http://schemas.openxmlformats.org/drawingml/2006/main">
            <a:off x="142875" y="1066800"/>
            <a:ext cx="6286500" cy="3771900"/>
          </a:xfrm>
          <a:prstGeom xmlns:a="http://schemas.openxmlformats.org/drawingml/2006/main" prst="rect">
            <a:avLst/>
          </a:prstGeom>
        </p:spPr>
      </p:pic>
    </p:spTree>
    <p:extLst>
      <p:ext uri="{BB962C8B-B14F-4D97-AF65-F5344CB8AC3E}">
        <p14:creationId xmlns:p14="http://schemas.microsoft.com/office/powerpoint/2010/main" val="7009702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band">
            <a:extLst xmlns:a="http://schemas.openxmlformats.org/drawingml/2006/main">
              <a:ext uri="{FF2B5EF4-FFF2-40B4-BE49-F238E27FC236}">
                <a16:creationId xmlns:a16="http://schemas.microsoft.com/office/drawing/2014/main" id="{FA1D926D-57B5-4EFC-BF51-579575CE9A1B}"/>
              </a:ext>
            </a:extLst>
          </p:cNvPr>
          <p:cNvSpPr>
            <a:spLocks xmlns:a="http://schemas.openxmlformats.org/drawingml/2006/main" noGrp="1"/>
          </p:cNvSpPr>
          <p:nvPr/>
        </p:nvSpPr>
        <p:spPr>
          <a:xfrm xmlns:a="http://schemas.openxmlformats.org/drawingml/2006/main">
            <a:off x="0" y="0"/>
            <a:ext cx="9144000" cy="900113"/>
          </a:xfrm>
          <a:prstGeom xmlns:a="http://schemas.openxmlformats.org/drawingml/2006/main" prst="rect">
            <a:avLst/>
          </a:prstGeom>
          <a:solidFill xmlns:a="http://schemas.openxmlformats.org/drawingml/2006/main">
            <a:srgbClr val="FFD243"/>
          </a:solidFill>
          <a:ln xmlns:a="http://schemas.openxmlformats.org/drawingml/2006/main" w="0">
            <a:noFill/>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lgn="ctr">
              <a:buNone/>
              <a:defRPr sz="3600" b="1">
                <a:solidFill>
                  <a:srgbClr val="404040"/>
                </a:solidFill>
                <a:latin typeface="微軟正黑體"/>
                <a:ea typeface="微軟正黑體"/>
                <a:cs typeface="微軟正黑體"/>
              </a:defRPr>
            </a:pPr>
            <a:r>
              <a:rPr sz="3600" b="1">
                <a:solidFill>
                  <a:srgbClr val="404040"/>
                </a:solidFill>
                <a:latin typeface="微軟正黑體"/>
                <a:ea typeface="微軟正黑體"/>
                <a:cs typeface="微軟正黑體"/>
              </a:rPr>
              <a:t>九、台北市 ABC 逐時覆蓋率</a:t>
            </a:r>
          </a:p>
        </p:txBody>
      </p:sp>
      <p:sp>
        <p:nvSpPr>
          <p:cNvPr id="2" name="page-number">
            <a:extLst xmlns:a="http://schemas.openxmlformats.org/drawingml/2006/main">
              <a:ext uri="{FF2B5EF4-FFF2-40B4-BE49-F238E27FC236}">
                <a16:creationId xmlns:a16="http://schemas.microsoft.com/office/drawing/2014/main" id="{B782DD11-7D64-46CB-A16A-00D9FBF481A7}"/>
              </a:ext>
            </a:extLst>
          </p:cNvPr>
          <p:cNvSpPr>
            <a:spLocks xmlns:a="http://schemas.openxmlformats.org/drawingml/2006/main" noGrp="1"/>
          </p:cNvSpPr>
          <p:nvPr/>
        </p:nvSpPr>
        <p:spPr>
          <a:xfrm xmlns:a="http://schemas.openxmlformats.org/drawingml/2006/main">
            <a:off x="8458200"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buNone/>
              <a:defRPr sz="1500">
                <a:solidFill>
                  <a:srgbClr val="666666"/>
                </a:solidFill>
                <a:latin typeface="微軟正黑體"/>
                <a:ea typeface="微軟正黑體"/>
                <a:cs typeface="微軟正黑體"/>
              </a:defRPr>
            </a:pPr>
            <a:r>
              <a:rPr sz="1500">
                <a:solidFill>
                  <a:srgbClr val="666666"/>
                </a:solidFill>
                <a:latin typeface="微軟正黑體"/>
                <a:ea typeface="微軟正黑體"/>
                <a:cs typeface="微軟正黑體"/>
              </a:rPr>
              <a:t>7</a:t>
            </a:r>
          </a:p>
        </p:txBody>
      </p:sp>
      <p:sp>
        <p:nvSpPr>
          <p:cNvPr id="6" name="extrema-heading">
            <a:extLst xmlns:a="http://schemas.openxmlformats.org/drawingml/2006/main">
              <a:ext uri="{FF2B5EF4-FFF2-40B4-BE49-F238E27FC236}">
                <a16:creationId xmlns:a16="http://schemas.microsoft.com/office/drawing/2014/main" id="{1337FA4D-AA4A-4BC9-9F53-CDB5BA10DE8D}"/>
              </a:ext>
            </a:extLst>
          </p:cNvPr>
          <p:cNvSpPr>
            <a:spLocks xmlns:a="http://schemas.openxmlformats.org/drawingml/2006/main" noGrp="1"/>
          </p:cNvSpPr>
          <p:nvPr/>
        </p:nvSpPr>
        <p:spPr>
          <a:xfrm xmlns:a="http://schemas.openxmlformats.org/drawingml/2006/main">
            <a:off x="6667500" y="99060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lgn="ctr">
              <a:buNone/>
              <a:defRPr sz="1650" b="1">
                <a:solidFill>
                  <a:srgbClr val="404040"/>
                </a:solidFill>
                <a:latin typeface="微軟正黑體"/>
                <a:ea typeface="微軟正黑體"/>
                <a:cs typeface="微軟正黑體"/>
              </a:defRPr>
            </a:pPr>
            <a:r>
              <a:rPr sz="1950" b="1">
                <a:solidFill>
                  <a:srgbClr val="404040"/>
                </a:solidFill>
                <a:latin typeface="微軟正黑體"/>
                <a:ea typeface="微軟正黑體"/>
                <a:cs typeface="微軟正黑體"/>
              </a:rPr>
              <a:t>最高與最低時段</a:t>
            </a:r>
          </a:p>
        </p:txBody>
      </p:sp>
      <p:sp>
        <p:nvSpPr>
          <p:cNvPr id="7" name="grade-A">
            <a:extLst xmlns:a="http://schemas.openxmlformats.org/drawingml/2006/main">
              <a:ext uri="{FF2B5EF4-FFF2-40B4-BE49-F238E27FC236}">
                <a16:creationId xmlns:a16="http://schemas.microsoft.com/office/drawing/2014/main" id="{E12DE7AE-1757-41CF-93FA-9316C1A08F7A}"/>
              </a:ext>
            </a:extLst>
          </p:cNvPr>
          <p:cNvSpPr>
            <a:spLocks xmlns:a="http://schemas.openxmlformats.org/drawingml/2006/main" noGrp="1"/>
          </p:cNvSpPr>
          <p:nvPr/>
        </p:nvSpPr>
        <p:spPr>
          <a:xfrm xmlns:a="http://schemas.openxmlformats.org/drawingml/2006/main">
            <a:off x="6715125" y="14097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0278"/>
          </a:bodyPr>
          <a:lstStyle xmlns:a="http://schemas.openxmlformats.org/drawingml/2006/main"/>
          <a:p xmlns:a="http://schemas.openxmlformats.org/drawingml/2006/main">
            <a:pPr algn="l">
              <a:buNone/>
              <a:defRPr sz="1425" b="1">
                <a:solidFill>
                  <a:srgbClr val="4472C4"/>
                </a:solidFill>
                <a:latin typeface="微軟正黑體"/>
                <a:ea typeface="微軟正黑體"/>
                <a:cs typeface="微軟正黑體"/>
              </a:defRPr>
            </a:pPr>
            <a:r>
              <a:rPr sz="1800" b="1">
                <a:solidFill>
                  <a:srgbClr val="4472C4"/>
                </a:solidFill>
                <a:latin typeface="微軟正黑體"/>
                <a:ea typeface="微軟正黑體"/>
                <a:cs typeface="微軟正黑體"/>
              </a:rPr>
              <a:t>A級</a:t>
            </a:r>
          </a:p>
        </p:txBody>
      </p:sp>
      <p:sp>
        <p:nvSpPr>
          <p:cNvPr id="8" name="extrema-A">
            <a:extLst xmlns:a="http://schemas.openxmlformats.org/drawingml/2006/main">
              <a:ext uri="{FF2B5EF4-FFF2-40B4-BE49-F238E27FC236}">
                <a16:creationId xmlns:a16="http://schemas.microsoft.com/office/drawing/2014/main" id="{B4C0F259-F051-429F-B260-B063A759C132}"/>
              </a:ext>
            </a:extLst>
          </p:cNvPr>
          <p:cNvSpPr>
            <a:spLocks xmlns:a="http://schemas.openxmlformats.org/drawingml/2006/main" noGrp="1"/>
          </p:cNvSpPr>
          <p:nvPr/>
        </p:nvSpPr>
        <p:spPr>
          <a:xfrm xmlns:a="http://schemas.openxmlformats.org/drawingml/2006/main">
            <a:off x="6715125" y="1733550"/>
            <a:ext cx="2286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lnSpcReduction="10000"/>
          </a:bodyPr>
          <a:lstStyle xmlns:a="http://schemas.openxmlformats.org/drawingml/2006/main"/>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滿借最高</a:t>
            </a:r>
            <a:r>
              <a:rPr sz="1425">
                <a:solidFill>
                  <a:srgbClr val="17212B"/>
                </a:solidFill>
                <a:latin typeface="微軟正黑體"/>
                <a:ea typeface="微軟正黑體"/>
                <a:cs typeface="微軟正黑體"/>
              </a:rPr>
              <a:t> 09時 27.9%</a:t>
            </a:r>
            <a:endParaRPr sz="1425">
              <a:solidFill>
                <a:srgbClr val="17212B"/>
              </a:solidFill>
              <a:latin typeface="微軟正黑體"/>
              <a:ea typeface="微軟正黑體"/>
              <a:cs typeface="微軟正黑體"/>
            </a:endParaRP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最低</a:t>
            </a:r>
            <a:r>
              <a:rPr sz="1425">
                <a:solidFill>
                  <a:srgbClr val="17212B"/>
                </a:solidFill>
                <a:latin typeface="微軟正黑體"/>
                <a:ea typeface="微軟正黑體"/>
                <a:cs typeface="微軟正黑體"/>
              </a:rPr>
              <a:t> 06時 1.3%</a:t>
            </a: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空還最高</a:t>
            </a:r>
            <a:r>
              <a:rPr sz="1425">
                <a:solidFill>
                  <a:srgbClr val="17212B"/>
                </a:solidFill>
                <a:latin typeface="微軟正黑體"/>
                <a:ea typeface="微軟正黑體"/>
                <a:cs typeface="微軟正黑體"/>
              </a:rPr>
              <a:t> 23時 10.8%</a:t>
            </a:r>
            <a:endParaRPr sz="1425">
              <a:solidFill>
                <a:srgbClr val="17212B"/>
              </a:solidFill>
              <a:latin typeface="微軟正黑體"/>
              <a:ea typeface="微軟正黑體"/>
              <a:cs typeface="微軟正黑體"/>
            </a:endParaRP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最低</a:t>
            </a:r>
            <a:r>
              <a:rPr sz="1425">
                <a:solidFill>
                  <a:srgbClr val="17212B"/>
                </a:solidFill>
                <a:latin typeface="微軟正黑體"/>
                <a:ea typeface="微軟正黑體"/>
                <a:cs typeface="微軟正黑體"/>
              </a:rPr>
              <a:t> 06時 1.8%</a:t>
            </a:r>
          </a:p>
        </p:txBody>
      </p:sp>
      <p:sp>
        <p:nvSpPr>
          <p:cNvPr id="9" name="直線接點 8">
            <a:extLst xmlns:a="http://schemas.openxmlformats.org/drawingml/2006/main">
              <a:ext uri="{FF2B5EF4-FFF2-40B4-BE49-F238E27FC236}">
                <a16:creationId xmlns:a16="http://schemas.microsoft.com/office/drawing/2014/main" id="{5B66379C-2AAA-4B44-8259-9D706FDD4828}"/>
              </a:ext>
            </a:extLst>
          </p:cNvPr>
          <p:cNvSpPr>
            <a:spLocks xmlns:a="http://schemas.openxmlformats.org/drawingml/2006/main" noGrp="1"/>
          </p:cNvSpPr>
          <p:nvPr/>
        </p:nvSpPr>
        <p:spPr>
          <a:xfrm xmlns:a="http://schemas.openxmlformats.org/drawingml/2006/main">
            <a:off x="6715125" y="2800350"/>
            <a:ext cx="2238375"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0" name="grade-B">
            <a:extLst xmlns:a="http://schemas.openxmlformats.org/drawingml/2006/main">
              <a:ext uri="{FF2B5EF4-FFF2-40B4-BE49-F238E27FC236}">
                <a16:creationId xmlns:a16="http://schemas.microsoft.com/office/drawing/2014/main" id="{E7E60C86-1356-4F9E-BDB8-46FB4D77E85F}"/>
              </a:ext>
            </a:extLst>
          </p:cNvPr>
          <p:cNvSpPr>
            <a:spLocks xmlns:a="http://schemas.openxmlformats.org/drawingml/2006/main" noGrp="1"/>
          </p:cNvSpPr>
          <p:nvPr/>
        </p:nvSpPr>
        <p:spPr>
          <a:xfrm xmlns:a="http://schemas.openxmlformats.org/drawingml/2006/main">
            <a:off x="6715125" y="28956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0278"/>
          </a:bodyPr>
          <a:lstStyle xmlns:a="http://schemas.openxmlformats.org/drawingml/2006/main"/>
          <a:p xmlns:a="http://schemas.openxmlformats.org/drawingml/2006/main">
            <a:pPr algn="l">
              <a:buNone/>
              <a:defRPr sz="1425" b="1">
                <a:solidFill>
                  <a:srgbClr val="ED7D31"/>
                </a:solidFill>
                <a:latin typeface="微軟正黑體"/>
                <a:ea typeface="微軟正黑體"/>
                <a:cs typeface="微軟正黑體"/>
              </a:defRPr>
            </a:pPr>
            <a:r>
              <a:rPr sz="1800" b="1">
                <a:solidFill>
                  <a:srgbClr val="ED7D31"/>
                </a:solidFill>
                <a:latin typeface="微軟正黑體"/>
                <a:ea typeface="微軟正黑體"/>
                <a:cs typeface="微軟正黑體"/>
              </a:rPr>
              <a:t>B級</a:t>
            </a:r>
          </a:p>
        </p:txBody>
      </p:sp>
      <p:sp>
        <p:nvSpPr>
          <p:cNvPr id="11" name="extrema-B">
            <a:extLst xmlns:a="http://schemas.openxmlformats.org/drawingml/2006/main">
              <a:ext uri="{FF2B5EF4-FFF2-40B4-BE49-F238E27FC236}">
                <a16:creationId xmlns:a16="http://schemas.microsoft.com/office/drawing/2014/main" id="{2C3EE76E-D031-42D3-954A-46C59DDB857D}"/>
              </a:ext>
            </a:extLst>
          </p:cNvPr>
          <p:cNvSpPr>
            <a:spLocks xmlns:a="http://schemas.openxmlformats.org/drawingml/2006/main" noGrp="1"/>
          </p:cNvSpPr>
          <p:nvPr/>
        </p:nvSpPr>
        <p:spPr>
          <a:xfrm xmlns:a="http://schemas.openxmlformats.org/drawingml/2006/main">
            <a:off x="6715125" y="3219450"/>
            <a:ext cx="2286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lnSpcReduction="10000"/>
          </a:bodyPr>
          <a:lstStyle xmlns:a="http://schemas.openxmlformats.org/drawingml/2006/main"/>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滿借最高</a:t>
            </a:r>
            <a:r>
              <a:rPr sz="1425">
                <a:solidFill>
                  <a:srgbClr val="17212B"/>
                </a:solidFill>
                <a:latin typeface="微軟正黑體"/>
                <a:ea typeface="微軟正黑體"/>
                <a:cs typeface="微軟正黑體"/>
              </a:rPr>
              <a:t> 09時 24.9%</a:t>
            </a:r>
            <a:endParaRPr sz="1425">
              <a:solidFill>
                <a:srgbClr val="17212B"/>
              </a:solidFill>
              <a:latin typeface="微軟正黑體"/>
              <a:ea typeface="微軟正黑體"/>
              <a:cs typeface="微軟正黑體"/>
            </a:endParaRP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最低</a:t>
            </a:r>
            <a:r>
              <a:rPr sz="1425">
                <a:solidFill>
                  <a:srgbClr val="17212B"/>
                </a:solidFill>
                <a:latin typeface="微軟正黑體"/>
                <a:ea typeface="微軟正黑體"/>
                <a:cs typeface="微軟正黑體"/>
              </a:rPr>
              <a:t> 06時 2.1%</a:t>
            </a: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空還最高</a:t>
            </a:r>
            <a:r>
              <a:rPr sz="1425">
                <a:solidFill>
                  <a:srgbClr val="17212B"/>
                </a:solidFill>
                <a:latin typeface="微軟正黑體"/>
                <a:ea typeface="微軟正黑體"/>
                <a:cs typeface="微軟正黑體"/>
              </a:rPr>
              <a:t> 07時 14.0%</a:t>
            </a:r>
            <a:endParaRPr sz="1425">
              <a:solidFill>
                <a:srgbClr val="17212B"/>
              </a:solidFill>
              <a:latin typeface="微軟正黑體"/>
              <a:ea typeface="微軟正黑體"/>
              <a:cs typeface="微軟正黑體"/>
            </a:endParaRP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最低</a:t>
            </a:r>
            <a:r>
              <a:rPr sz="1425">
                <a:solidFill>
                  <a:srgbClr val="17212B"/>
                </a:solidFill>
                <a:latin typeface="微軟正黑體"/>
                <a:ea typeface="微軟正黑體"/>
                <a:cs typeface="微軟正黑體"/>
              </a:rPr>
              <a:t> 06時 1.6%</a:t>
            </a:r>
          </a:p>
        </p:txBody>
      </p:sp>
      <p:sp>
        <p:nvSpPr>
          <p:cNvPr id="12" name="直線接點 11">
            <a:extLst xmlns:a="http://schemas.openxmlformats.org/drawingml/2006/main">
              <a:ext uri="{FF2B5EF4-FFF2-40B4-BE49-F238E27FC236}">
                <a16:creationId xmlns:a16="http://schemas.microsoft.com/office/drawing/2014/main" id="{1DB593F7-C92D-4860-9EFC-DA48F3D97C2B}"/>
              </a:ext>
            </a:extLst>
          </p:cNvPr>
          <p:cNvSpPr>
            <a:spLocks xmlns:a="http://schemas.openxmlformats.org/drawingml/2006/main" noGrp="1"/>
          </p:cNvSpPr>
          <p:nvPr/>
        </p:nvSpPr>
        <p:spPr>
          <a:xfrm xmlns:a="http://schemas.openxmlformats.org/drawingml/2006/main">
            <a:off x="6715125" y="4286250"/>
            <a:ext cx="2238375"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3" name="grade-C">
            <a:extLst xmlns:a="http://schemas.openxmlformats.org/drawingml/2006/main">
              <a:ext uri="{FF2B5EF4-FFF2-40B4-BE49-F238E27FC236}">
                <a16:creationId xmlns:a16="http://schemas.microsoft.com/office/drawing/2014/main" id="{C7FEACDE-3B90-4B24-8006-4BD5DC706F28}"/>
              </a:ext>
            </a:extLst>
          </p:cNvPr>
          <p:cNvSpPr>
            <a:spLocks xmlns:a="http://schemas.openxmlformats.org/drawingml/2006/main" noGrp="1"/>
          </p:cNvSpPr>
          <p:nvPr/>
        </p:nvSpPr>
        <p:spPr>
          <a:xfrm xmlns:a="http://schemas.openxmlformats.org/drawingml/2006/main">
            <a:off x="6715125" y="43815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0278"/>
          </a:bodyPr>
          <a:lstStyle xmlns:a="http://schemas.openxmlformats.org/drawingml/2006/main"/>
          <a:p xmlns:a="http://schemas.openxmlformats.org/drawingml/2006/main">
            <a:pPr algn="l">
              <a:buNone/>
              <a:defRPr sz="1425" b="1">
                <a:solidFill>
                  <a:srgbClr val="70AD47"/>
                </a:solidFill>
                <a:latin typeface="微軟正黑體"/>
                <a:ea typeface="微軟正黑體"/>
                <a:cs typeface="微軟正黑體"/>
              </a:defRPr>
            </a:pPr>
            <a:r>
              <a:rPr sz="1800" b="1">
                <a:solidFill>
                  <a:srgbClr val="70AD47"/>
                </a:solidFill>
                <a:latin typeface="微軟正黑體"/>
                <a:ea typeface="微軟正黑體"/>
                <a:cs typeface="微軟正黑體"/>
              </a:rPr>
              <a:t>C級</a:t>
            </a:r>
          </a:p>
        </p:txBody>
      </p:sp>
      <p:sp>
        <p:nvSpPr>
          <p:cNvPr id="14" name="extrema-C">
            <a:extLst xmlns:a="http://schemas.openxmlformats.org/drawingml/2006/main">
              <a:ext uri="{FF2B5EF4-FFF2-40B4-BE49-F238E27FC236}">
                <a16:creationId xmlns:a16="http://schemas.microsoft.com/office/drawing/2014/main" id="{341FEC78-7CE4-475A-8942-A75B2C5AAD0E}"/>
              </a:ext>
            </a:extLst>
          </p:cNvPr>
          <p:cNvSpPr>
            <a:spLocks xmlns:a="http://schemas.openxmlformats.org/drawingml/2006/main" noGrp="1"/>
          </p:cNvSpPr>
          <p:nvPr/>
        </p:nvSpPr>
        <p:spPr>
          <a:xfrm xmlns:a="http://schemas.openxmlformats.org/drawingml/2006/main">
            <a:off x="6715125" y="4705350"/>
            <a:ext cx="2286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lnSpcReduction="10000"/>
          </a:bodyPr>
          <a:lstStyle xmlns:a="http://schemas.openxmlformats.org/drawingml/2006/main"/>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滿借最高</a:t>
            </a:r>
            <a:r>
              <a:rPr sz="1425">
                <a:solidFill>
                  <a:srgbClr val="17212B"/>
                </a:solidFill>
                <a:latin typeface="微軟正黑體"/>
                <a:ea typeface="微軟正黑體"/>
                <a:cs typeface="微軟正黑體"/>
              </a:rPr>
              <a:t> 19時 29.4%</a:t>
            </a:r>
            <a:endParaRPr sz="1425">
              <a:solidFill>
                <a:srgbClr val="17212B"/>
              </a:solidFill>
              <a:latin typeface="微軟正黑體"/>
              <a:ea typeface="微軟正黑體"/>
              <a:cs typeface="微軟正黑體"/>
            </a:endParaRP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最低</a:t>
            </a:r>
            <a:r>
              <a:rPr sz="1425">
                <a:solidFill>
                  <a:srgbClr val="17212B"/>
                </a:solidFill>
                <a:latin typeface="微軟正黑體"/>
                <a:ea typeface="微軟正黑體"/>
                <a:cs typeface="微軟正黑體"/>
              </a:rPr>
              <a:t> 06時 1.4%</a:t>
            </a: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空還最高</a:t>
            </a:r>
            <a:r>
              <a:rPr sz="1425">
                <a:solidFill>
                  <a:srgbClr val="17212B"/>
                </a:solidFill>
                <a:latin typeface="微軟正黑體"/>
                <a:ea typeface="微軟正黑體"/>
                <a:cs typeface="微軟正黑體"/>
              </a:rPr>
              <a:t> 07時 12.6%</a:t>
            </a:r>
            <a:endParaRPr sz="1425">
              <a:solidFill>
                <a:srgbClr val="17212B"/>
              </a:solidFill>
              <a:latin typeface="微軟正黑體"/>
              <a:ea typeface="微軟正黑體"/>
              <a:cs typeface="微軟正黑體"/>
            </a:endParaRP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最低</a:t>
            </a:r>
            <a:r>
              <a:rPr sz="1425">
                <a:solidFill>
                  <a:srgbClr val="17212B"/>
                </a:solidFill>
                <a:latin typeface="微軟正黑體"/>
                <a:ea typeface="微軟正黑體"/>
                <a:cs typeface="微軟正黑體"/>
              </a:rPr>
              <a:t> 06時 1.4%</a:t>
            </a:r>
          </a:p>
        </p:txBody>
      </p:sp>
      <p:graphicFrame>
        <p:nvGraphicFramePr>
          <p:cNvPr id="30" name="Chart"/>
          <p:cNvGraphicFramePr/>
          <p:nvPr/>
        </p:nvGraphicFramePr>
        <p:xfrm>
          <a:off xmlns:a="http://schemas.openxmlformats.org/drawingml/2006/main" x="142875" y="952500"/>
          <a:ext xmlns:a="http://schemas.openxmlformats.org/drawingml/2006/main" cx="6334125" cy="2571750"/>
        </p:xfrm>
        <a:graphic xmlns:a="http://schemas.openxmlformats.org/drawingml/2006/main">
          <a:graphicData uri="http://schemas.openxmlformats.org/drawingml/2006/chart">
            <c:chart xmlns:r="http://schemas.openxmlformats.org/officeDocument/2006/relationships" xmlns:c="http://schemas.openxmlformats.org/drawingml/2006/chart" r:id="Ra2b96c32f7e3485e"/>
          </a:graphicData>
        </a:graphic>
      </p:graphicFrame>
      <p:graphicFrame>
        <p:nvGraphicFramePr>
          <p:cNvPr id="31" name="Chart"/>
          <p:cNvGraphicFramePr/>
          <p:nvPr/>
        </p:nvGraphicFramePr>
        <p:xfrm>
          <a:off xmlns:a="http://schemas.openxmlformats.org/drawingml/2006/main" x="142875" y="3619500"/>
          <a:ext xmlns:a="http://schemas.openxmlformats.org/drawingml/2006/main" cx="6334125" cy="2571750"/>
        </p:xfrm>
        <a:graphic xmlns:a="http://schemas.openxmlformats.org/drawingml/2006/main">
          <a:graphicData uri="http://schemas.openxmlformats.org/drawingml/2006/chart">
            <c:chart xmlns:r="http://schemas.openxmlformats.org/officeDocument/2006/relationships" xmlns:c="http://schemas.openxmlformats.org/drawingml/2006/chart" r:id="Rad778621d9c347aa"/>
          </a:graphicData>
        </a:graphic>
      </p:graphicFrame>
    </p:spTree>
    <p:extLst>
      <p:ext uri="{BB962C8B-B14F-4D97-AF65-F5344CB8AC3E}">
        <p14:creationId xmlns:p14="http://schemas.microsoft.com/office/powerpoint/2010/main" val="6593261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band">
            <a:extLst xmlns:a="http://schemas.openxmlformats.org/drawingml/2006/main">
              <a:ext uri="{FF2B5EF4-FFF2-40B4-BE49-F238E27FC236}">
                <a16:creationId xmlns:a16="http://schemas.microsoft.com/office/drawing/2014/main" id="{FA1D926D-57B5-4EFC-BF51-579575CE9A1B}"/>
              </a:ext>
            </a:extLst>
          </p:cNvPr>
          <p:cNvSpPr>
            <a:spLocks xmlns:a="http://schemas.openxmlformats.org/drawingml/2006/main" noGrp="1"/>
          </p:cNvSpPr>
          <p:nvPr/>
        </p:nvSpPr>
        <p:spPr>
          <a:xfrm xmlns:a="http://schemas.openxmlformats.org/drawingml/2006/main">
            <a:off x="0" y="0"/>
            <a:ext cx="9144000" cy="900113"/>
          </a:xfrm>
          <a:prstGeom xmlns:a="http://schemas.openxmlformats.org/drawingml/2006/main" prst="rect">
            <a:avLst/>
          </a:prstGeom>
          <a:solidFill xmlns:a="http://schemas.openxmlformats.org/drawingml/2006/main">
            <a:srgbClr val="FFD243"/>
          </a:solidFill>
          <a:ln xmlns:a="http://schemas.openxmlformats.org/drawingml/2006/main" w="0">
            <a:noFill/>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defRPr sz="3600" b="1">
                <a:solidFill>
                  <a:srgbClr val="404040"/>
                </a:solidFill>
                <a:latin typeface="微軟正黑體"/>
                <a:ea typeface="微軟正黑體"/>
                <a:cs typeface="微軟正黑體"/>
              </a:defRPr>
            </a:pPr>
            <a:r>
              <a:rPr sz="3600" b="1">
                <a:solidFill>
                  <a:srgbClr val="404040"/>
                </a:solidFill>
                <a:latin typeface="微軟正黑體"/>
                <a:ea typeface="微軟正黑體"/>
                <a:cs typeface="微軟正黑體"/>
              </a:rPr>
              <a:t>九、台北調度行為與友愛接力比較</a:t>
            </a:r>
          </a:p>
        </p:txBody>
      </p:sp>
      <p:sp>
        <p:nvSpPr>
          <p:cNvPr id="2" name="page-number">
            <a:extLst xmlns:a="http://schemas.openxmlformats.org/drawingml/2006/main">
              <a:ext uri="{FF2B5EF4-FFF2-40B4-BE49-F238E27FC236}">
                <a16:creationId xmlns:a16="http://schemas.microsoft.com/office/drawing/2014/main" id="{B782DD11-7D64-46CB-A16A-00D9FBF481A7}"/>
              </a:ext>
            </a:extLst>
          </p:cNvPr>
          <p:cNvSpPr>
            <a:spLocks xmlns:a="http://schemas.openxmlformats.org/drawingml/2006/main" noGrp="1"/>
          </p:cNvSpPr>
          <p:nvPr/>
        </p:nvSpPr>
        <p:spPr>
          <a:xfrm xmlns:a="http://schemas.openxmlformats.org/drawingml/2006/main">
            <a:off x="8458200"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buNone/>
              <a:defRPr sz="1500" b="0">
                <a:solidFill>
                  <a:srgbClr val="666666"/>
                </a:solidFill>
                <a:latin typeface="微軟正黑體"/>
                <a:ea typeface="微軟正黑體"/>
                <a:cs typeface="微軟正黑體"/>
              </a:defRPr>
            </a:pPr>
            <a:r>
              <a:rPr sz="1500" b="0">
                <a:solidFill>
                  <a:srgbClr val="666666"/>
                </a:solidFill>
                <a:latin typeface="微軟正黑體"/>
                <a:ea typeface="微軟正黑體"/>
                <a:cs typeface="微軟正黑體"/>
              </a:rPr>
              <a:t>8</a:t>
            </a:r>
          </a:p>
        </p:txBody>
      </p:sp>
      <p:sp>
        <p:nvSpPr>
          <p:cNvPr id="17" name="station-count-scope">
            <a:extLst xmlns:a="http://schemas.openxmlformats.org/drawingml/2006/main">
              <a:ext uri="{FF2B5EF4-FFF2-40B4-BE49-F238E27FC236}">
                <a16:creationId xmlns:a16="http://schemas.microsoft.com/office/drawing/2014/main" id="{CBF617E9-0A4B-43A0-B152-3D4653249FE5}"/>
              </a:ext>
            </a:extLst>
          </p:cNvPr>
          <p:cNvSpPr>
            <a:spLocks xmlns:a="http://schemas.openxmlformats.org/drawingml/2006/main" noGrp="1"/>
          </p:cNvSpPr>
          <p:nvPr/>
        </p:nvSpPr>
        <p:spPr>
          <a:xfrm xmlns:a="http://schemas.openxmlformats.org/drawingml/2006/main">
            <a:off x="238125" y="923925"/>
            <a:ext cx="866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Autofit/>
          </a:bodyPr>
          <a:lstStyle xmlns:a="http://schemas.openxmlformats.org/drawingml/2006/main"/>
          <a:p xmlns:a="http://schemas.openxmlformats.org/drawingml/2006/main">
            <a:pPr algn="ctr">
              <a:defRPr sz="1500" b="0">
                <a:solidFill>
                  <a:srgbClr val="666666"/>
                </a:solidFill>
                <a:latin typeface="微軟正黑體"/>
                <a:ea typeface="微軟正黑體"/>
                <a:cs typeface="微軟正黑體"/>
              </a:defRPr>
            </a:pPr>
            <a:r>
              <a:rPr sz="1500" b="0">
                <a:solidFill>
                  <a:srgbClr val="666666"/>
                </a:solidFill>
                <a:latin typeface="微軟正黑體"/>
                <a:ea typeface="微軟正黑體"/>
                <a:cs typeface="微軟正黑體"/>
              </a:rPr>
              <a:t>調度線取43個平日樣本單日最大值，友愛接力虛線取43日每日平均值</a:t>
            </a:r>
          </a:p>
        </p:txBody>
      </p:sp>
      <p:sp>
        <p:nvSpPr>
          <p:cNvPr id="18" name="v12-chart-title-滿借">
            <a:extLst xmlns:a="http://schemas.openxmlformats.org/drawingml/2006/main">
              <a:ext uri="{FF2B5EF4-FFF2-40B4-BE49-F238E27FC236}">
                <a16:creationId xmlns:a16="http://schemas.microsoft.com/office/drawing/2014/main" id="{45ED97D8-8862-47BE-9CFC-F12F4735500C}"/>
              </a:ext>
            </a:extLst>
          </p:cNvPr>
          <p:cNvSpPr>
            <a:spLocks xmlns:a="http://schemas.openxmlformats.org/drawingml/2006/main" noGrp="1"/>
          </p:cNvSpPr>
          <p:nvPr/>
        </p:nvSpPr>
        <p:spPr>
          <a:xfrm xmlns:a="http://schemas.openxmlformats.org/drawingml/2006/main">
            <a:off x="381000" y="1200150"/>
            <a:ext cx="838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00" b="1">
                <a:solidFill>
                  <a:srgbClr val="404040"/>
                </a:solidFill>
                <a:latin typeface="微軟正黑體"/>
                <a:ea typeface="微軟正黑體"/>
                <a:cs typeface="微軟正黑體"/>
              </a:defRPr>
            </a:pPr>
            <a:r>
              <a:rPr sz="2200" b="1">
                <a:solidFill>
                  <a:srgbClr val="404040"/>
                </a:solidFill>
                <a:latin typeface="微軟正黑體"/>
                <a:ea typeface="微軟正黑體"/>
                <a:cs typeface="微軟正黑體"/>
              </a:rPr>
              <a:t>滿借場站數與調出、綁車場站數</a:t>
            </a:r>
          </a:p>
        </p:txBody>
      </p:sp>
      <p:sp>
        <p:nvSpPr>
          <p:cNvPr id="19" name="v12-legend-滿借-grade-label">
            <a:extLst xmlns:a="http://schemas.openxmlformats.org/drawingml/2006/main">
              <a:ext uri="{FF2B5EF4-FFF2-40B4-BE49-F238E27FC236}">
                <a16:creationId xmlns:a16="http://schemas.microsoft.com/office/drawing/2014/main" id="{6BA98F05-CD27-4FB9-A1D0-4B14322643BA}"/>
              </a:ext>
            </a:extLst>
          </p:cNvPr>
          <p:cNvSpPr>
            <a:spLocks xmlns:a="http://schemas.openxmlformats.org/drawingml/2006/main" noGrp="1"/>
          </p:cNvSpPr>
          <p:nvPr/>
        </p:nvSpPr>
        <p:spPr>
          <a:xfrm xmlns:a="http://schemas.openxmlformats.org/drawingml/2006/main">
            <a:off x="381000" y="1533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1">
                <a:solidFill>
                  <a:srgbClr val="404040"/>
                </a:solidFill>
                <a:latin typeface="微軟正黑體"/>
                <a:ea typeface="微軟正黑體"/>
                <a:cs typeface="微軟正黑體"/>
              </a:defRPr>
            </a:pPr>
            <a:r>
              <a:rPr sz="1600" b="1">
                <a:solidFill>
                  <a:srgbClr val="404040"/>
                </a:solidFill>
                <a:latin typeface="微軟正黑體"/>
                <a:ea typeface="微軟正黑體"/>
                <a:cs typeface="微軟正黑體"/>
              </a:rPr>
              <a:t>級別</a:t>
            </a:r>
          </a:p>
        </p:txBody>
      </p:sp>
      <p:sp>
        <p:nvSpPr>
          <p:cNvPr id="20" name="v12-legend-滿借-grade-A">
            <a:extLst xmlns:a="http://schemas.openxmlformats.org/drawingml/2006/main">
              <a:ext uri="{FF2B5EF4-FFF2-40B4-BE49-F238E27FC236}">
                <a16:creationId xmlns:a16="http://schemas.microsoft.com/office/drawing/2014/main" id="{4EFA580F-F80A-4C01-88FB-367999D24B13}"/>
              </a:ext>
            </a:extLst>
          </p:cNvPr>
          <p:cNvSpPr>
            <a:spLocks xmlns:a="http://schemas.openxmlformats.org/drawingml/2006/main" noGrp="1"/>
          </p:cNvSpPr>
          <p:nvPr/>
        </p:nvSpPr>
        <p:spPr>
          <a:xfrm xmlns:a="http://schemas.openxmlformats.org/drawingml/2006/main">
            <a:off x="876300" y="1590675"/>
            <a:ext cx="114300" cy="114300"/>
          </a:xfrm>
          <a:prstGeom xmlns:a="http://schemas.openxmlformats.org/drawingml/2006/main" prst="ellipse">
            <a:avLst/>
          </a:prstGeom>
          <a:solidFill xmlns:a="http://schemas.openxmlformats.org/drawingml/2006/main">
            <a:srgbClr val="4472C4"/>
          </a:solidFill>
          <a:ln xmlns:a="http://schemas.openxmlformats.org/drawingml/2006/main" w="9525">
            <a:solidFill>
              <a:srgbClr val="4472C4"/>
            </a:solidFill>
            <a:prstDash val="solid"/>
          </a:ln>
        </p:spPr>
      </p:sp>
      <p:sp>
        <p:nvSpPr>
          <p:cNvPr id="21" name="v12-legend-滿借-grade-A-text">
            <a:extLst xmlns:a="http://schemas.openxmlformats.org/drawingml/2006/main">
              <a:ext uri="{FF2B5EF4-FFF2-40B4-BE49-F238E27FC236}">
                <a16:creationId xmlns:a16="http://schemas.microsoft.com/office/drawing/2014/main" id="{49C0BC2E-0F05-45DD-8815-102409AC8D88}"/>
              </a:ext>
            </a:extLst>
          </p:cNvPr>
          <p:cNvSpPr>
            <a:spLocks xmlns:a="http://schemas.openxmlformats.org/drawingml/2006/main" noGrp="1"/>
          </p:cNvSpPr>
          <p:nvPr/>
        </p:nvSpPr>
        <p:spPr>
          <a:xfrm xmlns:a="http://schemas.openxmlformats.org/drawingml/2006/main">
            <a:off x="1038225" y="15335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A級</a:t>
            </a:r>
          </a:p>
        </p:txBody>
      </p:sp>
      <p:sp>
        <p:nvSpPr>
          <p:cNvPr id="22" name="v12-legend-滿借-grade-B">
            <a:extLst xmlns:a="http://schemas.openxmlformats.org/drawingml/2006/main">
              <a:ext uri="{FF2B5EF4-FFF2-40B4-BE49-F238E27FC236}">
                <a16:creationId xmlns:a16="http://schemas.microsoft.com/office/drawing/2014/main" id="{928F05DA-4B3F-4ED5-B85F-E761ABBD1BEA}"/>
              </a:ext>
            </a:extLst>
          </p:cNvPr>
          <p:cNvSpPr>
            <a:spLocks xmlns:a="http://schemas.openxmlformats.org/drawingml/2006/main" noGrp="1"/>
          </p:cNvSpPr>
          <p:nvPr/>
        </p:nvSpPr>
        <p:spPr>
          <a:xfrm xmlns:a="http://schemas.openxmlformats.org/drawingml/2006/main">
            <a:off x="1562100" y="1590675"/>
            <a:ext cx="114300" cy="114300"/>
          </a:xfrm>
          <a:prstGeom xmlns:a="http://schemas.openxmlformats.org/drawingml/2006/main" prst="ellipse">
            <a:avLst/>
          </a:prstGeom>
          <a:solidFill xmlns:a="http://schemas.openxmlformats.org/drawingml/2006/main">
            <a:srgbClr val="ED7D31"/>
          </a:solidFill>
          <a:ln xmlns:a="http://schemas.openxmlformats.org/drawingml/2006/main" w="9525">
            <a:solidFill>
              <a:srgbClr val="ED7D31"/>
            </a:solidFill>
            <a:prstDash val="solid"/>
          </a:ln>
        </p:spPr>
      </p:sp>
      <p:sp>
        <p:nvSpPr>
          <p:cNvPr id="23" name="v12-legend-滿借-grade-B-text">
            <a:extLst xmlns:a="http://schemas.openxmlformats.org/drawingml/2006/main">
              <a:ext uri="{FF2B5EF4-FFF2-40B4-BE49-F238E27FC236}">
                <a16:creationId xmlns:a16="http://schemas.microsoft.com/office/drawing/2014/main" id="{5742C853-6D9F-4BC9-8F03-ED1AC7DBB6C6}"/>
              </a:ext>
            </a:extLst>
          </p:cNvPr>
          <p:cNvSpPr>
            <a:spLocks xmlns:a="http://schemas.openxmlformats.org/drawingml/2006/main" noGrp="1"/>
          </p:cNvSpPr>
          <p:nvPr/>
        </p:nvSpPr>
        <p:spPr>
          <a:xfrm xmlns:a="http://schemas.openxmlformats.org/drawingml/2006/main">
            <a:off x="1724025" y="15335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B級</a:t>
            </a:r>
          </a:p>
        </p:txBody>
      </p:sp>
      <p:sp>
        <p:nvSpPr>
          <p:cNvPr id="24" name="v12-legend-滿借-grade-C">
            <a:extLst xmlns:a="http://schemas.openxmlformats.org/drawingml/2006/main">
              <a:ext uri="{FF2B5EF4-FFF2-40B4-BE49-F238E27FC236}">
                <a16:creationId xmlns:a16="http://schemas.microsoft.com/office/drawing/2014/main" id="{39D82EBF-F1C8-42C2-9D91-3E7DEF3A0CD4}"/>
              </a:ext>
            </a:extLst>
          </p:cNvPr>
          <p:cNvSpPr>
            <a:spLocks xmlns:a="http://schemas.openxmlformats.org/drawingml/2006/main" noGrp="1"/>
          </p:cNvSpPr>
          <p:nvPr/>
        </p:nvSpPr>
        <p:spPr>
          <a:xfrm xmlns:a="http://schemas.openxmlformats.org/drawingml/2006/main">
            <a:off x="2247900" y="1590675"/>
            <a:ext cx="114300" cy="114300"/>
          </a:xfrm>
          <a:prstGeom xmlns:a="http://schemas.openxmlformats.org/drawingml/2006/main" prst="ellipse">
            <a:avLst/>
          </a:prstGeom>
          <a:solidFill xmlns:a="http://schemas.openxmlformats.org/drawingml/2006/main">
            <a:srgbClr val="70AD47"/>
          </a:solidFill>
          <a:ln xmlns:a="http://schemas.openxmlformats.org/drawingml/2006/main" w="9525">
            <a:solidFill>
              <a:srgbClr val="70AD47"/>
            </a:solidFill>
            <a:prstDash val="solid"/>
          </a:ln>
        </p:spPr>
      </p:sp>
      <p:sp>
        <p:nvSpPr>
          <p:cNvPr id="25" name="v12-legend-滿借-grade-C-text">
            <a:extLst xmlns:a="http://schemas.openxmlformats.org/drawingml/2006/main">
              <a:ext uri="{FF2B5EF4-FFF2-40B4-BE49-F238E27FC236}">
                <a16:creationId xmlns:a16="http://schemas.microsoft.com/office/drawing/2014/main" id="{9B8F01EC-BF91-4A0D-8028-8086B8491596}"/>
              </a:ext>
            </a:extLst>
          </p:cNvPr>
          <p:cNvSpPr>
            <a:spLocks xmlns:a="http://schemas.openxmlformats.org/drawingml/2006/main" noGrp="1"/>
          </p:cNvSpPr>
          <p:nvPr/>
        </p:nvSpPr>
        <p:spPr>
          <a:xfrm xmlns:a="http://schemas.openxmlformats.org/drawingml/2006/main">
            <a:off x="2409825" y="15335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C級</a:t>
            </a:r>
          </a:p>
        </p:txBody>
      </p:sp>
      <p:sp>
        <p:nvSpPr>
          <p:cNvPr id="26" name="v12-legend-滿借-divider">
            <a:extLst xmlns:a="http://schemas.openxmlformats.org/drawingml/2006/main">
              <a:ext uri="{FF2B5EF4-FFF2-40B4-BE49-F238E27FC236}">
                <a16:creationId xmlns:a16="http://schemas.microsoft.com/office/drawing/2014/main" id="{02AE43B4-C4DD-4FA0-A132-13329000ED80}"/>
              </a:ext>
            </a:extLst>
          </p:cNvPr>
          <p:cNvSpPr>
            <a:spLocks xmlns:a="http://schemas.openxmlformats.org/drawingml/2006/main" noGrp="1"/>
          </p:cNvSpPr>
          <p:nvPr/>
        </p:nvSpPr>
        <p:spPr>
          <a:xfrm xmlns:a="http://schemas.openxmlformats.org/drawingml/2006/main">
            <a:off x="3009900" y="1552575"/>
            <a:ext cx="0" cy="19050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27" name="v12-legend-滿借-behavior-label">
            <a:extLst xmlns:a="http://schemas.openxmlformats.org/drawingml/2006/main">
              <a:ext uri="{FF2B5EF4-FFF2-40B4-BE49-F238E27FC236}">
                <a16:creationId xmlns:a16="http://schemas.microsoft.com/office/drawing/2014/main" id="{AEE9B9DF-B251-4011-BB3D-9F93F6025259}"/>
              </a:ext>
            </a:extLst>
          </p:cNvPr>
          <p:cNvSpPr>
            <a:spLocks xmlns:a="http://schemas.openxmlformats.org/drawingml/2006/main" noGrp="1"/>
          </p:cNvSpPr>
          <p:nvPr/>
        </p:nvSpPr>
        <p:spPr>
          <a:xfrm xmlns:a="http://schemas.openxmlformats.org/drawingml/2006/main">
            <a:off x="3181350" y="1533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1">
                <a:solidFill>
                  <a:srgbClr val="404040"/>
                </a:solidFill>
                <a:latin typeface="微軟正黑體"/>
                <a:ea typeface="微軟正黑體"/>
                <a:cs typeface="微軟正黑體"/>
              </a:defRPr>
            </a:pPr>
            <a:r>
              <a:rPr sz="1600" b="1">
                <a:solidFill>
                  <a:srgbClr val="404040"/>
                </a:solidFill>
                <a:latin typeface="微軟正黑體"/>
                <a:ea typeface="微軟正黑體"/>
                <a:cs typeface="微軟正黑體"/>
              </a:rPr>
              <a:t>行為</a:t>
            </a:r>
          </a:p>
        </p:txBody>
      </p:sp>
      <p:sp>
        <p:nvSpPr>
          <p:cNvPr id="28" name="v12-legend-滿借-action-0-line">
            <a:extLst xmlns:a="http://schemas.openxmlformats.org/drawingml/2006/main">
              <a:ext uri="{FF2B5EF4-FFF2-40B4-BE49-F238E27FC236}">
                <a16:creationId xmlns:a16="http://schemas.microsoft.com/office/drawing/2014/main" id="{A31D7338-C2FC-4F71-A19E-DA78DB4173E1}"/>
              </a:ext>
            </a:extLst>
          </p:cNvPr>
          <p:cNvSpPr>
            <a:spLocks xmlns:a="http://schemas.openxmlformats.org/drawingml/2006/main" noGrp="1"/>
          </p:cNvSpPr>
          <p:nvPr/>
        </p:nvSpPr>
        <p:spPr>
          <a:xfrm xmlns:a="http://schemas.openxmlformats.org/drawingml/2006/main">
            <a:off x="3714750" y="1647825"/>
            <a:ext cx="419100" cy="0"/>
          </a:xfrm>
          <a:prstGeom xmlns:a="http://schemas.openxmlformats.org/drawingml/2006/main" prst="line">
            <a:avLst/>
          </a:prstGeom>
          <a:noFill xmlns:a="http://schemas.openxmlformats.org/drawingml/2006/main"/>
          <a:ln xmlns:a="http://schemas.openxmlformats.org/drawingml/2006/main" w="38100">
            <a:solidFill>
              <a:srgbClr val="595959"/>
            </a:solidFill>
            <a:prstDash val="solid"/>
          </a:ln>
        </p:spPr>
      </p:sp>
      <p:sp>
        <p:nvSpPr>
          <p:cNvPr id="29" name="v12-legend-滿借-action-0-marker">
            <a:extLst xmlns:a="http://schemas.openxmlformats.org/drawingml/2006/main">
              <a:ext uri="{FF2B5EF4-FFF2-40B4-BE49-F238E27FC236}">
                <a16:creationId xmlns:a16="http://schemas.microsoft.com/office/drawing/2014/main" id="{D1F39D3C-D6BF-4A5A-B5D3-39DDD6D8B8B0}"/>
              </a:ext>
            </a:extLst>
          </p:cNvPr>
          <p:cNvSpPr>
            <a:spLocks xmlns:a="http://schemas.openxmlformats.org/drawingml/2006/main" noGrp="1"/>
          </p:cNvSpPr>
          <p:nvPr/>
        </p:nvSpPr>
        <p:spPr>
          <a:xfrm xmlns:a="http://schemas.openxmlformats.org/drawingml/2006/main">
            <a:off x="3886200" y="1600200"/>
            <a:ext cx="95250" cy="95250"/>
          </a:xfrm>
          <a:prstGeom xmlns:a="http://schemas.openxmlformats.org/drawingml/2006/main" prst="ellipse">
            <a:avLst/>
          </a:prstGeom>
          <a:solidFill xmlns:a="http://schemas.openxmlformats.org/drawingml/2006/main">
            <a:srgbClr val="595959"/>
          </a:solidFill>
          <a:ln xmlns:a="http://schemas.openxmlformats.org/drawingml/2006/main" w="9525">
            <a:solidFill>
              <a:srgbClr val="595959"/>
            </a:solidFill>
            <a:prstDash val="solid"/>
          </a:ln>
        </p:spPr>
      </p:sp>
      <p:sp>
        <p:nvSpPr>
          <p:cNvPr id="30" name="v12-legend-滿借-action-0-text">
            <a:extLst xmlns:a="http://schemas.openxmlformats.org/drawingml/2006/main">
              <a:ext uri="{FF2B5EF4-FFF2-40B4-BE49-F238E27FC236}">
                <a16:creationId xmlns:a16="http://schemas.microsoft.com/office/drawing/2014/main" id="{7EE42362-5552-461F-8DAF-40873229F2E9}"/>
              </a:ext>
            </a:extLst>
          </p:cNvPr>
          <p:cNvSpPr>
            <a:spLocks xmlns:a="http://schemas.openxmlformats.org/drawingml/2006/main" noGrp="1"/>
          </p:cNvSpPr>
          <p:nvPr/>
        </p:nvSpPr>
        <p:spPr>
          <a:xfrm xmlns:a="http://schemas.openxmlformats.org/drawingml/2006/main">
            <a:off x="4200525" y="1533525"/>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調出</a:t>
            </a:r>
          </a:p>
        </p:txBody>
      </p:sp>
      <p:sp>
        <p:nvSpPr>
          <p:cNvPr id="31" name="v12-legend-滿借-action-1-line">
            <a:extLst xmlns:a="http://schemas.openxmlformats.org/drawingml/2006/main">
              <a:ext uri="{FF2B5EF4-FFF2-40B4-BE49-F238E27FC236}">
                <a16:creationId xmlns:a16="http://schemas.microsoft.com/office/drawing/2014/main" id="{D9B7E128-9002-47FD-B7A0-6AAD256BB693}"/>
              </a:ext>
            </a:extLst>
          </p:cNvPr>
          <p:cNvSpPr>
            <a:spLocks xmlns:a="http://schemas.openxmlformats.org/drawingml/2006/main" noGrp="1"/>
          </p:cNvSpPr>
          <p:nvPr/>
        </p:nvSpPr>
        <p:spPr>
          <a:xfrm xmlns:a="http://schemas.openxmlformats.org/drawingml/2006/main">
            <a:off x="5143500" y="1647825"/>
            <a:ext cx="419100" cy="0"/>
          </a:xfrm>
          <a:prstGeom xmlns:a="http://schemas.openxmlformats.org/drawingml/2006/main" prst="line">
            <a:avLst/>
          </a:prstGeom>
          <a:noFill xmlns:a="http://schemas.openxmlformats.org/drawingml/2006/main"/>
          <a:ln xmlns:a="http://schemas.openxmlformats.org/drawingml/2006/main" w="21431">
            <a:solidFill>
              <a:srgbClr val="595959"/>
            </a:solidFill>
            <a:prstDash val="solid"/>
          </a:ln>
        </p:spPr>
      </p:sp>
      <p:sp>
        <p:nvSpPr>
          <p:cNvPr id="32" name="v12-legend-滿借-action-1-marker">
            <a:extLst xmlns:a="http://schemas.openxmlformats.org/drawingml/2006/main">
              <a:ext uri="{FF2B5EF4-FFF2-40B4-BE49-F238E27FC236}">
                <a16:creationId xmlns:a16="http://schemas.microsoft.com/office/drawing/2014/main" id="{4A25836A-8D0C-4F89-A89D-3F98E1A2BB4E}"/>
              </a:ext>
            </a:extLst>
          </p:cNvPr>
          <p:cNvSpPr>
            <a:spLocks xmlns:a="http://schemas.openxmlformats.org/drawingml/2006/main" noGrp="1"/>
          </p:cNvSpPr>
          <p:nvPr/>
        </p:nvSpPr>
        <p:spPr>
          <a:xfrm xmlns:a="http://schemas.openxmlformats.org/drawingml/2006/main">
            <a:off x="5314950" y="1600200"/>
            <a:ext cx="95250" cy="95250"/>
          </a:xfrm>
          <a:prstGeom xmlns:a="http://schemas.openxmlformats.org/drawingml/2006/main" prst="diamond">
            <a:avLst/>
          </a:prstGeom>
          <a:solidFill xmlns:a="http://schemas.openxmlformats.org/drawingml/2006/main">
            <a:srgbClr val="595959"/>
          </a:solidFill>
          <a:ln xmlns:a="http://schemas.openxmlformats.org/drawingml/2006/main" w="9525">
            <a:solidFill>
              <a:srgbClr val="595959"/>
            </a:solidFill>
            <a:prstDash val="solid"/>
          </a:ln>
        </p:spPr>
      </p:sp>
      <p:sp>
        <p:nvSpPr>
          <p:cNvPr id="33" name="v12-legend-滿借-action-1-text">
            <a:extLst xmlns:a="http://schemas.openxmlformats.org/drawingml/2006/main">
              <a:ext uri="{FF2B5EF4-FFF2-40B4-BE49-F238E27FC236}">
                <a16:creationId xmlns:a16="http://schemas.microsoft.com/office/drawing/2014/main" id="{9E2E627B-8D92-40BB-9259-F82F13636B92}"/>
              </a:ext>
            </a:extLst>
          </p:cNvPr>
          <p:cNvSpPr>
            <a:spLocks xmlns:a="http://schemas.openxmlformats.org/drawingml/2006/main" noGrp="1"/>
          </p:cNvSpPr>
          <p:nvPr/>
        </p:nvSpPr>
        <p:spPr>
          <a:xfrm xmlns:a="http://schemas.openxmlformats.org/drawingml/2006/main">
            <a:off x="5629275" y="1533525"/>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綁車</a:t>
            </a:r>
          </a:p>
        </p:txBody>
      </p:sp>
      <p:sp>
        <p:nvSpPr>
          <p:cNvPr id="34" name="v12-legend-滿借-action-2-line">
            <a:extLst xmlns:a="http://schemas.openxmlformats.org/drawingml/2006/main">
              <a:ext uri="{FF2B5EF4-FFF2-40B4-BE49-F238E27FC236}">
                <a16:creationId xmlns:a16="http://schemas.microsoft.com/office/drawing/2014/main" id="{37346A22-AEAF-45A8-9BCC-D28F538EA827}"/>
              </a:ext>
            </a:extLst>
          </p:cNvPr>
          <p:cNvSpPr>
            <a:spLocks xmlns:a="http://schemas.openxmlformats.org/drawingml/2006/main" noGrp="1"/>
          </p:cNvSpPr>
          <p:nvPr/>
        </p:nvSpPr>
        <p:spPr>
          <a:xfrm xmlns:a="http://schemas.openxmlformats.org/drawingml/2006/main">
            <a:off x="6667500" y="1647825"/>
            <a:ext cx="419100" cy="0"/>
          </a:xfrm>
          <a:prstGeom xmlns:a="http://schemas.openxmlformats.org/drawingml/2006/main" prst="line">
            <a:avLst/>
          </a:prstGeom>
          <a:noFill xmlns:a="http://schemas.openxmlformats.org/drawingml/2006/main"/>
          <a:ln xmlns:a="http://schemas.openxmlformats.org/drawingml/2006/main" w="28575">
            <a:solidFill>
              <a:srgbClr val="595959"/>
            </a:solidFill>
            <a:prstDash val="dash"/>
          </a:ln>
        </p:spPr>
      </p:sp>
      <p:sp>
        <p:nvSpPr>
          <p:cNvPr id="35" name="v12-legend-滿借-action-2-text">
            <a:extLst xmlns:a="http://schemas.openxmlformats.org/drawingml/2006/main">
              <a:ext uri="{FF2B5EF4-FFF2-40B4-BE49-F238E27FC236}">
                <a16:creationId xmlns:a16="http://schemas.microsoft.com/office/drawing/2014/main" id="{68077BA9-6615-4B22-A661-00C5FD9B50E8}"/>
              </a:ext>
            </a:extLst>
          </p:cNvPr>
          <p:cNvSpPr>
            <a:spLocks xmlns:a="http://schemas.openxmlformats.org/drawingml/2006/main" noGrp="1"/>
          </p:cNvSpPr>
          <p:nvPr/>
        </p:nvSpPr>
        <p:spPr>
          <a:xfrm xmlns:a="http://schemas.openxmlformats.org/drawingml/2006/main">
            <a:off x="7153275" y="1533525"/>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滿借</a:t>
            </a:r>
          </a:p>
        </p:txBody>
      </p:sp>
      <p:graphicFrame>
        <p:nvGraphicFramePr>
          <p:cNvPr id="77" name="Chart"/>
          <p:cNvGraphicFramePr/>
          <p:nvPr/>
        </p:nvGraphicFramePr>
        <p:xfrm>
          <a:off xmlns:a="http://schemas.openxmlformats.org/drawingml/2006/main" x="381000" y="1809750"/>
          <a:ext xmlns:a="http://schemas.openxmlformats.org/drawingml/2006/main" cx="8382000" cy="1828800"/>
        </p:xfrm>
        <a:graphic xmlns:a="http://schemas.openxmlformats.org/drawingml/2006/main">
          <a:graphicData uri="http://schemas.openxmlformats.org/drawingml/2006/chart">
            <c:chart xmlns:r="http://schemas.openxmlformats.org/officeDocument/2006/relationships" xmlns:c="http://schemas.openxmlformats.org/drawingml/2006/chart" r:id="Rd74add10807841be"/>
          </a:graphicData>
        </a:graphic>
      </p:graphicFrame>
      <p:sp>
        <p:nvSpPr>
          <p:cNvPr id="37" name="v12-chart-title-空還">
            <a:extLst xmlns:a="http://schemas.openxmlformats.org/drawingml/2006/main">
              <a:ext uri="{FF2B5EF4-FFF2-40B4-BE49-F238E27FC236}">
                <a16:creationId xmlns:a16="http://schemas.microsoft.com/office/drawing/2014/main" id="{52625E03-38AF-48C5-8A30-8393A0B6A5C0}"/>
              </a:ext>
            </a:extLst>
          </p:cNvPr>
          <p:cNvSpPr>
            <a:spLocks xmlns:a="http://schemas.openxmlformats.org/drawingml/2006/main" noGrp="1"/>
          </p:cNvSpPr>
          <p:nvPr/>
        </p:nvSpPr>
        <p:spPr>
          <a:xfrm xmlns:a="http://schemas.openxmlformats.org/drawingml/2006/main">
            <a:off x="381000" y="3676650"/>
            <a:ext cx="838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00" b="1">
                <a:solidFill>
                  <a:srgbClr val="404040"/>
                </a:solidFill>
                <a:latin typeface="微軟正黑體"/>
                <a:ea typeface="微軟正黑體"/>
                <a:cs typeface="微軟正黑體"/>
              </a:defRPr>
            </a:pPr>
            <a:r>
              <a:rPr sz="2200" b="1">
                <a:solidFill>
                  <a:srgbClr val="404040"/>
                </a:solidFill>
                <a:latin typeface="微軟正黑體"/>
                <a:ea typeface="微軟正黑體"/>
                <a:cs typeface="微軟正黑體"/>
              </a:rPr>
              <a:t>空還場站數與調入、解綁車場站數</a:t>
            </a:r>
          </a:p>
        </p:txBody>
      </p:sp>
      <p:sp>
        <p:nvSpPr>
          <p:cNvPr id="38" name="v12-legend-空還-grade-label">
            <a:extLst xmlns:a="http://schemas.openxmlformats.org/drawingml/2006/main">
              <a:ext uri="{FF2B5EF4-FFF2-40B4-BE49-F238E27FC236}">
                <a16:creationId xmlns:a16="http://schemas.microsoft.com/office/drawing/2014/main" id="{5847DF46-F395-4AF4-A677-3E7A73C941B1}"/>
              </a:ext>
            </a:extLst>
          </p:cNvPr>
          <p:cNvSpPr>
            <a:spLocks xmlns:a="http://schemas.openxmlformats.org/drawingml/2006/main" noGrp="1"/>
          </p:cNvSpPr>
          <p:nvPr/>
        </p:nvSpPr>
        <p:spPr>
          <a:xfrm xmlns:a="http://schemas.openxmlformats.org/drawingml/2006/main">
            <a:off x="381000" y="40100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1">
                <a:solidFill>
                  <a:srgbClr val="404040"/>
                </a:solidFill>
                <a:latin typeface="微軟正黑體"/>
                <a:ea typeface="微軟正黑體"/>
                <a:cs typeface="微軟正黑體"/>
              </a:defRPr>
            </a:pPr>
            <a:r>
              <a:rPr sz="1600" b="1">
                <a:solidFill>
                  <a:srgbClr val="404040"/>
                </a:solidFill>
                <a:latin typeface="微軟正黑體"/>
                <a:ea typeface="微軟正黑體"/>
                <a:cs typeface="微軟正黑體"/>
              </a:rPr>
              <a:t>級別</a:t>
            </a:r>
          </a:p>
        </p:txBody>
      </p:sp>
      <p:sp>
        <p:nvSpPr>
          <p:cNvPr id="39" name="v12-legend-空還-grade-A">
            <a:extLst xmlns:a="http://schemas.openxmlformats.org/drawingml/2006/main">
              <a:ext uri="{FF2B5EF4-FFF2-40B4-BE49-F238E27FC236}">
                <a16:creationId xmlns:a16="http://schemas.microsoft.com/office/drawing/2014/main" id="{D884F1AC-2615-4F28-B6B7-C81F1408C828}"/>
              </a:ext>
            </a:extLst>
          </p:cNvPr>
          <p:cNvSpPr>
            <a:spLocks xmlns:a="http://schemas.openxmlformats.org/drawingml/2006/main" noGrp="1"/>
          </p:cNvSpPr>
          <p:nvPr/>
        </p:nvSpPr>
        <p:spPr>
          <a:xfrm xmlns:a="http://schemas.openxmlformats.org/drawingml/2006/main">
            <a:off x="876300" y="4067175"/>
            <a:ext cx="114300" cy="114300"/>
          </a:xfrm>
          <a:prstGeom xmlns:a="http://schemas.openxmlformats.org/drawingml/2006/main" prst="ellipse">
            <a:avLst/>
          </a:prstGeom>
          <a:solidFill xmlns:a="http://schemas.openxmlformats.org/drawingml/2006/main">
            <a:srgbClr val="4472C4"/>
          </a:solidFill>
          <a:ln xmlns:a="http://schemas.openxmlformats.org/drawingml/2006/main" w="9525">
            <a:solidFill>
              <a:srgbClr val="4472C4"/>
            </a:solidFill>
            <a:prstDash val="solid"/>
          </a:ln>
        </p:spPr>
      </p:sp>
      <p:sp>
        <p:nvSpPr>
          <p:cNvPr id="40" name="v12-legend-空還-grade-A-text">
            <a:extLst xmlns:a="http://schemas.openxmlformats.org/drawingml/2006/main">
              <a:ext uri="{FF2B5EF4-FFF2-40B4-BE49-F238E27FC236}">
                <a16:creationId xmlns:a16="http://schemas.microsoft.com/office/drawing/2014/main" id="{FB922CD0-3D59-4E6A-BA08-6A08E712E92C}"/>
              </a:ext>
            </a:extLst>
          </p:cNvPr>
          <p:cNvSpPr>
            <a:spLocks xmlns:a="http://schemas.openxmlformats.org/drawingml/2006/main" noGrp="1"/>
          </p:cNvSpPr>
          <p:nvPr/>
        </p:nvSpPr>
        <p:spPr>
          <a:xfrm xmlns:a="http://schemas.openxmlformats.org/drawingml/2006/main">
            <a:off x="1038225" y="40100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A級</a:t>
            </a:r>
          </a:p>
        </p:txBody>
      </p:sp>
      <p:sp>
        <p:nvSpPr>
          <p:cNvPr id="41" name="v12-legend-空還-grade-B">
            <a:extLst xmlns:a="http://schemas.openxmlformats.org/drawingml/2006/main">
              <a:ext uri="{FF2B5EF4-FFF2-40B4-BE49-F238E27FC236}">
                <a16:creationId xmlns:a16="http://schemas.microsoft.com/office/drawing/2014/main" id="{10FADA23-2427-4B3A-9082-051B9A896561}"/>
              </a:ext>
            </a:extLst>
          </p:cNvPr>
          <p:cNvSpPr>
            <a:spLocks xmlns:a="http://schemas.openxmlformats.org/drawingml/2006/main" noGrp="1"/>
          </p:cNvSpPr>
          <p:nvPr/>
        </p:nvSpPr>
        <p:spPr>
          <a:xfrm xmlns:a="http://schemas.openxmlformats.org/drawingml/2006/main">
            <a:off x="1562100" y="4067175"/>
            <a:ext cx="114300" cy="114300"/>
          </a:xfrm>
          <a:prstGeom xmlns:a="http://schemas.openxmlformats.org/drawingml/2006/main" prst="ellipse">
            <a:avLst/>
          </a:prstGeom>
          <a:solidFill xmlns:a="http://schemas.openxmlformats.org/drawingml/2006/main">
            <a:srgbClr val="ED7D31"/>
          </a:solidFill>
          <a:ln xmlns:a="http://schemas.openxmlformats.org/drawingml/2006/main" w="9525">
            <a:solidFill>
              <a:srgbClr val="ED7D31"/>
            </a:solidFill>
            <a:prstDash val="solid"/>
          </a:ln>
        </p:spPr>
      </p:sp>
      <p:sp>
        <p:nvSpPr>
          <p:cNvPr id="42" name="v12-legend-空還-grade-B-text">
            <a:extLst xmlns:a="http://schemas.openxmlformats.org/drawingml/2006/main">
              <a:ext uri="{FF2B5EF4-FFF2-40B4-BE49-F238E27FC236}">
                <a16:creationId xmlns:a16="http://schemas.microsoft.com/office/drawing/2014/main" id="{B94F2636-8641-44D0-BCD8-7E7D117E4097}"/>
              </a:ext>
            </a:extLst>
          </p:cNvPr>
          <p:cNvSpPr>
            <a:spLocks xmlns:a="http://schemas.openxmlformats.org/drawingml/2006/main" noGrp="1"/>
          </p:cNvSpPr>
          <p:nvPr/>
        </p:nvSpPr>
        <p:spPr>
          <a:xfrm xmlns:a="http://schemas.openxmlformats.org/drawingml/2006/main">
            <a:off x="1724025" y="40100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B級</a:t>
            </a:r>
          </a:p>
        </p:txBody>
      </p:sp>
      <p:sp>
        <p:nvSpPr>
          <p:cNvPr id="43" name="v12-legend-空還-grade-C">
            <a:extLst xmlns:a="http://schemas.openxmlformats.org/drawingml/2006/main">
              <a:ext uri="{FF2B5EF4-FFF2-40B4-BE49-F238E27FC236}">
                <a16:creationId xmlns:a16="http://schemas.microsoft.com/office/drawing/2014/main" id="{53342899-3E4B-48B3-91C0-79D0BD8CFC20}"/>
              </a:ext>
            </a:extLst>
          </p:cNvPr>
          <p:cNvSpPr>
            <a:spLocks xmlns:a="http://schemas.openxmlformats.org/drawingml/2006/main" noGrp="1"/>
          </p:cNvSpPr>
          <p:nvPr/>
        </p:nvSpPr>
        <p:spPr>
          <a:xfrm xmlns:a="http://schemas.openxmlformats.org/drawingml/2006/main">
            <a:off x="2247900" y="4067175"/>
            <a:ext cx="114300" cy="114300"/>
          </a:xfrm>
          <a:prstGeom xmlns:a="http://schemas.openxmlformats.org/drawingml/2006/main" prst="ellipse">
            <a:avLst/>
          </a:prstGeom>
          <a:solidFill xmlns:a="http://schemas.openxmlformats.org/drawingml/2006/main">
            <a:srgbClr val="70AD47"/>
          </a:solidFill>
          <a:ln xmlns:a="http://schemas.openxmlformats.org/drawingml/2006/main" w="9525">
            <a:solidFill>
              <a:srgbClr val="70AD47"/>
            </a:solidFill>
            <a:prstDash val="solid"/>
          </a:ln>
        </p:spPr>
      </p:sp>
      <p:sp>
        <p:nvSpPr>
          <p:cNvPr id="44" name="v12-legend-空還-grade-C-text">
            <a:extLst xmlns:a="http://schemas.openxmlformats.org/drawingml/2006/main">
              <a:ext uri="{FF2B5EF4-FFF2-40B4-BE49-F238E27FC236}">
                <a16:creationId xmlns:a16="http://schemas.microsoft.com/office/drawing/2014/main" id="{22A0B376-8B48-4547-9C37-9E093647DCFC}"/>
              </a:ext>
            </a:extLst>
          </p:cNvPr>
          <p:cNvSpPr>
            <a:spLocks xmlns:a="http://schemas.openxmlformats.org/drawingml/2006/main" noGrp="1"/>
          </p:cNvSpPr>
          <p:nvPr/>
        </p:nvSpPr>
        <p:spPr>
          <a:xfrm xmlns:a="http://schemas.openxmlformats.org/drawingml/2006/main">
            <a:off x="2409825" y="40100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C級</a:t>
            </a:r>
          </a:p>
        </p:txBody>
      </p:sp>
      <p:sp>
        <p:nvSpPr>
          <p:cNvPr id="45" name="v12-legend-空還-divider">
            <a:extLst xmlns:a="http://schemas.openxmlformats.org/drawingml/2006/main">
              <a:ext uri="{FF2B5EF4-FFF2-40B4-BE49-F238E27FC236}">
                <a16:creationId xmlns:a16="http://schemas.microsoft.com/office/drawing/2014/main" id="{334FDEFA-4150-4BC8-81ED-1688F6E3EE19}"/>
              </a:ext>
            </a:extLst>
          </p:cNvPr>
          <p:cNvSpPr>
            <a:spLocks xmlns:a="http://schemas.openxmlformats.org/drawingml/2006/main" noGrp="1"/>
          </p:cNvSpPr>
          <p:nvPr/>
        </p:nvSpPr>
        <p:spPr>
          <a:xfrm xmlns:a="http://schemas.openxmlformats.org/drawingml/2006/main">
            <a:off x="3009900" y="4029075"/>
            <a:ext cx="0" cy="19050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46" name="v12-legend-空還-behavior-label">
            <a:extLst xmlns:a="http://schemas.openxmlformats.org/drawingml/2006/main">
              <a:ext uri="{FF2B5EF4-FFF2-40B4-BE49-F238E27FC236}">
                <a16:creationId xmlns:a16="http://schemas.microsoft.com/office/drawing/2014/main" id="{82BBA542-F900-4403-9241-DA81B4F3BA14}"/>
              </a:ext>
            </a:extLst>
          </p:cNvPr>
          <p:cNvSpPr>
            <a:spLocks xmlns:a="http://schemas.openxmlformats.org/drawingml/2006/main" noGrp="1"/>
          </p:cNvSpPr>
          <p:nvPr/>
        </p:nvSpPr>
        <p:spPr>
          <a:xfrm xmlns:a="http://schemas.openxmlformats.org/drawingml/2006/main">
            <a:off x="3181350" y="40100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1">
                <a:solidFill>
                  <a:srgbClr val="404040"/>
                </a:solidFill>
                <a:latin typeface="微軟正黑體"/>
                <a:ea typeface="微軟正黑體"/>
                <a:cs typeface="微軟正黑體"/>
              </a:defRPr>
            </a:pPr>
            <a:r>
              <a:rPr sz="1600" b="1">
                <a:solidFill>
                  <a:srgbClr val="404040"/>
                </a:solidFill>
                <a:latin typeface="微軟正黑體"/>
                <a:ea typeface="微軟正黑體"/>
                <a:cs typeface="微軟正黑體"/>
              </a:rPr>
              <a:t>行為</a:t>
            </a:r>
          </a:p>
        </p:txBody>
      </p:sp>
      <p:sp>
        <p:nvSpPr>
          <p:cNvPr id="47" name="v12-legend-空還-action-0-line">
            <a:extLst xmlns:a="http://schemas.openxmlformats.org/drawingml/2006/main">
              <a:ext uri="{FF2B5EF4-FFF2-40B4-BE49-F238E27FC236}">
                <a16:creationId xmlns:a16="http://schemas.microsoft.com/office/drawing/2014/main" id="{EB96C053-91D0-44DE-AF6C-633495BF58B9}"/>
              </a:ext>
            </a:extLst>
          </p:cNvPr>
          <p:cNvSpPr>
            <a:spLocks xmlns:a="http://schemas.openxmlformats.org/drawingml/2006/main" noGrp="1"/>
          </p:cNvSpPr>
          <p:nvPr/>
        </p:nvSpPr>
        <p:spPr>
          <a:xfrm xmlns:a="http://schemas.openxmlformats.org/drawingml/2006/main">
            <a:off x="3714750" y="4124325"/>
            <a:ext cx="419100" cy="0"/>
          </a:xfrm>
          <a:prstGeom xmlns:a="http://schemas.openxmlformats.org/drawingml/2006/main" prst="line">
            <a:avLst/>
          </a:prstGeom>
          <a:noFill xmlns:a="http://schemas.openxmlformats.org/drawingml/2006/main"/>
          <a:ln xmlns:a="http://schemas.openxmlformats.org/drawingml/2006/main" w="38100">
            <a:solidFill>
              <a:srgbClr val="595959"/>
            </a:solidFill>
            <a:prstDash val="solid"/>
          </a:ln>
        </p:spPr>
      </p:sp>
      <p:sp>
        <p:nvSpPr>
          <p:cNvPr id="48" name="v12-legend-空還-action-0-marker">
            <a:extLst xmlns:a="http://schemas.openxmlformats.org/drawingml/2006/main">
              <a:ext uri="{FF2B5EF4-FFF2-40B4-BE49-F238E27FC236}">
                <a16:creationId xmlns:a16="http://schemas.microsoft.com/office/drawing/2014/main" id="{B628A0B3-9CA8-4AF2-8B52-51B08FFE0961}"/>
              </a:ext>
            </a:extLst>
          </p:cNvPr>
          <p:cNvSpPr>
            <a:spLocks xmlns:a="http://schemas.openxmlformats.org/drawingml/2006/main" noGrp="1"/>
          </p:cNvSpPr>
          <p:nvPr/>
        </p:nvSpPr>
        <p:spPr>
          <a:xfrm xmlns:a="http://schemas.openxmlformats.org/drawingml/2006/main">
            <a:off x="3886200" y="4076700"/>
            <a:ext cx="95250" cy="95250"/>
          </a:xfrm>
          <a:prstGeom xmlns:a="http://schemas.openxmlformats.org/drawingml/2006/main" prst="ellipse">
            <a:avLst/>
          </a:prstGeom>
          <a:solidFill xmlns:a="http://schemas.openxmlformats.org/drawingml/2006/main">
            <a:srgbClr val="595959"/>
          </a:solidFill>
          <a:ln xmlns:a="http://schemas.openxmlformats.org/drawingml/2006/main" w="9525">
            <a:solidFill>
              <a:srgbClr val="595959"/>
            </a:solidFill>
            <a:prstDash val="solid"/>
          </a:ln>
        </p:spPr>
      </p:sp>
      <p:sp>
        <p:nvSpPr>
          <p:cNvPr id="49" name="v12-legend-空還-action-0-text">
            <a:extLst xmlns:a="http://schemas.openxmlformats.org/drawingml/2006/main">
              <a:ext uri="{FF2B5EF4-FFF2-40B4-BE49-F238E27FC236}">
                <a16:creationId xmlns:a16="http://schemas.microsoft.com/office/drawing/2014/main" id="{586F7FBB-4F63-4F56-9CA7-4052D8049E77}"/>
              </a:ext>
            </a:extLst>
          </p:cNvPr>
          <p:cNvSpPr>
            <a:spLocks xmlns:a="http://schemas.openxmlformats.org/drawingml/2006/main" noGrp="1"/>
          </p:cNvSpPr>
          <p:nvPr/>
        </p:nvSpPr>
        <p:spPr>
          <a:xfrm xmlns:a="http://schemas.openxmlformats.org/drawingml/2006/main">
            <a:off x="4200525" y="4010025"/>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調入</a:t>
            </a:r>
          </a:p>
        </p:txBody>
      </p:sp>
      <p:sp>
        <p:nvSpPr>
          <p:cNvPr id="50" name="v12-legend-空還-action-1-line">
            <a:extLst xmlns:a="http://schemas.openxmlformats.org/drawingml/2006/main">
              <a:ext uri="{FF2B5EF4-FFF2-40B4-BE49-F238E27FC236}">
                <a16:creationId xmlns:a16="http://schemas.microsoft.com/office/drawing/2014/main" id="{ED18B4A3-CFAF-4FB1-B2CE-C157A006A108}"/>
              </a:ext>
            </a:extLst>
          </p:cNvPr>
          <p:cNvSpPr>
            <a:spLocks xmlns:a="http://schemas.openxmlformats.org/drawingml/2006/main" noGrp="1"/>
          </p:cNvSpPr>
          <p:nvPr/>
        </p:nvSpPr>
        <p:spPr>
          <a:xfrm xmlns:a="http://schemas.openxmlformats.org/drawingml/2006/main">
            <a:off x="5143500" y="4124325"/>
            <a:ext cx="419100" cy="0"/>
          </a:xfrm>
          <a:prstGeom xmlns:a="http://schemas.openxmlformats.org/drawingml/2006/main" prst="line">
            <a:avLst/>
          </a:prstGeom>
          <a:noFill xmlns:a="http://schemas.openxmlformats.org/drawingml/2006/main"/>
          <a:ln xmlns:a="http://schemas.openxmlformats.org/drawingml/2006/main" w="21431">
            <a:solidFill>
              <a:srgbClr val="595959"/>
            </a:solidFill>
            <a:prstDash val="solid"/>
          </a:ln>
        </p:spPr>
      </p:sp>
      <p:sp>
        <p:nvSpPr>
          <p:cNvPr id="51" name="v12-legend-空還-action-1-marker">
            <a:extLst xmlns:a="http://schemas.openxmlformats.org/drawingml/2006/main">
              <a:ext uri="{FF2B5EF4-FFF2-40B4-BE49-F238E27FC236}">
                <a16:creationId xmlns:a16="http://schemas.microsoft.com/office/drawing/2014/main" id="{61858633-BEA9-42A7-AB37-240BCD8B1576}"/>
              </a:ext>
            </a:extLst>
          </p:cNvPr>
          <p:cNvSpPr>
            <a:spLocks xmlns:a="http://schemas.openxmlformats.org/drawingml/2006/main" noGrp="1"/>
          </p:cNvSpPr>
          <p:nvPr/>
        </p:nvSpPr>
        <p:spPr>
          <a:xfrm xmlns:a="http://schemas.openxmlformats.org/drawingml/2006/main">
            <a:off x="5314950" y="4076700"/>
            <a:ext cx="95250" cy="95250"/>
          </a:xfrm>
          <a:prstGeom xmlns:a="http://schemas.openxmlformats.org/drawingml/2006/main" prst="diamond">
            <a:avLst/>
          </a:prstGeom>
          <a:solidFill xmlns:a="http://schemas.openxmlformats.org/drawingml/2006/main">
            <a:srgbClr val="595959"/>
          </a:solidFill>
          <a:ln xmlns:a="http://schemas.openxmlformats.org/drawingml/2006/main" w="9525">
            <a:solidFill>
              <a:srgbClr val="595959"/>
            </a:solidFill>
            <a:prstDash val="solid"/>
          </a:ln>
        </p:spPr>
      </p:sp>
      <p:sp>
        <p:nvSpPr>
          <p:cNvPr id="52" name="v12-legend-空還-action-1-text">
            <a:extLst xmlns:a="http://schemas.openxmlformats.org/drawingml/2006/main">
              <a:ext uri="{FF2B5EF4-FFF2-40B4-BE49-F238E27FC236}">
                <a16:creationId xmlns:a16="http://schemas.microsoft.com/office/drawing/2014/main" id="{2F73F212-7252-4382-ACBD-582479D3F7BD}"/>
              </a:ext>
            </a:extLst>
          </p:cNvPr>
          <p:cNvSpPr>
            <a:spLocks xmlns:a="http://schemas.openxmlformats.org/drawingml/2006/main" noGrp="1"/>
          </p:cNvSpPr>
          <p:nvPr/>
        </p:nvSpPr>
        <p:spPr>
          <a:xfrm xmlns:a="http://schemas.openxmlformats.org/drawingml/2006/main">
            <a:off x="5629275" y="4010025"/>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解綁車</a:t>
            </a:r>
          </a:p>
        </p:txBody>
      </p:sp>
      <p:sp>
        <p:nvSpPr>
          <p:cNvPr id="53" name="v12-legend-空還-action-2-line">
            <a:extLst xmlns:a="http://schemas.openxmlformats.org/drawingml/2006/main">
              <a:ext uri="{FF2B5EF4-FFF2-40B4-BE49-F238E27FC236}">
                <a16:creationId xmlns:a16="http://schemas.microsoft.com/office/drawing/2014/main" id="{03C7EC35-CF08-4E3B-95AC-931A05BE46DF}"/>
              </a:ext>
            </a:extLst>
          </p:cNvPr>
          <p:cNvSpPr>
            <a:spLocks xmlns:a="http://schemas.openxmlformats.org/drawingml/2006/main" noGrp="1"/>
          </p:cNvSpPr>
          <p:nvPr/>
        </p:nvSpPr>
        <p:spPr>
          <a:xfrm xmlns:a="http://schemas.openxmlformats.org/drawingml/2006/main">
            <a:off x="6667500" y="4124325"/>
            <a:ext cx="419100" cy="0"/>
          </a:xfrm>
          <a:prstGeom xmlns:a="http://schemas.openxmlformats.org/drawingml/2006/main" prst="line">
            <a:avLst/>
          </a:prstGeom>
          <a:noFill xmlns:a="http://schemas.openxmlformats.org/drawingml/2006/main"/>
          <a:ln xmlns:a="http://schemas.openxmlformats.org/drawingml/2006/main" w="28575">
            <a:solidFill>
              <a:srgbClr val="595959"/>
            </a:solidFill>
            <a:prstDash val="dash"/>
          </a:ln>
        </p:spPr>
      </p:sp>
      <p:sp>
        <p:nvSpPr>
          <p:cNvPr id="54" name="v12-legend-空還-action-2-text">
            <a:extLst xmlns:a="http://schemas.openxmlformats.org/drawingml/2006/main">
              <a:ext uri="{FF2B5EF4-FFF2-40B4-BE49-F238E27FC236}">
                <a16:creationId xmlns:a16="http://schemas.microsoft.com/office/drawing/2014/main" id="{AE488DC9-91BE-475E-AA9D-5A0266ED5076}"/>
              </a:ext>
            </a:extLst>
          </p:cNvPr>
          <p:cNvSpPr>
            <a:spLocks xmlns:a="http://schemas.openxmlformats.org/drawingml/2006/main" noGrp="1"/>
          </p:cNvSpPr>
          <p:nvPr/>
        </p:nvSpPr>
        <p:spPr>
          <a:xfrm xmlns:a="http://schemas.openxmlformats.org/drawingml/2006/main">
            <a:off x="7153275" y="4010025"/>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空還</a:t>
            </a:r>
          </a:p>
        </p:txBody>
      </p:sp>
      <p:graphicFrame>
        <p:nvGraphicFramePr>
          <p:cNvPr id="96" name="Chart"/>
          <p:cNvGraphicFramePr/>
          <p:nvPr/>
        </p:nvGraphicFramePr>
        <p:xfrm>
          <a:off xmlns:a="http://schemas.openxmlformats.org/drawingml/2006/main" x="381000" y="4286250"/>
          <a:ext xmlns:a="http://schemas.openxmlformats.org/drawingml/2006/main" cx="8382000" cy="1828800"/>
        </p:xfrm>
        <a:graphic xmlns:a="http://schemas.openxmlformats.org/drawingml/2006/main">
          <a:graphicData uri="http://schemas.openxmlformats.org/drawingml/2006/chart">
            <c:chart xmlns:r="http://schemas.openxmlformats.org/officeDocument/2006/relationships" xmlns:c="http://schemas.openxmlformats.org/drawingml/2006/chart" r:id="R7f3286ab261940d8"/>
          </a:graphicData>
        </a:graphic>
      </p:graphicFrame>
    </p:spTree>
    <p:extLst>
      <p:ext uri="{BB962C8B-B14F-4D97-AF65-F5344CB8AC3E}">
        <p14:creationId xmlns:p14="http://schemas.microsoft.com/office/powerpoint/2010/main" val="6593261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band">
            <a:extLst xmlns:a="http://schemas.openxmlformats.org/drawingml/2006/main">
              <a:ext uri="{FF2B5EF4-FFF2-40B4-BE49-F238E27FC236}">
                <a16:creationId xmlns:a16="http://schemas.microsoft.com/office/drawing/2014/main" id="{0C9C1715-A56A-494F-9FB0-4E0C0879F3F3}"/>
              </a:ext>
            </a:extLst>
          </p:cNvPr>
          <p:cNvSpPr>
            <a:spLocks xmlns:a="http://schemas.openxmlformats.org/drawingml/2006/main" noGrp="1"/>
          </p:cNvSpPr>
          <p:nvPr/>
        </p:nvSpPr>
        <p:spPr>
          <a:xfrm xmlns:a="http://schemas.openxmlformats.org/drawingml/2006/main">
            <a:off x="0" y="0"/>
            <a:ext cx="9144000" cy="900113"/>
          </a:xfrm>
          <a:prstGeom xmlns:a="http://schemas.openxmlformats.org/drawingml/2006/main" prst="rect">
            <a:avLst/>
          </a:prstGeom>
          <a:solidFill xmlns:a="http://schemas.openxmlformats.org/drawingml/2006/main">
            <a:srgbClr val="FFD243"/>
          </a:solidFill>
          <a:ln xmlns:a="http://schemas.openxmlformats.org/drawingml/2006/main" w="0">
            <a:noFill/>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lgn="ctr">
              <a:buNone/>
              <a:defRPr sz="3600" b="1">
                <a:solidFill>
                  <a:srgbClr val="404040"/>
                </a:solidFill>
                <a:latin typeface="微軟正黑體"/>
                <a:ea typeface="微軟正黑體"/>
                <a:cs typeface="微軟正黑體"/>
              </a:defRPr>
            </a:pPr>
            <a:r>
              <a:rPr sz="3600" b="1">
                <a:solidFill>
                  <a:srgbClr val="404040"/>
                </a:solidFill>
                <a:latin typeface="微軟正黑體"/>
                <a:ea typeface="微軟正黑體"/>
                <a:cs typeface="微軟正黑體"/>
              </a:rPr>
              <a:t>九、新北市 ABC 逐時覆蓋率</a:t>
            </a:r>
          </a:p>
        </p:txBody>
      </p:sp>
      <p:sp>
        <p:nvSpPr>
          <p:cNvPr id="2" name="page-number">
            <a:extLst xmlns:a="http://schemas.openxmlformats.org/drawingml/2006/main">
              <a:ext uri="{FF2B5EF4-FFF2-40B4-BE49-F238E27FC236}">
                <a16:creationId xmlns:a16="http://schemas.microsoft.com/office/drawing/2014/main" id="{91903189-86B9-4895-8336-D6B3860A02FB}"/>
              </a:ext>
            </a:extLst>
          </p:cNvPr>
          <p:cNvSpPr>
            <a:spLocks xmlns:a="http://schemas.openxmlformats.org/drawingml/2006/main" noGrp="1"/>
          </p:cNvSpPr>
          <p:nvPr/>
        </p:nvSpPr>
        <p:spPr>
          <a:xfrm xmlns:a="http://schemas.openxmlformats.org/drawingml/2006/main">
            <a:off x="8458200"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buNone/>
              <a:defRPr sz="1500" b="0">
                <a:solidFill>
                  <a:srgbClr val="666666"/>
                </a:solidFill>
                <a:latin typeface="微軟正黑體"/>
                <a:ea typeface="微軟正黑體"/>
                <a:cs typeface="微軟正黑體"/>
              </a:defRPr>
            </a:pPr>
            <a:r>
              <a:rPr sz="1500" b="0">
                <a:solidFill>
                  <a:srgbClr val="666666"/>
                </a:solidFill>
                <a:latin typeface="微軟正黑體"/>
                <a:ea typeface="微軟正黑體"/>
                <a:cs typeface="微軟正黑體"/>
              </a:rPr>
              <a:t>9</a:t>
            </a:r>
          </a:p>
        </p:txBody>
      </p:sp>
      <p:sp>
        <p:nvSpPr>
          <p:cNvPr id="6" name="extrema-heading">
            <a:extLst xmlns:a="http://schemas.openxmlformats.org/drawingml/2006/main">
              <a:ext uri="{FF2B5EF4-FFF2-40B4-BE49-F238E27FC236}">
                <a16:creationId xmlns:a16="http://schemas.microsoft.com/office/drawing/2014/main" id="{6BA0C3AE-B928-468C-93CB-C2E6C5D652B9}"/>
              </a:ext>
            </a:extLst>
          </p:cNvPr>
          <p:cNvSpPr>
            <a:spLocks xmlns:a="http://schemas.openxmlformats.org/drawingml/2006/main" noGrp="1"/>
          </p:cNvSpPr>
          <p:nvPr/>
        </p:nvSpPr>
        <p:spPr>
          <a:xfrm xmlns:a="http://schemas.openxmlformats.org/drawingml/2006/main">
            <a:off x="6667500" y="125730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lgn="ctr">
              <a:buNone/>
              <a:defRPr sz="1650" b="1">
                <a:solidFill>
                  <a:srgbClr val="404040"/>
                </a:solidFill>
                <a:latin typeface="微軟正黑體"/>
                <a:ea typeface="微軟正黑體"/>
                <a:cs typeface="微軟正黑體"/>
              </a:defRPr>
            </a:pPr>
            <a:r>
              <a:rPr sz="1950" b="1">
                <a:solidFill>
                  <a:srgbClr val="404040"/>
                </a:solidFill>
                <a:latin typeface="微軟正黑體"/>
                <a:ea typeface="微軟正黑體"/>
                <a:cs typeface="微軟正黑體"/>
              </a:rPr>
              <a:t>最高與最低時段</a:t>
            </a:r>
          </a:p>
        </p:txBody>
      </p:sp>
      <p:sp>
        <p:nvSpPr>
          <p:cNvPr id="7" name="grade-A">
            <a:extLst xmlns:a="http://schemas.openxmlformats.org/drawingml/2006/main">
              <a:ext uri="{FF2B5EF4-FFF2-40B4-BE49-F238E27FC236}">
                <a16:creationId xmlns:a16="http://schemas.microsoft.com/office/drawing/2014/main" id="{0A8ACF6D-F1BA-46EA-8861-B73FE76E837E}"/>
              </a:ext>
            </a:extLst>
          </p:cNvPr>
          <p:cNvSpPr>
            <a:spLocks xmlns:a="http://schemas.openxmlformats.org/drawingml/2006/main" noGrp="1"/>
          </p:cNvSpPr>
          <p:nvPr/>
        </p:nvSpPr>
        <p:spPr>
          <a:xfrm xmlns:a="http://schemas.openxmlformats.org/drawingml/2006/main">
            <a:off x="6715125" y="16764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0278"/>
          </a:bodyPr>
          <a:lstStyle xmlns:a="http://schemas.openxmlformats.org/drawingml/2006/main"/>
          <a:p xmlns:a="http://schemas.openxmlformats.org/drawingml/2006/main">
            <a:pPr algn="l">
              <a:buNone/>
              <a:defRPr sz="1425" b="1">
                <a:solidFill>
                  <a:srgbClr val="4472C4"/>
                </a:solidFill>
                <a:latin typeface="微軟正黑體"/>
                <a:ea typeface="微軟正黑體"/>
                <a:cs typeface="微軟正黑體"/>
              </a:defRPr>
            </a:pPr>
            <a:r>
              <a:rPr sz="1800" b="1">
                <a:solidFill>
                  <a:srgbClr val="4472C4"/>
                </a:solidFill>
                <a:latin typeface="微軟正黑體"/>
                <a:ea typeface="微軟正黑體"/>
                <a:cs typeface="微軟正黑體"/>
              </a:rPr>
              <a:t>A級</a:t>
            </a:r>
          </a:p>
        </p:txBody>
      </p:sp>
      <p:sp>
        <p:nvSpPr>
          <p:cNvPr id="8" name="extrema-A">
            <a:extLst xmlns:a="http://schemas.openxmlformats.org/drawingml/2006/main">
              <a:ext uri="{FF2B5EF4-FFF2-40B4-BE49-F238E27FC236}">
                <a16:creationId xmlns:a16="http://schemas.microsoft.com/office/drawing/2014/main" id="{0E959718-E3E7-4215-9CF5-1126CB47BE1C}"/>
              </a:ext>
            </a:extLst>
          </p:cNvPr>
          <p:cNvSpPr>
            <a:spLocks xmlns:a="http://schemas.openxmlformats.org/drawingml/2006/main" noGrp="1"/>
          </p:cNvSpPr>
          <p:nvPr/>
        </p:nvSpPr>
        <p:spPr>
          <a:xfrm xmlns:a="http://schemas.openxmlformats.org/drawingml/2006/main">
            <a:off x="6715125" y="2000250"/>
            <a:ext cx="2286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lnSpcReduction="10000"/>
          </a:bodyPr>
          <a:lstStyle xmlns:a="http://schemas.openxmlformats.org/drawingml/2006/main"/>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滿借最高</a:t>
            </a:r>
            <a:r>
              <a:rPr sz="1425">
                <a:solidFill>
                  <a:srgbClr val="17212B"/>
                </a:solidFill>
                <a:latin typeface="微軟正黑體"/>
                <a:ea typeface="微軟正黑體"/>
                <a:cs typeface="微軟正黑體"/>
              </a:rPr>
              <a:t> 23時 39.9%</a:t>
            </a:r>
            <a:endParaRPr sz="1425">
              <a:solidFill>
                <a:srgbClr val="17212B"/>
              </a:solidFill>
              <a:latin typeface="微軟正黑體"/>
              <a:ea typeface="微軟正黑體"/>
              <a:cs typeface="微軟正黑體"/>
            </a:endParaRP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最低</a:t>
            </a:r>
            <a:r>
              <a:rPr sz="1425">
                <a:solidFill>
                  <a:srgbClr val="17212B"/>
                </a:solidFill>
                <a:latin typeface="微軟正黑體"/>
                <a:ea typeface="微軟正黑體"/>
                <a:cs typeface="微軟正黑體"/>
              </a:rPr>
              <a:t> 16時 7.8%</a:t>
            </a: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空還最高</a:t>
            </a:r>
            <a:r>
              <a:rPr sz="1425">
                <a:solidFill>
                  <a:srgbClr val="17212B"/>
                </a:solidFill>
                <a:latin typeface="微軟正黑體"/>
                <a:ea typeface="微軟正黑體"/>
                <a:cs typeface="微軟正黑體"/>
              </a:rPr>
              <a:t> 23時 21.1%</a:t>
            </a:r>
            <a:endParaRPr sz="1425">
              <a:solidFill>
                <a:srgbClr val="17212B"/>
              </a:solidFill>
              <a:latin typeface="微軟正黑體"/>
              <a:ea typeface="微軟正黑體"/>
              <a:cs typeface="微軟正黑體"/>
            </a:endParaRP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最低</a:t>
            </a:r>
            <a:r>
              <a:rPr sz="1425">
                <a:solidFill>
                  <a:srgbClr val="17212B"/>
                </a:solidFill>
                <a:latin typeface="微軟正黑體"/>
                <a:ea typeface="微軟正黑體"/>
                <a:cs typeface="微軟正黑體"/>
              </a:rPr>
              <a:t> 12時 3.0%</a:t>
            </a:r>
          </a:p>
        </p:txBody>
      </p:sp>
      <p:sp>
        <p:nvSpPr>
          <p:cNvPr id="9" name="直線接點 8">
            <a:extLst xmlns:a="http://schemas.openxmlformats.org/drawingml/2006/main">
              <a:ext uri="{FF2B5EF4-FFF2-40B4-BE49-F238E27FC236}">
                <a16:creationId xmlns:a16="http://schemas.microsoft.com/office/drawing/2014/main" id="{45367B9B-A116-4DD2-8497-D4593F818DBC}"/>
              </a:ext>
            </a:extLst>
          </p:cNvPr>
          <p:cNvSpPr>
            <a:spLocks xmlns:a="http://schemas.openxmlformats.org/drawingml/2006/main" noGrp="1"/>
          </p:cNvSpPr>
          <p:nvPr/>
        </p:nvSpPr>
        <p:spPr>
          <a:xfrm xmlns:a="http://schemas.openxmlformats.org/drawingml/2006/main">
            <a:off x="6715125" y="3067050"/>
            <a:ext cx="2238375"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0" name="grade-B">
            <a:extLst xmlns:a="http://schemas.openxmlformats.org/drawingml/2006/main">
              <a:ext uri="{FF2B5EF4-FFF2-40B4-BE49-F238E27FC236}">
                <a16:creationId xmlns:a16="http://schemas.microsoft.com/office/drawing/2014/main" id="{D89141FD-288D-4EAA-918E-B896EAE13125}"/>
              </a:ext>
            </a:extLst>
          </p:cNvPr>
          <p:cNvSpPr>
            <a:spLocks xmlns:a="http://schemas.openxmlformats.org/drawingml/2006/main" noGrp="1"/>
          </p:cNvSpPr>
          <p:nvPr/>
        </p:nvSpPr>
        <p:spPr>
          <a:xfrm xmlns:a="http://schemas.openxmlformats.org/drawingml/2006/main">
            <a:off x="6715125" y="31623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0278"/>
          </a:bodyPr>
          <a:lstStyle xmlns:a="http://schemas.openxmlformats.org/drawingml/2006/main"/>
          <a:p xmlns:a="http://schemas.openxmlformats.org/drawingml/2006/main">
            <a:pPr algn="l">
              <a:buNone/>
              <a:defRPr sz="1425" b="1">
                <a:solidFill>
                  <a:srgbClr val="ED7D31"/>
                </a:solidFill>
                <a:latin typeface="微軟正黑體"/>
                <a:ea typeface="微軟正黑體"/>
                <a:cs typeface="微軟正黑體"/>
              </a:defRPr>
            </a:pPr>
            <a:r>
              <a:rPr sz="1800" b="1">
                <a:solidFill>
                  <a:srgbClr val="ED7D31"/>
                </a:solidFill>
                <a:latin typeface="微軟正黑體"/>
                <a:ea typeface="微軟正黑體"/>
                <a:cs typeface="微軟正黑體"/>
              </a:rPr>
              <a:t>B級</a:t>
            </a:r>
          </a:p>
        </p:txBody>
      </p:sp>
      <p:sp>
        <p:nvSpPr>
          <p:cNvPr id="11" name="extrema-B">
            <a:extLst xmlns:a="http://schemas.openxmlformats.org/drawingml/2006/main">
              <a:ext uri="{FF2B5EF4-FFF2-40B4-BE49-F238E27FC236}">
                <a16:creationId xmlns:a16="http://schemas.microsoft.com/office/drawing/2014/main" id="{33D8A5E7-8017-4153-A979-EFFE292177FC}"/>
              </a:ext>
            </a:extLst>
          </p:cNvPr>
          <p:cNvSpPr>
            <a:spLocks xmlns:a="http://schemas.openxmlformats.org/drawingml/2006/main" noGrp="1"/>
          </p:cNvSpPr>
          <p:nvPr/>
        </p:nvSpPr>
        <p:spPr>
          <a:xfrm xmlns:a="http://schemas.openxmlformats.org/drawingml/2006/main">
            <a:off x="6715125" y="3486150"/>
            <a:ext cx="2286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lnSpcReduction="10000"/>
          </a:bodyPr>
          <a:lstStyle xmlns:a="http://schemas.openxmlformats.org/drawingml/2006/main"/>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滿借最高</a:t>
            </a:r>
            <a:r>
              <a:rPr sz="1425">
                <a:solidFill>
                  <a:srgbClr val="17212B"/>
                </a:solidFill>
                <a:latin typeface="微軟正黑體"/>
                <a:ea typeface="微軟正黑體"/>
                <a:cs typeface="微軟正黑體"/>
              </a:rPr>
              <a:t> 19時 40.6%</a:t>
            </a:r>
            <a:endParaRPr sz="1425">
              <a:solidFill>
                <a:srgbClr val="17212B"/>
              </a:solidFill>
              <a:latin typeface="微軟正黑體"/>
              <a:ea typeface="微軟正黑體"/>
              <a:cs typeface="微軟正黑體"/>
            </a:endParaRP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最低</a:t>
            </a:r>
            <a:r>
              <a:rPr sz="1425">
                <a:solidFill>
                  <a:srgbClr val="17212B"/>
                </a:solidFill>
                <a:latin typeface="微軟正黑體"/>
                <a:ea typeface="微軟正黑體"/>
                <a:cs typeface="微軟正黑體"/>
              </a:rPr>
              <a:t> 06時 2.6%</a:t>
            </a: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空還最高</a:t>
            </a:r>
            <a:r>
              <a:rPr sz="1425">
                <a:solidFill>
                  <a:srgbClr val="17212B"/>
                </a:solidFill>
                <a:latin typeface="微軟正黑體"/>
                <a:ea typeface="微軟正黑體"/>
                <a:cs typeface="微軟正黑體"/>
              </a:rPr>
              <a:t> 23時 21.8%</a:t>
            </a:r>
            <a:endParaRPr sz="1425">
              <a:solidFill>
                <a:srgbClr val="17212B"/>
              </a:solidFill>
              <a:latin typeface="微軟正黑體"/>
              <a:ea typeface="微軟正黑體"/>
              <a:cs typeface="微軟正黑體"/>
            </a:endParaRP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最低</a:t>
            </a:r>
            <a:r>
              <a:rPr sz="1425">
                <a:solidFill>
                  <a:srgbClr val="17212B"/>
                </a:solidFill>
                <a:latin typeface="微軟正黑體"/>
                <a:ea typeface="微軟正黑體"/>
                <a:cs typeface="微軟正黑體"/>
              </a:rPr>
              <a:t> 16時 1.4%</a:t>
            </a:r>
          </a:p>
        </p:txBody>
      </p:sp>
      <p:sp>
        <p:nvSpPr>
          <p:cNvPr id="12" name="直線接點 11">
            <a:extLst xmlns:a="http://schemas.openxmlformats.org/drawingml/2006/main">
              <a:ext uri="{FF2B5EF4-FFF2-40B4-BE49-F238E27FC236}">
                <a16:creationId xmlns:a16="http://schemas.microsoft.com/office/drawing/2014/main" id="{455DE276-021B-4D0B-952A-09440BEAF91A}"/>
              </a:ext>
            </a:extLst>
          </p:cNvPr>
          <p:cNvSpPr>
            <a:spLocks xmlns:a="http://schemas.openxmlformats.org/drawingml/2006/main" noGrp="1"/>
          </p:cNvSpPr>
          <p:nvPr/>
        </p:nvSpPr>
        <p:spPr>
          <a:xfrm xmlns:a="http://schemas.openxmlformats.org/drawingml/2006/main">
            <a:off x="6715125" y="4552950"/>
            <a:ext cx="2238375"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3" name="grade-C">
            <a:extLst xmlns:a="http://schemas.openxmlformats.org/drawingml/2006/main">
              <a:ext uri="{FF2B5EF4-FFF2-40B4-BE49-F238E27FC236}">
                <a16:creationId xmlns:a16="http://schemas.microsoft.com/office/drawing/2014/main" id="{EE5C53BF-6E93-4B41-918D-F27DAD7FBF0E}"/>
              </a:ext>
            </a:extLst>
          </p:cNvPr>
          <p:cNvSpPr>
            <a:spLocks xmlns:a="http://schemas.openxmlformats.org/drawingml/2006/main" noGrp="1"/>
          </p:cNvSpPr>
          <p:nvPr/>
        </p:nvSpPr>
        <p:spPr>
          <a:xfrm xmlns:a="http://schemas.openxmlformats.org/drawingml/2006/main">
            <a:off x="6715125" y="464820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0278"/>
          </a:bodyPr>
          <a:lstStyle xmlns:a="http://schemas.openxmlformats.org/drawingml/2006/main"/>
          <a:p xmlns:a="http://schemas.openxmlformats.org/drawingml/2006/main">
            <a:pPr algn="l">
              <a:buNone/>
              <a:defRPr sz="1425" b="1">
                <a:solidFill>
                  <a:srgbClr val="70AD47"/>
                </a:solidFill>
                <a:latin typeface="微軟正黑體"/>
                <a:ea typeface="微軟正黑體"/>
                <a:cs typeface="微軟正黑體"/>
              </a:defRPr>
            </a:pPr>
            <a:r>
              <a:rPr sz="1800" b="1">
                <a:solidFill>
                  <a:srgbClr val="70AD47"/>
                </a:solidFill>
                <a:latin typeface="微軟正黑體"/>
                <a:ea typeface="微軟正黑體"/>
                <a:cs typeface="微軟正黑體"/>
              </a:rPr>
              <a:t>C級</a:t>
            </a:r>
          </a:p>
        </p:txBody>
      </p:sp>
      <p:sp>
        <p:nvSpPr>
          <p:cNvPr id="14" name="extrema-C">
            <a:extLst xmlns:a="http://schemas.openxmlformats.org/drawingml/2006/main">
              <a:ext uri="{FF2B5EF4-FFF2-40B4-BE49-F238E27FC236}">
                <a16:creationId xmlns:a16="http://schemas.microsoft.com/office/drawing/2014/main" id="{0D22E64E-5E82-4FA4-8374-372D064E35E4}"/>
              </a:ext>
            </a:extLst>
          </p:cNvPr>
          <p:cNvSpPr>
            <a:spLocks xmlns:a="http://schemas.openxmlformats.org/drawingml/2006/main" noGrp="1"/>
          </p:cNvSpPr>
          <p:nvPr/>
        </p:nvSpPr>
        <p:spPr>
          <a:xfrm xmlns:a="http://schemas.openxmlformats.org/drawingml/2006/main">
            <a:off x="6715125" y="4972050"/>
            <a:ext cx="2286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lnSpcReduction="10000"/>
          </a:bodyPr>
          <a:lstStyle xmlns:a="http://schemas.openxmlformats.org/drawingml/2006/main"/>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滿借最高</a:t>
            </a:r>
            <a:r>
              <a:rPr sz="1425">
                <a:solidFill>
                  <a:srgbClr val="17212B"/>
                </a:solidFill>
                <a:latin typeface="微軟正黑體"/>
                <a:ea typeface="微軟正黑體"/>
                <a:cs typeface="微軟正黑體"/>
              </a:rPr>
              <a:t> 19時 41.3%</a:t>
            </a:r>
            <a:endParaRPr sz="1425">
              <a:solidFill>
                <a:srgbClr val="17212B"/>
              </a:solidFill>
              <a:latin typeface="微軟正黑體"/>
              <a:ea typeface="微軟正黑體"/>
              <a:cs typeface="微軟正黑體"/>
            </a:endParaRP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最低</a:t>
            </a:r>
            <a:r>
              <a:rPr sz="1425">
                <a:solidFill>
                  <a:srgbClr val="17212B"/>
                </a:solidFill>
                <a:latin typeface="微軟正黑體"/>
                <a:ea typeface="微軟正黑體"/>
                <a:cs typeface="微軟正黑體"/>
              </a:rPr>
              <a:t> 06時 3.7%</a:t>
            </a: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空還最高</a:t>
            </a:r>
            <a:r>
              <a:rPr sz="1425">
                <a:solidFill>
                  <a:srgbClr val="17212B"/>
                </a:solidFill>
                <a:latin typeface="微軟正黑體"/>
                <a:ea typeface="微軟正黑體"/>
                <a:cs typeface="微軟正黑體"/>
              </a:rPr>
              <a:t> 23時 11.2%</a:t>
            </a:r>
            <a:endParaRPr sz="1425">
              <a:solidFill>
                <a:srgbClr val="17212B"/>
              </a:solidFill>
              <a:latin typeface="微軟正黑體"/>
              <a:ea typeface="微軟正黑體"/>
              <a:cs typeface="微軟正黑體"/>
            </a:endParaRPr>
          </a:p>
          <a:p xmlns:a="http://schemas.openxmlformats.org/drawingml/2006/main">
            <a:pPr>
              <a:lnSpc>
                <a:spcPct val="115000"/>
              </a:lnSpc>
              <a:buNone/>
              <a:defRPr sz="1013">
                <a:solidFill>
                  <a:srgbClr val="17212B"/>
                </a:solidFill>
                <a:latin typeface="微軟正黑體"/>
                <a:ea typeface="微軟正黑體"/>
                <a:cs typeface="微軟正黑體"/>
              </a:defRPr>
            </a:pPr>
            <a:r>
              <a:rPr sz="1425">
                <a:solidFill>
                  <a:srgbClr val="17212B"/>
                </a:solidFill>
                <a:latin typeface="微軟正黑體"/>
                <a:ea typeface="微軟正黑體"/>
                <a:cs typeface="微軟正黑體"/>
              </a:rPr>
              <a:t>最低</a:t>
            </a:r>
            <a:r>
              <a:rPr sz="1425">
                <a:solidFill>
                  <a:srgbClr val="17212B"/>
                </a:solidFill>
                <a:latin typeface="微軟正黑體"/>
                <a:ea typeface="微軟正黑體"/>
                <a:cs typeface="微軟正黑體"/>
              </a:rPr>
              <a:t> 06時 0.6%</a:t>
            </a:r>
          </a:p>
        </p:txBody>
      </p:sp>
      <p:sp>
        <p:nvSpPr>
          <p:cNvPr id="15" name="grade-note">
            <a:extLst xmlns:a="http://schemas.openxmlformats.org/drawingml/2006/main">
              <a:ext uri="{FF2B5EF4-FFF2-40B4-BE49-F238E27FC236}">
                <a16:creationId xmlns:a16="http://schemas.microsoft.com/office/drawing/2014/main" id="{DB8D98F7-26AB-4B6F-AFEE-675FAB2D72B2}"/>
              </a:ext>
            </a:extLst>
          </p:cNvPr>
          <p:cNvSpPr>
            <a:spLocks xmlns:a="http://schemas.openxmlformats.org/drawingml/2006/main" noGrp="1"/>
          </p:cNvSpPr>
          <p:nvPr/>
        </p:nvSpPr>
        <p:spPr>
          <a:xfrm xmlns:a="http://schemas.openxmlformats.org/drawingml/2006/main">
            <a:off x="6715125" y="60579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a:bodyPr>
          <a:lstStyle xmlns:a="http://schemas.openxmlformats.org/drawingml/2006/main"/>
          <a:p xmlns:a="http://schemas.openxmlformats.org/drawingml/2006/main">
            <a:pPr algn="l">
              <a:buNone/>
              <a:defRPr sz="863">
                <a:solidFill>
                  <a:srgbClr val="666666"/>
                </a:solidFill>
                <a:latin typeface="微軟正黑體"/>
                <a:ea typeface="微軟正黑體"/>
                <a:cs typeface="微軟正黑體"/>
              </a:defRPr>
            </a:pPr>
            <a:r>
              <a:rPr sz="1425">
                <a:solidFill>
                  <a:srgbClr val="666666"/>
                </a:solidFill>
                <a:latin typeface="微軟正黑體"/>
                <a:ea typeface="微軟正黑體"/>
                <a:cs typeface="微軟正黑體"/>
              </a:rPr>
              <a:t>新北市分級（日均用量）：A≥100、B 50–99、C&lt;50</a:t>
            </a:r>
          </a:p>
        </p:txBody>
      </p:sp>
      <p:graphicFrame>
        <p:nvGraphicFramePr>
          <p:cNvPr id="31" name="Chart"/>
          <p:cNvGraphicFramePr/>
          <p:nvPr/>
        </p:nvGraphicFramePr>
        <p:xfrm>
          <a:off xmlns:a="http://schemas.openxmlformats.org/drawingml/2006/main" x="142875" y="1238250"/>
          <a:ext xmlns:a="http://schemas.openxmlformats.org/drawingml/2006/main" cx="6334125" cy="2333625"/>
        </p:xfrm>
        <a:graphic xmlns:a="http://schemas.openxmlformats.org/drawingml/2006/main">
          <a:graphicData uri="http://schemas.openxmlformats.org/drawingml/2006/chart">
            <c:chart xmlns:r="http://schemas.openxmlformats.org/officeDocument/2006/relationships" xmlns:c="http://schemas.openxmlformats.org/drawingml/2006/chart" r:id="Rce4e2ce3dba040b9"/>
          </a:graphicData>
        </a:graphic>
      </p:graphicFrame>
      <p:graphicFrame>
        <p:nvGraphicFramePr>
          <p:cNvPr id="32" name="Chart"/>
          <p:cNvGraphicFramePr/>
          <p:nvPr/>
        </p:nvGraphicFramePr>
        <p:xfrm>
          <a:off xmlns:a="http://schemas.openxmlformats.org/drawingml/2006/main" x="142875" y="3676650"/>
          <a:ext xmlns:a="http://schemas.openxmlformats.org/drawingml/2006/main" cx="6334125" cy="2333625"/>
        </p:xfrm>
        <a:graphic xmlns:a="http://schemas.openxmlformats.org/drawingml/2006/main">
          <a:graphicData uri="http://schemas.openxmlformats.org/drawingml/2006/chart">
            <c:chart xmlns:r="http://schemas.openxmlformats.org/officeDocument/2006/relationships" xmlns:c="http://schemas.openxmlformats.org/drawingml/2006/chart" r:id="Raf9683f9e3894378"/>
          </a:graphicData>
        </a:graphic>
      </p:graphicFrame>
    </p:spTree>
    <p:extLst>
      <p:ext uri="{BB962C8B-B14F-4D97-AF65-F5344CB8AC3E}">
        <p14:creationId xmlns:p14="http://schemas.microsoft.com/office/powerpoint/2010/main" val="21008649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band">
            <a:extLst xmlns:a="http://schemas.openxmlformats.org/drawingml/2006/main">
              <a:ext uri="{FF2B5EF4-FFF2-40B4-BE49-F238E27FC236}">
                <a16:creationId xmlns:a16="http://schemas.microsoft.com/office/drawing/2014/main" id="{FA1D926D-57B5-4EFC-BF51-579575CE9A1B}"/>
              </a:ext>
            </a:extLst>
          </p:cNvPr>
          <p:cNvSpPr>
            <a:spLocks xmlns:a="http://schemas.openxmlformats.org/drawingml/2006/main" noGrp="1"/>
          </p:cNvSpPr>
          <p:nvPr/>
        </p:nvSpPr>
        <p:spPr>
          <a:xfrm xmlns:a="http://schemas.openxmlformats.org/drawingml/2006/main">
            <a:off x="0" y="0"/>
            <a:ext cx="9144000" cy="900113"/>
          </a:xfrm>
          <a:prstGeom xmlns:a="http://schemas.openxmlformats.org/drawingml/2006/main" prst="rect">
            <a:avLst/>
          </a:prstGeom>
          <a:solidFill xmlns:a="http://schemas.openxmlformats.org/drawingml/2006/main">
            <a:srgbClr val="FFD243"/>
          </a:solidFill>
          <a:ln xmlns:a="http://schemas.openxmlformats.org/drawingml/2006/main" w="0">
            <a:noFill/>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defRPr sz="3600" b="1">
                <a:solidFill>
                  <a:srgbClr val="404040"/>
                </a:solidFill>
                <a:latin typeface="微軟正黑體"/>
                <a:ea typeface="微軟正黑體"/>
                <a:cs typeface="微軟正黑體"/>
              </a:defRPr>
            </a:pPr>
            <a:r>
              <a:rPr sz="3600" b="1">
                <a:solidFill>
                  <a:srgbClr val="404040"/>
                </a:solidFill>
                <a:latin typeface="微軟正黑體"/>
                <a:ea typeface="微軟正黑體"/>
                <a:cs typeface="微軟正黑體"/>
              </a:rPr>
              <a:t>九、新北調度行為與友愛接力比較</a:t>
            </a:r>
          </a:p>
        </p:txBody>
      </p:sp>
      <p:sp>
        <p:nvSpPr>
          <p:cNvPr id="2" name="page-number">
            <a:extLst xmlns:a="http://schemas.openxmlformats.org/drawingml/2006/main">
              <a:ext uri="{FF2B5EF4-FFF2-40B4-BE49-F238E27FC236}">
                <a16:creationId xmlns:a16="http://schemas.microsoft.com/office/drawing/2014/main" id="{B782DD11-7D64-46CB-A16A-00D9FBF481A7}"/>
              </a:ext>
            </a:extLst>
          </p:cNvPr>
          <p:cNvSpPr>
            <a:spLocks xmlns:a="http://schemas.openxmlformats.org/drawingml/2006/main" noGrp="1"/>
          </p:cNvSpPr>
          <p:nvPr/>
        </p:nvSpPr>
        <p:spPr>
          <a:xfrm xmlns:a="http://schemas.openxmlformats.org/drawingml/2006/main">
            <a:off x="8458200"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buNone/>
              <a:defRPr sz="1500" b="0">
                <a:solidFill>
                  <a:srgbClr val="666666"/>
                </a:solidFill>
                <a:latin typeface="微軟正黑體"/>
                <a:ea typeface="微軟正黑體"/>
                <a:cs typeface="微軟正黑體"/>
              </a:defRPr>
            </a:pPr>
            <a:r>
              <a:rPr sz="1500" b="0">
                <a:solidFill>
                  <a:srgbClr val="666666"/>
                </a:solidFill>
                <a:latin typeface="微軟正黑體"/>
                <a:ea typeface="微軟正黑體"/>
                <a:cs typeface="微軟正黑體"/>
              </a:rPr>
              <a:t>10</a:t>
            </a:r>
          </a:p>
        </p:txBody>
      </p:sp>
      <p:sp>
        <p:nvSpPr>
          <p:cNvPr id="17" name="station-count-scope">
            <a:extLst xmlns:a="http://schemas.openxmlformats.org/drawingml/2006/main">
              <a:ext uri="{FF2B5EF4-FFF2-40B4-BE49-F238E27FC236}">
                <a16:creationId xmlns:a16="http://schemas.microsoft.com/office/drawing/2014/main" id="{4B8E49EB-C185-418A-9605-5482389E0771}"/>
              </a:ext>
            </a:extLst>
          </p:cNvPr>
          <p:cNvSpPr>
            <a:spLocks xmlns:a="http://schemas.openxmlformats.org/drawingml/2006/main" noGrp="1"/>
          </p:cNvSpPr>
          <p:nvPr/>
        </p:nvSpPr>
        <p:spPr>
          <a:xfrm xmlns:a="http://schemas.openxmlformats.org/drawingml/2006/main">
            <a:off x="238125" y="923925"/>
            <a:ext cx="866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Autofit/>
          </a:bodyPr>
          <a:lstStyle xmlns:a="http://schemas.openxmlformats.org/drawingml/2006/main"/>
          <a:p xmlns:a="http://schemas.openxmlformats.org/drawingml/2006/main">
            <a:pPr algn="ctr">
              <a:defRPr sz="1500" b="0">
                <a:solidFill>
                  <a:srgbClr val="666666"/>
                </a:solidFill>
                <a:latin typeface="微軟正黑體"/>
                <a:ea typeface="微軟正黑體"/>
                <a:cs typeface="微軟正黑體"/>
              </a:defRPr>
            </a:pPr>
            <a:r>
              <a:rPr sz="1500" b="0">
                <a:solidFill>
                  <a:srgbClr val="666666"/>
                </a:solidFill>
                <a:latin typeface="微軟正黑體"/>
                <a:ea typeface="微軟正黑體"/>
                <a:cs typeface="微軟正黑體"/>
              </a:rPr>
              <a:t>調度線取43個平日樣本單日最大值，友愛接力虛線取43日每日平均值</a:t>
            </a:r>
          </a:p>
        </p:txBody>
      </p:sp>
      <p:sp>
        <p:nvSpPr>
          <p:cNvPr id="18" name="v12-chart-title-滿借">
            <a:extLst xmlns:a="http://schemas.openxmlformats.org/drawingml/2006/main">
              <a:ext uri="{FF2B5EF4-FFF2-40B4-BE49-F238E27FC236}">
                <a16:creationId xmlns:a16="http://schemas.microsoft.com/office/drawing/2014/main" id="{4F11FFDA-DB8A-4953-8046-47789C8246F9}"/>
              </a:ext>
            </a:extLst>
          </p:cNvPr>
          <p:cNvSpPr>
            <a:spLocks xmlns:a="http://schemas.openxmlformats.org/drawingml/2006/main" noGrp="1"/>
          </p:cNvSpPr>
          <p:nvPr/>
        </p:nvSpPr>
        <p:spPr>
          <a:xfrm xmlns:a="http://schemas.openxmlformats.org/drawingml/2006/main">
            <a:off x="381000" y="1200150"/>
            <a:ext cx="838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00" b="1">
                <a:solidFill>
                  <a:srgbClr val="404040"/>
                </a:solidFill>
                <a:latin typeface="微軟正黑體"/>
                <a:ea typeface="微軟正黑體"/>
                <a:cs typeface="微軟正黑體"/>
              </a:defRPr>
            </a:pPr>
            <a:r>
              <a:rPr sz="2200" b="1">
                <a:solidFill>
                  <a:srgbClr val="404040"/>
                </a:solidFill>
                <a:latin typeface="微軟正黑體"/>
                <a:ea typeface="微軟正黑體"/>
                <a:cs typeface="微軟正黑體"/>
              </a:rPr>
              <a:t>滿借場站數與調出、綁車場站數</a:t>
            </a:r>
          </a:p>
        </p:txBody>
      </p:sp>
      <p:sp>
        <p:nvSpPr>
          <p:cNvPr id="19" name="v12-legend-滿借-grade-label">
            <a:extLst xmlns:a="http://schemas.openxmlformats.org/drawingml/2006/main">
              <a:ext uri="{FF2B5EF4-FFF2-40B4-BE49-F238E27FC236}">
                <a16:creationId xmlns:a16="http://schemas.microsoft.com/office/drawing/2014/main" id="{2B36FDC3-1A5A-4025-AD76-C37036055933}"/>
              </a:ext>
            </a:extLst>
          </p:cNvPr>
          <p:cNvSpPr>
            <a:spLocks xmlns:a="http://schemas.openxmlformats.org/drawingml/2006/main" noGrp="1"/>
          </p:cNvSpPr>
          <p:nvPr/>
        </p:nvSpPr>
        <p:spPr>
          <a:xfrm xmlns:a="http://schemas.openxmlformats.org/drawingml/2006/main">
            <a:off x="381000" y="1533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1">
                <a:solidFill>
                  <a:srgbClr val="404040"/>
                </a:solidFill>
                <a:latin typeface="微軟正黑體"/>
                <a:ea typeface="微軟正黑體"/>
                <a:cs typeface="微軟正黑體"/>
              </a:defRPr>
            </a:pPr>
            <a:r>
              <a:rPr sz="1600" b="1">
                <a:solidFill>
                  <a:srgbClr val="404040"/>
                </a:solidFill>
                <a:latin typeface="微軟正黑體"/>
                <a:ea typeface="微軟正黑體"/>
                <a:cs typeface="微軟正黑體"/>
              </a:rPr>
              <a:t>級別</a:t>
            </a:r>
          </a:p>
        </p:txBody>
      </p:sp>
      <p:sp>
        <p:nvSpPr>
          <p:cNvPr id="20" name="v12-legend-滿借-grade-A">
            <a:extLst xmlns:a="http://schemas.openxmlformats.org/drawingml/2006/main">
              <a:ext uri="{FF2B5EF4-FFF2-40B4-BE49-F238E27FC236}">
                <a16:creationId xmlns:a16="http://schemas.microsoft.com/office/drawing/2014/main" id="{DA72F318-9699-4571-9D76-3024AB11FBF3}"/>
              </a:ext>
            </a:extLst>
          </p:cNvPr>
          <p:cNvSpPr>
            <a:spLocks xmlns:a="http://schemas.openxmlformats.org/drawingml/2006/main" noGrp="1"/>
          </p:cNvSpPr>
          <p:nvPr/>
        </p:nvSpPr>
        <p:spPr>
          <a:xfrm xmlns:a="http://schemas.openxmlformats.org/drawingml/2006/main">
            <a:off x="876300" y="1590675"/>
            <a:ext cx="114300" cy="114300"/>
          </a:xfrm>
          <a:prstGeom xmlns:a="http://schemas.openxmlformats.org/drawingml/2006/main" prst="ellipse">
            <a:avLst/>
          </a:prstGeom>
          <a:solidFill xmlns:a="http://schemas.openxmlformats.org/drawingml/2006/main">
            <a:srgbClr val="4472C4"/>
          </a:solidFill>
          <a:ln xmlns:a="http://schemas.openxmlformats.org/drawingml/2006/main" w="9525">
            <a:solidFill>
              <a:srgbClr val="4472C4"/>
            </a:solidFill>
            <a:prstDash val="solid"/>
          </a:ln>
        </p:spPr>
      </p:sp>
      <p:sp>
        <p:nvSpPr>
          <p:cNvPr id="21" name="v12-legend-滿借-grade-A-text">
            <a:extLst xmlns:a="http://schemas.openxmlformats.org/drawingml/2006/main">
              <a:ext uri="{FF2B5EF4-FFF2-40B4-BE49-F238E27FC236}">
                <a16:creationId xmlns:a16="http://schemas.microsoft.com/office/drawing/2014/main" id="{B8E94159-91FB-44DD-A97B-C3DAAFE82C65}"/>
              </a:ext>
            </a:extLst>
          </p:cNvPr>
          <p:cNvSpPr>
            <a:spLocks xmlns:a="http://schemas.openxmlformats.org/drawingml/2006/main" noGrp="1"/>
          </p:cNvSpPr>
          <p:nvPr/>
        </p:nvSpPr>
        <p:spPr>
          <a:xfrm xmlns:a="http://schemas.openxmlformats.org/drawingml/2006/main">
            <a:off x="1038225" y="15335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A級</a:t>
            </a:r>
          </a:p>
        </p:txBody>
      </p:sp>
      <p:sp>
        <p:nvSpPr>
          <p:cNvPr id="22" name="v12-legend-滿借-grade-B">
            <a:extLst xmlns:a="http://schemas.openxmlformats.org/drawingml/2006/main">
              <a:ext uri="{FF2B5EF4-FFF2-40B4-BE49-F238E27FC236}">
                <a16:creationId xmlns:a16="http://schemas.microsoft.com/office/drawing/2014/main" id="{9E8D8B29-61C4-41A2-9014-AF746487250F}"/>
              </a:ext>
            </a:extLst>
          </p:cNvPr>
          <p:cNvSpPr>
            <a:spLocks xmlns:a="http://schemas.openxmlformats.org/drawingml/2006/main" noGrp="1"/>
          </p:cNvSpPr>
          <p:nvPr/>
        </p:nvSpPr>
        <p:spPr>
          <a:xfrm xmlns:a="http://schemas.openxmlformats.org/drawingml/2006/main">
            <a:off x="1562100" y="1590675"/>
            <a:ext cx="114300" cy="114300"/>
          </a:xfrm>
          <a:prstGeom xmlns:a="http://schemas.openxmlformats.org/drawingml/2006/main" prst="ellipse">
            <a:avLst/>
          </a:prstGeom>
          <a:solidFill xmlns:a="http://schemas.openxmlformats.org/drawingml/2006/main">
            <a:srgbClr val="ED7D31"/>
          </a:solidFill>
          <a:ln xmlns:a="http://schemas.openxmlformats.org/drawingml/2006/main" w="9525">
            <a:solidFill>
              <a:srgbClr val="ED7D31"/>
            </a:solidFill>
            <a:prstDash val="solid"/>
          </a:ln>
        </p:spPr>
      </p:sp>
      <p:sp>
        <p:nvSpPr>
          <p:cNvPr id="23" name="v12-legend-滿借-grade-B-text">
            <a:extLst xmlns:a="http://schemas.openxmlformats.org/drawingml/2006/main">
              <a:ext uri="{FF2B5EF4-FFF2-40B4-BE49-F238E27FC236}">
                <a16:creationId xmlns:a16="http://schemas.microsoft.com/office/drawing/2014/main" id="{64382BFE-60DF-49B5-8F0F-C70FBD06131E}"/>
              </a:ext>
            </a:extLst>
          </p:cNvPr>
          <p:cNvSpPr>
            <a:spLocks xmlns:a="http://schemas.openxmlformats.org/drawingml/2006/main" noGrp="1"/>
          </p:cNvSpPr>
          <p:nvPr/>
        </p:nvSpPr>
        <p:spPr>
          <a:xfrm xmlns:a="http://schemas.openxmlformats.org/drawingml/2006/main">
            <a:off x="1724025" y="15335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B級</a:t>
            </a:r>
          </a:p>
        </p:txBody>
      </p:sp>
      <p:sp>
        <p:nvSpPr>
          <p:cNvPr id="24" name="v12-legend-滿借-grade-C">
            <a:extLst xmlns:a="http://schemas.openxmlformats.org/drawingml/2006/main">
              <a:ext uri="{FF2B5EF4-FFF2-40B4-BE49-F238E27FC236}">
                <a16:creationId xmlns:a16="http://schemas.microsoft.com/office/drawing/2014/main" id="{32BC5534-0FF6-4502-9BD6-7E9A1D7FB7F1}"/>
              </a:ext>
            </a:extLst>
          </p:cNvPr>
          <p:cNvSpPr>
            <a:spLocks xmlns:a="http://schemas.openxmlformats.org/drawingml/2006/main" noGrp="1"/>
          </p:cNvSpPr>
          <p:nvPr/>
        </p:nvSpPr>
        <p:spPr>
          <a:xfrm xmlns:a="http://schemas.openxmlformats.org/drawingml/2006/main">
            <a:off x="2247900" y="1590675"/>
            <a:ext cx="114300" cy="114300"/>
          </a:xfrm>
          <a:prstGeom xmlns:a="http://schemas.openxmlformats.org/drawingml/2006/main" prst="ellipse">
            <a:avLst/>
          </a:prstGeom>
          <a:solidFill xmlns:a="http://schemas.openxmlformats.org/drawingml/2006/main">
            <a:srgbClr val="70AD47"/>
          </a:solidFill>
          <a:ln xmlns:a="http://schemas.openxmlformats.org/drawingml/2006/main" w="9525">
            <a:solidFill>
              <a:srgbClr val="70AD47"/>
            </a:solidFill>
            <a:prstDash val="solid"/>
          </a:ln>
        </p:spPr>
      </p:sp>
      <p:sp>
        <p:nvSpPr>
          <p:cNvPr id="25" name="v12-legend-滿借-grade-C-text">
            <a:extLst xmlns:a="http://schemas.openxmlformats.org/drawingml/2006/main">
              <a:ext uri="{FF2B5EF4-FFF2-40B4-BE49-F238E27FC236}">
                <a16:creationId xmlns:a16="http://schemas.microsoft.com/office/drawing/2014/main" id="{876BE6E0-345F-4BDD-9DA7-B1B457993CCD}"/>
              </a:ext>
            </a:extLst>
          </p:cNvPr>
          <p:cNvSpPr>
            <a:spLocks xmlns:a="http://schemas.openxmlformats.org/drawingml/2006/main" noGrp="1"/>
          </p:cNvSpPr>
          <p:nvPr/>
        </p:nvSpPr>
        <p:spPr>
          <a:xfrm xmlns:a="http://schemas.openxmlformats.org/drawingml/2006/main">
            <a:off x="2409825" y="15335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C級</a:t>
            </a:r>
          </a:p>
        </p:txBody>
      </p:sp>
      <p:sp>
        <p:nvSpPr>
          <p:cNvPr id="26" name="v12-legend-滿借-divider">
            <a:extLst xmlns:a="http://schemas.openxmlformats.org/drawingml/2006/main">
              <a:ext uri="{FF2B5EF4-FFF2-40B4-BE49-F238E27FC236}">
                <a16:creationId xmlns:a16="http://schemas.microsoft.com/office/drawing/2014/main" id="{004DEF43-EF9E-4D74-9515-B1C1CB293448}"/>
              </a:ext>
            </a:extLst>
          </p:cNvPr>
          <p:cNvSpPr>
            <a:spLocks xmlns:a="http://schemas.openxmlformats.org/drawingml/2006/main" noGrp="1"/>
          </p:cNvSpPr>
          <p:nvPr/>
        </p:nvSpPr>
        <p:spPr>
          <a:xfrm xmlns:a="http://schemas.openxmlformats.org/drawingml/2006/main">
            <a:off x="3009900" y="1552575"/>
            <a:ext cx="0" cy="19050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27" name="v12-legend-滿借-behavior-label">
            <a:extLst xmlns:a="http://schemas.openxmlformats.org/drawingml/2006/main">
              <a:ext uri="{FF2B5EF4-FFF2-40B4-BE49-F238E27FC236}">
                <a16:creationId xmlns:a16="http://schemas.microsoft.com/office/drawing/2014/main" id="{97D43204-929B-4A4F-99EC-C2C6D881097C}"/>
              </a:ext>
            </a:extLst>
          </p:cNvPr>
          <p:cNvSpPr>
            <a:spLocks xmlns:a="http://schemas.openxmlformats.org/drawingml/2006/main" noGrp="1"/>
          </p:cNvSpPr>
          <p:nvPr/>
        </p:nvSpPr>
        <p:spPr>
          <a:xfrm xmlns:a="http://schemas.openxmlformats.org/drawingml/2006/main">
            <a:off x="3181350" y="1533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1">
                <a:solidFill>
                  <a:srgbClr val="404040"/>
                </a:solidFill>
                <a:latin typeface="微軟正黑體"/>
                <a:ea typeface="微軟正黑體"/>
                <a:cs typeface="微軟正黑體"/>
              </a:defRPr>
            </a:pPr>
            <a:r>
              <a:rPr sz="1600" b="1">
                <a:solidFill>
                  <a:srgbClr val="404040"/>
                </a:solidFill>
                <a:latin typeface="微軟正黑體"/>
                <a:ea typeface="微軟正黑體"/>
                <a:cs typeface="微軟正黑體"/>
              </a:rPr>
              <a:t>行為</a:t>
            </a:r>
          </a:p>
        </p:txBody>
      </p:sp>
      <p:sp>
        <p:nvSpPr>
          <p:cNvPr id="28" name="v12-legend-滿借-action-0-line">
            <a:extLst xmlns:a="http://schemas.openxmlformats.org/drawingml/2006/main">
              <a:ext uri="{FF2B5EF4-FFF2-40B4-BE49-F238E27FC236}">
                <a16:creationId xmlns:a16="http://schemas.microsoft.com/office/drawing/2014/main" id="{08DDFE17-5963-4EBC-AF0E-60F454D0D034}"/>
              </a:ext>
            </a:extLst>
          </p:cNvPr>
          <p:cNvSpPr>
            <a:spLocks xmlns:a="http://schemas.openxmlformats.org/drawingml/2006/main" noGrp="1"/>
          </p:cNvSpPr>
          <p:nvPr/>
        </p:nvSpPr>
        <p:spPr>
          <a:xfrm xmlns:a="http://schemas.openxmlformats.org/drawingml/2006/main">
            <a:off x="3714750" y="1647825"/>
            <a:ext cx="419100" cy="0"/>
          </a:xfrm>
          <a:prstGeom xmlns:a="http://schemas.openxmlformats.org/drawingml/2006/main" prst="line">
            <a:avLst/>
          </a:prstGeom>
          <a:noFill xmlns:a="http://schemas.openxmlformats.org/drawingml/2006/main"/>
          <a:ln xmlns:a="http://schemas.openxmlformats.org/drawingml/2006/main" w="38100">
            <a:solidFill>
              <a:srgbClr val="595959"/>
            </a:solidFill>
            <a:prstDash val="solid"/>
          </a:ln>
        </p:spPr>
      </p:sp>
      <p:sp>
        <p:nvSpPr>
          <p:cNvPr id="29" name="v12-legend-滿借-action-0-marker">
            <a:extLst xmlns:a="http://schemas.openxmlformats.org/drawingml/2006/main">
              <a:ext uri="{FF2B5EF4-FFF2-40B4-BE49-F238E27FC236}">
                <a16:creationId xmlns:a16="http://schemas.microsoft.com/office/drawing/2014/main" id="{45B56950-11E6-4126-9BD5-5F679226DAB4}"/>
              </a:ext>
            </a:extLst>
          </p:cNvPr>
          <p:cNvSpPr>
            <a:spLocks xmlns:a="http://schemas.openxmlformats.org/drawingml/2006/main" noGrp="1"/>
          </p:cNvSpPr>
          <p:nvPr/>
        </p:nvSpPr>
        <p:spPr>
          <a:xfrm xmlns:a="http://schemas.openxmlformats.org/drawingml/2006/main">
            <a:off x="3886200" y="1600200"/>
            <a:ext cx="95250" cy="95250"/>
          </a:xfrm>
          <a:prstGeom xmlns:a="http://schemas.openxmlformats.org/drawingml/2006/main" prst="ellipse">
            <a:avLst/>
          </a:prstGeom>
          <a:solidFill xmlns:a="http://schemas.openxmlformats.org/drawingml/2006/main">
            <a:srgbClr val="595959"/>
          </a:solidFill>
          <a:ln xmlns:a="http://schemas.openxmlformats.org/drawingml/2006/main" w="9525">
            <a:solidFill>
              <a:srgbClr val="595959"/>
            </a:solidFill>
            <a:prstDash val="solid"/>
          </a:ln>
        </p:spPr>
      </p:sp>
      <p:sp>
        <p:nvSpPr>
          <p:cNvPr id="30" name="v12-legend-滿借-action-0-text">
            <a:extLst xmlns:a="http://schemas.openxmlformats.org/drawingml/2006/main">
              <a:ext uri="{FF2B5EF4-FFF2-40B4-BE49-F238E27FC236}">
                <a16:creationId xmlns:a16="http://schemas.microsoft.com/office/drawing/2014/main" id="{AB22FB4D-877A-4A1B-A724-2B80B4B17784}"/>
              </a:ext>
            </a:extLst>
          </p:cNvPr>
          <p:cNvSpPr>
            <a:spLocks xmlns:a="http://schemas.openxmlformats.org/drawingml/2006/main" noGrp="1"/>
          </p:cNvSpPr>
          <p:nvPr/>
        </p:nvSpPr>
        <p:spPr>
          <a:xfrm xmlns:a="http://schemas.openxmlformats.org/drawingml/2006/main">
            <a:off x="4200525" y="1533525"/>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調出</a:t>
            </a:r>
          </a:p>
        </p:txBody>
      </p:sp>
      <p:sp>
        <p:nvSpPr>
          <p:cNvPr id="31" name="v12-legend-滿借-action-1-line">
            <a:extLst xmlns:a="http://schemas.openxmlformats.org/drawingml/2006/main">
              <a:ext uri="{FF2B5EF4-FFF2-40B4-BE49-F238E27FC236}">
                <a16:creationId xmlns:a16="http://schemas.microsoft.com/office/drawing/2014/main" id="{75F00F8A-48F8-4F05-A7E1-E8EE9AC1CD90}"/>
              </a:ext>
            </a:extLst>
          </p:cNvPr>
          <p:cNvSpPr>
            <a:spLocks xmlns:a="http://schemas.openxmlformats.org/drawingml/2006/main" noGrp="1"/>
          </p:cNvSpPr>
          <p:nvPr/>
        </p:nvSpPr>
        <p:spPr>
          <a:xfrm xmlns:a="http://schemas.openxmlformats.org/drawingml/2006/main">
            <a:off x="5143500" y="1647825"/>
            <a:ext cx="419100" cy="0"/>
          </a:xfrm>
          <a:prstGeom xmlns:a="http://schemas.openxmlformats.org/drawingml/2006/main" prst="line">
            <a:avLst/>
          </a:prstGeom>
          <a:noFill xmlns:a="http://schemas.openxmlformats.org/drawingml/2006/main"/>
          <a:ln xmlns:a="http://schemas.openxmlformats.org/drawingml/2006/main" w="21431">
            <a:solidFill>
              <a:srgbClr val="595959"/>
            </a:solidFill>
            <a:prstDash val="solid"/>
          </a:ln>
        </p:spPr>
      </p:sp>
      <p:sp>
        <p:nvSpPr>
          <p:cNvPr id="32" name="v12-legend-滿借-action-1-marker">
            <a:extLst xmlns:a="http://schemas.openxmlformats.org/drawingml/2006/main">
              <a:ext uri="{FF2B5EF4-FFF2-40B4-BE49-F238E27FC236}">
                <a16:creationId xmlns:a16="http://schemas.microsoft.com/office/drawing/2014/main" id="{7367D1F8-0B59-4122-98F5-48A574E8EA20}"/>
              </a:ext>
            </a:extLst>
          </p:cNvPr>
          <p:cNvSpPr>
            <a:spLocks xmlns:a="http://schemas.openxmlformats.org/drawingml/2006/main" noGrp="1"/>
          </p:cNvSpPr>
          <p:nvPr/>
        </p:nvSpPr>
        <p:spPr>
          <a:xfrm xmlns:a="http://schemas.openxmlformats.org/drawingml/2006/main">
            <a:off x="5314950" y="1600200"/>
            <a:ext cx="95250" cy="95250"/>
          </a:xfrm>
          <a:prstGeom xmlns:a="http://schemas.openxmlformats.org/drawingml/2006/main" prst="diamond">
            <a:avLst/>
          </a:prstGeom>
          <a:solidFill xmlns:a="http://schemas.openxmlformats.org/drawingml/2006/main">
            <a:srgbClr val="595959"/>
          </a:solidFill>
          <a:ln xmlns:a="http://schemas.openxmlformats.org/drawingml/2006/main" w="9525">
            <a:solidFill>
              <a:srgbClr val="595959"/>
            </a:solidFill>
            <a:prstDash val="solid"/>
          </a:ln>
        </p:spPr>
      </p:sp>
      <p:sp>
        <p:nvSpPr>
          <p:cNvPr id="33" name="v12-legend-滿借-action-1-text">
            <a:extLst xmlns:a="http://schemas.openxmlformats.org/drawingml/2006/main">
              <a:ext uri="{FF2B5EF4-FFF2-40B4-BE49-F238E27FC236}">
                <a16:creationId xmlns:a16="http://schemas.microsoft.com/office/drawing/2014/main" id="{2803CEA6-E1DE-43E5-9D58-C5CBD454B50B}"/>
              </a:ext>
            </a:extLst>
          </p:cNvPr>
          <p:cNvSpPr>
            <a:spLocks xmlns:a="http://schemas.openxmlformats.org/drawingml/2006/main" noGrp="1"/>
          </p:cNvSpPr>
          <p:nvPr/>
        </p:nvSpPr>
        <p:spPr>
          <a:xfrm xmlns:a="http://schemas.openxmlformats.org/drawingml/2006/main">
            <a:off x="5629275" y="1533525"/>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綁車</a:t>
            </a:r>
          </a:p>
        </p:txBody>
      </p:sp>
      <p:sp>
        <p:nvSpPr>
          <p:cNvPr id="34" name="v12-legend-滿借-action-2-line">
            <a:extLst xmlns:a="http://schemas.openxmlformats.org/drawingml/2006/main">
              <a:ext uri="{FF2B5EF4-FFF2-40B4-BE49-F238E27FC236}">
                <a16:creationId xmlns:a16="http://schemas.microsoft.com/office/drawing/2014/main" id="{93FB7140-0930-4A39-AC70-80CCEC06F571}"/>
              </a:ext>
            </a:extLst>
          </p:cNvPr>
          <p:cNvSpPr>
            <a:spLocks xmlns:a="http://schemas.openxmlformats.org/drawingml/2006/main" noGrp="1"/>
          </p:cNvSpPr>
          <p:nvPr/>
        </p:nvSpPr>
        <p:spPr>
          <a:xfrm xmlns:a="http://schemas.openxmlformats.org/drawingml/2006/main">
            <a:off x="6667500" y="1647825"/>
            <a:ext cx="419100" cy="0"/>
          </a:xfrm>
          <a:prstGeom xmlns:a="http://schemas.openxmlformats.org/drawingml/2006/main" prst="line">
            <a:avLst/>
          </a:prstGeom>
          <a:noFill xmlns:a="http://schemas.openxmlformats.org/drawingml/2006/main"/>
          <a:ln xmlns:a="http://schemas.openxmlformats.org/drawingml/2006/main" w="28575">
            <a:solidFill>
              <a:srgbClr val="595959"/>
            </a:solidFill>
            <a:prstDash val="dash"/>
          </a:ln>
        </p:spPr>
      </p:sp>
      <p:sp>
        <p:nvSpPr>
          <p:cNvPr id="35" name="v12-legend-滿借-action-2-text">
            <a:extLst xmlns:a="http://schemas.openxmlformats.org/drawingml/2006/main">
              <a:ext uri="{FF2B5EF4-FFF2-40B4-BE49-F238E27FC236}">
                <a16:creationId xmlns:a16="http://schemas.microsoft.com/office/drawing/2014/main" id="{CE2DE5F7-5CA7-4307-93E6-BF9C26F4318F}"/>
              </a:ext>
            </a:extLst>
          </p:cNvPr>
          <p:cNvSpPr>
            <a:spLocks xmlns:a="http://schemas.openxmlformats.org/drawingml/2006/main" noGrp="1"/>
          </p:cNvSpPr>
          <p:nvPr/>
        </p:nvSpPr>
        <p:spPr>
          <a:xfrm xmlns:a="http://schemas.openxmlformats.org/drawingml/2006/main">
            <a:off x="7153275" y="1533525"/>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滿借</a:t>
            </a:r>
          </a:p>
        </p:txBody>
      </p:sp>
      <p:graphicFrame>
        <p:nvGraphicFramePr>
          <p:cNvPr id="77" name="Chart"/>
          <p:cNvGraphicFramePr/>
          <p:nvPr/>
        </p:nvGraphicFramePr>
        <p:xfrm>
          <a:off xmlns:a="http://schemas.openxmlformats.org/drawingml/2006/main" x="381000" y="1809750"/>
          <a:ext xmlns:a="http://schemas.openxmlformats.org/drawingml/2006/main" cx="8382000" cy="1828800"/>
        </p:xfrm>
        <a:graphic xmlns:a="http://schemas.openxmlformats.org/drawingml/2006/main">
          <a:graphicData uri="http://schemas.openxmlformats.org/drawingml/2006/chart">
            <c:chart xmlns:r="http://schemas.openxmlformats.org/officeDocument/2006/relationships" xmlns:c="http://schemas.openxmlformats.org/drawingml/2006/chart" r:id="Rd209a69978a24b91"/>
          </a:graphicData>
        </a:graphic>
      </p:graphicFrame>
      <p:sp>
        <p:nvSpPr>
          <p:cNvPr id="37" name="v12-chart-title-空還">
            <a:extLst xmlns:a="http://schemas.openxmlformats.org/drawingml/2006/main">
              <a:ext uri="{FF2B5EF4-FFF2-40B4-BE49-F238E27FC236}">
                <a16:creationId xmlns:a16="http://schemas.microsoft.com/office/drawing/2014/main" id="{00F33F71-056F-46A5-B603-8F3914D1EADA}"/>
              </a:ext>
            </a:extLst>
          </p:cNvPr>
          <p:cNvSpPr>
            <a:spLocks xmlns:a="http://schemas.openxmlformats.org/drawingml/2006/main" noGrp="1"/>
          </p:cNvSpPr>
          <p:nvPr/>
        </p:nvSpPr>
        <p:spPr>
          <a:xfrm xmlns:a="http://schemas.openxmlformats.org/drawingml/2006/main">
            <a:off x="381000" y="3676650"/>
            <a:ext cx="838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00" b="1">
                <a:solidFill>
                  <a:srgbClr val="404040"/>
                </a:solidFill>
                <a:latin typeface="微軟正黑體"/>
                <a:ea typeface="微軟正黑體"/>
                <a:cs typeface="微軟正黑體"/>
              </a:defRPr>
            </a:pPr>
            <a:r>
              <a:rPr sz="2200" b="1">
                <a:solidFill>
                  <a:srgbClr val="404040"/>
                </a:solidFill>
                <a:latin typeface="微軟正黑體"/>
                <a:ea typeface="微軟正黑體"/>
                <a:cs typeface="微軟正黑體"/>
              </a:rPr>
              <a:t>空還場站數與調入、解綁車場站數</a:t>
            </a:r>
          </a:p>
        </p:txBody>
      </p:sp>
      <p:sp>
        <p:nvSpPr>
          <p:cNvPr id="38" name="v12-legend-空還-grade-label">
            <a:extLst xmlns:a="http://schemas.openxmlformats.org/drawingml/2006/main">
              <a:ext uri="{FF2B5EF4-FFF2-40B4-BE49-F238E27FC236}">
                <a16:creationId xmlns:a16="http://schemas.microsoft.com/office/drawing/2014/main" id="{CF1E1A1B-D578-4D4F-9316-1084AA0DB696}"/>
              </a:ext>
            </a:extLst>
          </p:cNvPr>
          <p:cNvSpPr>
            <a:spLocks xmlns:a="http://schemas.openxmlformats.org/drawingml/2006/main" noGrp="1"/>
          </p:cNvSpPr>
          <p:nvPr/>
        </p:nvSpPr>
        <p:spPr>
          <a:xfrm xmlns:a="http://schemas.openxmlformats.org/drawingml/2006/main">
            <a:off x="381000" y="40100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1">
                <a:solidFill>
                  <a:srgbClr val="404040"/>
                </a:solidFill>
                <a:latin typeface="微軟正黑體"/>
                <a:ea typeface="微軟正黑體"/>
                <a:cs typeface="微軟正黑體"/>
              </a:defRPr>
            </a:pPr>
            <a:r>
              <a:rPr sz="1600" b="1">
                <a:solidFill>
                  <a:srgbClr val="404040"/>
                </a:solidFill>
                <a:latin typeface="微軟正黑體"/>
                <a:ea typeface="微軟正黑體"/>
                <a:cs typeface="微軟正黑體"/>
              </a:rPr>
              <a:t>級別</a:t>
            </a:r>
          </a:p>
        </p:txBody>
      </p:sp>
      <p:sp>
        <p:nvSpPr>
          <p:cNvPr id="39" name="v12-legend-空還-grade-A">
            <a:extLst xmlns:a="http://schemas.openxmlformats.org/drawingml/2006/main">
              <a:ext uri="{FF2B5EF4-FFF2-40B4-BE49-F238E27FC236}">
                <a16:creationId xmlns:a16="http://schemas.microsoft.com/office/drawing/2014/main" id="{C288C4DF-4D01-4D92-B379-C5419FAF9AE8}"/>
              </a:ext>
            </a:extLst>
          </p:cNvPr>
          <p:cNvSpPr>
            <a:spLocks xmlns:a="http://schemas.openxmlformats.org/drawingml/2006/main" noGrp="1"/>
          </p:cNvSpPr>
          <p:nvPr/>
        </p:nvSpPr>
        <p:spPr>
          <a:xfrm xmlns:a="http://schemas.openxmlformats.org/drawingml/2006/main">
            <a:off x="876300" y="4067175"/>
            <a:ext cx="114300" cy="114300"/>
          </a:xfrm>
          <a:prstGeom xmlns:a="http://schemas.openxmlformats.org/drawingml/2006/main" prst="ellipse">
            <a:avLst/>
          </a:prstGeom>
          <a:solidFill xmlns:a="http://schemas.openxmlformats.org/drawingml/2006/main">
            <a:srgbClr val="4472C4"/>
          </a:solidFill>
          <a:ln xmlns:a="http://schemas.openxmlformats.org/drawingml/2006/main" w="9525">
            <a:solidFill>
              <a:srgbClr val="4472C4"/>
            </a:solidFill>
            <a:prstDash val="solid"/>
          </a:ln>
        </p:spPr>
      </p:sp>
      <p:sp>
        <p:nvSpPr>
          <p:cNvPr id="40" name="v12-legend-空還-grade-A-text">
            <a:extLst xmlns:a="http://schemas.openxmlformats.org/drawingml/2006/main">
              <a:ext uri="{FF2B5EF4-FFF2-40B4-BE49-F238E27FC236}">
                <a16:creationId xmlns:a16="http://schemas.microsoft.com/office/drawing/2014/main" id="{E67614DC-6D5D-4C55-AE05-A8C047C9B743}"/>
              </a:ext>
            </a:extLst>
          </p:cNvPr>
          <p:cNvSpPr>
            <a:spLocks xmlns:a="http://schemas.openxmlformats.org/drawingml/2006/main" noGrp="1"/>
          </p:cNvSpPr>
          <p:nvPr/>
        </p:nvSpPr>
        <p:spPr>
          <a:xfrm xmlns:a="http://schemas.openxmlformats.org/drawingml/2006/main">
            <a:off x="1038225" y="40100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A級</a:t>
            </a:r>
          </a:p>
        </p:txBody>
      </p:sp>
      <p:sp>
        <p:nvSpPr>
          <p:cNvPr id="41" name="v12-legend-空還-grade-B">
            <a:extLst xmlns:a="http://schemas.openxmlformats.org/drawingml/2006/main">
              <a:ext uri="{FF2B5EF4-FFF2-40B4-BE49-F238E27FC236}">
                <a16:creationId xmlns:a16="http://schemas.microsoft.com/office/drawing/2014/main" id="{C94A5DBE-6807-471B-AC6D-15C0A0E0FAB6}"/>
              </a:ext>
            </a:extLst>
          </p:cNvPr>
          <p:cNvSpPr>
            <a:spLocks xmlns:a="http://schemas.openxmlformats.org/drawingml/2006/main" noGrp="1"/>
          </p:cNvSpPr>
          <p:nvPr/>
        </p:nvSpPr>
        <p:spPr>
          <a:xfrm xmlns:a="http://schemas.openxmlformats.org/drawingml/2006/main">
            <a:off x="1562100" y="4067175"/>
            <a:ext cx="114300" cy="114300"/>
          </a:xfrm>
          <a:prstGeom xmlns:a="http://schemas.openxmlformats.org/drawingml/2006/main" prst="ellipse">
            <a:avLst/>
          </a:prstGeom>
          <a:solidFill xmlns:a="http://schemas.openxmlformats.org/drawingml/2006/main">
            <a:srgbClr val="ED7D31"/>
          </a:solidFill>
          <a:ln xmlns:a="http://schemas.openxmlformats.org/drawingml/2006/main" w="9525">
            <a:solidFill>
              <a:srgbClr val="ED7D31"/>
            </a:solidFill>
            <a:prstDash val="solid"/>
          </a:ln>
        </p:spPr>
      </p:sp>
      <p:sp>
        <p:nvSpPr>
          <p:cNvPr id="42" name="v12-legend-空還-grade-B-text">
            <a:extLst xmlns:a="http://schemas.openxmlformats.org/drawingml/2006/main">
              <a:ext uri="{FF2B5EF4-FFF2-40B4-BE49-F238E27FC236}">
                <a16:creationId xmlns:a16="http://schemas.microsoft.com/office/drawing/2014/main" id="{FCEB8A25-F2B7-47E4-9FA1-567BEA0CCDD6}"/>
              </a:ext>
            </a:extLst>
          </p:cNvPr>
          <p:cNvSpPr>
            <a:spLocks xmlns:a="http://schemas.openxmlformats.org/drawingml/2006/main" noGrp="1"/>
          </p:cNvSpPr>
          <p:nvPr/>
        </p:nvSpPr>
        <p:spPr>
          <a:xfrm xmlns:a="http://schemas.openxmlformats.org/drawingml/2006/main">
            <a:off x="1724025" y="40100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B級</a:t>
            </a:r>
          </a:p>
        </p:txBody>
      </p:sp>
      <p:sp>
        <p:nvSpPr>
          <p:cNvPr id="43" name="v12-legend-空還-grade-C">
            <a:extLst xmlns:a="http://schemas.openxmlformats.org/drawingml/2006/main">
              <a:ext uri="{FF2B5EF4-FFF2-40B4-BE49-F238E27FC236}">
                <a16:creationId xmlns:a16="http://schemas.microsoft.com/office/drawing/2014/main" id="{5B04DCAF-7A3A-45D7-9CAE-DFB8969A6D77}"/>
              </a:ext>
            </a:extLst>
          </p:cNvPr>
          <p:cNvSpPr>
            <a:spLocks xmlns:a="http://schemas.openxmlformats.org/drawingml/2006/main" noGrp="1"/>
          </p:cNvSpPr>
          <p:nvPr/>
        </p:nvSpPr>
        <p:spPr>
          <a:xfrm xmlns:a="http://schemas.openxmlformats.org/drawingml/2006/main">
            <a:off x="2247900" y="4067175"/>
            <a:ext cx="114300" cy="114300"/>
          </a:xfrm>
          <a:prstGeom xmlns:a="http://schemas.openxmlformats.org/drawingml/2006/main" prst="ellipse">
            <a:avLst/>
          </a:prstGeom>
          <a:solidFill xmlns:a="http://schemas.openxmlformats.org/drawingml/2006/main">
            <a:srgbClr val="70AD47"/>
          </a:solidFill>
          <a:ln xmlns:a="http://schemas.openxmlformats.org/drawingml/2006/main" w="9525">
            <a:solidFill>
              <a:srgbClr val="70AD47"/>
            </a:solidFill>
            <a:prstDash val="solid"/>
          </a:ln>
        </p:spPr>
      </p:sp>
      <p:sp>
        <p:nvSpPr>
          <p:cNvPr id="44" name="v12-legend-空還-grade-C-text">
            <a:extLst xmlns:a="http://schemas.openxmlformats.org/drawingml/2006/main">
              <a:ext uri="{FF2B5EF4-FFF2-40B4-BE49-F238E27FC236}">
                <a16:creationId xmlns:a16="http://schemas.microsoft.com/office/drawing/2014/main" id="{2FA34BAA-03A5-47F0-9B15-64BE71536960}"/>
              </a:ext>
            </a:extLst>
          </p:cNvPr>
          <p:cNvSpPr>
            <a:spLocks xmlns:a="http://schemas.openxmlformats.org/drawingml/2006/main" noGrp="1"/>
          </p:cNvSpPr>
          <p:nvPr/>
        </p:nvSpPr>
        <p:spPr>
          <a:xfrm xmlns:a="http://schemas.openxmlformats.org/drawingml/2006/main">
            <a:off x="2409825" y="40100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C級</a:t>
            </a:r>
          </a:p>
        </p:txBody>
      </p:sp>
      <p:sp>
        <p:nvSpPr>
          <p:cNvPr id="45" name="v12-legend-空還-divider">
            <a:extLst xmlns:a="http://schemas.openxmlformats.org/drawingml/2006/main">
              <a:ext uri="{FF2B5EF4-FFF2-40B4-BE49-F238E27FC236}">
                <a16:creationId xmlns:a16="http://schemas.microsoft.com/office/drawing/2014/main" id="{EBA75B7B-6311-4104-A6D2-FB93FB06D277}"/>
              </a:ext>
            </a:extLst>
          </p:cNvPr>
          <p:cNvSpPr>
            <a:spLocks xmlns:a="http://schemas.openxmlformats.org/drawingml/2006/main" noGrp="1"/>
          </p:cNvSpPr>
          <p:nvPr/>
        </p:nvSpPr>
        <p:spPr>
          <a:xfrm xmlns:a="http://schemas.openxmlformats.org/drawingml/2006/main">
            <a:off x="3009900" y="4029075"/>
            <a:ext cx="0" cy="19050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46" name="v12-legend-空還-behavior-label">
            <a:extLst xmlns:a="http://schemas.openxmlformats.org/drawingml/2006/main">
              <a:ext uri="{FF2B5EF4-FFF2-40B4-BE49-F238E27FC236}">
                <a16:creationId xmlns:a16="http://schemas.microsoft.com/office/drawing/2014/main" id="{E044140C-D710-4FDA-9087-2044152ECED5}"/>
              </a:ext>
            </a:extLst>
          </p:cNvPr>
          <p:cNvSpPr>
            <a:spLocks xmlns:a="http://schemas.openxmlformats.org/drawingml/2006/main" noGrp="1"/>
          </p:cNvSpPr>
          <p:nvPr/>
        </p:nvSpPr>
        <p:spPr>
          <a:xfrm xmlns:a="http://schemas.openxmlformats.org/drawingml/2006/main">
            <a:off x="3181350" y="40100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1">
                <a:solidFill>
                  <a:srgbClr val="404040"/>
                </a:solidFill>
                <a:latin typeface="微軟正黑體"/>
                <a:ea typeface="微軟正黑體"/>
                <a:cs typeface="微軟正黑體"/>
              </a:defRPr>
            </a:pPr>
            <a:r>
              <a:rPr sz="1600" b="1">
                <a:solidFill>
                  <a:srgbClr val="404040"/>
                </a:solidFill>
                <a:latin typeface="微軟正黑體"/>
                <a:ea typeface="微軟正黑體"/>
                <a:cs typeface="微軟正黑體"/>
              </a:rPr>
              <a:t>行為</a:t>
            </a:r>
          </a:p>
        </p:txBody>
      </p:sp>
      <p:sp>
        <p:nvSpPr>
          <p:cNvPr id="47" name="v12-legend-空還-action-0-line">
            <a:extLst xmlns:a="http://schemas.openxmlformats.org/drawingml/2006/main">
              <a:ext uri="{FF2B5EF4-FFF2-40B4-BE49-F238E27FC236}">
                <a16:creationId xmlns:a16="http://schemas.microsoft.com/office/drawing/2014/main" id="{31A1003C-98B2-4085-8481-B52320C5641C}"/>
              </a:ext>
            </a:extLst>
          </p:cNvPr>
          <p:cNvSpPr>
            <a:spLocks xmlns:a="http://schemas.openxmlformats.org/drawingml/2006/main" noGrp="1"/>
          </p:cNvSpPr>
          <p:nvPr/>
        </p:nvSpPr>
        <p:spPr>
          <a:xfrm xmlns:a="http://schemas.openxmlformats.org/drawingml/2006/main">
            <a:off x="3714750" y="4124325"/>
            <a:ext cx="419100" cy="0"/>
          </a:xfrm>
          <a:prstGeom xmlns:a="http://schemas.openxmlformats.org/drawingml/2006/main" prst="line">
            <a:avLst/>
          </a:prstGeom>
          <a:noFill xmlns:a="http://schemas.openxmlformats.org/drawingml/2006/main"/>
          <a:ln xmlns:a="http://schemas.openxmlformats.org/drawingml/2006/main" w="38100">
            <a:solidFill>
              <a:srgbClr val="595959"/>
            </a:solidFill>
            <a:prstDash val="solid"/>
          </a:ln>
        </p:spPr>
      </p:sp>
      <p:sp>
        <p:nvSpPr>
          <p:cNvPr id="48" name="v12-legend-空還-action-0-marker">
            <a:extLst xmlns:a="http://schemas.openxmlformats.org/drawingml/2006/main">
              <a:ext uri="{FF2B5EF4-FFF2-40B4-BE49-F238E27FC236}">
                <a16:creationId xmlns:a16="http://schemas.microsoft.com/office/drawing/2014/main" id="{EFDDB206-F1F3-4809-9A67-3F31A062216C}"/>
              </a:ext>
            </a:extLst>
          </p:cNvPr>
          <p:cNvSpPr>
            <a:spLocks xmlns:a="http://schemas.openxmlformats.org/drawingml/2006/main" noGrp="1"/>
          </p:cNvSpPr>
          <p:nvPr/>
        </p:nvSpPr>
        <p:spPr>
          <a:xfrm xmlns:a="http://schemas.openxmlformats.org/drawingml/2006/main">
            <a:off x="3886200" y="4076700"/>
            <a:ext cx="95250" cy="95250"/>
          </a:xfrm>
          <a:prstGeom xmlns:a="http://schemas.openxmlformats.org/drawingml/2006/main" prst="ellipse">
            <a:avLst/>
          </a:prstGeom>
          <a:solidFill xmlns:a="http://schemas.openxmlformats.org/drawingml/2006/main">
            <a:srgbClr val="595959"/>
          </a:solidFill>
          <a:ln xmlns:a="http://schemas.openxmlformats.org/drawingml/2006/main" w="9525">
            <a:solidFill>
              <a:srgbClr val="595959"/>
            </a:solidFill>
            <a:prstDash val="solid"/>
          </a:ln>
        </p:spPr>
      </p:sp>
      <p:sp>
        <p:nvSpPr>
          <p:cNvPr id="49" name="v12-legend-空還-action-0-text">
            <a:extLst xmlns:a="http://schemas.openxmlformats.org/drawingml/2006/main">
              <a:ext uri="{FF2B5EF4-FFF2-40B4-BE49-F238E27FC236}">
                <a16:creationId xmlns:a16="http://schemas.microsoft.com/office/drawing/2014/main" id="{8731915F-051C-4BF4-B607-FFD3EDF18060}"/>
              </a:ext>
            </a:extLst>
          </p:cNvPr>
          <p:cNvSpPr>
            <a:spLocks xmlns:a="http://schemas.openxmlformats.org/drawingml/2006/main" noGrp="1"/>
          </p:cNvSpPr>
          <p:nvPr/>
        </p:nvSpPr>
        <p:spPr>
          <a:xfrm xmlns:a="http://schemas.openxmlformats.org/drawingml/2006/main">
            <a:off x="4200525" y="4010025"/>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調入</a:t>
            </a:r>
          </a:p>
        </p:txBody>
      </p:sp>
      <p:sp>
        <p:nvSpPr>
          <p:cNvPr id="50" name="v12-legend-空還-action-1-line">
            <a:extLst xmlns:a="http://schemas.openxmlformats.org/drawingml/2006/main">
              <a:ext uri="{FF2B5EF4-FFF2-40B4-BE49-F238E27FC236}">
                <a16:creationId xmlns:a16="http://schemas.microsoft.com/office/drawing/2014/main" id="{19DC5309-A7E9-44DC-8E81-98FDE862DE99}"/>
              </a:ext>
            </a:extLst>
          </p:cNvPr>
          <p:cNvSpPr>
            <a:spLocks xmlns:a="http://schemas.openxmlformats.org/drawingml/2006/main" noGrp="1"/>
          </p:cNvSpPr>
          <p:nvPr/>
        </p:nvSpPr>
        <p:spPr>
          <a:xfrm xmlns:a="http://schemas.openxmlformats.org/drawingml/2006/main">
            <a:off x="5143500" y="4124325"/>
            <a:ext cx="419100" cy="0"/>
          </a:xfrm>
          <a:prstGeom xmlns:a="http://schemas.openxmlformats.org/drawingml/2006/main" prst="line">
            <a:avLst/>
          </a:prstGeom>
          <a:noFill xmlns:a="http://schemas.openxmlformats.org/drawingml/2006/main"/>
          <a:ln xmlns:a="http://schemas.openxmlformats.org/drawingml/2006/main" w="21431">
            <a:solidFill>
              <a:srgbClr val="595959"/>
            </a:solidFill>
            <a:prstDash val="solid"/>
          </a:ln>
        </p:spPr>
      </p:sp>
      <p:sp>
        <p:nvSpPr>
          <p:cNvPr id="51" name="v12-legend-空還-action-1-marker">
            <a:extLst xmlns:a="http://schemas.openxmlformats.org/drawingml/2006/main">
              <a:ext uri="{FF2B5EF4-FFF2-40B4-BE49-F238E27FC236}">
                <a16:creationId xmlns:a16="http://schemas.microsoft.com/office/drawing/2014/main" id="{9CB2DECB-3218-4D50-B2F8-19052BA9FCC2}"/>
              </a:ext>
            </a:extLst>
          </p:cNvPr>
          <p:cNvSpPr>
            <a:spLocks xmlns:a="http://schemas.openxmlformats.org/drawingml/2006/main" noGrp="1"/>
          </p:cNvSpPr>
          <p:nvPr/>
        </p:nvSpPr>
        <p:spPr>
          <a:xfrm xmlns:a="http://schemas.openxmlformats.org/drawingml/2006/main">
            <a:off x="5314950" y="4076700"/>
            <a:ext cx="95250" cy="95250"/>
          </a:xfrm>
          <a:prstGeom xmlns:a="http://schemas.openxmlformats.org/drawingml/2006/main" prst="diamond">
            <a:avLst/>
          </a:prstGeom>
          <a:solidFill xmlns:a="http://schemas.openxmlformats.org/drawingml/2006/main">
            <a:srgbClr val="595959"/>
          </a:solidFill>
          <a:ln xmlns:a="http://schemas.openxmlformats.org/drawingml/2006/main" w="9525">
            <a:solidFill>
              <a:srgbClr val="595959"/>
            </a:solidFill>
            <a:prstDash val="solid"/>
          </a:ln>
        </p:spPr>
      </p:sp>
      <p:sp>
        <p:nvSpPr>
          <p:cNvPr id="52" name="v12-legend-空還-action-1-text">
            <a:extLst xmlns:a="http://schemas.openxmlformats.org/drawingml/2006/main">
              <a:ext uri="{FF2B5EF4-FFF2-40B4-BE49-F238E27FC236}">
                <a16:creationId xmlns:a16="http://schemas.microsoft.com/office/drawing/2014/main" id="{B5ECAFAB-9078-4CAE-8CFB-75FACFD9113E}"/>
              </a:ext>
            </a:extLst>
          </p:cNvPr>
          <p:cNvSpPr>
            <a:spLocks xmlns:a="http://schemas.openxmlformats.org/drawingml/2006/main" noGrp="1"/>
          </p:cNvSpPr>
          <p:nvPr/>
        </p:nvSpPr>
        <p:spPr>
          <a:xfrm xmlns:a="http://schemas.openxmlformats.org/drawingml/2006/main">
            <a:off x="5629275" y="4010025"/>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解綁車</a:t>
            </a:r>
          </a:p>
        </p:txBody>
      </p:sp>
      <p:sp>
        <p:nvSpPr>
          <p:cNvPr id="53" name="v12-legend-空還-action-2-line">
            <a:extLst xmlns:a="http://schemas.openxmlformats.org/drawingml/2006/main">
              <a:ext uri="{FF2B5EF4-FFF2-40B4-BE49-F238E27FC236}">
                <a16:creationId xmlns:a16="http://schemas.microsoft.com/office/drawing/2014/main" id="{3E4C2CCD-652E-4AB9-A029-DD423B8960A1}"/>
              </a:ext>
            </a:extLst>
          </p:cNvPr>
          <p:cNvSpPr>
            <a:spLocks xmlns:a="http://schemas.openxmlformats.org/drawingml/2006/main" noGrp="1"/>
          </p:cNvSpPr>
          <p:nvPr/>
        </p:nvSpPr>
        <p:spPr>
          <a:xfrm xmlns:a="http://schemas.openxmlformats.org/drawingml/2006/main">
            <a:off x="6667500" y="4124325"/>
            <a:ext cx="419100" cy="0"/>
          </a:xfrm>
          <a:prstGeom xmlns:a="http://schemas.openxmlformats.org/drawingml/2006/main" prst="line">
            <a:avLst/>
          </a:prstGeom>
          <a:noFill xmlns:a="http://schemas.openxmlformats.org/drawingml/2006/main"/>
          <a:ln xmlns:a="http://schemas.openxmlformats.org/drawingml/2006/main" w="28575">
            <a:solidFill>
              <a:srgbClr val="595959"/>
            </a:solidFill>
            <a:prstDash val="dash"/>
          </a:ln>
        </p:spPr>
      </p:sp>
      <p:sp>
        <p:nvSpPr>
          <p:cNvPr id="54" name="v12-legend-空還-action-2-text">
            <a:extLst xmlns:a="http://schemas.openxmlformats.org/drawingml/2006/main">
              <a:ext uri="{FF2B5EF4-FFF2-40B4-BE49-F238E27FC236}">
                <a16:creationId xmlns:a16="http://schemas.microsoft.com/office/drawing/2014/main" id="{14B64893-2640-4A64-835A-C3E3AD252AAF}"/>
              </a:ext>
            </a:extLst>
          </p:cNvPr>
          <p:cNvSpPr>
            <a:spLocks xmlns:a="http://schemas.openxmlformats.org/drawingml/2006/main" noGrp="1"/>
          </p:cNvSpPr>
          <p:nvPr/>
        </p:nvSpPr>
        <p:spPr>
          <a:xfrm xmlns:a="http://schemas.openxmlformats.org/drawingml/2006/main">
            <a:off x="7153275" y="4010025"/>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00" b="0">
                <a:solidFill>
                  <a:srgbClr val="404040"/>
                </a:solidFill>
                <a:latin typeface="微軟正黑體"/>
                <a:ea typeface="微軟正黑體"/>
                <a:cs typeface="微軟正黑體"/>
              </a:defRPr>
            </a:pPr>
            <a:r>
              <a:rPr sz="1600" b="0">
                <a:solidFill>
                  <a:srgbClr val="404040"/>
                </a:solidFill>
                <a:latin typeface="微軟正黑體"/>
                <a:ea typeface="微軟正黑體"/>
                <a:cs typeface="微軟正黑體"/>
              </a:rPr>
              <a:t>空還</a:t>
            </a:r>
          </a:p>
        </p:txBody>
      </p:sp>
      <p:graphicFrame>
        <p:nvGraphicFramePr>
          <p:cNvPr id="96" name="Chart"/>
          <p:cNvGraphicFramePr/>
          <p:nvPr/>
        </p:nvGraphicFramePr>
        <p:xfrm>
          <a:off xmlns:a="http://schemas.openxmlformats.org/drawingml/2006/main" x="381000" y="4286250"/>
          <a:ext xmlns:a="http://schemas.openxmlformats.org/drawingml/2006/main" cx="8382000" cy="1828800"/>
        </p:xfrm>
        <a:graphic xmlns:a="http://schemas.openxmlformats.org/drawingml/2006/main">
          <a:graphicData uri="http://schemas.openxmlformats.org/drawingml/2006/chart">
            <c:chart xmlns:r="http://schemas.openxmlformats.org/officeDocument/2006/relationships" xmlns:c="http://schemas.openxmlformats.org/drawingml/2006/chart" r:id="R1cb37e92f5a0434f"/>
          </a:graphicData>
        </a:graphic>
      </p:graphicFrame>
    </p:spTree>
    <p:extLst>
      <p:ext uri="{BB962C8B-B14F-4D97-AF65-F5344CB8AC3E}">
        <p14:creationId xmlns:p14="http://schemas.microsoft.com/office/powerpoint/2010/main" val="6593261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band">
            <a:extLst xmlns:a="http://schemas.openxmlformats.org/drawingml/2006/main">
              <a:ext uri="{FF2B5EF4-FFF2-40B4-BE49-F238E27FC236}">
                <a16:creationId xmlns:a16="http://schemas.microsoft.com/office/drawing/2014/main" id="{A0667E06-2D88-4E13-BE71-8D4F8B128555}"/>
              </a:ext>
            </a:extLst>
          </p:cNvPr>
          <p:cNvSpPr>
            <a:spLocks xmlns:a="http://schemas.openxmlformats.org/drawingml/2006/main" noGrp="1"/>
          </p:cNvSpPr>
          <p:nvPr/>
        </p:nvSpPr>
        <p:spPr>
          <a:xfrm xmlns:a="http://schemas.openxmlformats.org/drawingml/2006/main">
            <a:off x="0" y="0"/>
            <a:ext cx="9144000" cy="900113"/>
          </a:xfrm>
          <a:prstGeom xmlns:a="http://schemas.openxmlformats.org/drawingml/2006/main" prst="rect">
            <a:avLst/>
          </a:prstGeom>
          <a:solidFill xmlns:a="http://schemas.openxmlformats.org/drawingml/2006/main">
            <a:srgbClr val="FFD243"/>
          </a:solidFill>
          <a:ln xmlns:a="http://schemas.openxmlformats.org/drawingml/2006/main" w="0">
            <a:noFill/>
          </a:ln>
        </p:spPr>
        <p:txBody>
          <a:bodyPr xmlns:a="http://schemas.openxmlformats.org/drawingml/2006/main" wrap="square" lIns="57150" tIns="38100" rIns="57150" bIns="38100" anchor="ctr">
            <a:normAutofit/>
          </a:bodyPr>
          <a:lstStyle xmlns:a="http://schemas.openxmlformats.org/drawingml/2006/main"/>
          <a:p xmlns:a="http://schemas.openxmlformats.org/drawingml/2006/main">
            <a:pPr algn="ctr">
              <a:buNone/>
              <a:defRPr sz="3600" b="1">
                <a:solidFill>
                  <a:srgbClr val="404040"/>
                </a:solidFill>
                <a:latin typeface="微軟正黑體"/>
                <a:ea typeface="微軟正黑體"/>
                <a:cs typeface="微軟正黑體"/>
              </a:defRPr>
            </a:pPr>
            <a:r>
              <a:rPr sz="3600" b="1">
                <a:solidFill>
                  <a:srgbClr val="404040"/>
                </a:solidFill>
                <a:latin typeface="微軟正黑體"/>
                <a:ea typeface="微軟正黑體"/>
                <a:cs typeface="微軟正黑體"/>
              </a:rPr>
              <a:t>九、雙北 ABC 整日成效與對策</a:t>
            </a:r>
          </a:p>
        </p:txBody>
      </p:sp>
      <p:sp>
        <p:nvSpPr>
          <p:cNvPr id="2" name="page-number">
            <a:extLst xmlns:a="http://schemas.openxmlformats.org/drawingml/2006/main">
              <a:ext uri="{FF2B5EF4-FFF2-40B4-BE49-F238E27FC236}">
                <a16:creationId xmlns:a16="http://schemas.microsoft.com/office/drawing/2014/main" id="{8ECE27F4-8520-4D7C-93A8-CBD72C0630DA}"/>
              </a:ext>
            </a:extLst>
          </p:cNvPr>
          <p:cNvSpPr>
            <a:spLocks xmlns:a="http://schemas.openxmlformats.org/drawingml/2006/main" noGrp="1"/>
          </p:cNvSpPr>
          <p:nvPr/>
        </p:nvSpPr>
        <p:spPr>
          <a:xfrm xmlns:a="http://schemas.openxmlformats.org/drawingml/2006/main">
            <a:off x="8458200"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buNone/>
              <a:defRPr sz="1500" b="0">
                <a:solidFill>
                  <a:srgbClr val="666666"/>
                </a:solidFill>
                <a:latin typeface="微軟正黑體"/>
                <a:ea typeface="微軟正黑體"/>
                <a:cs typeface="微軟正黑體"/>
              </a:defRPr>
            </a:pPr>
            <a:r>
              <a:rPr sz="1500" b="0">
                <a:solidFill>
                  <a:srgbClr val="666666"/>
                </a:solidFill>
                <a:latin typeface="微軟正黑體"/>
                <a:ea typeface="微軟正黑體"/>
                <a:cs typeface="微軟正黑體"/>
              </a:rPr>
              <a:t>11</a:t>
            </a:r>
          </a:p>
        </p:txBody>
      </p:sp>
      <p:graphicFrame>
        <p:nvGraphicFramePr>
          <p:cNvPr id="9" name="表格 7"/>
          <p:cNvGraphicFramePr/>
          <p:nvPr/>
        </p:nvGraphicFramePr>
        <p:xfrm>
          <a:off xmlns:a="http://schemas.openxmlformats.org/drawingml/2006/main" x="228600" y="1381125"/>
          <a:ext xmlns:a="http://schemas.openxmlformats.org/drawingml/2006/main" cx="8686800" cy="4415790"/>
        </p:xfrm>
        <a:graphic xmlns:a="http://schemas.openxmlformats.org/drawingml/2006/main">
          <a:graphicData uri="http://schemas.openxmlformats.org/drawingml/2006/table">
            <a:tbl>
              <a:tblPr/>
              <a:tblGrid>
                <a:gridCol w="876300"/>
                <a:gridCol w="990600"/>
                <a:gridCol w="990600"/>
                <a:gridCol w="876300"/>
                <a:gridCol w="876300"/>
                <a:gridCol w="4076700"/>
              </a:tblGrid>
              <a:tr h="666750">
                <a:tc>
                  <a:txBody>
                    <a:bodyPr/>
                    <a:lstStyle/>
                    <a:p>
                      <a:pPr algn="l">
                        <a:buNone/>
                      </a:pPr>
                      <a:r>
                        <a:rPr sz="1800">
                          <a:solidFill>
                            <a:srgbClr val="000000"/>
                          </a:solidFill>
                          <a:latin typeface="微軟正黑體"/>
                          <a:ea typeface="微軟正黑體"/>
                          <a:cs typeface="微軟正黑體"/>
                        </a:rPr>
                        <a:t>城市／級別</a:t>
                      </a:r>
                    </a:p>
                  </a:txBody>
                  <a:tcPr marL="91440" marR="91440" marT="45720" marB="45720" anchor="ctr"/>
                </a:tc>
                <a:tc>
                  <a:txBody>
                    <a:bodyPr/>
                    <a:lstStyle/>
                    <a:p>
                      <a:pPr algn="l">
                        <a:buNone/>
                      </a:pPr>
                      <a:r>
                        <a:rPr sz="1800">
                          <a:solidFill>
                            <a:srgbClr val="000000"/>
                          </a:solidFill>
                          <a:latin typeface="微軟正黑體"/>
                          <a:ea typeface="微軟正黑體"/>
                          <a:cs typeface="微軟正黑體"/>
                        </a:rPr>
                        <a:t>滿借覆蓋率</a:t>
                      </a:r>
                    </a:p>
                  </a:txBody>
                  <a:tcPr marL="91440" marR="91440" marT="45720" marB="45720" anchor="ctr"/>
                </a:tc>
                <a:tc>
                  <a:txBody>
                    <a:bodyPr/>
                    <a:lstStyle/>
                    <a:p>
                      <a:pPr algn="l">
                        <a:buNone/>
                      </a:pPr>
                      <a:r>
                        <a:rPr sz="1800">
                          <a:solidFill>
                            <a:srgbClr val="000000"/>
                          </a:solidFill>
                          <a:latin typeface="微軟正黑體"/>
                          <a:ea typeface="微軟正黑體"/>
                          <a:cs typeface="微軟正黑體"/>
                        </a:rPr>
                        <a:t>空還覆蓋率</a:t>
                      </a:r>
                    </a:p>
                  </a:txBody>
                  <a:tcPr marL="91440" marR="91440" marT="45720" marB="45720" anchor="ctr"/>
                </a:tc>
                <a:tc>
                  <a:txBody>
                    <a:bodyPr/>
                    <a:lstStyle/>
                    <a:p>
                      <a:pPr algn="l">
                        <a:buNone/>
                      </a:pPr>
                      <a:r>
                        <a:rPr sz="1800">
                          <a:solidFill>
                            <a:srgbClr val="000000"/>
                          </a:solidFill>
                          <a:latin typeface="微軟正黑體"/>
                          <a:ea typeface="微軟正黑體"/>
                          <a:cs typeface="微軟正黑體"/>
                        </a:rPr>
                        <a:t>見車率</a:t>
                      </a:r>
                    </a:p>
                  </a:txBody>
                  <a:tcPr marL="91440" marR="91440" marT="45720" marB="45720" anchor="ctr"/>
                </a:tc>
                <a:tc>
                  <a:txBody>
                    <a:bodyPr/>
                    <a:lstStyle/>
                    <a:p>
                      <a:pPr algn="l">
                        <a:buNone/>
                      </a:pPr>
                      <a:r>
                        <a:rPr sz="1800">
                          <a:solidFill>
                            <a:srgbClr val="000000"/>
                          </a:solidFill>
                          <a:latin typeface="微軟正黑體"/>
                          <a:ea typeface="微軟正黑體"/>
                          <a:cs typeface="微軟正黑體"/>
                        </a:rPr>
                        <a:t>見位率</a:t>
                      </a:r>
                    </a:p>
                  </a:txBody>
                  <a:tcPr marL="91440" marR="91440" marT="45720" marB="45720" anchor="ctr"/>
                </a:tc>
                <a:tc>
                  <a:txBody>
                    <a:bodyPr/>
                    <a:lstStyle/>
                    <a:p>
                      <a:pPr algn="l">
                        <a:buNone/>
                      </a:pPr>
                      <a:r>
                        <a:rPr sz="1800">
                          <a:solidFill>
                            <a:srgbClr val="000000"/>
                          </a:solidFill>
                          <a:latin typeface="微軟正黑體"/>
                          <a:ea typeface="微軟正黑體"/>
                          <a:cs typeface="微軟正黑體"/>
                        </a:rPr>
                        <a:t>建議對策</a:t>
                      </a:r>
                      <a:endParaRPr sz="1800">
                        <a:solidFill>
                          <a:srgbClr val="000000"/>
                        </a:solidFill>
                        <a:latin typeface="微軟正黑體"/>
                        <a:ea typeface="微軟正黑體"/>
                        <a:cs typeface="微軟正黑體"/>
                      </a:endParaRPr>
                    </a:p>
                  </a:txBody>
                  <a:tcPr marL="91440" marR="91440" marT="45720" marB="45720" anchor="ctr"/>
                </a:tc>
              </a:tr>
              <a:tr h="609600">
                <a:tc>
                  <a:txBody>
                    <a:bodyPr/>
                    <a:lstStyle/>
                    <a:p>
                      <a:pPr algn="l">
                        <a:buNone/>
                      </a:pPr>
                      <a:r>
                        <a:rPr sz="1800">
                          <a:solidFill>
                            <a:srgbClr val="000000"/>
                          </a:solidFill>
                          <a:latin typeface="微軟正黑體"/>
                          <a:ea typeface="微軟正黑體"/>
                          <a:cs typeface="微軟正黑體"/>
                        </a:rPr>
                        <a:t>台北 A</a:t>
                      </a:r>
                    </a:p>
                  </a:txBody>
                  <a:tcPr marL="91440" marR="91440" marT="45720" marB="45720" anchor="ctr"/>
                </a:tc>
                <a:tc>
                  <a:txBody>
                    <a:bodyPr/>
                    <a:lstStyle/>
                    <a:p>
                      <a:pPr algn="l">
                        <a:buNone/>
                      </a:pPr>
                      <a:r>
                        <a:rPr sz="1800">
                          <a:solidFill>
                            <a:srgbClr val="000000"/>
                          </a:solidFill>
                          <a:latin typeface="微軟正黑體"/>
                          <a:ea typeface="微軟正黑體"/>
                          <a:cs typeface="微軟正黑體"/>
                        </a:rPr>
                        <a:t>13.7%</a:t>
                      </a:r>
                    </a:p>
                  </a:txBody>
                  <a:tcPr marL="91440" marR="91440" marT="45720" marB="45720" anchor="ctr">
                    <a:solidFill>
                      <a:srgbClr val="F2D8D7"/>
                    </a:solidFill>
                  </a:tcPr>
                </a:tc>
                <a:tc>
                  <a:txBody>
                    <a:bodyPr/>
                    <a:lstStyle/>
                    <a:p>
                      <a:pPr algn="l">
                        <a:buNone/>
                      </a:pPr>
                      <a:r>
                        <a:rPr sz="1800">
                          <a:solidFill>
                            <a:srgbClr val="000000"/>
                          </a:solidFill>
                          <a:latin typeface="微軟正黑體"/>
                          <a:ea typeface="微軟正黑體"/>
                          <a:cs typeface="微軟正黑體"/>
                        </a:rPr>
                        <a:t>6.0%</a:t>
                      </a:r>
                    </a:p>
                  </a:txBody>
                  <a:tcPr marL="91440" marR="91440" marT="45720" marB="45720" anchor="ctr">
                    <a:solidFill>
                      <a:srgbClr val="D9EAF7"/>
                    </a:solidFill>
                  </a:tcPr>
                </a:tc>
                <a:tc>
                  <a:txBody>
                    <a:bodyPr/>
                    <a:lstStyle/>
                    <a:p>
                      <a:pPr algn="l">
                        <a:buNone/>
                      </a:pPr>
                      <a:r>
                        <a:rPr sz="1800">
                          <a:solidFill>
                            <a:srgbClr val="000000"/>
                          </a:solidFill>
                          <a:latin typeface="微軟正黑體"/>
                          <a:ea typeface="微軟正黑體"/>
                          <a:cs typeface="微軟正黑體"/>
                        </a:rPr>
                        <a:t>95.1%</a:t>
                      </a:r>
                    </a:p>
                  </a:txBody>
                  <a:tcPr marL="91440" marR="91440" marT="45720" marB="45720" anchor="ctr">
                    <a:solidFill>
                      <a:srgbClr val="E2F0D9"/>
                    </a:solidFill>
                  </a:tcPr>
                </a:tc>
                <a:tc>
                  <a:txBody>
                    <a:bodyPr/>
                    <a:lstStyle/>
                    <a:p>
                      <a:pPr algn="l">
                        <a:buNone/>
                      </a:pPr>
                      <a:r>
                        <a:rPr sz="1800">
                          <a:solidFill>
                            <a:srgbClr val="000000"/>
                          </a:solidFill>
                          <a:latin typeface="微軟正黑體"/>
                          <a:ea typeface="微軟正黑體"/>
                          <a:cs typeface="微軟正黑體"/>
                        </a:rPr>
                        <a:t>97.5%</a:t>
                      </a:r>
                    </a:p>
                  </a:txBody>
                  <a:tcPr marL="91440" marR="91440" marT="45720" marB="45720" anchor="ctr">
                    <a:solidFill>
                      <a:srgbClr val="E2F0D9"/>
                    </a:solidFill>
                  </a:tcPr>
                </a:tc>
                <a:tc>
                  <a:txBody>
                    <a:bodyPr/>
                    <a:lstStyle/>
                    <a:p>
                      <a:pPr algn="l">
                        <a:buNone/>
                      </a:pPr>
                      <a:r>
                        <a:rPr sz="1800">
                          <a:solidFill>
                            <a:srgbClr val="000000"/>
                          </a:solidFill>
                          <a:latin typeface="微軟正黑體"/>
                          <a:ea typeface="微軟正黑體"/>
                          <a:cs typeface="微軟正黑體"/>
                        </a:rPr>
                        <a:t>09時提升調出／綁車對應；23時補調入／解綁</a:t>
                      </a:r>
                    </a:p>
                  </a:txBody>
                  <a:tcPr marL="91440" marR="91440" marT="45720" marB="45720" anchor="ctr"/>
                </a:tc>
              </a:tr>
              <a:tr h="609600">
                <a:tc>
                  <a:txBody>
                    <a:bodyPr/>
                    <a:lstStyle/>
                    <a:p>
                      <a:pPr algn="l">
                        <a:buNone/>
                      </a:pPr>
                      <a:r>
                        <a:rPr sz="1800">
                          <a:solidFill>
                            <a:srgbClr val="000000"/>
                          </a:solidFill>
                          <a:latin typeface="微軟正黑體"/>
                          <a:ea typeface="微軟正黑體"/>
                          <a:cs typeface="微軟正黑體"/>
                        </a:rPr>
                        <a:t>台北 B</a:t>
                      </a:r>
                    </a:p>
                  </a:txBody>
                  <a:tcPr marL="91440" marR="91440" marT="45720" marB="45720" anchor="ctr"/>
                </a:tc>
                <a:tc>
                  <a:txBody>
                    <a:bodyPr/>
                    <a:lstStyle/>
                    <a:p>
                      <a:pPr algn="l">
                        <a:buNone/>
                      </a:pPr>
                      <a:r>
                        <a:rPr sz="1800">
                          <a:solidFill>
                            <a:srgbClr val="000000"/>
                          </a:solidFill>
                          <a:latin typeface="微軟正黑體"/>
                          <a:ea typeface="微軟正黑體"/>
                          <a:cs typeface="微軟正黑體"/>
                        </a:rPr>
                        <a:t>14.5%</a:t>
                      </a:r>
                    </a:p>
                  </a:txBody>
                  <a:tcPr marL="91440" marR="91440" marT="45720" marB="45720" anchor="ctr">
                    <a:solidFill>
                      <a:srgbClr val="F2D8D7"/>
                    </a:solidFill>
                  </a:tcPr>
                </a:tc>
                <a:tc>
                  <a:txBody>
                    <a:bodyPr/>
                    <a:lstStyle/>
                    <a:p>
                      <a:pPr algn="l">
                        <a:buNone/>
                      </a:pPr>
                      <a:r>
                        <a:rPr sz="1800">
                          <a:solidFill>
                            <a:srgbClr val="000000"/>
                          </a:solidFill>
                          <a:latin typeface="微軟正黑體"/>
                          <a:ea typeface="微軟正黑體"/>
                          <a:cs typeface="微軟正黑體"/>
                        </a:rPr>
                        <a:t>6.3%</a:t>
                      </a:r>
                    </a:p>
                  </a:txBody>
                  <a:tcPr marL="91440" marR="91440" marT="45720" marB="45720" anchor="ctr">
                    <a:solidFill>
                      <a:srgbClr val="D9EAF7"/>
                    </a:solidFill>
                  </a:tcPr>
                </a:tc>
                <a:tc>
                  <a:txBody>
                    <a:bodyPr/>
                    <a:lstStyle/>
                    <a:p>
                      <a:pPr algn="l">
                        <a:buNone/>
                      </a:pPr>
                      <a:r>
                        <a:rPr sz="1800">
                          <a:solidFill>
                            <a:srgbClr val="000000"/>
                          </a:solidFill>
                          <a:latin typeface="微軟正黑體"/>
                          <a:ea typeface="微軟正黑體"/>
                          <a:cs typeface="微軟正黑體"/>
                        </a:rPr>
                        <a:t>94.4%</a:t>
                      </a:r>
                    </a:p>
                  </a:txBody>
                  <a:tcPr marL="91440" marR="91440" marT="45720" marB="45720" anchor="ctr">
                    <a:solidFill>
                      <a:srgbClr val="E2F0D9"/>
                    </a:solidFill>
                  </a:tcPr>
                </a:tc>
                <a:tc>
                  <a:txBody>
                    <a:bodyPr/>
                    <a:lstStyle/>
                    <a:p>
                      <a:pPr algn="l">
                        <a:buNone/>
                      </a:pPr>
                      <a:r>
                        <a:rPr sz="1800">
                          <a:solidFill>
                            <a:srgbClr val="000000"/>
                          </a:solidFill>
                          <a:latin typeface="微軟正黑體"/>
                          <a:ea typeface="微軟正黑體"/>
                          <a:cs typeface="微軟正黑體"/>
                        </a:rPr>
                        <a:t>97.4%</a:t>
                      </a:r>
                    </a:p>
                  </a:txBody>
                  <a:tcPr marL="91440" marR="91440" marT="45720" marB="45720" anchor="ctr">
                    <a:solidFill>
                      <a:srgbClr val="E2F0D9"/>
                    </a:solidFill>
                  </a:tcPr>
                </a:tc>
                <a:tc>
                  <a:txBody>
                    <a:bodyPr/>
                    <a:lstStyle/>
                    <a:p>
                      <a:pPr algn="l">
                        <a:buNone/>
                      </a:pPr>
                      <a:r>
                        <a:rPr sz="1800">
                          <a:solidFill>
                            <a:srgbClr val="000000"/>
                          </a:solidFill>
                          <a:latin typeface="微軟正黑體"/>
                          <a:ea typeface="微軟正黑體"/>
                          <a:cs typeface="微軟正黑體"/>
                        </a:rPr>
                        <a:t>07–09時同步配置兩向任務；22時檢查見車低點</a:t>
                      </a:r>
                    </a:p>
                  </a:txBody>
                  <a:tcPr marL="91440" marR="91440" marT="45720" marB="45720" anchor="ctr"/>
                </a:tc>
              </a:tr>
              <a:tr h="609600">
                <a:tc>
                  <a:txBody>
                    <a:bodyPr/>
                    <a:lstStyle/>
                    <a:p>
                      <a:pPr algn="l">
                        <a:buNone/>
                      </a:pPr>
                      <a:r>
                        <a:rPr sz="1800">
                          <a:solidFill>
                            <a:srgbClr val="000000"/>
                          </a:solidFill>
                          <a:latin typeface="微軟正黑體"/>
                          <a:ea typeface="微軟正黑體"/>
                          <a:cs typeface="微軟正黑體"/>
                        </a:rPr>
                        <a:t>台北 C</a:t>
                      </a:r>
                    </a:p>
                  </a:txBody>
                  <a:tcPr marL="91440" marR="91440" marT="45720" marB="45720" anchor="ctr"/>
                </a:tc>
                <a:tc>
                  <a:txBody>
                    <a:bodyPr/>
                    <a:lstStyle/>
                    <a:p>
                      <a:pPr algn="l">
                        <a:buNone/>
                      </a:pPr>
                      <a:r>
                        <a:rPr sz="1800">
                          <a:solidFill>
                            <a:srgbClr val="000000"/>
                          </a:solidFill>
                          <a:latin typeface="微軟正黑體"/>
                          <a:ea typeface="微軟正黑體"/>
                          <a:cs typeface="微軟正黑體"/>
                        </a:rPr>
                        <a:t>16.6%</a:t>
                      </a:r>
                    </a:p>
                  </a:txBody>
                  <a:tcPr marL="91440" marR="91440" marT="45720" marB="45720" anchor="ctr">
                    <a:solidFill>
                      <a:srgbClr val="F2D8D7"/>
                    </a:solidFill>
                  </a:tcPr>
                </a:tc>
                <a:tc>
                  <a:txBody>
                    <a:bodyPr/>
                    <a:lstStyle/>
                    <a:p>
                      <a:pPr algn="l">
                        <a:buNone/>
                      </a:pPr>
                      <a:r>
                        <a:rPr sz="1800">
                          <a:solidFill>
                            <a:srgbClr val="000000"/>
                          </a:solidFill>
                          <a:latin typeface="微軟正黑體"/>
                          <a:ea typeface="微軟正黑體"/>
                          <a:cs typeface="微軟正黑體"/>
                        </a:rPr>
                        <a:t>6.5%</a:t>
                      </a:r>
                    </a:p>
                  </a:txBody>
                  <a:tcPr marL="91440" marR="91440" marT="45720" marB="45720" anchor="ctr">
                    <a:solidFill>
                      <a:srgbClr val="D9EAF7"/>
                    </a:solidFill>
                  </a:tcPr>
                </a:tc>
                <a:tc>
                  <a:txBody>
                    <a:bodyPr/>
                    <a:lstStyle/>
                    <a:p>
                      <a:pPr algn="l">
                        <a:buNone/>
                      </a:pPr>
                      <a:r>
                        <a:rPr sz="1800">
                          <a:solidFill>
                            <a:srgbClr val="000000"/>
                          </a:solidFill>
                          <a:latin typeface="微軟正黑體"/>
                          <a:ea typeface="微軟正黑體"/>
                          <a:cs typeface="微軟正黑體"/>
                        </a:rPr>
                        <a:t>95.9%</a:t>
                      </a:r>
                    </a:p>
                  </a:txBody>
                  <a:tcPr marL="91440" marR="91440" marT="45720" marB="45720" anchor="ctr">
                    <a:solidFill>
                      <a:srgbClr val="E2F0D9"/>
                    </a:solidFill>
                  </a:tcPr>
                </a:tc>
                <a:tc>
                  <a:txBody>
                    <a:bodyPr/>
                    <a:lstStyle/>
                    <a:p>
                      <a:pPr algn="l">
                        <a:buNone/>
                      </a:pPr>
                      <a:r>
                        <a:rPr sz="1800">
                          <a:solidFill>
                            <a:srgbClr val="000000"/>
                          </a:solidFill>
                          <a:latin typeface="微軟正黑體"/>
                          <a:ea typeface="微軟正黑體"/>
                          <a:cs typeface="微軟正黑體"/>
                        </a:rPr>
                        <a:t>98.5%</a:t>
                      </a:r>
                    </a:p>
                  </a:txBody>
                  <a:tcPr marL="91440" marR="91440" marT="45720" marB="45720" anchor="ctr">
                    <a:solidFill>
                      <a:srgbClr val="E2F0D9"/>
                    </a:solidFill>
                  </a:tcPr>
                </a:tc>
                <a:tc>
                  <a:txBody>
                    <a:bodyPr/>
                    <a:lstStyle/>
                    <a:p>
                      <a:pPr algn="l">
                        <a:buNone/>
                      </a:pPr>
                      <a:r>
                        <a:rPr sz="1800">
                          <a:solidFill>
                            <a:srgbClr val="000000"/>
                          </a:solidFill>
                          <a:latin typeface="微軟正黑體"/>
                          <a:ea typeface="微軟正黑體"/>
                          <a:cs typeface="微軟正黑體"/>
                        </a:rPr>
                        <a:t>19時補滿借對應；07時補空還對應</a:t>
                      </a:r>
                    </a:p>
                  </a:txBody>
                  <a:tcPr marL="91440" marR="91440" marT="45720" marB="45720" anchor="ctr"/>
                </a:tc>
              </a:tr>
              <a:tr h="609600">
                <a:tc>
                  <a:txBody>
                    <a:bodyPr/>
                    <a:lstStyle/>
                    <a:p>
                      <a:pPr algn="l">
                        <a:buNone/>
                      </a:pPr>
                      <a:r>
                        <a:rPr sz="1800">
                          <a:solidFill>
                            <a:srgbClr val="000000"/>
                          </a:solidFill>
                          <a:latin typeface="微軟正黑體"/>
                          <a:ea typeface="微軟正黑體"/>
                          <a:cs typeface="微軟正黑體"/>
                        </a:rPr>
                        <a:t>新北 A</a:t>
                      </a:r>
                    </a:p>
                  </a:txBody>
                  <a:tcPr marL="91440" marR="91440" marT="45720" marB="45720" anchor="ctr"/>
                </a:tc>
                <a:tc>
                  <a:txBody>
                    <a:bodyPr/>
                    <a:lstStyle/>
                    <a:p>
                      <a:pPr algn="l">
                        <a:buNone/>
                      </a:pPr>
                      <a:r>
                        <a:rPr sz="1800">
                          <a:solidFill>
                            <a:srgbClr val="000000"/>
                          </a:solidFill>
                          <a:latin typeface="微軟正黑體"/>
                          <a:ea typeface="微軟正黑體"/>
                          <a:cs typeface="微軟正黑體"/>
                        </a:rPr>
                        <a:t>22.8%</a:t>
                      </a:r>
                    </a:p>
                  </a:txBody>
                  <a:tcPr marL="91440" marR="91440" marT="45720" marB="45720" anchor="ctr">
                    <a:solidFill>
                      <a:srgbClr val="F2D8D7"/>
                    </a:solidFill>
                  </a:tcPr>
                </a:tc>
                <a:tc>
                  <a:txBody>
                    <a:bodyPr/>
                    <a:lstStyle/>
                    <a:p>
                      <a:pPr algn="l">
                        <a:buNone/>
                      </a:pPr>
                      <a:r>
                        <a:rPr sz="1800">
                          <a:solidFill>
                            <a:srgbClr val="000000"/>
                          </a:solidFill>
                          <a:latin typeface="微軟正黑體"/>
                          <a:ea typeface="微軟正黑體"/>
                          <a:cs typeface="微軟正黑體"/>
                        </a:rPr>
                        <a:t>11.1%</a:t>
                      </a:r>
                    </a:p>
                  </a:txBody>
                  <a:tcPr marL="91440" marR="91440" marT="45720" marB="45720" anchor="ctr">
                    <a:solidFill>
                      <a:srgbClr val="D9EAF7"/>
                    </a:solidFill>
                  </a:tcPr>
                </a:tc>
                <a:tc>
                  <a:txBody>
                    <a:bodyPr/>
                    <a:lstStyle/>
                    <a:p>
                      <a:pPr algn="l">
                        <a:buNone/>
                      </a:pPr>
                      <a:r>
                        <a:rPr sz="1800">
                          <a:solidFill>
                            <a:srgbClr val="000000"/>
                          </a:solidFill>
                          <a:latin typeface="微軟正黑體"/>
                          <a:ea typeface="微軟正黑體"/>
                          <a:cs typeface="微軟正黑體"/>
                        </a:rPr>
                        <a:t>92.9%</a:t>
                      </a:r>
                    </a:p>
                  </a:txBody>
                  <a:tcPr marL="91440" marR="91440" marT="45720" marB="45720" anchor="ctr">
                    <a:solidFill>
                      <a:srgbClr val="E2F0D9"/>
                    </a:solidFill>
                  </a:tcPr>
                </a:tc>
                <a:tc>
                  <a:txBody>
                    <a:bodyPr/>
                    <a:lstStyle/>
                    <a:p>
                      <a:pPr algn="l">
                        <a:buNone/>
                      </a:pPr>
                      <a:r>
                        <a:rPr sz="1800">
                          <a:solidFill>
                            <a:srgbClr val="000000"/>
                          </a:solidFill>
                          <a:latin typeface="微軟正黑體"/>
                          <a:ea typeface="微軟正黑體"/>
                          <a:cs typeface="微軟正黑體"/>
                        </a:rPr>
                        <a:t>99.4%</a:t>
                      </a:r>
                    </a:p>
                  </a:txBody>
                  <a:tcPr marL="91440" marR="91440" marT="45720" marB="45720" anchor="ctr">
                    <a:solidFill>
                      <a:srgbClr val="E2F0D9"/>
                    </a:solidFill>
                  </a:tcPr>
                </a:tc>
                <a:tc>
                  <a:txBody>
                    <a:bodyPr/>
                    <a:lstStyle/>
                    <a:p>
                      <a:pPr algn="l">
                        <a:buNone/>
                      </a:pPr>
                      <a:r>
                        <a:rPr sz="1800">
                          <a:solidFill>
                            <a:srgbClr val="000000"/>
                          </a:solidFill>
                          <a:latin typeface="微軟正黑體"/>
                          <a:ea typeface="微軟正黑體"/>
                          <a:cs typeface="微軟正黑體"/>
                        </a:rPr>
                        <a:t>22–23時延續覆蓋；08與22時聚焦見車低點</a:t>
                      </a:r>
                    </a:p>
                  </a:txBody>
                  <a:tcPr marL="91440" marR="91440" marT="45720" marB="45720" anchor="ctr"/>
                </a:tc>
              </a:tr>
              <a:tr h="609600">
                <a:tc>
                  <a:txBody>
                    <a:bodyPr/>
                    <a:lstStyle/>
                    <a:p>
                      <a:pPr algn="l">
                        <a:buNone/>
                      </a:pPr>
                      <a:r>
                        <a:rPr sz="1800">
                          <a:solidFill>
                            <a:srgbClr val="000000"/>
                          </a:solidFill>
                          <a:latin typeface="微軟正黑體"/>
                          <a:ea typeface="微軟正黑體"/>
                          <a:cs typeface="微軟正黑體"/>
                        </a:rPr>
                        <a:t>新北 B</a:t>
                      </a:r>
                    </a:p>
                  </a:txBody>
                  <a:tcPr marL="91440" marR="91440" marT="45720" marB="45720" anchor="ctr"/>
                </a:tc>
                <a:tc>
                  <a:txBody>
                    <a:bodyPr/>
                    <a:lstStyle/>
                    <a:p>
                      <a:pPr algn="l">
                        <a:buNone/>
                      </a:pPr>
                      <a:r>
                        <a:rPr sz="1800">
                          <a:solidFill>
                            <a:srgbClr val="000000"/>
                          </a:solidFill>
                          <a:latin typeface="微軟正黑體"/>
                          <a:ea typeface="微軟正黑體"/>
                          <a:cs typeface="微軟正黑體"/>
                        </a:rPr>
                        <a:t>25.7%</a:t>
                      </a:r>
                    </a:p>
                  </a:txBody>
                  <a:tcPr marL="91440" marR="91440" marT="45720" marB="45720" anchor="ctr">
                    <a:solidFill>
                      <a:srgbClr val="F2D8D7"/>
                    </a:solidFill>
                  </a:tcPr>
                </a:tc>
                <a:tc>
                  <a:txBody>
                    <a:bodyPr/>
                    <a:lstStyle/>
                    <a:p>
                      <a:pPr algn="l">
                        <a:buNone/>
                      </a:pPr>
                      <a:r>
                        <a:rPr sz="1800">
                          <a:solidFill>
                            <a:srgbClr val="000000"/>
                          </a:solidFill>
                          <a:latin typeface="微軟正黑體"/>
                          <a:ea typeface="微軟正黑體"/>
                          <a:cs typeface="微軟正黑體"/>
                        </a:rPr>
                        <a:t>8.6%</a:t>
                      </a:r>
                    </a:p>
                  </a:txBody>
                  <a:tcPr marL="91440" marR="91440" marT="45720" marB="45720" anchor="ctr">
                    <a:solidFill>
                      <a:srgbClr val="D9EAF7"/>
                    </a:solidFill>
                  </a:tcPr>
                </a:tc>
                <a:tc>
                  <a:txBody>
                    <a:bodyPr/>
                    <a:lstStyle/>
                    <a:p>
                      <a:pPr algn="l">
                        <a:buNone/>
                      </a:pPr>
                      <a:r>
                        <a:rPr sz="1800">
                          <a:solidFill>
                            <a:srgbClr val="000000"/>
                          </a:solidFill>
                          <a:latin typeface="微軟正黑體"/>
                          <a:ea typeface="微軟正黑體"/>
                          <a:cs typeface="微軟正黑體"/>
                        </a:rPr>
                        <a:t>92.9%</a:t>
                      </a:r>
                    </a:p>
                  </a:txBody>
                  <a:tcPr marL="91440" marR="91440" marT="45720" marB="45720" anchor="ctr">
                    <a:solidFill>
                      <a:srgbClr val="E2F0D9"/>
                    </a:solidFill>
                  </a:tcPr>
                </a:tc>
                <a:tc>
                  <a:txBody>
                    <a:bodyPr/>
                    <a:lstStyle/>
                    <a:p>
                      <a:pPr algn="l">
                        <a:buNone/>
                      </a:pPr>
                      <a:r>
                        <a:rPr sz="1800">
                          <a:solidFill>
                            <a:srgbClr val="000000"/>
                          </a:solidFill>
                          <a:latin typeface="微軟正黑體"/>
                          <a:ea typeface="微軟正黑體"/>
                          <a:cs typeface="微軟正黑體"/>
                        </a:rPr>
                        <a:t>99.3%</a:t>
                      </a:r>
                    </a:p>
                  </a:txBody>
                  <a:tcPr marL="91440" marR="91440" marT="45720" marB="45720" anchor="ctr">
                    <a:solidFill>
                      <a:srgbClr val="E2F0D9"/>
                    </a:solidFill>
                  </a:tcPr>
                </a:tc>
                <a:tc>
                  <a:txBody>
                    <a:bodyPr/>
                    <a:lstStyle/>
                    <a:p>
                      <a:pPr algn="l">
                        <a:buNone/>
                      </a:pPr>
                      <a:r>
                        <a:rPr sz="1800">
                          <a:solidFill>
                            <a:srgbClr val="000000"/>
                          </a:solidFill>
                          <a:latin typeface="微軟正黑體"/>
                          <a:ea typeface="微軟正黑體"/>
                          <a:cs typeface="微軟正黑體"/>
                        </a:rPr>
                        <a:t>19時滿借維持；16時補空還對應</a:t>
                      </a:r>
                    </a:p>
                  </a:txBody>
                  <a:tcPr marL="91440" marR="91440" marT="45720" marB="45720" anchor="ctr"/>
                </a:tc>
              </a:tr>
              <a:tr h="609600">
                <a:tc>
                  <a:txBody>
                    <a:bodyPr/>
                    <a:lstStyle/>
                    <a:p>
                      <a:pPr algn="l">
                        <a:buNone/>
                      </a:pPr>
                      <a:r>
                        <a:rPr sz="1800">
                          <a:solidFill>
                            <a:srgbClr val="000000"/>
                          </a:solidFill>
                          <a:latin typeface="微軟正黑體"/>
                          <a:ea typeface="微軟正黑體"/>
                          <a:cs typeface="微軟正黑體"/>
                        </a:rPr>
                        <a:t>新北 C</a:t>
                      </a:r>
                    </a:p>
                  </a:txBody>
                  <a:tcPr marL="91440" marR="91440" marT="45720" marB="45720" anchor="ctr"/>
                </a:tc>
                <a:tc>
                  <a:txBody>
                    <a:bodyPr/>
                    <a:lstStyle/>
                    <a:p>
                      <a:pPr algn="l">
                        <a:buNone/>
                      </a:pPr>
                      <a:r>
                        <a:rPr sz="1800">
                          <a:solidFill>
                            <a:srgbClr val="000000"/>
                          </a:solidFill>
                          <a:latin typeface="微軟正黑體"/>
                          <a:ea typeface="微軟正黑體"/>
                          <a:cs typeface="微軟正黑體"/>
                        </a:rPr>
                        <a:t>24.2%</a:t>
                      </a:r>
                    </a:p>
                  </a:txBody>
                  <a:tcPr marL="91440" marR="91440" marT="45720" marB="45720" anchor="ctr">
                    <a:solidFill>
                      <a:srgbClr val="F2D8D7"/>
                    </a:solidFill>
                  </a:tcPr>
                </a:tc>
                <a:tc>
                  <a:txBody>
                    <a:bodyPr/>
                    <a:lstStyle/>
                    <a:p>
                      <a:pPr algn="l">
                        <a:buNone/>
                      </a:pPr>
                      <a:r>
                        <a:rPr sz="1800">
                          <a:solidFill>
                            <a:srgbClr val="000000"/>
                          </a:solidFill>
                          <a:latin typeface="微軟正黑體"/>
                          <a:ea typeface="微軟正黑體"/>
                          <a:cs typeface="微軟正黑體"/>
                        </a:rPr>
                        <a:t>5.7%</a:t>
                      </a:r>
                    </a:p>
                  </a:txBody>
                  <a:tcPr marL="91440" marR="91440" marT="45720" marB="45720" anchor="ctr">
                    <a:solidFill>
                      <a:srgbClr val="D9EAF7"/>
                    </a:solidFill>
                  </a:tcPr>
                </a:tc>
                <a:tc>
                  <a:txBody>
                    <a:bodyPr/>
                    <a:lstStyle/>
                    <a:p>
                      <a:pPr algn="l">
                        <a:buNone/>
                      </a:pPr>
                      <a:r>
                        <a:rPr sz="1800">
                          <a:solidFill>
                            <a:srgbClr val="000000"/>
                          </a:solidFill>
                          <a:latin typeface="微軟正黑體"/>
                          <a:ea typeface="微軟正黑體"/>
                          <a:cs typeface="微軟正黑體"/>
                        </a:rPr>
                        <a:t>94.7%</a:t>
                      </a:r>
                    </a:p>
                  </a:txBody>
                  <a:tcPr marL="91440" marR="91440" marT="45720" marB="45720" anchor="ctr">
                    <a:solidFill>
                      <a:srgbClr val="E2F0D9"/>
                    </a:solidFill>
                  </a:tcPr>
                </a:tc>
                <a:tc>
                  <a:txBody>
                    <a:bodyPr/>
                    <a:lstStyle/>
                    <a:p>
                      <a:pPr algn="l">
                        <a:buNone/>
                      </a:pPr>
                      <a:r>
                        <a:rPr sz="1800">
                          <a:solidFill>
                            <a:srgbClr val="000000"/>
                          </a:solidFill>
                          <a:latin typeface="微軟正黑體"/>
                          <a:ea typeface="微軟正黑體"/>
                          <a:cs typeface="微軟正黑體"/>
                        </a:rPr>
                        <a:t>97.7%</a:t>
                      </a:r>
                    </a:p>
                  </a:txBody>
                  <a:tcPr marL="91440" marR="91440" marT="45720" marB="45720" anchor="ctr">
                    <a:solidFill>
                      <a:srgbClr val="E2F0D9"/>
                    </a:solidFill>
                  </a:tcPr>
                </a:tc>
                <a:tc>
                  <a:txBody>
                    <a:bodyPr/>
                    <a:lstStyle/>
                    <a:p>
                      <a:pPr algn="l">
                        <a:buNone/>
                      </a:pPr>
                      <a:r>
                        <a:rPr sz="1800">
                          <a:solidFill>
                            <a:srgbClr val="000000"/>
                          </a:solidFill>
                          <a:latin typeface="微軟正黑體"/>
                          <a:ea typeface="微軟正黑體"/>
                          <a:cs typeface="微軟正黑體"/>
                        </a:rPr>
                        <a:t>19–20時補滿借；06與16時補空還</a:t>
                      </a:r>
                    </a:p>
                  </a:txBody>
                  <a:tcPr marL="91440" marR="91440" marT="45720" marB="45720" anchor="ctr"/>
                </a:tc>
              </a:tr>
            </a:tbl>
          </a:graphicData>
        </a:graphic>
      </p:graphicFrame>
    </p:spTree>
    <p:extLst>
      <p:ext uri="{BB962C8B-B14F-4D97-AF65-F5344CB8AC3E}">
        <p14:creationId xmlns:p14="http://schemas.microsoft.com/office/powerpoint/2010/main" val="596232435"/>
      </p:ext>
    </p:extLst>
  </p:cSld>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2026-09-14T05:34:04.1280000Z</dcterms:created>
  <dcterms:modified xsi:type="dcterms:W3CDTF">2026-09-14T05:34:04.1280000Z</dcterms:modified>
</coreProperties>
</file>