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c7e02f6544dfc" /><Relationship Type="http://schemas.openxmlformats.org/officeDocument/2006/relationships/extended-properties" Target="/docProps/app.xml" Id="Rd33a6251f1b640f8" /><Relationship Type="http://schemas.openxmlformats.org/officeDocument/2006/relationships/officeDocument" Target="/ppt/presentation.xml" Id="R3b3f278eab42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6120bd56540e3"/>
  </p:sldMasterIdLst>
  <p:notesMasterIdLst>
    <p:notesMasterId xmlns:r="http://schemas.openxmlformats.org/officeDocument/2006/relationships" r:id="R1b3bf4d3a6434eb8"/>
  </p:notesMasterIdLst>
  <p:sldIdLst>
    <p:sldId xmlns:r="http://schemas.openxmlformats.org/officeDocument/2006/relationships" id="256" r:id="Ra30e4043b8bd43d7"/>
    <p:sldId xmlns:r="http://schemas.openxmlformats.org/officeDocument/2006/relationships" id="257" r:id="Raf07b48ec2c04891"/>
    <p:sldId xmlns:r="http://schemas.openxmlformats.org/officeDocument/2006/relationships" id="258" r:id="R871a41d74dca4adb"/>
    <p:sldId xmlns:r="http://schemas.openxmlformats.org/officeDocument/2006/relationships" id="259" r:id="R0f633e706d6b4954"/>
    <p:sldId xmlns:r="http://schemas.openxmlformats.org/officeDocument/2006/relationships" id="260" r:id="Rcc2fd072f8b74d99"/>
    <p:sldId xmlns:r="http://schemas.openxmlformats.org/officeDocument/2006/relationships" id="261" r:id="Rf623927059b64e00"/>
    <p:sldId xmlns:r="http://schemas.openxmlformats.org/officeDocument/2006/relationships" id="262" r:id="Rb3f9aeb7ecda4e83"/>
    <p:sldId xmlns:r="http://schemas.openxmlformats.org/officeDocument/2006/relationships" id="263" r:id="Rb194264694d34776"/>
    <p:sldId xmlns:r="http://schemas.openxmlformats.org/officeDocument/2006/relationships" id="264" r:id="R8728bb1b309a4e0a"/>
    <p:sldId xmlns:r="http://schemas.openxmlformats.org/officeDocument/2006/relationships" id="265" r:id="R7f1fbe25c7ba4296"/>
    <p:sldId xmlns:r="http://schemas.openxmlformats.org/officeDocument/2006/relationships" id="266" r:id="Rfa80e5f20e2a41a5"/>
    <p:sldId xmlns:r="http://schemas.openxmlformats.org/officeDocument/2006/relationships" id="267" r:id="R631c8a4b57374587"/>
    <p:sldId xmlns:r="http://schemas.openxmlformats.org/officeDocument/2006/relationships" id="268" r:id="Ra64519e26785414e"/>
    <p:sldId xmlns:r="http://schemas.openxmlformats.org/officeDocument/2006/relationships" id="269" r:id="R7fd479cce1864491"/>
    <p:sldId xmlns:r="http://schemas.openxmlformats.org/officeDocument/2006/relationships" id="270" r:id="Rd091864c228448e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4de6ccd744ade" /><Relationship Type="http://schemas.openxmlformats.org/officeDocument/2006/relationships/slideMaster" Target="/ppt/slideMasters/slideMaster1.xml" Id="R2436120bd56540e3" /><Relationship Type="http://schemas.openxmlformats.org/officeDocument/2006/relationships/notesMaster" Target="/ppt/notesMasters/notesMaster1.xml" Id="R1b3bf4d3a6434eb8" /><Relationship Type="http://schemas.openxmlformats.org/officeDocument/2006/relationships/presProps" Target="/ppt/presProps.xml" Id="Reffc202ccb0c42e0" /><Relationship Type="http://schemas.openxmlformats.org/officeDocument/2006/relationships/tableStyles" Target="/ppt/tableStyles.xml" Id="R4620646343154ac3" /><Relationship Type="http://schemas.openxmlformats.org/officeDocument/2006/relationships/slide" Target="/ppt/slides/slide1.xml" Id="Ra30e4043b8bd43d7" /><Relationship Type="http://schemas.openxmlformats.org/officeDocument/2006/relationships/slide" Target="/ppt/slides/slide2.xml" Id="Raf07b48ec2c04891" /><Relationship Type="http://schemas.openxmlformats.org/officeDocument/2006/relationships/slide" Target="/ppt/slides/slide3.xml" Id="R871a41d74dca4adb" /><Relationship Type="http://schemas.openxmlformats.org/officeDocument/2006/relationships/slide" Target="/ppt/slides/slide4.xml" Id="R0f633e706d6b4954" /><Relationship Type="http://schemas.openxmlformats.org/officeDocument/2006/relationships/slide" Target="/ppt/slides/slide5.xml" Id="Rcc2fd072f8b74d99" /><Relationship Type="http://schemas.openxmlformats.org/officeDocument/2006/relationships/slide" Target="/ppt/slides/slide6.xml" Id="Rf623927059b64e00" /><Relationship Type="http://schemas.openxmlformats.org/officeDocument/2006/relationships/slide" Target="/ppt/slides/slide7.xml" Id="Rb3f9aeb7ecda4e83" /><Relationship Type="http://schemas.openxmlformats.org/officeDocument/2006/relationships/slide" Target="/ppt/slides/slide8.xml" Id="Rb194264694d34776" /><Relationship Type="http://schemas.openxmlformats.org/officeDocument/2006/relationships/slide" Target="/ppt/slides/slide9.xml" Id="R8728bb1b309a4e0a" /><Relationship Type="http://schemas.openxmlformats.org/officeDocument/2006/relationships/slide" Target="/ppt/slides/slide10.xml" Id="R7f1fbe25c7ba4296" /><Relationship Type="http://schemas.openxmlformats.org/officeDocument/2006/relationships/slide" Target="/ppt/slides/slide11.xml" Id="Rfa80e5f20e2a41a5" /><Relationship Type="http://schemas.openxmlformats.org/officeDocument/2006/relationships/slide" Target="/ppt/slides/slide12.xml" Id="R631c8a4b57374587" /><Relationship Type="http://schemas.openxmlformats.org/officeDocument/2006/relationships/slide" Target="/ppt/slides/slide13.xml" Id="Ra64519e26785414e" /><Relationship Type="http://schemas.openxmlformats.org/officeDocument/2006/relationships/slide" Target="/ppt/slides/slide14.xml" Id="R7fd479cce1864491" /><Relationship Type="http://schemas.openxmlformats.org/officeDocument/2006/relationships/slide" Target="/ppt/slides/slide15.xml" Id="Rd091864c2284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5ebdc71d7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ae5548533427a" /><Relationship Type="http://schemas.openxmlformats.org/officeDocument/2006/relationships/notesMaster" Target="/ppt/notesMasters/notesMaster1.xml" Id="R994ebce8fcc1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86c89699b4cd2" /><Relationship Type="http://schemas.openxmlformats.org/officeDocument/2006/relationships/notesMaster" Target="/ppt/notesMasters/notesMaster1.xml" Id="R7e314468f91145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c4a2b7cdc4707" /><Relationship Type="http://schemas.openxmlformats.org/officeDocument/2006/relationships/notesMaster" Target="/ppt/notesMasters/notesMaster1.xml" Id="R20a5ea781e9f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1253a280e4ba7" /><Relationship Type="http://schemas.openxmlformats.org/officeDocument/2006/relationships/notesMaster" Target="/ppt/notesMasters/notesMaster1.xml" Id="R48525e84108141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4b6684e4694ca8" /><Relationship Type="http://schemas.openxmlformats.org/officeDocument/2006/relationships/notesMaster" Target="/ppt/notesMasters/notesMaster1.xml" Id="Ra5e544da18c147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93e4fc6bb4822" /><Relationship Type="http://schemas.openxmlformats.org/officeDocument/2006/relationships/notesMaster" Target="/ppt/notesMasters/notesMaster1.xml" Id="Rbf465f37343246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ca7caf93c84438" /><Relationship Type="http://schemas.openxmlformats.org/officeDocument/2006/relationships/notesMaster" Target="/ppt/notesMasters/notesMaster1.xml" Id="R20c87d4a05824c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8a84c7d634d55" /><Relationship Type="http://schemas.openxmlformats.org/officeDocument/2006/relationships/notesMaster" Target="/ppt/notesMasters/notesMaster1.xml" Id="Race9416f8d3b4a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4675bea54942dd" /><Relationship Type="http://schemas.openxmlformats.org/officeDocument/2006/relationships/notesMaster" Target="/ppt/notesMasters/notesMaster1.xml" Id="Re02f5a5dae834b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f8ef48cd3a4b58" /><Relationship Type="http://schemas.openxmlformats.org/officeDocument/2006/relationships/notesMaster" Target="/ppt/notesMasters/notesMaster1.xml" Id="R4953f76feb22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73bf9225dc473f" /><Relationship Type="http://schemas.openxmlformats.org/officeDocument/2006/relationships/notesMaster" Target="/ppt/notesMasters/notesMaster1.xml" Id="R75600418774841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9c931b4634f44" /><Relationship Type="http://schemas.openxmlformats.org/officeDocument/2006/relationships/notesMaster" Target="/ppt/notesMasters/notesMaster1.xml" Id="R2b435328c1714f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9dfdd28f6b4f79" /><Relationship Type="http://schemas.openxmlformats.org/officeDocument/2006/relationships/notesMaster" Target="/ppt/notesMasters/notesMaster1.xml" Id="Rfc75254b1ce643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bfc0399f04431f" /><Relationship Type="http://schemas.openxmlformats.org/officeDocument/2006/relationships/notesMaster" Target="/ppt/notesMasters/notesMaster1.xml" Id="R7f79d09fb66c49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3b9264479c4979" /><Relationship Type="http://schemas.openxmlformats.org/officeDocument/2006/relationships/notesMaster" Target="/ppt/notesMasters/notesMaster1.xml" Id="R161cc840b3ed40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本簡報依使用者提供之《臺北工作會議營運報告_3-5v2 (1).pptx》版型與表格架構，更新為2026年6–9月資料；9月為2026-09-01至2026-09-30完整月份。封面不臆測會議次數。資料來源見各頁備註。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章節沿用參考簡報：營運績效分析及場站分群服務水準。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章節分隔頁。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營運管理日報。期間：2026-09-01至2026-09-30。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營運管理日報。期間：2026-08-01至2026-08-31。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營運管理日報。期間：2026-07-01至2026-07-31。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營運管理日報。期間：2026-06-01至2026-06-30。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。月份：2026年4–9月完整月份。月用量採月底當月租借車次；周轉率4–5月沿用參考簡報，6–9月依同口徑計算。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。資料月份：2026年9月完整月。借車方式僅拆解悠遊卡：一般卡＝悠遊卡－月票－敬老；2.0每日租賃方式加總與月底累計差3次，依參考簡報慣例配置至悠遊卡並完成勾稽；2.0E無差異。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營運管理日報、prepared_rows_1159_v2.json。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 營運管理日報、prepared_rows_1159_v2.json。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章節分隔頁。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來源：prepared_rows_1159_v2.json。2026年8–9月臺北市營運中場站6–24時平均見車率。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來源：prepared_rows_1159_v2.json。2026年8–9月臺北市營運中場站6–24時平均見位率。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資料來源：prepared_rows_1159_v2.json（臺北市、營運中場站），2026年8–9月，6–24時平均見位率。E/F名單依參考簡報採不分群門檻：E為82%～&lt;87%，F為&lt;82%。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46cb78b80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3f7216c2a4ce3" /><Relationship Type="http://schemas.openxmlformats.org/officeDocument/2006/relationships/slideLayout" Target="/ppt/slideLayouts/slideLayout1.xml" Id="R38ecbfc06ee9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cbfc06ee9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2d3d23d4418f" /><Relationship Type="http://schemas.openxmlformats.org/officeDocument/2006/relationships/image" Target="/ppt/media/image.png" Id="Re208cff029444419" /><Relationship Type="http://schemas.openxmlformats.org/officeDocument/2006/relationships/image" Target="/ppt/media/image.jpeg" Id="R89afc54d87a44be6" /><Relationship Type="http://schemas.openxmlformats.org/officeDocument/2006/relationships/notesSlide" Target="/ppt/notesSlides/notesSlide1.xml" Id="R04f3f151d5014c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4a7a4017a4c99" /><Relationship Type="http://schemas.openxmlformats.org/officeDocument/2006/relationships/image" Target="/ppt/media/image2.png" Id="Rc74431b0b0644dc2" /><Relationship Type="http://schemas.openxmlformats.org/officeDocument/2006/relationships/notesSlide" Target="/ppt/notesSlides/notesSlide2.xml" Id="R1c8165603be44f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7d3d5762443f9" /><Relationship Type="http://schemas.openxmlformats.org/officeDocument/2006/relationships/image" Target="/ppt/media/image3.png" Id="R2049aec7b369445d" /><Relationship Type="http://schemas.openxmlformats.org/officeDocument/2006/relationships/notesSlide" Target="/ppt/notesSlides/notesSlide3.xml" Id="Re3a66bd080b146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c39b38724b14" /><Relationship Type="http://schemas.openxmlformats.org/officeDocument/2006/relationships/image" Target="/ppt/media/image4.png" Id="Rd658727e10034166" /><Relationship Type="http://schemas.openxmlformats.org/officeDocument/2006/relationships/chart" Target="/ppt/slides/charts/chart1.xml" Id="Re4dc79798bc64615" /><Relationship Type="http://schemas.openxmlformats.org/officeDocument/2006/relationships/chart" Target="/ppt/slides/charts/chart2.xml" Id="R7e036adb15e84699" /><Relationship Type="http://schemas.openxmlformats.org/officeDocument/2006/relationships/notesSlide" Target="/ppt/notesSlides/notesSlide4.xml" Id="R8cfb17dcf0f34c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b138a54c4994" /><Relationship Type="http://schemas.openxmlformats.org/officeDocument/2006/relationships/image" Target="/ppt/media/image5.png" Id="R17148f2ddfcb4430" /><Relationship Type="http://schemas.openxmlformats.org/officeDocument/2006/relationships/chart" Target="/ppt/slides/charts/chart3.xml" Id="R905eae56c96e458d" /><Relationship Type="http://schemas.openxmlformats.org/officeDocument/2006/relationships/chart" Target="/ppt/slides/charts/chart4.xml" Id="Ra54f3d55ad724c12" /><Relationship Type="http://schemas.openxmlformats.org/officeDocument/2006/relationships/notesSlide" Target="/ppt/notesSlides/notesSlide5.xml" Id="R82eea0c352a3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38306e51e4c38" /><Relationship Type="http://schemas.openxmlformats.org/officeDocument/2006/relationships/image" Target="/ppt/media/image6.png" Id="R9b25152479b64cf4" /><Relationship Type="http://schemas.openxmlformats.org/officeDocument/2006/relationships/chart" Target="/ppt/slides/charts/chart5.xml" Id="R0af04812c06e4a06" /><Relationship Type="http://schemas.openxmlformats.org/officeDocument/2006/relationships/chart" Target="/ppt/slides/charts/chart6.xml" Id="Re48ec6faa0d44cc6" /><Relationship Type="http://schemas.openxmlformats.org/officeDocument/2006/relationships/notesSlide" Target="/ppt/notesSlides/notesSlide6.xml" Id="R8892ff813e91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bb71fdce241b7" /><Relationship Type="http://schemas.openxmlformats.org/officeDocument/2006/relationships/image" Target="/ppt/media/image7.png" Id="Rb0535b238e8e4ddd" /><Relationship Type="http://schemas.openxmlformats.org/officeDocument/2006/relationships/chart" Target="/ppt/slides/charts/chart7.xml" Id="R0fff222e84c44e7f" /><Relationship Type="http://schemas.openxmlformats.org/officeDocument/2006/relationships/chart" Target="/ppt/slides/charts/chart8.xml" Id="R87790df75c524e3a" /><Relationship Type="http://schemas.openxmlformats.org/officeDocument/2006/relationships/notesSlide" Target="/ppt/notesSlides/notesSlide7.xml" Id="R7d190cb19fe74b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b4e78eeb64ac5" /><Relationship Type="http://schemas.openxmlformats.org/officeDocument/2006/relationships/image" Target="/ppt/media/image8.png" Id="R494956ccd2d24be2" /><Relationship Type="http://schemas.openxmlformats.org/officeDocument/2006/relationships/chart" Target="/ppt/slides/charts/chart9.xml" Id="R9bb5386ccef2429b" /><Relationship Type="http://schemas.openxmlformats.org/officeDocument/2006/relationships/chart" Target="/ppt/slides/charts/chart10.xml" Id="Rb2e47cdbbca34c9c" /><Relationship Type="http://schemas.openxmlformats.org/officeDocument/2006/relationships/notesSlide" Target="/ppt/notesSlides/notesSlide8.xml" Id="R33d368a2534247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3b4f1e8ee42d1" /><Relationship Type="http://schemas.openxmlformats.org/officeDocument/2006/relationships/image" Target="/ppt/media/image9.png" Id="R9fa4261df48041b6" /><Relationship Type="http://schemas.openxmlformats.org/officeDocument/2006/relationships/chart" Target="/ppt/slides/charts/chart11.xml" Id="R89b83ab2f967486f" /><Relationship Type="http://schemas.openxmlformats.org/officeDocument/2006/relationships/chart" Target="/ppt/slides/charts/chart12.xml" Id="R0e5049ab503c4a84" /><Relationship Type="http://schemas.openxmlformats.org/officeDocument/2006/relationships/notesSlide" Target="/ppt/notesSlides/notesSlide9.xml" Id="R98b409606288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0be5ff0e64148" /><Relationship Type="http://schemas.openxmlformats.org/officeDocument/2006/relationships/image" Target="/ppt/media/image10.png" Id="Rc2b1d586cc094470" /><Relationship Type="http://schemas.openxmlformats.org/officeDocument/2006/relationships/chart" Target="/ppt/slides/charts/chart13.xml" Id="Rb102528b788b47f6" /><Relationship Type="http://schemas.openxmlformats.org/officeDocument/2006/relationships/chart" Target="/ppt/slides/charts/chart14.xml" Id="R6c515beb36e648ae" /><Relationship Type="http://schemas.openxmlformats.org/officeDocument/2006/relationships/notesSlide" Target="/ppt/notesSlides/notesSlide10.xml" Id="R611be30e4ecc4e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45167591b4e8f" /><Relationship Type="http://schemas.openxmlformats.org/officeDocument/2006/relationships/image" Target="/ppt/media/image11.png" Id="R5b87be7ae0814da6" /><Relationship Type="http://schemas.openxmlformats.org/officeDocument/2006/relationships/chart" Target="/ppt/slides/charts/chart15.xml" Id="Rc17cd4cee5a5449b" /><Relationship Type="http://schemas.openxmlformats.org/officeDocument/2006/relationships/chart" Target="/ppt/slides/charts/chart16.xml" Id="R6c0aaa94164c4cf2" /><Relationship Type="http://schemas.openxmlformats.org/officeDocument/2006/relationships/notesSlide" Target="/ppt/notesSlides/notesSlide11.xml" Id="Rd3630089d50b4d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590903fba4724" /><Relationship Type="http://schemas.openxmlformats.org/officeDocument/2006/relationships/image" Target="/ppt/media/image12.png" Id="Rc105452f2a3b4ce9" /><Relationship Type="http://schemas.openxmlformats.org/officeDocument/2006/relationships/notesSlide" Target="/ppt/notesSlides/notesSlide12.xml" Id="Re9d0adba9c114d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4a7b45c2d4e12" /><Relationship Type="http://schemas.openxmlformats.org/officeDocument/2006/relationships/image" Target="/ppt/media/image13.png" Id="R1dd0d3e262274d56" /><Relationship Type="http://schemas.openxmlformats.org/officeDocument/2006/relationships/notesSlide" Target="/ppt/notesSlides/notesSlide13.xml" Id="R9d2b1035afe749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da738e9744e98" /><Relationship Type="http://schemas.openxmlformats.org/officeDocument/2006/relationships/image" Target="/ppt/media/image14.png" Id="R2ec8da1c8a6c42ed" /><Relationship Type="http://schemas.openxmlformats.org/officeDocument/2006/relationships/notesSlide" Target="/ppt/notesSlides/notesSlide14.xml" Id="R9dd15910e6fc41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10d52a254d00" /><Relationship Type="http://schemas.openxmlformats.org/officeDocument/2006/relationships/image" Target="/ppt/media/image15.png" Id="R89ef060865ad471d" /><Relationship Type="http://schemas.openxmlformats.org/officeDocument/2006/relationships/notesSlide" Target="/ppt/notesSlides/notesSlide15.xml" Id="R01ad188e4b42400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#,##0</c:formatCode>
              <c:ptCount val="30"/>
              <c:pt idx="0">
                <c:v>173401</c:v>
              </c:pt>
              <c:pt idx="1">
                <c:v>309417</c:v>
              </c:pt>
              <c:pt idx="2">
                <c:v>70106</c:v>
              </c:pt>
              <c:pt idx="3">
                <c:v>87037</c:v>
              </c:pt>
              <c:pt idx="4">
                <c:v>194593</c:v>
              </c:pt>
              <c:pt idx="5">
                <c:v>73316</c:v>
              </c:pt>
              <c:pt idx="6">
                <c:v>325148</c:v>
              </c:pt>
              <c:pt idx="7">
                <c:v>318370</c:v>
              </c:pt>
              <c:pt idx="8">
                <c:v>303345</c:v>
              </c:pt>
              <c:pt idx="9">
                <c:v>284034</c:v>
              </c:pt>
              <c:pt idx="10">
                <c:v>212352</c:v>
              </c:pt>
              <c:pt idx="11">
                <c:v>228120</c:v>
              </c:pt>
              <c:pt idx="12">
                <c:v>251162</c:v>
              </c:pt>
              <c:pt idx="13">
                <c:v>255044</c:v>
              </c:pt>
              <c:pt idx="14">
                <c:v>303497</c:v>
              </c:pt>
              <c:pt idx="15">
                <c:v>324608</c:v>
              </c:pt>
              <c:pt idx="16">
                <c:v>319886</c:v>
              </c:pt>
              <c:pt idx="17">
                <c:v>329763</c:v>
              </c:pt>
              <c:pt idx="18">
                <c:v>278146</c:v>
              </c:pt>
              <c:pt idx="19">
                <c:v>244325</c:v>
              </c:pt>
              <c:pt idx="20">
                <c:v>311273</c:v>
              </c:pt>
              <c:pt idx="21">
                <c:v>313142</c:v>
              </c:pt>
              <c:pt idx="22">
                <c:v>322530</c:v>
              </c:pt>
              <c:pt idx="23">
                <c:v>320774</c:v>
              </c:pt>
              <c:pt idx="24">
                <c:v>212421</c:v>
              </c:pt>
              <c:pt idx="25">
                <c:v>215779</c:v>
              </c:pt>
              <c:pt idx="26">
                <c:v>216680</c:v>
              </c:pt>
              <c:pt idx="27">
                <c:v>221239</c:v>
              </c:pt>
              <c:pt idx="28">
                <c:v>314215</c:v>
              </c:pt>
              <c:pt idx="29">
                <c:v>325959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</c:formatCode>
              <c:ptCount val="30"/>
              <c:pt idx="0">
                <c:v>6.2761</c:v>
              </c:pt>
              <c:pt idx="1">
                <c:v>11.199</c:v>
              </c:pt>
              <c:pt idx="2">
                <c:v>2.5374</c:v>
              </c:pt>
              <c:pt idx="3">
                <c:v>3.1502</c:v>
              </c:pt>
              <c:pt idx="4">
                <c:v>7.0431</c:v>
              </c:pt>
              <c:pt idx="5">
                <c:v>2.6536</c:v>
              </c:pt>
              <c:pt idx="6">
                <c:v>11.7684</c:v>
              </c:pt>
              <c:pt idx="7">
                <c:v>11.523</c:v>
              </c:pt>
              <c:pt idx="8">
                <c:v>10.9792</c:v>
              </c:pt>
              <c:pt idx="9">
                <c:v>10.2803</c:v>
              </c:pt>
              <c:pt idx="10">
                <c:v>7.6858</c:v>
              </c:pt>
              <c:pt idx="11">
                <c:v>8.2565</c:v>
              </c:pt>
              <c:pt idx="12">
                <c:v>9.0905</c:v>
              </c:pt>
              <c:pt idx="13">
                <c:v>9.231</c:v>
              </c:pt>
              <c:pt idx="14">
                <c:v>10.9847</c:v>
              </c:pt>
              <c:pt idx="15">
                <c:v>11.7488</c:v>
              </c:pt>
              <c:pt idx="16">
                <c:v>11.5779</c:v>
              </c:pt>
              <c:pt idx="17">
                <c:v>11.9354</c:v>
              </c:pt>
              <c:pt idx="18">
                <c:v>10.0672</c:v>
              </c:pt>
              <c:pt idx="19">
                <c:v>8.8431</c:v>
              </c:pt>
              <c:pt idx="20">
                <c:v>11.2662</c:v>
              </c:pt>
              <c:pt idx="21">
                <c:v>11.3338</c:v>
              </c:pt>
              <c:pt idx="22">
                <c:v>11.6736</c:v>
              </c:pt>
              <c:pt idx="23">
                <c:v>11.61</c:v>
              </c:pt>
              <c:pt idx="24">
                <c:v>7.6883</c:v>
              </c:pt>
              <c:pt idx="25">
                <c:v>7.8099</c:v>
              </c:pt>
              <c:pt idx="26">
                <c:v>7.8425</c:v>
              </c:pt>
              <c:pt idx="27">
                <c:v>8.0075</c:v>
              </c:pt>
              <c:pt idx="28">
                <c:v>11.3727</c:v>
              </c:pt>
              <c:pt idx="29">
                <c:v>11.7977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#,##0</c:formatCode>
              <c:ptCount val="31"/>
              <c:pt idx="0">
                <c:v>246301</c:v>
              </c:pt>
              <c:pt idx="1">
                <c:v>221550</c:v>
              </c:pt>
              <c:pt idx="2">
                <c:v>282607</c:v>
              </c:pt>
              <c:pt idx="3">
                <c:v>295340</c:v>
              </c:pt>
              <c:pt idx="4">
                <c:v>303120</c:v>
              </c:pt>
              <c:pt idx="5">
                <c:v>291543</c:v>
              </c:pt>
              <c:pt idx="6">
                <c:v>296277</c:v>
              </c:pt>
              <c:pt idx="7">
                <c:v>141337</c:v>
              </c:pt>
              <c:pt idx="8">
                <c:v>110086</c:v>
              </c:pt>
              <c:pt idx="9">
                <c:v>230588</c:v>
              </c:pt>
              <c:pt idx="10">
                <c:v>289004</c:v>
              </c:pt>
              <c:pt idx="11">
                <c:v>296832</c:v>
              </c:pt>
              <c:pt idx="12">
                <c:v>285267</c:v>
              </c:pt>
              <c:pt idx="13">
                <c:v>268295</c:v>
              </c:pt>
              <c:pt idx="14">
                <c:v>198163</c:v>
              </c:pt>
              <c:pt idx="15">
                <c:v>203155</c:v>
              </c:pt>
              <c:pt idx="16">
                <c:v>288900</c:v>
              </c:pt>
              <c:pt idx="17">
                <c:v>281993</c:v>
              </c:pt>
              <c:pt idx="18">
                <c:v>210410</c:v>
              </c:pt>
              <c:pt idx="19">
                <c:v>176618</c:v>
              </c:pt>
              <c:pt idx="20">
                <c:v>181717</c:v>
              </c:pt>
              <c:pt idx="21">
                <c:v>169044</c:v>
              </c:pt>
              <c:pt idx="22">
                <c:v>211627</c:v>
              </c:pt>
              <c:pt idx="23">
                <c:v>126030</c:v>
              </c:pt>
              <c:pt idx="24">
                <c:v>185554</c:v>
              </c:pt>
              <c:pt idx="25">
                <c:v>305792</c:v>
              </c:pt>
              <c:pt idx="26">
                <c:v>295671</c:v>
              </c:pt>
              <c:pt idx="27">
                <c:v>303995</c:v>
              </c:pt>
              <c:pt idx="28">
                <c:v>193439</c:v>
              </c:pt>
              <c:pt idx="29">
                <c:v>234613</c:v>
              </c:pt>
              <c:pt idx="30">
                <c:v>293454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0.0</c:formatCode>
              <c:ptCount val="31"/>
              <c:pt idx="0">
                <c:v>8.9766</c:v>
              </c:pt>
              <c:pt idx="1">
                <c:v>8.0746</c:v>
              </c:pt>
              <c:pt idx="2">
                <c:v>10.2998</c:v>
              </c:pt>
              <c:pt idx="3">
                <c:v>10.7639</c:v>
              </c:pt>
              <c:pt idx="4">
                <c:v>11.0475</c:v>
              </c:pt>
              <c:pt idx="5">
                <c:v>10.6255</c:v>
              </c:pt>
              <c:pt idx="6">
                <c:v>10.7981</c:v>
              </c:pt>
              <c:pt idx="7">
                <c:v>5.1511</c:v>
              </c:pt>
              <c:pt idx="8">
                <c:v>4.0122</c:v>
              </c:pt>
              <c:pt idx="9">
                <c:v>8.404</c:v>
              </c:pt>
              <c:pt idx="10">
                <c:v>10.533</c:v>
              </c:pt>
              <c:pt idx="11">
                <c:v>10.8183</c:v>
              </c:pt>
              <c:pt idx="12">
                <c:v>10.3968</c:v>
              </c:pt>
              <c:pt idx="13">
                <c:v>9.7782</c:v>
              </c:pt>
              <c:pt idx="14">
                <c:v>7.2222</c:v>
              </c:pt>
              <c:pt idx="15">
                <c:v>7.4041</c:v>
              </c:pt>
              <c:pt idx="16">
                <c:v>10.5292</c:v>
              </c:pt>
              <c:pt idx="17">
                <c:v>10.2775</c:v>
              </c:pt>
              <c:pt idx="18">
                <c:v>7.6686</c:v>
              </c:pt>
              <c:pt idx="19">
                <c:v>6.437</c:v>
              </c:pt>
              <c:pt idx="20">
                <c:v>6.6228</c:v>
              </c:pt>
              <c:pt idx="21">
                <c:v>6.1609</c:v>
              </c:pt>
              <c:pt idx="22">
                <c:v>7.7129</c:v>
              </c:pt>
              <c:pt idx="23">
                <c:v>4.5933</c:v>
              </c:pt>
              <c:pt idx="24">
                <c:v>6.7627</c:v>
              </c:pt>
              <c:pt idx="25">
                <c:v>11.1448</c:v>
              </c:pt>
              <c:pt idx="26">
                <c:v>10.776</c:v>
              </c:pt>
              <c:pt idx="27">
                <c:v>11.0793</c:v>
              </c:pt>
              <c:pt idx="28">
                <c:v>7.05</c:v>
              </c:pt>
              <c:pt idx="29">
                <c:v>8.5507</c:v>
              </c:pt>
              <c:pt idx="30">
                <c:v>10.6952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#,##0</c:formatCode>
              <c:ptCount val="31"/>
              <c:pt idx="0">
                <c:v>291541</c:v>
              </c:pt>
              <c:pt idx="1">
                <c:v>269361</c:v>
              </c:pt>
              <c:pt idx="2">
                <c:v>280200</c:v>
              </c:pt>
              <c:pt idx="3">
                <c:v>244588</c:v>
              </c:pt>
              <c:pt idx="4">
                <c:v>203827</c:v>
              </c:pt>
              <c:pt idx="5">
                <c:v>244006</c:v>
              </c:pt>
              <c:pt idx="6">
                <c:v>291473</c:v>
              </c:pt>
              <c:pt idx="7">
                <c:v>300105</c:v>
              </c:pt>
              <c:pt idx="8">
                <c:v>307281</c:v>
              </c:pt>
              <c:pt idx="9">
                <c:v>13607</c:v>
              </c:pt>
              <c:pt idx="10">
                <c:v>0</c:v>
              </c:pt>
              <c:pt idx="11">
                <c:v>202840</c:v>
              </c:pt>
              <c:pt idx="12">
                <c:v>247396</c:v>
              </c:pt>
              <c:pt idx="13">
                <c:v>276324</c:v>
              </c:pt>
              <c:pt idx="14">
                <c:v>285432</c:v>
              </c:pt>
              <c:pt idx="15">
                <c:v>279917</c:v>
              </c:pt>
              <c:pt idx="16">
                <c:v>269555</c:v>
              </c:pt>
              <c:pt idx="17">
                <c:v>245640</c:v>
              </c:pt>
              <c:pt idx="18">
                <c:v>175717</c:v>
              </c:pt>
              <c:pt idx="19">
                <c:v>222284</c:v>
              </c:pt>
              <c:pt idx="20">
                <c:v>249808</c:v>
              </c:pt>
              <c:pt idx="21">
                <c:v>294158</c:v>
              </c:pt>
              <c:pt idx="22">
                <c:v>298620</c:v>
              </c:pt>
              <c:pt idx="23">
                <c:v>301673</c:v>
              </c:pt>
              <c:pt idx="24">
                <c:v>253694</c:v>
              </c:pt>
              <c:pt idx="25">
                <c:v>226118</c:v>
              </c:pt>
              <c:pt idx="26">
                <c:v>282266</c:v>
              </c:pt>
              <c:pt idx="27">
                <c:v>287877</c:v>
              </c:pt>
              <c:pt idx="28">
                <c:v>300126</c:v>
              </c:pt>
              <c:pt idx="29">
                <c:v>305082</c:v>
              </c:pt>
              <c:pt idx="30">
                <c:v>305126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0.0</c:formatCode>
              <c:ptCount val="31"/>
              <c:pt idx="0">
                <c:v>10.8764</c:v>
              </c:pt>
              <c:pt idx="1">
                <c:v>10.0489</c:v>
              </c:pt>
              <c:pt idx="2">
                <c:v>10.4533</c:v>
              </c:pt>
              <c:pt idx="3">
                <c:v>9.0394</c:v>
              </c:pt>
              <c:pt idx="4">
                <c:v>7.533</c:v>
              </c:pt>
              <c:pt idx="5">
                <c:v>9.0179</c:v>
              </c:pt>
              <c:pt idx="6">
                <c:v>10.7722</c:v>
              </c:pt>
              <c:pt idx="7">
                <c:v>11.0912</c:v>
              </c:pt>
              <c:pt idx="8">
                <c:v>11.3564</c:v>
              </c:pt>
              <c:pt idx="9">
                <c:v>0.5029</c:v>
              </c:pt>
              <c:pt idx="10">
                <c:v>0</c:v>
              </c:pt>
              <c:pt idx="11">
                <c:v>7.4965</c:v>
              </c:pt>
              <c:pt idx="12">
                <c:v>9.1432</c:v>
              </c:pt>
              <c:pt idx="13">
                <c:v>10.2123</c:v>
              </c:pt>
              <c:pt idx="14">
                <c:v>10.5489</c:v>
              </c:pt>
              <c:pt idx="15">
                <c:v>10.3451</c:v>
              </c:pt>
              <c:pt idx="16">
                <c:v>9.9621</c:v>
              </c:pt>
              <c:pt idx="17">
                <c:v>9.0783</c:v>
              </c:pt>
              <c:pt idx="18">
                <c:v>6.4941</c:v>
              </c:pt>
              <c:pt idx="19">
                <c:v>8.2151</c:v>
              </c:pt>
              <c:pt idx="20">
                <c:v>9.2323</c:v>
              </c:pt>
              <c:pt idx="21">
                <c:v>10.8714</c:v>
              </c:pt>
              <c:pt idx="22">
                <c:v>11.0363</c:v>
              </c:pt>
              <c:pt idx="23">
                <c:v>11.1491</c:v>
              </c:pt>
              <c:pt idx="24">
                <c:v>9.2461</c:v>
              </c:pt>
              <c:pt idx="25">
                <c:v>8.2411</c:v>
              </c:pt>
              <c:pt idx="26">
                <c:v>10.2874</c:v>
              </c:pt>
              <c:pt idx="27">
                <c:v>10.4919</c:v>
              </c:pt>
              <c:pt idx="28">
                <c:v>10.9383</c:v>
              </c:pt>
              <c:pt idx="29">
                <c:v>11.119</c:v>
              </c:pt>
              <c:pt idx="30">
                <c:v>11.1206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#,##0</c:formatCode>
              <c:ptCount val="30"/>
              <c:pt idx="0">
                <c:v>306065</c:v>
              </c:pt>
              <c:pt idx="1">
                <c:v>304752</c:v>
              </c:pt>
              <c:pt idx="2">
                <c:v>296968</c:v>
              </c:pt>
              <c:pt idx="3">
                <c:v>195141</c:v>
              </c:pt>
              <c:pt idx="4">
                <c:v>79538</c:v>
              </c:pt>
              <c:pt idx="5">
                <c:v>250689</c:v>
              </c:pt>
              <c:pt idx="6">
                <c:v>189482</c:v>
              </c:pt>
              <c:pt idx="7">
                <c:v>161652</c:v>
              </c:pt>
              <c:pt idx="8">
                <c:v>94654</c:v>
              </c:pt>
              <c:pt idx="9">
                <c:v>160186</c:v>
              </c:pt>
              <c:pt idx="10">
                <c:v>175739</c:v>
              </c:pt>
              <c:pt idx="11">
                <c:v>153701</c:v>
              </c:pt>
              <c:pt idx="12">
                <c:v>259654</c:v>
              </c:pt>
              <c:pt idx="13">
                <c:v>118365</c:v>
              </c:pt>
              <c:pt idx="14">
                <c:v>269017</c:v>
              </c:pt>
              <c:pt idx="15">
                <c:v>257050</c:v>
              </c:pt>
              <c:pt idx="16">
                <c:v>250711</c:v>
              </c:pt>
              <c:pt idx="17">
                <c:v>236809</c:v>
              </c:pt>
              <c:pt idx="18">
                <c:v>213298</c:v>
              </c:pt>
              <c:pt idx="19">
                <c:v>223747</c:v>
              </c:pt>
              <c:pt idx="20">
                <c:v>209198</c:v>
              </c:pt>
              <c:pt idx="21">
                <c:v>280332</c:v>
              </c:pt>
              <c:pt idx="22">
                <c:v>292403</c:v>
              </c:pt>
              <c:pt idx="23">
                <c:v>292278</c:v>
              </c:pt>
              <c:pt idx="24">
                <c:v>141397</c:v>
              </c:pt>
              <c:pt idx="25">
                <c:v>117317</c:v>
              </c:pt>
              <c:pt idx="26">
                <c:v>139485</c:v>
              </c:pt>
              <c:pt idx="27">
                <c:v>166829</c:v>
              </c:pt>
              <c:pt idx="28">
                <c:v>284386</c:v>
              </c:pt>
              <c:pt idx="29">
                <c:v>285598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</c:formatCode>
              <c:ptCount val="30"/>
              <c:pt idx="0">
                <c:v>11.4182</c:v>
              </c:pt>
              <c:pt idx="1">
                <c:v>11.3692</c:v>
              </c:pt>
              <c:pt idx="2">
                <c:v>11.0788</c:v>
              </c:pt>
              <c:pt idx="3">
                <c:v>7.28</c:v>
              </c:pt>
              <c:pt idx="4">
                <c:v>2.9673</c:v>
              </c:pt>
              <c:pt idx="5">
                <c:v>9.3523</c:v>
              </c:pt>
              <c:pt idx="6">
                <c:v>7.0689</c:v>
              </c:pt>
              <c:pt idx="7">
                <c:v>6.0307</c:v>
              </c:pt>
              <c:pt idx="8">
                <c:v>3.5312</c:v>
              </c:pt>
              <c:pt idx="9">
                <c:v>5.976</c:v>
              </c:pt>
              <c:pt idx="10">
                <c:v>6.5562</c:v>
              </c:pt>
              <c:pt idx="11">
                <c:v>5.734</c:v>
              </c:pt>
              <c:pt idx="12">
                <c:v>9.6868</c:v>
              </c:pt>
              <c:pt idx="13">
                <c:v>4.4158</c:v>
              </c:pt>
              <c:pt idx="14">
                <c:v>10.0361</c:v>
              </c:pt>
              <c:pt idx="15">
                <c:v>9.5896</c:v>
              </c:pt>
              <c:pt idx="16">
                <c:v>9.3531</c:v>
              </c:pt>
              <c:pt idx="17">
                <c:v>8.8345</c:v>
              </c:pt>
              <c:pt idx="18">
                <c:v>7.9574</c:v>
              </c:pt>
              <c:pt idx="19">
                <c:v>8.3472</c:v>
              </c:pt>
              <c:pt idx="20">
                <c:v>7.8044</c:v>
              </c:pt>
              <c:pt idx="21">
                <c:v>10.4582</c:v>
              </c:pt>
              <c:pt idx="22">
                <c:v>10.9085</c:v>
              </c:pt>
              <c:pt idx="23">
                <c:v>10.9039</c:v>
              </c:pt>
              <c:pt idx="24">
                <c:v>5.275</c:v>
              </c:pt>
              <c:pt idx="25">
                <c:v>4.3767</c:v>
              </c:pt>
              <c:pt idx="26">
                <c:v>5.2037</c:v>
              </c:pt>
              <c:pt idx="27">
                <c:v>6.2238</c:v>
              </c:pt>
              <c:pt idx="28">
                <c:v>10.6094</c:v>
              </c:pt>
              <c:pt idx="29">
                <c:v>10.6547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</c:formatCode>
              <c:ptCount val="6"/>
              <c:pt idx="0">
                <c:v>9.41</c:v>
              </c:pt>
              <c:pt idx="1">
                <c:v>9.98</c:v>
              </c:pt>
              <c:pt idx="2">
                <c:v>7.96672387</c:v>
              </c:pt>
              <c:pt idx="3">
                <c:v>9.22323603</c:v>
              </c:pt>
              <c:pt idx="4">
                <c:v>8.72150702</c:v>
              </c:pt>
              <c:pt idx="5">
                <c:v>9.2411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5"/>
        </c:scaling>
        <c:delete val="0"/>
        <c:axPos val="r"/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臺北租賃方式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pieChart>
        <c:ser>
          <c:idx val="0"/>
          <c:order val="0"/>
          <c:tx>
            <c:v>臺北租賃方式</c:v>
          </c:tx>
          <c:dPt>
            <c:idx val="0"/>
            <c:spPr>
              <a:solidFill xmlns:a="http://schemas.openxmlformats.org/drawingml/2006/main">
                <a:srgbClr val="4F81BD"/>
              </a:solidFill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</c:spPr>
          </c:dPt>
          <c:dPt>
            <c:idx val="2"/>
            <c:spPr>
              <a:solidFill xmlns:a="http://schemas.openxmlformats.org/drawingml/2006/main">
                <a:srgbClr val="9BBB59"/>
              </a:solidFill>
            </c:spPr>
          </c:dPt>
          <c:dPt>
            <c:idx val="3"/>
            <c:spPr>
              <a:solidFill xmlns:a="http://schemas.openxmlformats.org/drawingml/2006/main">
                <a:srgbClr val="8064A2"/>
              </a:solidFill>
            </c:spPr>
          </c:dPt>
          <c:dPt>
            <c:idx val="4"/>
            <c:spPr>
              <a:solidFill xmlns:a="http://schemas.openxmlformats.org/drawingml/2006/main">
                <a:srgbClr val="4BACC6"/>
              </a:solidFill>
            </c:spPr>
          </c:dPt>
          <c:dPt>
            <c:idx val="5"/>
            <c:spPr>
              <a:solidFill xmlns:a="http://schemas.openxmlformats.org/drawingml/2006/main">
                <a:srgbClr val="F79646"/>
              </a:solidFill>
            </c:spPr>
          </c:dPt>
          <c:dPt>
            <c:idx val="6"/>
            <c:spPr>
              <a:solidFill xmlns:a="http://schemas.openxmlformats.org/drawingml/2006/main">
                <a:srgbClr val="FCD5B4"/>
              </a:solidFill>
            </c:spPr>
          </c:dPt>
          <c:cat>
            <c:strLit>
              <c:ptCount val="5"/>
              <c:pt idx="0">
                <c:v>悠遊卡</c:v>
              </c:pt>
              <c:pt idx="1">
                <c:v>掃碼租車</c:v>
              </c:pt>
              <c:pt idx="2">
                <c:v>一卡通</c:v>
              </c:pt>
              <c:pt idx="3">
                <c:v>悠遊付</c:v>
              </c:pt>
              <c:pt idx="4">
                <c:v>單次租車</c:v>
              </c:pt>
            </c:strLit>
          </c:cat>
          <c:val>
            <c:numLit>
              <c:formatCode>General</c:formatCode>
              <c:ptCount val="5"/>
              <c:pt idx="0">
                <c:v>5985089</c:v>
              </c:pt>
              <c:pt idx="1">
                <c:v>1100657</c:v>
              </c:pt>
              <c:pt idx="2">
                <c:v>309682</c:v>
              </c:pt>
              <c:pt idx="3">
                <c:v>245155</c:v>
              </c:pt>
              <c:pt idx="4">
                <c:v>19102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悠遊卡借車方式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pieChart>
        <c:ser>
          <c:idx val="0"/>
          <c:order val="0"/>
          <c:tx>
            <c:v>悠遊卡借車方式</c:v>
          </c:tx>
          <c:dPt>
            <c:idx val="0"/>
            <c:spPr>
              <a:solidFill xmlns:a="http://schemas.openxmlformats.org/drawingml/2006/main">
                <a:srgbClr val="4F81BD"/>
              </a:solidFill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</c:spPr>
          </c:dPt>
          <c:dPt>
            <c:idx val="2"/>
            <c:spPr>
              <a:solidFill xmlns:a="http://schemas.openxmlformats.org/drawingml/2006/main">
                <a:srgbClr val="9BBB59"/>
              </a:solidFill>
            </c:spPr>
          </c:dPt>
          <c:cat>
            <c:strLit>
              <c:ptCount val="3"/>
              <c:pt idx="0">
                <c:v>一般卡</c:v>
              </c:pt>
              <c:pt idx="1">
                <c:v>月票</c:v>
              </c:pt>
              <c:pt idx="2">
                <c:v>敬老</c:v>
              </c:pt>
            </c:strLit>
          </c:cat>
          <c:val>
            <c:numLit>
              <c:formatCode>General</c:formatCode>
              <c:ptCount val="3"/>
              <c:pt idx="0">
                <c:v>4085209</c:v>
              </c:pt>
              <c:pt idx="1">
                <c:v>1190824</c:v>
              </c:pt>
              <c:pt idx="2">
                <c:v>709056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見車率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0.00%</c:formatCode>
              <c:ptCount val="6"/>
              <c:pt idx="0">
                <c:v>0.9552</c:v>
              </c:pt>
              <c:pt idx="1">
                <c:v>0.9439</c:v>
              </c:pt>
              <c:pt idx="2">
                <c:v>0.96257967</c:v>
              </c:pt>
              <c:pt idx="3">
                <c:v>0.95449915</c:v>
              </c:pt>
              <c:pt idx="4">
                <c:v>0.95923493</c:v>
              </c:pt>
              <c:pt idx="5">
                <c:v>0.94670526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"/>
        </c:scaling>
        <c:delete val="0"/>
        <c:axPos val="r"/>
        <c:numFmt formatCode="0.0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見位率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0.00%</c:formatCode>
              <c:ptCount val="6"/>
              <c:pt idx="0">
                <c:v>0.9818</c:v>
              </c:pt>
              <c:pt idx="1">
                <c:v>0.9807</c:v>
              </c:pt>
              <c:pt idx="2">
                <c:v>0.98270017</c:v>
              </c:pt>
              <c:pt idx="3">
                <c:v>0.97893697</c:v>
              </c:pt>
              <c:pt idx="4">
                <c:v>0.97928507</c:v>
              </c:pt>
              <c:pt idx="5">
                <c:v>0.98088087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5"/>
        </c:scaling>
        <c:delete val="0"/>
        <c:axPos val="r"/>
        <c:numFmt formatCode="0.0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8cff029444419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1AFAD-0143-4441-9FF9-F010EB21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臺北市公共自行車租賃系統建置及營運管理工作小組會議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D4938-1234-48C5-8577-B2BCEC9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7505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</a:t>
            </a:r>
          </a:p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建置及營運管理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F5942-976E-4890-8300-3B06CF3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71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2026年6–9月營運報告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CC52-AB04-449D-8016-16E9A796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9月完整資料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fc54d87a44be6"/>
          <a:stretch xmlns:a="http://schemas.openxmlformats.org/drawingml/2006/main"/>
        </p:blipFill>
        <p:spPr>
          <a:xfrm xmlns:a="http://schemas.openxmlformats.org/drawingml/2006/main">
            <a:off x="3286125" y="4749089"/>
            <a:ext cx="2571750" cy="9793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65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431b0b0644dc2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2">
            <a:extLst xmlns:a="http://schemas.openxmlformats.org/drawingml/2006/main">
              <a:ext uri="{FF2B5EF4-FFF2-40B4-BE49-F238E27FC236}">
                <a16:creationId xmlns:a16="http://schemas.microsoft.com/office/drawing/2014/main" id="{35D0DE5F-CAC3-4679-9205-9BC0290C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3" name="標題-報告議題大綱">
            <a:extLst xmlns:a="http://schemas.openxmlformats.org/drawingml/2006/main">
              <a:ext uri="{FF2B5EF4-FFF2-40B4-BE49-F238E27FC236}">
                <a16:creationId xmlns:a16="http://schemas.microsoft.com/office/drawing/2014/main" id="{011A723E-41ED-4BF9-B76D-6482DE24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報告議題大綱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2B89C-F47C-4C3A-BDA6-2D72F13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一、YouBike 2.0營運績效分析報告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二、場站分群服務水準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1397776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9aec7b369445d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233A0-42E3-4E8F-A7C6-7DBC7A9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議題一：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F676-49A9-404E-A387-0E6634C2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YouBike 2.0營運績效分析報告</a:t>
            </a:r>
          </a:p>
        </p:txBody>
      </p:sp>
    </p:spTree>
    <p:extLst>
      <p:ext uri="{BB962C8B-B14F-4D97-AF65-F5344CB8AC3E}">
        <p14:creationId xmlns:p14="http://schemas.microsoft.com/office/powerpoint/2010/main" val="1810518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8727e10034166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4">
            <a:extLst xmlns:a="http://schemas.openxmlformats.org/drawingml/2006/main">
              <a:ext uri="{FF2B5EF4-FFF2-40B4-BE49-F238E27FC236}">
                <a16:creationId xmlns:a16="http://schemas.microsoft.com/office/drawing/2014/main" id="{D08308B8-04F9-4683-BD22-18845AD9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3" name="標題-臺北市－2.0周轉率(9月)">
            <a:extLst xmlns:a="http://schemas.openxmlformats.org/drawingml/2006/main">
              <a:ext uri="{FF2B5EF4-FFF2-40B4-BE49-F238E27FC236}">
                <a16:creationId xmlns:a16="http://schemas.microsoft.com/office/drawing/2014/main" id="{D833BC11-3AD6-4A43-9019-DB983BE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臺北市－2.0周轉率(9月)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3238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230,299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25,024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255,323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23,129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27,629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60E8C-436D-458F-9BCF-79FC7E6A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66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9月總用量 766.0萬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較8月 +3.3%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日均用量 25.5萬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C2090-881E-40AC-90F5-682B3A9E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9/1～9/30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dc79798bc64615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036adb15e8469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2C24E-66CC-496C-B789-1D2ABE6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E63A7-8468-475C-8858-D7C6C70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FB936-A9A6-4AA8-889C-853CF7A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42885-8F56-48F7-B8C0-F2F6320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6D497-927F-47C0-A3E4-BCB1E3F6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30D0B-0A0E-4E6D-8B3D-5479882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2980A-50C7-440E-A0B3-CBDAE73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C4720-7C51-4C3C-90BC-F05A0B79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C60C1-398D-42D6-8142-8D39813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C6793-E419-43BD-867D-B5564E7F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6AF72-52F5-49ED-8E09-E9C2191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71A07-47F4-4C1A-99EF-010EE4E1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CFB54-69F1-40CE-8FA7-692C49F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55F0F-4D6F-45A7-8A53-D48CC72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58008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48f2ddfcb4430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5">
            <a:extLst xmlns:a="http://schemas.openxmlformats.org/drawingml/2006/main">
              <a:ext uri="{FF2B5EF4-FFF2-40B4-BE49-F238E27FC236}">
                <a16:creationId xmlns:a16="http://schemas.microsoft.com/office/drawing/2014/main" id="{BE3ED376-4109-4C49-952A-C09761FB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3" name="標題-臺北市－2.0周轉率(8月)">
            <a:extLst xmlns:a="http://schemas.openxmlformats.org/drawingml/2006/main">
              <a:ext uri="{FF2B5EF4-FFF2-40B4-BE49-F238E27FC236}">
                <a16:creationId xmlns:a16="http://schemas.microsoft.com/office/drawing/2014/main" id="{67546CDA-92D2-4F57-9BDF-185922F3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臺北市－2.0周轉率(8月)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3238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6,707,856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710,468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7,418,324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216,382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239,301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5E76D-28CA-483D-A7C8-EF686F63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429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8月總用量 741.8萬</a:t>
            </a:r>
          </a:p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較7月 -4.3%</a:t>
            </a:r>
          </a:p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5355-1607-4CAA-AE3A-CE82038B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8/1～8/31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5eae56c96e458d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4f3d55ad724c1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D606F-37F9-4569-A09C-FEA49A2F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A2F01-B52E-472E-83FF-3FA0686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350E0-DB36-4124-BCA1-08F2CD2C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6DDA7-0D7E-4A24-88B8-70A0A6B9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A5A37-B143-4623-A681-2CCAB0E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B4643-1134-40DE-BF63-F95B6B83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1EC3D-8AE6-42FA-B2E7-7BC8BF3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4C5AD-6FDA-4A0B-93FB-DB4F17B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98252-C06F-4D42-B596-B31727A4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CF319-818D-4B0A-846E-C0FCAB2E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C1C96-F796-4A03-8C24-989F625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2C51F-952E-4BEE-A738-3A92FE1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AF790-C92B-40E1-ADFC-FA6967F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A2894-14C8-48E2-99E8-E9972E3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41985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5152479b64cf4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6">
            <a:extLst xmlns:a="http://schemas.openxmlformats.org/drawingml/2006/main">
              <a:ext uri="{FF2B5EF4-FFF2-40B4-BE49-F238E27FC236}">
                <a16:creationId xmlns:a16="http://schemas.microsoft.com/office/drawing/2014/main" id="{91E60928-BCFE-4749-8E64-A5ECB2B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3" name="標題-臺北市－2.0周轉率(7月)">
            <a:extLst xmlns:a="http://schemas.openxmlformats.org/drawingml/2006/main">
              <a:ext uri="{FF2B5EF4-FFF2-40B4-BE49-F238E27FC236}">
                <a16:creationId xmlns:a16="http://schemas.microsoft.com/office/drawing/2014/main" id="{588E8A9E-07FF-4AD4-AA78-9C4BB01E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臺北市－2.0周轉率(7月)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23812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7,081,532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674,111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7,755,643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228,437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21,746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250,182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06CC7-D579-4942-8139-840BFF7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7/1～7/31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04812c06e4a06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8ec6faa0d44cc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3001D-8852-49FD-ADBF-DB97BCD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46BA-BDC5-4FF5-8F36-3BAAC194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2FDC8-BBE8-4CF3-AFDA-28D56748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A7562-448B-40FB-89CC-3E4107BF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0358C-24AD-4306-A07E-672BAFA4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6B438-A5C6-4CE0-A134-4CFF0C7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FD60D-CCDE-492D-B0B7-D80ECC5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E829E-704D-4988-8848-3460440E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2D206-D71E-4D13-8CEF-1C730B48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CE28F-273E-45EA-ACF1-CAC582C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9CF53-DBFF-4426-BD84-28ED637A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82BDE-4FF0-4BD4-B540-920018B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51B35-1EBA-42B7-858F-83037B6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EC251-F635-4AD8-B478-5B80E6BD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445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35b238e8e4ddd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7">
            <a:extLst xmlns:a="http://schemas.openxmlformats.org/drawingml/2006/main">
              <a:ext uri="{FF2B5EF4-FFF2-40B4-BE49-F238E27FC236}">
                <a16:creationId xmlns:a16="http://schemas.microsoft.com/office/drawing/2014/main" id="{AB493124-21F5-4735-A0CD-4E32AD93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3" name="標題-臺北市－2.0周轉率(6月)">
            <a:extLst xmlns:a="http://schemas.openxmlformats.org/drawingml/2006/main">
              <a:ext uri="{FF2B5EF4-FFF2-40B4-BE49-F238E27FC236}">
                <a16:creationId xmlns:a16="http://schemas.microsoft.com/office/drawing/2014/main" id="{04ACBC84-FFF7-477F-9CFD-29F9D3D3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臺北市－2.0周轉率(6月)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23812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5,970,966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435,473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6,406,439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199,032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213,548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3.77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7.97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26,805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D6390-213D-43F2-817F-B64F450F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6/1～6/30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f222e84c44e7f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790df75c524e3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11120-EEEC-47C2-8983-8C9D257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AB48D-F567-4ECC-B238-EF1EC89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1160C-513B-4BAE-80A3-853DA7F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34843-361D-4A3E-BCC3-670A53A2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97387-46C4-4260-8BED-F77715B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11F0F-2A04-474F-88B0-78B3EBC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30254-838A-4B01-8535-6D14F14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4D0B6-4C3D-4D0C-A4EC-5120CA1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554A2-FFA6-4141-A7EB-2CEB0B1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07E84-8AA8-498C-979D-F73C348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794AC-DF37-44B8-93E9-F77254B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35AB7-F948-45D5-A11B-5457C3E1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5265B-239F-4759-AFD4-F049E319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D2A3E-FE97-40CF-A3DF-EAA1D0B5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0013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956ccd2d24be2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8">
            <a:extLst xmlns:a="http://schemas.openxmlformats.org/drawingml/2006/main">
              <a:ext uri="{FF2B5EF4-FFF2-40B4-BE49-F238E27FC236}">
                <a16:creationId xmlns:a16="http://schemas.microsoft.com/office/drawing/2014/main" id="{5BCE2C3B-059D-40CC-BA14-124ADE2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3" name="標題-臺北市 - 近六個月使用狀況">
            <a:extLst xmlns:a="http://schemas.openxmlformats.org/drawingml/2006/main">
              <a:ext uri="{FF2B5EF4-FFF2-40B4-BE49-F238E27FC236}">
                <a16:creationId xmlns:a16="http://schemas.microsoft.com/office/drawing/2014/main" id="{A58F57FE-72CF-4CC4-81FB-F06C8F1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b5386ccef2429b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e47cdbbca34c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BD52F-DCF8-4A88-81C5-BFB14251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7F0BB-3379-47B6-846B-1CD00FE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CA0C3-FE74-4F57-B97F-103443FB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E6F0B-14B8-4222-A472-A08D61C9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C5818-E5DD-4030-AE2B-BB76E18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A1080-68D3-4525-B0D0-D08ED08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54CCF-C0BB-4D93-8D27-66E30E0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8F6E0-905A-4F0A-B2D9-44F0EB2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7DE71-E024-492E-984D-8E98991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51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4C3E5-6BE6-49B2-99CC-82A0C0A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9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7015E-6795-4EF8-9F70-E26654F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23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C0336-4CAA-4868-A513-5D57D21F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5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8373A-0091-40B8-95BB-0DB4977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94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A94FB-2447-4C54-9B03-918CFFB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3EE2E-CC19-42EA-8CD8-3E6C79D1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4–9月累計 4482.7萬次</a:t>
            </a:r>
          </a:p>
        </p:txBody>
      </p:sp>
    </p:spTree>
    <p:extLst>
      <p:ext uri="{BB962C8B-B14F-4D97-AF65-F5344CB8AC3E}">
        <p14:creationId xmlns:p14="http://schemas.microsoft.com/office/powerpoint/2010/main" val="1410937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4261df48041b6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9">
            <a:extLst xmlns:a="http://schemas.openxmlformats.org/drawingml/2006/main">
              <a:ext uri="{FF2B5EF4-FFF2-40B4-BE49-F238E27FC236}">
                <a16:creationId xmlns:a16="http://schemas.microsoft.com/office/drawing/2014/main" id="{5B70650F-1A2E-482C-B95B-9422F9A4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3" name="標題-卡片使用狀況（9月）">
            <a:extLst xmlns:a="http://schemas.openxmlformats.org/drawingml/2006/main">
              <a:ext uri="{FF2B5EF4-FFF2-40B4-BE49-F238E27FC236}">
                <a16:creationId xmlns:a16="http://schemas.microsoft.com/office/drawing/2014/main" id="{0BC0F44A-FBC3-45B6-9B7A-DC84470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卡片使用狀況（9月）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361950" y="590550"/>
          <a:ext xmlns:a="http://schemas.openxmlformats.org/drawingml/2006/main" cx="4095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3938"/>
                <a:gridCol w="1023938"/>
                <a:gridCol w="1023938"/>
                <a:gridCol w="1023938"/>
              </a:tblGrid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租賃方式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悠遊卡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掃碼租車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990,341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110,316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1,100,657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一卡通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285,856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23,826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309,682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悠遊付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229,624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15,531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245,155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單次租車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14,520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4,582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19,102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4953000" y="590550"/>
          <a:ext xmlns:a="http://schemas.openxmlformats.org/drawingml/2006/main" cx="3857625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4406"/>
                <a:gridCol w="964406"/>
                <a:gridCol w="964406"/>
                <a:gridCol w="964406"/>
              </a:tblGrid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借車方式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一般卡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3,802,405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282,804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4,085,209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月票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1,142,126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48,698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1,190,824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敬老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444,084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264,972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709,056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3429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83ab2f967486f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91125" y="3143250"/>
          <a:ext xmlns:a="http://schemas.openxmlformats.org/drawingml/2006/main" cx="3143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049ab503c4a84"/>
          </a:graphicData>
        </a:graphic>
      </p:graphicFrame>
    </p:spTree>
    <p:extLst>
      <p:ext uri="{BB962C8B-B14F-4D97-AF65-F5344CB8AC3E}">
        <p14:creationId xmlns:p14="http://schemas.microsoft.com/office/powerpoint/2010/main" val="1087913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1d586cc094470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0">
            <a:extLst xmlns:a="http://schemas.openxmlformats.org/drawingml/2006/main">
              <a:ext uri="{FF2B5EF4-FFF2-40B4-BE49-F238E27FC236}">
                <a16:creationId xmlns:a16="http://schemas.microsoft.com/office/drawing/2014/main" id="{976DDD91-4693-4018-82EA-7371474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3" name="標題-使用次數／見車率">
            <a:extLst xmlns:a="http://schemas.openxmlformats.org/drawingml/2006/main">
              <a:ext uri="{FF2B5EF4-FFF2-40B4-BE49-F238E27FC236}">
                <a16:creationId xmlns:a16="http://schemas.microsoft.com/office/drawing/2014/main" id="{9BA2E46A-FC2A-40AB-B1C7-27A8F83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2528b788b47f6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515beb36e648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273B3-201A-495F-B9A9-D2C541E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43683-9126-42D7-9632-DDC197F1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B8948-655D-41D7-A55D-1495A13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A53B-77B9-4E63-9781-F0BD6F75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B9971-BCA4-4A2B-8E85-01319FAC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A4162-9AA0-4034-A5A3-D9ED3C3B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C887C-7193-42D4-A4D2-F91B9C9B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見車率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1B09E-FD5E-4118-95D9-30E7117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D647C-377A-40F1-86BD-10E6145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AE421-14C2-48A2-91A1-F9C52CF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72233-0A9A-4C80-B441-7FBD9CA2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D6090-2A8F-4F72-996B-064ACB49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EA3D8-6CC2-44E2-8353-FC0ACD7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8FCD4-CB75-4D60-98C5-B20D4C25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94.67%</a:t>
            </a:r>
          </a:p>
        </p:txBody>
      </p:sp>
    </p:spTree>
    <p:extLst>
      <p:ext uri="{BB962C8B-B14F-4D97-AF65-F5344CB8AC3E}">
        <p14:creationId xmlns:p14="http://schemas.microsoft.com/office/powerpoint/2010/main" val="860746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be7ae0814da6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1">
            <a:extLst xmlns:a="http://schemas.openxmlformats.org/drawingml/2006/main">
              <a:ext uri="{FF2B5EF4-FFF2-40B4-BE49-F238E27FC236}">
                <a16:creationId xmlns:a16="http://schemas.microsoft.com/office/drawing/2014/main" id="{0E9F1BFB-06E0-48A9-8404-A34CB73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3" name="標題-使用次數／見位率">
            <a:extLst xmlns:a="http://schemas.openxmlformats.org/drawingml/2006/main">
              <a:ext uri="{FF2B5EF4-FFF2-40B4-BE49-F238E27FC236}">
                <a16:creationId xmlns:a16="http://schemas.microsoft.com/office/drawing/2014/main" id="{FB9D4125-3AC9-49C9-AB01-B0335E4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7cd4cee5a5449b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0aaa94164c4cf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7C3B6-2432-4355-AEF1-094AB9C6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08EF5-4907-43AD-A9F6-5DC6B9A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CD3AA-552F-46CC-B319-4DF9ED66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B03F0-5341-498C-86B1-39D9F1A2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2CD2F-9D22-4DAC-BBBE-A286C4A2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BEA37-ABC2-48A2-B342-731F9AA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ED55F-E31C-4F67-B43F-066B63A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見位率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BC6F1-1A2E-41B5-8ADB-CE2354F2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FCB7F-6488-47E7-BB4E-521A8FA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101BB-21E2-4107-96DA-0179B86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3D0E5-7A36-45E9-95D1-223D4D36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D0A63-28B8-4BB2-A585-9E0F796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777DE-EB2F-4506-8672-A1D7651A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1F3A4-870C-4984-A7BC-85FE18B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98.09%</a:t>
            </a:r>
          </a:p>
        </p:txBody>
      </p:sp>
    </p:spTree>
    <p:extLst>
      <p:ext uri="{BB962C8B-B14F-4D97-AF65-F5344CB8AC3E}">
        <p14:creationId xmlns:p14="http://schemas.microsoft.com/office/powerpoint/2010/main" val="1435453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452f2a3b4ce9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FB62-F88B-42C7-995D-1C66875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議題二：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B6972-A152-4BB8-9EC1-06851992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1320587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0d3e262274d56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3">
            <a:extLst xmlns:a="http://schemas.openxmlformats.org/drawingml/2006/main">
              <a:ext uri="{FF2B5EF4-FFF2-40B4-BE49-F238E27FC236}">
                <a16:creationId xmlns:a16="http://schemas.microsoft.com/office/drawing/2014/main" id="{6F54608F-4483-4CA0-AF64-C627DE2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3" name="標題-現有營運場站見車率分群">
            <a:extLst xmlns:a="http://schemas.openxmlformats.org/drawingml/2006/main">
              <a:ext uri="{FF2B5EF4-FFF2-40B4-BE49-F238E27FC236}">
                <a16:creationId xmlns:a16="http://schemas.microsoft.com/office/drawing/2014/main" id="{9B195BC8-3B54-417E-B2CA-2FCC04C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現有營運場站見車率分群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666750"/>
          <a:ext xmlns:a="http://schemas.openxmlformats.org/drawingml/2006/main" cx="7905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7625"/>
                <a:gridCol w="1317625"/>
                <a:gridCol w="1317625"/>
                <a:gridCol w="1317625"/>
                <a:gridCol w="1317625"/>
                <a:gridCol w="1317625"/>
              </a:tblGrid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見車率≥0.93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0.87≤見車率&lt;0.93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0.83–0.93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0.82–0.92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0.87–0.93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0.78≤見車率&lt;0.87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0.72–0.83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0.73–0.82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0.75–0.85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0.78–0.87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0.68≤見車率&lt;0.78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0.63–0.72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0.64–0.73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0.67–0.75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0.72–0.78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0.58≤見車率&lt;0.68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0.55–0.63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0.57–0.64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0.60–0.67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0.65–0.72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見車率&lt;0.58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" y="3009900"/>
          <a:ext xmlns:a="http://schemas.openxmlformats.org/drawingml/2006/main" cx="89916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</a:tblGrid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-91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5C3BC-EFEA-4CE4-80D3-1B7B0A3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不分群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0F166-9061-496A-A5CD-F10BB0A2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1-15柱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50F50-764F-4F69-828D-572E082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16-25柱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9D8E-3C9F-4DEE-A52D-0D58426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26-40柱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978E-D1FD-4F0B-8DF6-63FEED0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40柱以上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B6ACC-A0F3-40C2-8536-D7436A1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總計</a:t>
            </a:r>
          </a:p>
        </p:txBody>
      </p:sp>
    </p:spTree>
    <p:extLst>
      <p:ext uri="{BB962C8B-B14F-4D97-AF65-F5344CB8AC3E}">
        <p14:creationId xmlns:p14="http://schemas.microsoft.com/office/powerpoint/2010/main" val="14754231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8da1c8a6c42ed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4">
            <a:extLst xmlns:a="http://schemas.openxmlformats.org/drawingml/2006/main">
              <a:ext uri="{FF2B5EF4-FFF2-40B4-BE49-F238E27FC236}">
                <a16:creationId xmlns:a16="http://schemas.microsoft.com/office/drawing/2014/main" id="{D16FA1B8-B407-491C-A20E-01F042BA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3" name="標題-現有營運場站見位率分群">
            <a:extLst xmlns:a="http://schemas.openxmlformats.org/drawingml/2006/main">
              <a:ext uri="{FF2B5EF4-FFF2-40B4-BE49-F238E27FC236}">
                <a16:creationId xmlns:a16="http://schemas.microsoft.com/office/drawing/2014/main" id="{F7A9C6D8-678F-496A-958B-8218A65D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現有營運場站見位率分群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666750"/>
          <a:ext xmlns:a="http://schemas.openxmlformats.org/drawingml/2006/main" cx="7905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7625"/>
                <a:gridCol w="1317625"/>
                <a:gridCol w="1317625"/>
                <a:gridCol w="1317625"/>
                <a:gridCol w="1317625"/>
                <a:gridCol w="1317625"/>
              </a:tblGrid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見位率≥0.98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0.93≤見位率&lt;0.98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0.93–0.98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0.95–0.98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0.97–0.98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0.90≤見位率&lt;0.93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0.95–0.97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0.87≤見位率&lt;0.90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0.80–0.85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0.87–0.90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0.82≤見位率&lt;0.87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0.75–0.80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0.82–0.87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0.80–0.85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見位率&lt;0.82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" y="3009900"/>
          <a:ext xmlns:a="http://schemas.openxmlformats.org/drawingml/2006/main" cx="89916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</a:tblGrid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B4730-E95A-4670-8DAE-F1D9821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不分群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FE33F-7377-4505-85B3-CDE1C40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1-15柱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F8793-ABEA-4EBB-BBC7-20F46457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16-25柱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D2DF-40CB-40C9-B8F1-D91568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26-40柱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2640A-4CE2-4345-B5CC-915F442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40柱以上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64A8F-A348-4269-9589-97F3BA2E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總計</a:t>
            </a:r>
          </a:p>
        </p:txBody>
      </p:sp>
    </p:spTree>
    <p:extLst>
      <p:ext uri="{BB962C8B-B14F-4D97-AF65-F5344CB8AC3E}">
        <p14:creationId xmlns:p14="http://schemas.microsoft.com/office/powerpoint/2010/main" val="16506426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f060865ad471d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5">
            <a:extLst xmlns:a="http://schemas.openxmlformats.org/drawingml/2006/main">
              <a:ext uri="{FF2B5EF4-FFF2-40B4-BE49-F238E27FC236}">
                <a16:creationId xmlns:a16="http://schemas.microsoft.com/office/drawing/2014/main" id="{003BFFBA-3472-43F2-98A4-01809D4C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3" name="標題-8–9月見位率E、F級名單">
            <a:extLst xmlns:a="http://schemas.openxmlformats.org/drawingml/2006/main">
              <a:ext uri="{FF2B5EF4-FFF2-40B4-BE49-F238E27FC236}">
                <a16:creationId xmlns:a16="http://schemas.microsoft.com/office/drawing/2014/main" id="{A77FACB3-9634-43B0-A1A2-A41A32B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8–9月見位率E、F級名單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33350" y="1162050"/>
          <a:ext xmlns:a="http://schemas.openxmlformats.org/drawingml/2006/main" cx="88773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9663"/>
                <a:gridCol w="1109663"/>
                <a:gridCol w="1109663"/>
                <a:gridCol w="1109663"/>
                <a:gridCol w="1109663"/>
                <a:gridCol w="1109663"/>
                <a:gridCol w="1109663"/>
                <a:gridCol w="1109663"/>
              </a:tblGrid>
              <a:tr h="5143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8月場站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9月場站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基隆長興路口東側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環河南和平西路口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臺靜農人文會館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松高路(信義新天地A4館)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朝陽公園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羅斯福路三段245號前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臥龍街195巷口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臺灣師範大學(浦城街)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忠駝公園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41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2026-10-05T07:38:44.6590000Z</dcterms:created>
  <dcterms:modified xsi:type="dcterms:W3CDTF">2026-10-05T07:38:44.6590000Z</dcterms:modified>
</coreProperties>
</file>