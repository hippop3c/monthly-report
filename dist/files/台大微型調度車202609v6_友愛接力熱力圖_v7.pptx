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353950829642d2" /><Relationship Type="http://schemas.openxmlformats.org/officeDocument/2006/relationships/extended-properties" Target="/docProps/app.xml" Id="Rcda906270ec84258" /><Relationship Type="http://schemas.openxmlformats.org/officeDocument/2006/relationships/officeDocument" Target="/ppt/presentation.xml" Id="R8b56abd2b5204d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d0929cabd943ce"/>
  </p:sldMasterIdLst>
  <p:notesMasterIdLst>
    <p:notesMasterId xmlns:r="http://schemas.openxmlformats.org/officeDocument/2006/relationships" r:id="Rc7e263f0a9294477"/>
  </p:notesMasterIdLst>
  <p:sldIdLst>
    <p:sldId xmlns:r="http://schemas.openxmlformats.org/officeDocument/2006/relationships" id="256" r:id="R9be1ab6e796a4217"/>
    <p:sldId xmlns:r="http://schemas.openxmlformats.org/officeDocument/2006/relationships" id="257" r:id="R50cf769f34874e6f"/>
    <p:sldId xmlns:r="http://schemas.openxmlformats.org/officeDocument/2006/relationships" id="258" r:id="R87d7c29b5df046cb"/>
    <p:sldId xmlns:r="http://schemas.openxmlformats.org/officeDocument/2006/relationships" id="259" r:id="Rb0d251e0dda14f91"/>
    <p:sldId xmlns:r="http://schemas.openxmlformats.org/officeDocument/2006/relationships" id="260" r:id="R117f4a0854e64028"/>
    <p:sldId xmlns:r="http://schemas.openxmlformats.org/officeDocument/2006/relationships" id="261" r:id="R312a834523904a80"/>
    <p:sldId xmlns:r="http://schemas.openxmlformats.org/officeDocument/2006/relationships" id="262" r:id="Rfe9c6878aaa4404a"/>
    <p:sldId xmlns:r="http://schemas.openxmlformats.org/officeDocument/2006/relationships" id="263" r:id="R9e8f4605a7014206"/>
    <p:sldId xmlns:r="http://schemas.openxmlformats.org/officeDocument/2006/relationships" id="264" r:id="Rb6690cb7b8834c44"/>
    <p:sldId xmlns:r="http://schemas.openxmlformats.org/officeDocument/2006/relationships" id="265" r:id="Ra3219633f200479d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bc2a17de004796" /><Relationship Type="http://schemas.openxmlformats.org/officeDocument/2006/relationships/slideMaster" Target="/ppt/slideMasters/slideMaster1.xml" Id="R49d0929cabd943ce" /><Relationship Type="http://schemas.openxmlformats.org/officeDocument/2006/relationships/notesMaster" Target="/ppt/notesMasters/notesMaster1.xml" Id="Rc7e263f0a9294477" /><Relationship Type="http://schemas.openxmlformats.org/officeDocument/2006/relationships/presProps" Target="/ppt/presProps.xml" Id="R71d14bdaf7014900" /><Relationship Type="http://schemas.openxmlformats.org/officeDocument/2006/relationships/viewProps" Target="/ppt/viewProps.xml" Id="R7f3f3294d26a4963" /><Relationship Type="http://schemas.openxmlformats.org/officeDocument/2006/relationships/tableStyles" Target="/ppt/tableStyles.xml" Id="Ra9c3310d3214461f" /><Relationship Type="http://schemas.openxmlformats.org/officeDocument/2006/relationships/slide" Target="/ppt/slides/slide1.xml" Id="R9be1ab6e796a4217" /><Relationship Type="http://schemas.openxmlformats.org/officeDocument/2006/relationships/slide" Target="/ppt/slides/slide2.xml" Id="R50cf769f34874e6f" /><Relationship Type="http://schemas.openxmlformats.org/officeDocument/2006/relationships/slide" Target="/ppt/slides/slide3.xml" Id="R87d7c29b5df046cb" /><Relationship Type="http://schemas.openxmlformats.org/officeDocument/2006/relationships/slide" Target="/ppt/slides/slide4.xml" Id="Rb0d251e0dda14f91" /><Relationship Type="http://schemas.openxmlformats.org/officeDocument/2006/relationships/slide" Target="/ppt/slides/slide5.xml" Id="R117f4a0854e64028" /><Relationship Type="http://schemas.openxmlformats.org/officeDocument/2006/relationships/slide" Target="/ppt/slides/slide6.xml" Id="R312a834523904a80" /><Relationship Type="http://schemas.openxmlformats.org/officeDocument/2006/relationships/slide" Target="/ppt/slides/slide7.xml" Id="Rfe9c6878aaa4404a" /><Relationship Type="http://schemas.openxmlformats.org/officeDocument/2006/relationships/slide" Target="/ppt/slides/slide8.xml" Id="R9e8f4605a7014206" /><Relationship Type="http://schemas.openxmlformats.org/officeDocument/2006/relationships/slide" Target="/ppt/slides/slide9.xml" Id="Rb6690cb7b8834c44" /><Relationship Type="http://schemas.openxmlformats.org/officeDocument/2006/relationships/slide" Target="/ppt/slides/slide10.xml" Id="Ra3219633f20047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0e3adc700947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ad42090e9e44a1" /><Relationship Type="http://schemas.openxmlformats.org/officeDocument/2006/relationships/notesMaster" Target="/ppt/notesMasters/notesMaster1.xml" Id="Re5bf1921cc194a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d9cef7fc08447c" /><Relationship Type="http://schemas.openxmlformats.org/officeDocument/2006/relationships/notesMaster" Target="/ppt/notesMasters/notesMaster1.xml" Id="R68558c5457a942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00db76e3ea486c" /><Relationship Type="http://schemas.openxmlformats.org/officeDocument/2006/relationships/notesMaster" Target="/ppt/notesMasters/notesMaster1.xml" Id="R2b6e6cb1e7ce40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2d980fe96642a1" /><Relationship Type="http://schemas.openxmlformats.org/officeDocument/2006/relationships/notesMaster" Target="/ppt/notesMasters/notesMaster1.xml" Id="R50d2d6cdb1ee47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a83838c05543c0" /><Relationship Type="http://schemas.openxmlformats.org/officeDocument/2006/relationships/notesMaster" Target="/ppt/notesMasters/notesMaster1.xml" Id="Re299ab4dcc044a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fc961967c74847" /><Relationship Type="http://schemas.openxmlformats.org/officeDocument/2006/relationships/notesMaster" Target="/ppt/notesMasters/notesMaster1.xml" Id="R9034c6d8a5a941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729fc24b704636" /><Relationship Type="http://schemas.openxmlformats.org/officeDocument/2006/relationships/notesMaster" Target="/ppt/notesMasters/notesMaster1.xml" Id="R76cb786872314d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b5b7f12a694b83" /><Relationship Type="http://schemas.openxmlformats.org/officeDocument/2006/relationships/notesMaster" Target="/ppt/notesMasters/notesMaster1.xml" Id="R64c954d0d0ec4a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a844effd454d51" /><Relationship Type="http://schemas.openxmlformats.org/officeDocument/2006/relationships/notesMaster" Target="/ppt/notesMasters/notesMaster1.xml" Id="Ra23393a1f4014e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bcde821cb04f9f" /><Relationship Type="http://schemas.openxmlformats.org/officeDocument/2006/relationships/notesMaster" Target="/ppt/notesMasters/notesMaster1.xml" Id="R16687628d0f742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見車率/見位率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見車率/見位率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見車率/見位率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見車率/見位率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覆蓋率概念示意。地圖沿用既有『雙北 YouBike 各站半小時動態熱力圖 V7版』之 Leaflet／OpenStreetMap 底圖與原始四色標記：滿借橘紅、空還綠、調出／綁車藍、調入／解綁車紫。畫面條件為2026年9月平日、雙北、08:00–08:29、場站平日日均用量大於100次，僅作判讀示意。統計單位為場站×日期×小時，同站同小時多次事件只算一個站時。滿借同向調度含調出與綁車；空還同向調度含調入與解綁車。假設例10個站時中3個覆蓋，用於說明比率算法。地圖來源：本專案 youbike-hourly-heatmap／friendly-relay-v7；底圖 © OpenStreetMap contributors，https://www.openstreetmap.org/copyright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資料期間：2026年7–8月平日，06:00–23:59。覆蓋率＝同站×同日×同小時發生事件且存在同向調度的站時數÷事件站時數。滿借同向為調出或綁車，空還同向為調入或解綁車。台北市分級：A≥200、B 100–199、C&lt;100。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資料期間：2026-07-01 至 2026-08-31，僅納入有效平日。</a:t>
            </a:r>
          </a:p>
          <a:p xmlns:a="http://schemas.openxmlformats.org/drawingml/2006/main">
            <a:r>
              <a:t>有效日：7月22日、8月21日，共43日；7月10日無可用資料。</a:t>
            </a:r>
          </a:p>
          <a:p xmlns:a="http://schemas.openxmlformats.org/drawingml/2006/main">
            <a:r>
              <a:t>每一數值為同一場站、同一日期、同一小時、同一指標去重後的站日數除以43。</a:t>
            </a:r>
          </a:p>
          <a:p xmlns:a="http://schemas.openxmlformats.org/drawingml/2006/main">
            <a:r>
              <a:t>調出包含調出與解綁／解車；調入包含調入與綁車。</a:t>
            </a:r>
          </a:p>
          <a:p xmlns:a="http://schemas.openxmlformats.org/drawingml/2006/main">
            <a:r>
              <a:t>分級依各月平日日均用量：台北 A≥200、B 100–199、C&lt;100；新北 A≥100、B 50–99、C&lt;50。</a:t>
            </a:r>
          </a:p>
          <a:p xmlns:a="http://schemas.openxmlformats.org/drawingml/2006/main">
            <a:r>
              <a:t>來源：CPS RewardLog、VDS 人員作業明細及既有7–8月友愛接力分級資料。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資料期間：2026年7–8月平日，06:00–23:59。覆蓋率＝同站×同日×同小時發生事件且存在同向調度的站時數÷事件站時數。滿借同向為調出或綁車，空還同向為調入或解綁車。新北市分級：A≥100、B 50–99、C&lt;50。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資料期間：2026-07-01 至 2026-08-31，僅納入有效平日。</a:t>
            </a:r>
          </a:p>
          <a:p xmlns:a="http://schemas.openxmlformats.org/drawingml/2006/main">
            <a:r>
              <a:t>有效日：7月22日、8月21日，共43日；7月10日無可用資料。</a:t>
            </a:r>
          </a:p>
          <a:p xmlns:a="http://schemas.openxmlformats.org/drawingml/2006/main">
            <a:r>
              <a:t>每一數值為同一場站、同一日期、同一小時、同一指標去重後的站日數除以43。</a:t>
            </a:r>
          </a:p>
          <a:p xmlns:a="http://schemas.openxmlformats.org/drawingml/2006/main">
            <a:r>
              <a:t>調出包含調出與解綁／解車；調入包含調入與綁車。</a:t>
            </a:r>
          </a:p>
          <a:p xmlns:a="http://schemas.openxmlformats.org/drawingml/2006/main">
            <a:r>
              <a:t>分級依各月平日日均用量：台北 A≥200、B 100–199、C&lt;100；新北 A≥100、B 50–99、C&lt;50。</a:t>
            </a:r>
          </a:p>
          <a:p xmlns:a="http://schemas.openxmlformats.org/drawingml/2006/main">
            <a:r>
              <a:t>來源：CPS RewardLog、VDS 人員作業明細及既有7–8月友愛接力分級資料。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資料期間：2026年7–8月平日，06:00–23:59。台北分級：A日均用量≥200、B 100–199、C&lt;100；新北分級：A≥100、B 50–99、C&lt;50。覆蓋率來源：CPS RewardLog與VDS；見車／見位率來源：Report逐站逐時可用站日觀測。建議為描述性統計推導，執行後仍需用相同日期條件驗證。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93c19dbc2d4ce9" /><Relationship Type="http://schemas.openxmlformats.org/officeDocument/2006/relationships/image" Target="/ppt/media/image.png" Id="R3783e5862c4240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ee4f8c353a4eb5" /><Relationship Type="http://schemas.openxmlformats.org/officeDocument/2006/relationships/image" Target="/ppt/media/image2.png" Id="Rd675d838d5754037" /><Relationship Type="http://schemas.openxmlformats.org/officeDocument/2006/relationships/image" Target="/ppt/media/image3.png" Id="R33787304eb3743f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b1ec47a3ab457c" /></Relationships>
</file>

<file path=ppt/slideLayouts/slideLayout1.xml><?xml version="1.0" encoding="utf-8"?>
<p:sldLayout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3DEAEFC7-384A-45B6-9212-B12F000CE7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676D72A9-9C30-43E5-8E50-C658597268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D6C59149-1C1E-47A6-A5FB-8AE3DA0F11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6F19A45-BA0D-45DE-A687-A591EF4A02CE}" type="slidenum">
              <a:t>‹#›</a:t>
            </a:fld>
            <a:endParaRPr/>
          </a:p>
        </p:txBody>
      </p:sp>
      <p:pic>
        <p:nvPicPr>
          <p:cNvPr id="11" name="圖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3e5862c4240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4884462"/>
            <a:ext cx="9144001" cy="200092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773CCBC9-AA66-44CC-A841-61FE07F3B22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052738"/>
            <a:ext cx="8229600" cy="50734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微軟正黑體"/>
                <a:ea typeface="微軟正黑體"/>
                <a:cs typeface="微軟正黑體"/>
              </a:defRPr>
            </a:lvl1pPr>
            <a:lvl2pPr>
              <a:buNone/>
              <a:defRPr>
                <a:latin typeface="微軟正黑體"/>
                <a:ea typeface="微軟正黑體"/>
                <a:cs typeface="微軟正黑體"/>
              </a:defRPr>
            </a:lvl2pPr>
            <a:lvl3pPr>
              <a:buNone/>
              <a:defRPr>
                <a:latin typeface="微軟正黑體"/>
                <a:ea typeface="微軟正黑體"/>
                <a:cs typeface="微軟正黑體"/>
              </a:defRPr>
            </a:lvl3pPr>
            <a:lvl4pPr>
              <a:buNone/>
              <a:defRPr>
                <a:latin typeface="微軟正黑體"/>
                <a:ea typeface="微軟正黑體"/>
                <a:cs typeface="微軟正黑體"/>
              </a:defRPr>
            </a:lvl4pPr>
            <a:lvl5pPr>
              <a:buNone/>
              <a:defRPr>
                <a:latin typeface="微軟正黑體"/>
                <a:ea typeface="微軟正黑體"/>
                <a:cs typeface="微軟正黑體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5BFC3CCE-7F2F-4BA3-945A-E887C73AE4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7B9B70ED-2069-4764-88C7-2B75EFCEB6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E9498B34-9E33-443E-A369-F7D593C33F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018040" y="5733258"/>
            <a:ext cx="87444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軟正黑體"/>
                <a:ea typeface="微軟正黑體"/>
                <a:cs typeface="微軟正黑體"/>
              </a:defRPr>
            </a:lvl1pPr>
          </a:lstStyle>
          <a:p xmlns:a="http://schemas.openxmlformats.org/drawingml/2006/main">
            <a:fld id="{06F19A45-BA0D-45DE-A687-A591EF4A02CE}" type="slidenum">
              <a:t>‹#›</a:t>
            </a:fld>
            <a:endParaRPr/>
          </a:p>
        </p:txBody>
      </p:sp>
      <p:sp>
        <p:nvSpPr>
          <p:cNvPr id="9" name="標題 10">
            <a:extLst xmlns:a="http://schemas.openxmlformats.org/drawingml/2006/main">
              <a:ext uri="{FF2B5EF4-FFF2-40B4-BE49-F238E27FC236}">
                <a16:creationId xmlns:a16="http://schemas.microsoft.com/office/drawing/2014/main" id="{5C063A1E-C9F7-4B11-A407-3C753BAC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544" y="30571"/>
            <a:ext cx="2314600" cy="9807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</a:pPr>
            <a:endParaRPr sz="3600" b="1">
              <a:solidFill>
                <a:schemeClr val="tx1">
                  <a:lumMod val="50000"/>
                  <a:lumOff val="50000"/>
                </a:schemeClr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77DA8B1-471F-4762-9217-5BCBF93A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4736"/>
            <a:ext cx="9144000" cy="233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C4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pic>
        <p:nvPicPr>
          <p:cNvPr id="25" name="圖片 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675d838d5754037"/>
          <a:srcRect xmlns:a="http://schemas.openxmlformats.org/drawingml/2006/main" l="0" t="-4376" r="0" b="-1"/>
          <a:stretch xmlns:a="http://schemas.openxmlformats.org/drawingml/2006/main"/>
        </p:blipFill>
        <p:spPr>
          <a:xfrm xmlns:a="http://schemas.openxmlformats.org/drawingml/2006/main">
            <a:off x="0" y="4941168"/>
            <a:ext cx="9143999" cy="1616764"/>
          </a:xfrm>
          <a:prstGeom xmlns:a="http://schemas.openxmlformats.org/drawingml/2006/main" prst="rect">
            <a:avLst/>
          </a:prstGeom>
        </p:spPr>
      </p:pic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C0F815C-BEF6-5646-BD65-C1F93FD4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537" y="836713"/>
            <a:ext cx="8352928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pic>
        <p:nvPicPr>
          <p:cNvPr id="27" name="圖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787304eb3743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03567" y="198024"/>
            <a:ext cx="1026465" cy="63868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userDrawn="1">
  <p:cSld name="1_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424F98B3-2A23-4762-AEA9-F100CC6CD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ea"/>
                <a:ea typeface="+mn-ea"/>
                <a:cs typeface="+mn-ea"/>
              </a:defRPr>
            </a:lvl1pPr>
            <a:lvl2pPr>
              <a:buNone/>
              <a:defRPr>
                <a:latin typeface="+mn-ea"/>
                <a:ea typeface="+mn-ea"/>
                <a:cs typeface="+mn-ea"/>
              </a:defRPr>
            </a:lvl2pPr>
            <a:lvl3pPr>
              <a:buNone/>
              <a:defRPr>
                <a:latin typeface="+mn-ea"/>
                <a:ea typeface="+mn-ea"/>
                <a:cs typeface="+mn-ea"/>
              </a:defRPr>
            </a:lvl3pPr>
            <a:lvl4pPr>
              <a:buNone/>
              <a:defRPr>
                <a:latin typeface="+mn-ea"/>
                <a:ea typeface="+mn-ea"/>
                <a:cs typeface="+mn-ea"/>
              </a:defRPr>
            </a:lvl4pPr>
            <a:lvl5pPr>
              <a:buNone/>
              <a:defRPr>
                <a:latin typeface="+mn-ea"/>
                <a:ea typeface="+mn-ea"/>
                <a:cs typeface="+mn-e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0EE32BF-F123-4792-A157-D13808990F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71E268D-6E53-421A-B0E7-12500E77C7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490C5D0-1A06-4631-9873-316F353E0C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F4223C03-1ED5-402E-8F3E-89A17789C924}" type="slidenum">
              <a:t>‹#›</a:t>
            </a:fld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47DC70B-29C4-41D2-8800-6E96317D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339" y="0"/>
            <a:ext cx="714380" cy="785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2700" cmpd="sng">
            <a:solidFill>
              <a:schemeClr val="bg1"/>
            </a:solidFill>
            <a:prstDash val="dash"/>
            <a:headEnd type="none" w="med" len="med"/>
            <a:tailEnd type="none" w="med" len="med"/>
          </a:ln>
        </p:spPr>
        <p:txBody>
          <a:bodyPr xmlns:a="http://schemas.openxmlformats.org/drawingml/2006/main" vert="horz" wrap="none" lIns="91440" tIns="45720" rIns="91440" bIns="45720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3200" b="0" i="0" u="none" cap="none" baseline="0">
              <a:ln>
                <a:noFill/>
              </a:ln>
              <a:solidFill>
                <a:schemeClr val="tx1"/>
              </a:solidFill>
              <a:latin typeface="標楷體"/>
              <a:ea typeface="標楷體"/>
              <a:cs typeface="標楷體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82b79eb53240b0" /><Relationship Type="http://schemas.openxmlformats.org/officeDocument/2006/relationships/slideLayout" Target="/ppt/slideLayouts/slideLayout1.xml" Id="R05cc178567b24e36" /><Relationship Type="http://schemas.openxmlformats.org/officeDocument/2006/relationships/slideLayout" Target="/ppt/slideLayouts/slideLayout2.xml" Id="R79cf0ef287154be0" /><Relationship Type="http://schemas.openxmlformats.org/officeDocument/2006/relationships/slideLayout" Target="/ppt/slideLayouts/slideLayout3.xml" Id="Rd45a1f2155a8460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4697BDE1-F9F9-47C0-8910-E93CB9B6169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2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084C43F3-D9AA-4E26-93D5-6D015F0E340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2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0F00F049-780E-4FE5-95C3-A26F0097EB8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2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6F19A45-BA0D-45DE-A687-A591EF4A02C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cc178567b24e36"/>
    <p:sldLayoutId xmlns:r="http://schemas.openxmlformats.org/officeDocument/2006/relationships" id="2147483650" r:id="R79cf0ef287154be0"/>
    <p:sldLayoutId xmlns:r="http://schemas.openxmlformats.org/officeDocument/2006/relationships" id="2147483651" r:id="Rd45a1f2155a84606"/>
  </p:sldLayoutIdLst>
  <p:hf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afa4f76e95f4acf" /><Relationship Type="http://schemas.openxmlformats.org/officeDocument/2006/relationships/notesSlide" Target="/ppt/notesSlides/notesSlide1.xml" Id="R22184645605b4a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dbc95927d694fbb" /><Relationship Type="http://schemas.openxmlformats.org/officeDocument/2006/relationships/image" Target="/ppt/media/image4.png" Id="Rc9316c14da0242b3" /><Relationship Type="http://schemas.openxmlformats.org/officeDocument/2006/relationships/image" Target="/ppt/media/image5.png" Id="R444884ec6e7d411b" /><Relationship Type="http://schemas.openxmlformats.org/officeDocument/2006/relationships/notesSlide" Target="/ppt/notesSlides/notesSlide2.xml" Id="R5bf77372f9b04a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64fd96d10874258" /><Relationship Type="http://schemas.openxmlformats.org/officeDocument/2006/relationships/notesSlide" Target="/ppt/notesSlides/notesSlide3.xml" Id="R1ee42537a0e043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c197983f88a4c25" /><Relationship Type="http://schemas.openxmlformats.org/officeDocument/2006/relationships/image" Target="/ppt/media/image6.png" Id="R37c4315d70ca4f1e" /><Relationship Type="http://schemas.openxmlformats.org/officeDocument/2006/relationships/image" Target="/ppt/media/image7.png" Id="Ra0605c91afa64ef3" /><Relationship Type="http://schemas.openxmlformats.org/officeDocument/2006/relationships/notesSlide" Target="/ppt/notesSlides/notesSlide4.xml" Id="R43a8c9dfe57041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cca7ae809e34652" /><Relationship Type="http://schemas.openxmlformats.org/officeDocument/2006/relationships/image" Target="/ppt/media/image8.png" Id="Rcf69216c9d5e431b" /><Relationship Type="http://schemas.openxmlformats.org/officeDocument/2006/relationships/notesSlide" Target="/ppt/notesSlides/notesSlide5.xml" Id="R3163dac0505d4e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469cbcffd0b4e9d" /><Relationship Type="http://schemas.openxmlformats.org/officeDocument/2006/relationships/chart" Target="/ppt/slides/charts/chart1.xml" Id="R2d30f4fc686a4b65" /><Relationship Type="http://schemas.openxmlformats.org/officeDocument/2006/relationships/chart" Target="/ppt/slides/charts/chart2.xml" Id="Ra622581212ea48c1" /><Relationship Type="http://schemas.openxmlformats.org/officeDocument/2006/relationships/notesSlide" Target="/ppt/notesSlides/notesSlide6.xml" Id="Rcb86e4f6267140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d17e5d6eb744916" /><Relationship Type="http://schemas.openxmlformats.org/officeDocument/2006/relationships/chart" Target="/ppt/slides/charts/chart3.xml" Id="Re00f6d4c78784b80" /><Relationship Type="http://schemas.openxmlformats.org/officeDocument/2006/relationships/chart" Target="/ppt/slides/charts/chart4.xml" Id="R787f2867dee34165" /><Relationship Type="http://schemas.openxmlformats.org/officeDocument/2006/relationships/notesSlide" Target="/ppt/notesSlides/notesSlide7.xml" Id="Ra69d05cbb3804c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273ac6bcd5e44a4" /><Relationship Type="http://schemas.openxmlformats.org/officeDocument/2006/relationships/chart" Target="/ppt/slides/charts/chart5.xml" Id="R2285e43fb4934a42" /><Relationship Type="http://schemas.openxmlformats.org/officeDocument/2006/relationships/chart" Target="/ppt/slides/charts/chart6.xml" Id="R50f38487394f45fb" /><Relationship Type="http://schemas.openxmlformats.org/officeDocument/2006/relationships/notesSlide" Target="/ppt/notesSlides/notesSlide8.xml" Id="R465c94a969d046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ebb25383cb94488" /><Relationship Type="http://schemas.openxmlformats.org/officeDocument/2006/relationships/chart" Target="/ppt/slides/charts/chart7.xml" Id="Rba1409b586c045a6" /><Relationship Type="http://schemas.openxmlformats.org/officeDocument/2006/relationships/chart" Target="/ppt/slides/charts/chart8.xml" Id="Rfeedc20a0df44b39" /><Relationship Type="http://schemas.openxmlformats.org/officeDocument/2006/relationships/notesSlide" Target="/ppt/notesSlides/notesSlide9.xml" Id="Rdbcc8375d5d543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67f29959a5b4afc" /><Relationship Type="http://schemas.openxmlformats.org/officeDocument/2006/relationships/notesSlide" Target="/ppt/notesSlides/notesSlide10.xml" Id="R63ffab6d5f7144fd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滿借覆蓋率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A級</c:v>
          </c:tx>
          <c:spPr>
            <a:ln xmlns:a="http://schemas.openxmlformats.org/drawingml/2006/main" w="33338">
              <a:solidFill>
                <a:srgbClr val="4472C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0.01312</c:v>
              </c:pt>
              <c:pt idx="1">
                <c:v>0.12197</c:v>
              </c:pt>
              <c:pt idx="2">
                <c:v>0.18342</c:v>
              </c:pt>
              <c:pt idx="3">
                <c:v>0.27891</c:v>
              </c:pt>
              <c:pt idx="4">
                <c:v>0.25041</c:v>
              </c:pt>
              <c:pt idx="5">
                <c:v>0.11469</c:v>
              </c:pt>
              <c:pt idx="6">
                <c:v>0.08087</c:v>
              </c:pt>
              <c:pt idx="7">
                <c:v>0.15584</c:v>
              </c:pt>
              <c:pt idx="8">
                <c:v>0.11788</c:v>
              </c:pt>
              <c:pt idx="9">
                <c:v>0.06721</c:v>
              </c:pt>
              <c:pt idx="10">
                <c:v>0.02415</c:v>
              </c:pt>
              <c:pt idx="11">
                <c:v>0.06494</c:v>
              </c:pt>
              <c:pt idx="12">
                <c:v>0.10906</c:v>
              </c:pt>
              <c:pt idx="13">
                <c:v>0.14785</c:v>
              </c:pt>
              <c:pt idx="14">
                <c:v>0.14471</c:v>
              </c:pt>
              <c:pt idx="15">
                <c:v>0.12624</c:v>
              </c:pt>
              <c:pt idx="16">
                <c:v>0.18664</c:v>
              </c:pt>
              <c:pt idx="17">
                <c:v>0.23357</c:v>
              </c:pt>
            </c:numLit>
          </c:val>
          <c:smooth val="0"/>
        </c:ser>
        <c:ser>
          <c:idx val="1"/>
          <c:order val="1"/>
          <c:tx>
            <c:v>B級</c:v>
          </c:tx>
          <c:spPr>
            <a:ln xmlns:a="http://schemas.openxmlformats.org/drawingml/2006/main" w="33338">
              <a:solidFill>
                <a:srgbClr val="ED7D3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0.02079</c:v>
              </c:pt>
              <c:pt idx="1">
                <c:v>0.07571</c:v>
              </c:pt>
              <c:pt idx="2">
                <c:v>0.1708</c:v>
              </c:pt>
              <c:pt idx="3">
                <c:v>0.24919</c:v>
              </c:pt>
              <c:pt idx="4">
                <c:v>0.20521</c:v>
              </c:pt>
              <c:pt idx="5">
                <c:v>0.06974</c:v>
              </c:pt>
              <c:pt idx="6">
                <c:v>0.06079</c:v>
              </c:pt>
              <c:pt idx="7">
                <c:v>0.11935</c:v>
              </c:pt>
              <c:pt idx="8">
                <c:v>0.10428</c:v>
              </c:pt>
              <c:pt idx="9">
                <c:v>0.05548</c:v>
              </c:pt>
              <c:pt idx="10">
                <c:v>0.02986</c:v>
              </c:pt>
              <c:pt idx="11">
                <c:v>0.06929</c:v>
              </c:pt>
              <c:pt idx="12">
                <c:v>0.18295</c:v>
              </c:pt>
              <c:pt idx="13">
                <c:v>0.2427</c:v>
              </c:pt>
              <c:pt idx="14">
                <c:v>0.19832</c:v>
              </c:pt>
              <c:pt idx="15">
                <c:v>0.13343</c:v>
              </c:pt>
              <c:pt idx="16">
                <c:v>0.15633</c:v>
              </c:pt>
              <c:pt idx="17">
                <c:v>0.22103</c:v>
              </c:pt>
            </c:numLit>
          </c:val>
          <c:smooth val="0"/>
        </c:ser>
        <c:ser>
          <c:idx val="2"/>
          <c:order val="2"/>
          <c:tx>
            <c:v>C級</c:v>
          </c:tx>
          <c:spPr>
            <a:ln xmlns:a="http://schemas.openxmlformats.org/drawingml/2006/main" w="33338">
              <a:solidFill>
                <a:srgbClr val="70AD4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0.01362</c:v>
              </c:pt>
              <c:pt idx="1">
                <c:v>0.06897</c:v>
              </c:pt>
              <c:pt idx="2">
                <c:v>0.13603</c:v>
              </c:pt>
              <c:pt idx="3">
                <c:v>0.25054</c:v>
              </c:pt>
              <c:pt idx="4">
                <c:v>0.21845</c:v>
              </c:pt>
              <c:pt idx="5">
                <c:v>0.10492</c:v>
              </c:pt>
              <c:pt idx="6">
                <c:v>0.08055</c:v>
              </c:pt>
              <c:pt idx="7">
                <c:v>0.1482</c:v>
              </c:pt>
              <c:pt idx="8">
                <c:v>0.14869</c:v>
              </c:pt>
              <c:pt idx="9">
                <c:v>0.08919</c:v>
              </c:pt>
              <c:pt idx="10">
                <c:v>0.05997</c:v>
              </c:pt>
              <c:pt idx="11">
                <c:v>0.09273</c:v>
              </c:pt>
              <c:pt idx="12">
                <c:v>0.21091</c:v>
              </c:pt>
              <c:pt idx="13">
                <c:v>0.29433</c:v>
              </c:pt>
              <c:pt idx="14">
                <c:v>0.27778</c:v>
              </c:pt>
              <c:pt idx="15">
                <c:v>0.12647</c:v>
              </c:pt>
              <c:pt idx="16">
                <c:v>0.17843</c:v>
              </c:pt>
              <c:pt idx="17">
                <c:v>0.22462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0.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%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空還覆蓋率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A級</c:v>
          </c:tx>
          <c:spPr>
            <a:ln xmlns:a="http://schemas.openxmlformats.org/drawingml/2006/main" w="33338">
              <a:solidFill>
                <a:srgbClr val="4472C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0.01783</c:v>
              </c:pt>
              <c:pt idx="1">
                <c:v>0.08566</c:v>
              </c:pt>
              <c:pt idx="2">
                <c:v>0.08736</c:v>
              </c:pt>
              <c:pt idx="3">
                <c:v>0.05553</c:v>
              </c:pt>
              <c:pt idx="4">
                <c:v>0.06895</c:v>
              </c:pt>
              <c:pt idx="5">
                <c:v>0.03727</c:v>
              </c:pt>
              <c:pt idx="6">
                <c:v>0.03522</c:v>
              </c:pt>
              <c:pt idx="7">
                <c:v>0.05436</c:v>
              </c:pt>
              <c:pt idx="8">
                <c:v>0.04561</c:v>
              </c:pt>
              <c:pt idx="9">
                <c:v>0.03153</c:v>
              </c:pt>
              <c:pt idx="10">
                <c:v>0.03698</c:v>
              </c:pt>
              <c:pt idx="11">
                <c:v>0.06628</c:v>
              </c:pt>
              <c:pt idx="12">
                <c:v>0.0897</c:v>
              </c:pt>
              <c:pt idx="13">
                <c:v>0.05813</c:v>
              </c:pt>
              <c:pt idx="14">
                <c:v>0.04839</c:v>
              </c:pt>
              <c:pt idx="15">
                <c:v>0.04228</c:v>
              </c:pt>
              <c:pt idx="16">
                <c:v>0.06234</c:v>
              </c:pt>
              <c:pt idx="17">
                <c:v>0.10823</c:v>
              </c:pt>
            </c:numLit>
          </c:val>
          <c:smooth val="0"/>
        </c:ser>
        <c:ser>
          <c:idx val="1"/>
          <c:order val="1"/>
          <c:tx>
            <c:v>B級</c:v>
          </c:tx>
          <c:spPr>
            <a:ln xmlns:a="http://schemas.openxmlformats.org/drawingml/2006/main" w="33338">
              <a:solidFill>
                <a:srgbClr val="ED7D3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0.01612</c:v>
              </c:pt>
              <c:pt idx="1">
                <c:v>0.14</c:v>
              </c:pt>
              <c:pt idx="2">
                <c:v>0.13696</c:v>
              </c:pt>
              <c:pt idx="3">
                <c:v>0.09383</c:v>
              </c:pt>
              <c:pt idx="4">
                <c:v>0.07736</c:v>
              </c:pt>
              <c:pt idx="5">
                <c:v>0.05541</c:v>
              </c:pt>
              <c:pt idx="6">
                <c:v>0.0295</c:v>
              </c:pt>
              <c:pt idx="7">
                <c:v>0.05426</c:v>
              </c:pt>
              <c:pt idx="8">
                <c:v>0.05465</c:v>
              </c:pt>
              <c:pt idx="9">
                <c:v>0.03805</c:v>
              </c:pt>
              <c:pt idx="10">
                <c:v>0.02676</c:v>
              </c:pt>
              <c:pt idx="11">
                <c:v>0.05354</c:v>
              </c:pt>
              <c:pt idx="12">
                <c:v>0.07106</c:v>
              </c:pt>
              <c:pt idx="13">
                <c:v>0.04481</c:v>
              </c:pt>
              <c:pt idx="14">
                <c:v>0.04268</c:v>
              </c:pt>
              <c:pt idx="15">
                <c:v>0.02807</c:v>
              </c:pt>
              <c:pt idx="16">
                <c:v>0.03343</c:v>
              </c:pt>
              <c:pt idx="17">
                <c:v>0.09284</c:v>
              </c:pt>
            </c:numLit>
          </c:val>
          <c:smooth val="0"/>
        </c:ser>
        <c:ser>
          <c:idx val="2"/>
          <c:order val="2"/>
          <c:tx>
            <c:v>C級</c:v>
          </c:tx>
          <c:spPr>
            <a:ln xmlns:a="http://schemas.openxmlformats.org/drawingml/2006/main" w="33338">
              <a:solidFill>
                <a:srgbClr val="70AD4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0.01435</c:v>
              </c:pt>
              <c:pt idx="1">
                <c:v>0.12633</c:v>
              </c:pt>
              <c:pt idx="2">
                <c:v>0.12516</c:v>
              </c:pt>
              <c:pt idx="3">
                <c:v>0.10947</c:v>
              </c:pt>
              <c:pt idx="4">
                <c:v>0.11272</c:v>
              </c:pt>
              <c:pt idx="5">
                <c:v>0.06253</c:v>
              </c:pt>
              <c:pt idx="6">
                <c:v>0.03093</c:v>
              </c:pt>
              <c:pt idx="7">
                <c:v>0.07854</c:v>
              </c:pt>
              <c:pt idx="8">
                <c:v>0.07688</c:v>
              </c:pt>
              <c:pt idx="9">
                <c:v>0.04379</c:v>
              </c:pt>
              <c:pt idx="10">
                <c:v>0.0184</c:v>
              </c:pt>
              <c:pt idx="11">
                <c:v>0.03544</c:v>
              </c:pt>
              <c:pt idx="12">
                <c:v>0.05284</c:v>
              </c:pt>
              <c:pt idx="13">
                <c:v>0.04888</c:v>
              </c:pt>
              <c:pt idx="14">
                <c:v>0.04385</c:v>
              </c:pt>
              <c:pt idx="15">
                <c:v>0.03032</c:v>
              </c:pt>
              <c:pt idx="16">
                <c:v>0.03297</c:v>
              </c:pt>
              <c:pt idx="17">
                <c:v>0.08828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0.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%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滿借場站數與調出場站數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A調出</c:v>
          </c:tx>
          <c:spPr>
            <a:ln xmlns:a="http://schemas.openxmlformats.org/drawingml/2006/main" w="33338">
              <a:solidFill>
                <a:srgbClr val="4472C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3.86</c:v>
              </c:pt>
              <c:pt idx="1">
                <c:v>46.535</c:v>
              </c:pt>
              <c:pt idx="2">
                <c:v>41.163</c:v>
              </c:pt>
              <c:pt idx="3">
                <c:v>26.977</c:v>
              </c:pt>
              <c:pt idx="4">
                <c:v>25.302</c:v>
              </c:pt>
              <c:pt idx="5">
                <c:v>12.837</c:v>
              </c:pt>
              <c:pt idx="6">
                <c:v>10.86</c:v>
              </c:pt>
              <c:pt idx="7">
                <c:v>19.326</c:v>
              </c:pt>
              <c:pt idx="8">
                <c:v>17.953</c:v>
              </c:pt>
              <c:pt idx="9">
                <c:v>17.279</c:v>
              </c:pt>
              <c:pt idx="10">
                <c:v>21.674</c:v>
              </c:pt>
              <c:pt idx="11">
                <c:v>32</c:v>
              </c:pt>
              <c:pt idx="12">
                <c:v>33.791</c:v>
              </c:pt>
              <c:pt idx="13">
                <c:v>20.372</c:v>
              </c:pt>
              <c:pt idx="14">
                <c:v>15.163</c:v>
              </c:pt>
              <c:pt idx="15">
                <c:v>9.837</c:v>
              </c:pt>
              <c:pt idx="16">
                <c:v>10.767</c:v>
              </c:pt>
              <c:pt idx="17">
                <c:v>19.349</c:v>
              </c:pt>
            </c:numLit>
          </c:val>
          <c:smooth val="0"/>
        </c:ser>
        <c:ser>
          <c:idx val="1"/>
          <c:order val="1"/>
          <c:tx>
            <c:v>A滿借</c:v>
          </c:tx>
          <c:spPr>
            <a:ln xmlns:a="http://schemas.openxmlformats.org/drawingml/2006/main" w="23813">
              <a:solidFill>
                <a:srgbClr val="4472C4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15.953</c:v>
              </c:pt>
              <c:pt idx="1">
                <c:v>39.279</c:v>
              </c:pt>
              <c:pt idx="2">
                <c:v>58.07</c:v>
              </c:pt>
              <c:pt idx="3">
                <c:v>57.116</c:v>
              </c:pt>
              <c:pt idx="4">
                <c:v>43</c:v>
              </c:pt>
              <c:pt idx="5">
                <c:v>39.744</c:v>
              </c:pt>
              <c:pt idx="6">
                <c:v>49.465</c:v>
              </c:pt>
              <c:pt idx="7">
                <c:v>48.349</c:v>
              </c:pt>
              <c:pt idx="8">
                <c:v>41.628</c:v>
              </c:pt>
              <c:pt idx="9">
                <c:v>37.023</c:v>
              </c:pt>
              <c:pt idx="10">
                <c:v>42.372</c:v>
              </c:pt>
              <c:pt idx="11">
                <c:v>61.953</c:v>
              </c:pt>
              <c:pt idx="12">
                <c:v>66.744</c:v>
              </c:pt>
              <c:pt idx="13">
                <c:v>51.907</c:v>
              </c:pt>
              <c:pt idx="14">
                <c:v>34.07</c:v>
              </c:pt>
              <c:pt idx="15">
                <c:v>28.186</c:v>
              </c:pt>
              <c:pt idx="16">
                <c:v>32.023</c:v>
              </c:pt>
              <c:pt idx="17">
                <c:v>23</c:v>
              </c:pt>
            </c:numLit>
          </c:val>
          <c:smooth val="0"/>
        </c:ser>
        <c:ser>
          <c:idx val="2"/>
          <c:order val="2"/>
          <c:tx>
            <c:v>B調出</c:v>
          </c:tx>
          <c:spPr>
            <a:ln xmlns:a="http://schemas.openxmlformats.org/drawingml/2006/main" w="33338">
              <a:solidFill>
                <a:srgbClr val="ED7D3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5.791</c:v>
              </c:pt>
              <c:pt idx="1">
                <c:v>70.14</c:v>
              </c:pt>
              <c:pt idx="2">
                <c:v>53.86</c:v>
              </c:pt>
              <c:pt idx="3">
                <c:v>31.349</c:v>
              </c:pt>
              <c:pt idx="4">
                <c:v>22.465</c:v>
              </c:pt>
              <c:pt idx="5">
                <c:v>11.907</c:v>
              </c:pt>
              <c:pt idx="6">
                <c:v>8.744</c:v>
              </c:pt>
              <c:pt idx="7">
                <c:v>13.628</c:v>
              </c:pt>
              <c:pt idx="8">
                <c:v>15.767</c:v>
              </c:pt>
              <c:pt idx="9">
                <c:v>15.581</c:v>
              </c:pt>
              <c:pt idx="10">
                <c:v>23.721</c:v>
              </c:pt>
              <c:pt idx="11">
                <c:v>28.628</c:v>
              </c:pt>
              <c:pt idx="12">
                <c:v>27.837</c:v>
              </c:pt>
              <c:pt idx="13">
                <c:v>17.837</c:v>
              </c:pt>
              <c:pt idx="14">
                <c:v>14.442</c:v>
              </c:pt>
              <c:pt idx="15">
                <c:v>9.86</c:v>
              </c:pt>
              <c:pt idx="16">
                <c:v>15.977</c:v>
              </c:pt>
              <c:pt idx="17">
                <c:v>32.86</c:v>
              </c:pt>
            </c:numLit>
          </c:val>
          <c:smooth val="0"/>
        </c:ser>
        <c:ser>
          <c:idx val="3"/>
          <c:order val="3"/>
          <c:tx>
            <c:v>B滿借</c:v>
          </c:tx>
          <c:spPr>
            <a:ln xmlns:a="http://schemas.openxmlformats.org/drawingml/2006/main" w="23813">
              <a:solidFill>
                <a:srgbClr val="ED7D31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10.07</c:v>
              </c:pt>
              <c:pt idx="1">
                <c:v>36.86</c:v>
              </c:pt>
              <c:pt idx="2">
                <c:v>62.767</c:v>
              </c:pt>
              <c:pt idx="3">
                <c:v>64.395</c:v>
              </c:pt>
              <c:pt idx="4">
                <c:v>46.465</c:v>
              </c:pt>
              <c:pt idx="5">
                <c:v>38.349</c:v>
              </c:pt>
              <c:pt idx="6">
                <c:v>39.023</c:v>
              </c:pt>
              <c:pt idx="7">
                <c:v>42.674</c:v>
              </c:pt>
              <c:pt idx="8">
                <c:v>39.698</c:v>
              </c:pt>
              <c:pt idx="9">
                <c:v>35.209</c:v>
              </c:pt>
              <c:pt idx="10">
                <c:v>36.605</c:v>
              </c:pt>
              <c:pt idx="11">
                <c:v>47.326</c:v>
              </c:pt>
              <c:pt idx="12">
                <c:v>56.186</c:v>
              </c:pt>
              <c:pt idx="13">
                <c:v>55.767</c:v>
              </c:pt>
              <c:pt idx="14">
                <c:v>44.209</c:v>
              </c:pt>
              <c:pt idx="15">
                <c:v>46.535</c:v>
              </c:pt>
              <c:pt idx="16">
                <c:v>54</c:v>
              </c:pt>
              <c:pt idx="17">
                <c:v>36.721</c:v>
              </c:pt>
            </c:numLit>
          </c:val>
          <c:smooth val="0"/>
        </c:ser>
        <c:ser>
          <c:idx val="4"/>
          <c:order val="4"/>
          <c:tx>
            <c:v>C調出</c:v>
          </c:tx>
          <c:spPr>
            <a:ln xmlns:a="http://schemas.openxmlformats.org/drawingml/2006/main" w="33338">
              <a:solidFill>
                <a:srgbClr val="70AD4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6.93</c:v>
              </c:pt>
              <c:pt idx="1">
                <c:v>63.767</c:v>
              </c:pt>
              <c:pt idx="2">
                <c:v>43.488</c:v>
              </c:pt>
              <c:pt idx="3">
                <c:v>32.209</c:v>
              </c:pt>
              <c:pt idx="4">
                <c:v>21.628</c:v>
              </c:pt>
              <c:pt idx="5">
                <c:v>11.209</c:v>
              </c:pt>
              <c:pt idx="6">
                <c:v>7.651</c:v>
              </c:pt>
              <c:pt idx="7">
                <c:v>13.721</c:v>
              </c:pt>
              <c:pt idx="8">
                <c:v>17.047</c:v>
              </c:pt>
              <c:pt idx="9">
                <c:v>16.884</c:v>
              </c:pt>
              <c:pt idx="10">
                <c:v>14.256</c:v>
              </c:pt>
              <c:pt idx="11">
                <c:v>14.93</c:v>
              </c:pt>
              <c:pt idx="12">
                <c:v>23.651</c:v>
              </c:pt>
              <c:pt idx="13">
                <c:v>18.14</c:v>
              </c:pt>
              <c:pt idx="14">
                <c:v>15.209</c:v>
              </c:pt>
              <c:pt idx="15">
                <c:v>9.093</c:v>
              </c:pt>
              <c:pt idx="16">
                <c:v>18.791</c:v>
              </c:pt>
              <c:pt idx="17">
                <c:v>31.93</c:v>
              </c:pt>
            </c:numLit>
          </c:val>
          <c:smooth val="0"/>
        </c:ser>
        <c:ser>
          <c:idx val="5"/>
          <c:order val="5"/>
          <c:tx>
            <c:v>C滿借</c:v>
          </c:tx>
          <c:spPr>
            <a:ln xmlns:a="http://schemas.openxmlformats.org/drawingml/2006/main" w="23813">
              <a:solidFill>
                <a:srgbClr val="70AD47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8.535</c:v>
              </c:pt>
              <c:pt idx="1">
                <c:v>26.977</c:v>
              </c:pt>
              <c:pt idx="2">
                <c:v>37.953</c:v>
              </c:pt>
              <c:pt idx="3">
                <c:v>32.116</c:v>
              </c:pt>
              <c:pt idx="4">
                <c:v>19.163</c:v>
              </c:pt>
              <c:pt idx="5">
                <c:v>14.186</c:v>
              </c:pt>
              <c:pt idx="6">
                <c:v>15.302</c:v>
              </c:pt>
              <c:pt idx="7">
                <c:v>18.047</c:v>
              </c:pt>
              <c:pt idx="8">
                <c:v>15.953</c:v>
              </c:pt>
              <c:pt idx="9">
                <c:v>13.558</c:v>
              </c:pt>
              <c:pt idx="10">
                <c:v>17.837</c:v>
              </c:pt>
              <c:pt idx="11">
                <c:v>22.07</c:v>
              </c:pt>
              <c:pt idx="12">
                <c:v>29</c:v>
              </c:pt>
              <c:pt idx="13">
                <c:v>31.605</c:v>
              </c:pt>
              <c:pt idx="14">
                <c:v>24.279</c:v>
              </c:pt>
              <c:pt idx="15">
                <c:v>25.744</c:v>
              </c:pt>
              <c:pt idx="16">
                <c:v>29.326</c:v>
              </c:pt>
              <c:pt idx="17">
                <c:v>18.326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9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空還場站數與調入場站數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A調入</c:v>
          </c:tx>
          <c:spPr>
            <a:ln xmlns:a="http://schemas.openxmlformats.org/drawingml/2006/main" w="33338">
              <a:solidFill>
                <a:srgbClr val="4472C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3.209</c:v>
              </c:pt>
              <c:pt idx="1">
                <c:v>11.814</c:v>
              </c:pt>
              <c:pt idx="2">
                <c:v>36.116</c:v>
              </c:pt>
              <c:pt idx="3">
                <c:v>49.349</c:v>
              </c:pt>
              <c:pt idx="4">
                <c:v>33.558</c:v>
              </c:pt>
              <c:pt idx="5">
                <c:v>17.721</c:v>
              </c:pt>
              <c:pt idx="6">
                <c:v>8</c:v>
              </c:pt>
              <c:pt idx="7">
                <c:v>15.721</c:v>
              </c:pt>
              <c:pt idx="8">
                <c:v>14.581</c:v>
              </c:pt>
              <c:pt idx="9">
                <c:v>10.535</c:v>
              </c:pt>
              <c:pt idx="10">
                <c:v>6.326</c:v>
              </c:pt>
              <c:pt idx="11">
                <c:v>13.721</c:v>
              </c:pt>
              <c:pt idx="12">
                <c:v>29.302</c:v>
              </c:pt>
              <c:pt idx="13">
                <c:v>32.674</c:v>
              </c:pt>
              <c:pt idx="14">
                <c:v>27.651</c:v>
              </c:pt>
              <c:pt idx="15">
                <c:v>23.791</c:v>
              </c:pt>
              <c:pt idx="16">
                <c:v>25.186</c:v>
              </c:pt>
              <c:pt idx="17">
                <c:v>39.698</c:v>
              </c:pt>
            </c:numLit>
          </c:val>
          <c:smooth val="0"/>
        </c:ser>
        <c:ser>
          <c:idx val="1"/>
          <c:order val="1"/>
          <c:tx>
            <c:v>A空還</c:v>
          </c:tx>
          <c:spPr>
            <a:ln xmlns:a="http://schemas.openxmlformats.org/drawingml/2006/main" w="23813">
              <a:solidFill>
                <a:srgbClr val="4472C4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33.907</c:v>
              </c:pt>
              <c:pt idx="1">
                <c:v>88.233</c:v>
              </c:pt>
              <c:pt idx="2">
                <c:v>141.884</c:v>
              </c:pt>
              <c:pt idx="3">
                <c:v>139.047</c:v>
              </c:pt>
              <c:pt idx="4">
                <c:v>130.535</c:v>
              </c:pt>
              <c:pt idx="5">
                <c:v>119.791</c:v>
              </c:pt>
              <c:pt idx="6">
                <c:v>111.605</c:v>
              </c:pt>
              <c:pt idx="7">
                <c:v>99.674</c:v>
              </c:pt>
              <c:pt idx="8">
                <c:v>89.233</c:v>
              </c:pt>
              <c:pt idx="9">
                <c:v>81.884</c:v>
              </c:pt>
              <c:pt idx="10">
                <c:v>86.163</c:v>
              </c:pt>
              <c:pt idx="11">
                <c:v>108.767</c:v>
              </c:pt>
              <c:pt idx="12">
                <c:v>124.186</c:v>
              </c:pt>
              <c:pt idx="13">
                <c:v>111.209</c:v>
              </c:pt>
              <c:pt idx="14">
                <c:v>118.233</c:v>
              </c:pt>
              <c:pt idx="15">
                <c:v>141.907</c:v>
              </c:pt>
              <c:pt idx="16">
                <c:v>145.86</c:v>
              </c:pt>
              <c:pt idx="17">
                <c:v>111.953</c:v>
              </c:pt>
            </c:numLit>
          </c:val>
          <c:smooth val="0"/>
        </c:ser>
        <c:ser>
          <c:idx val="2"/>
          <c:order val="2"/>
          <c:tx>
            <c:v>B調入</c:v>
          </c:tx>
          <c:spPr>
            <a:ln xmlns:a="http://schemas.openxmlformats.org/drawingml/2006/main" w="33338">
              <a:solidFill>
                <a:srgbClr val="ED7D3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5.977</c:v>
              </c:pt>
              <c:pt idx="1">
                <c:v>17.953</c:v>
              </c:pt>
              <c:pt idx="2">
                <c:v>49.07</c:v>
              </c:pt>
              <c:pt idx="3">
                <c:v>59.349</c:v>
              </c:pt>
              <c:pt idx="4">
                <c:v>46.233</c:v>
              </c:pt>
              <c:pt idx="5">
                <c:v>23.07</c:v>
              </c:pt>
              <c:pt idx="6">
                <c:v>7.814</c:v>
              </c:pt>
              <c:pt idx="7">
                <c:v>16.953</c:v>
              </c:pt>
              <c:pt idx="8">
                <c:v>16.395</c:v>
              </c:pt>
              <c:pt idx="9">
                <c:v>12.14</c:v>
              </c:pt>
              <c:pt idx="10">
                <c:v>6.767</c:v>
              </c:pt>
              <c:pt idx="11">
                <c:v>14.791</c:v>
              </c:pt>
              <c:pt idx="12">
                <c:v>43.791</c:v>
              </c:pt>
              <c:pt idx="13">
                <c:v>56.581</c:v>
              </c:pt>
              <c:pt idx="14">
                <c:v>48.209</c:v>
              </c:pt>
              <c:pt idx="15">
                <c:v>34.674</c:v>
              </c:pt>
              <c:pt idx="16">
                <c:v>24.372</c:v>
              </c:pt>
              <c:pt idx="17">
                <c:v>41.953</c:v>
              </c:pt>
            </c:numLit>
          </c:val>
          <c:smooth val="0"/>
        </c:ser>
        <c:ser>
          <c:idx val="3"/>
          <c:order val="3"/>
          <c:tx>
            <c:v>B空還</c:v>
          </c:tx>
          <c:spPr>
            <a:ln xmlns:a="http://schemas.openxmlformats.org/drawingml/2006/main" w="23813">
              <a:solidFill>
                <a:srgbClr val="ED7D31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43.279</c:v>
              </c:pt>
              <c:pt idx="1">
                <c:v>109.302</c:v>
              </c:pt>
              <c:pt idx="2">
                <c:v>167.256</c:v>
              </c:pt>
              <c:pt idx="3">
                <c:v>154.907</c:v>
              </c:pt>
              <c:pt idx="4">
                <c:v>142.791</c:v>
              </c:pt>
              <c:pt idx="5">
                <c:v>141.86</c:v>
              </c:pt>
              <c:pt idx="6">
                <c:v>156.116</c:v>
              </c:pt>
              <c:pt idx="7">
                <c:v>125.581</c:v>
              </c:pt>
              <c:pt idx="8">
                <c:v>106.814</c:v>
              </c:pt>
              <c:pt idx="9">
                <c:v>99.023</c:v>
              </c:pt>
              <c:pt idx="10">
                <c:v>112.093</c:v>
              </c:pt>
              <c:pt idx="11">
                <c:v>155.488</c:v>
              </c:pt>
              <c:pt idx="12">
                <c:v>172.14</c:v>
              </c:pt>
              <c:pt idx="13">
                <c:v>140.651</c:v>
              </c:pt>
              <c:pt idx="14">
                <c:v>125.86</c:v>
              </c:pt>
              <c:pt idx="15">
                <c:v>127.605</c:v>
              </c:pt>
              <c:pt idx="16">
                <c:v>107.837</c:v>
              </c:pt>
              <c:pt idx="17">
                <c:v>66.628</c:v>
              </c:pt>
            </c:numLit>
          </c:val>
          <c:smooth val="0"/>
        </c:ser>
        <c:ser>
          <c:idx val="4"/>
          <c:order val="4"/>
          <c:tx>
            <c:v>C調入</c:v>
          </c:tx>
          <c:spPr>
            <a:ln xmlns:a="http://schemas.openxmlformats.org/drawingml/2006/main" w="33338">
              <a:solidFill>
                <a:srgbClr val="70AD4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6.302</c:v>
              </c:pt>
              <c:pt idx="1">
                <c:v>25.512</c:v>
              </c:pt>
              <c:pt idx="2">
                <c:v>48.116</c:v>
              </c:pt>
              <c:pt idx="3">
                <c:v>62.256</c:v>
              </c:pt>
              <c:pt idx="4">
                <c:v>54.674</c:v>
              </c:pt>
              <c:pt idx="5">
                <c:v>30.372</c:v>
              </c:pt>
              <c:pt idx="6">
                <c:v>13.605</c:v>
              </c:pt>
              <c:pt idx="7">
                <c:v>30.558</c:v>
              </c:pt>
              <c:pt idx="8">
                <c:v>32.302</c:v>
              </c:pt>
              <c:pt idx="9">
                <c:v>22.605</c:v>
              </c:pt>
              <c:pt idx="10">
                <c:v>9.349</c:v>
              </c:pt>
              <c:pt idx="11">
                <c:v>16.512</c:v>
              </c:pt>
              <c:pt idx="12">
                <c:v>38.163</c:v>
              </c:pt>
              <c:pt idx="13">
                <c:v>54.558</c:v>
              </c:pt>
              <c:pt idx="14">
                <c:v>52.977</c:v>
              </c:pt>
              <c:pt idx="15">
                <c:v>42.791</c:v>
              </c:pt>
              <c:pt idx="16">
                <c:v>29.512</c:v>
              </c:pt>
              <c:pt idx="17">
                <c:v>41.465</c:v>
              </c:pt>
            </c:numLit>
          </c:val>
          <c:smooth val="0"/>
        </c:ser>
        <c:ser>
          <c:idx val="5"/>
          <c:order val="5"/>
          <c:tx>
            <c:v>C空還</c:v>
          </c:tx>
          <c:spPr>
            <a:ln xmlns:a="http://schemas.openxmlformats.org/drawingml/2006/main" w="23813">
              <a:solidFill>
                <a:srgbClr val="70AD47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29.163</c:v>
              </c:pt>
              <c:pt idx="1">
                <c:v>76.395</c:v>
              </c:pt>
              <c:pt idx="2">
                <c:v>131.186</c:v>
              </c:pt>
              <c:pt idx="3">
                <c:v>122.581</c:v>
              </c:pt>
              <c:pt idx="4">
                <c:v>107.698</c:v>
              </c:pt>
              <c:pt idx="5">
                <c:v>104.14</c:v>
              </c:pt>
              <c:pt idx="6">
                <c:v>130.093</c:v>
              </c:pt>
              <c:pt idx="7">
                <c:v>104.814</c:v>
              </c:pt>
              <c:pt idx="8">
                <c:v>86.209</c:v>
              </c:pt>
              <c:pt idx="9">
                <c:v>82.326</c:v>
              </c:pt>
              <c:pt idx="10">
                <c:v>104.907</c:v>
              </c:pt>
              <c:pt idx="11">
                <c:v>145.023</c:v>
              </c:pt>
              <c:pt idx="12">
                <c:v>150.093</c:v>
              </c:pt>
              <c:pt idx="13">
                <c:v>109.419</c:v>
              </c:pt>
              <c:pt idx="14">
                <c:v>86.442</c:v>
              </c:pt>
              <c:pt idx="15">
                <c:v>75.93</c:v>
              </c:pt>
              <c:pt idx="16">
                <c:v>59.256</c:v>
              </c:pt>
              <c:pt idx="17">
                <c:v>29.767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滿借覆蓋率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A級</c:v>
          </c:tx>
          <c:spPr>
            <a:ln xmlns:a="http://schemas.openxmlformats.org/drawingml/2006/main" w="33338">
              <a:solidFill>
                <a:srgbClr val="4472C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0.10549</c:v>
              </c:pt>
              <c:pt idx="1">
                <c:v>0.18433</c:v>
              </c:pt>
              <c:pt idx="2">
                <c:v>0.28356</c:v>
              </c:pt>
              <c:pt idx="3">
                <c:v>0.32927</c:v>
              </c:pt>
              <c:pt idx="4">
                <c:v>0.21053</c:v>
              </c:pt>
              <c:pt idx="5">
                <c:v>0.21127</c:v>
              </c:pt>
              <c:pt idx="6">
                <c:v>0.13551</c:v>
              </c:pt>
              <c:pt idx="7">
                <c:v>0.2138</c:v>
              </c:pt>
              <c:pt idx="8">
                <c:v>0.20889</c:v>
              </c:pt>
              <c:pt idx="9">
                <c:v>0.12434</c:v>
              </c:pt>
              <c:pt idx="10">
                <c:v>0.07799</c:v>
              </c:pt>
              <c:pt idx="11">
                <c:v>0.14994</c:v>
              </c:pt>
              <c:pt idx="12">
                <c:v>0.30745</c:v>
              </c:pt>
              <c:pt idx="13">
                <c:v>0.3437</c:v>
              </c:pt>
              <c:pt idx="14">
                <c:v>0.2796</c:v>
              </c:pt>
              <c:pt idx="15">
                <c:v>0.26073</c:v>
              </c:pt>
              <c:pt idx="16">
                <c:v>0.38889</c:v>
              </c:pt>
              <c:pt idx="17">
                <c:v>0.39918</c:v>
              </c:pt>
            </c:numLit>
          </c:val>
          <c:smooth val="0"/>
        </c:ser>
        <c:ser>
          <c:idx val="1"/>
          <c:order val="1"/>
          <c:tx>
            <c:v>B級</c:v>
          </c:tx>
          <c:spPr>
            <a:ln xmlns:a="http://schemas.openxmlformats.org/drawingml/2006/main" w="33338">
              <a:solidFill>
                <a:srgbClr val="ED7D3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0.02572</c:v>
              </c:pt>
              <c:pt idx="1">
                <c:v>0.0876</c:v>
              </c:pt>
              <c:pt idx="2">
                <c:v>0.27224</c:v>
              </c:pt>
              <c:pt idx="3">
                <c:v>0.33088</c:v>
              </c:pt>
              <c:pt idx="4">
                <c:v>0.30392</c:v>
              </c:pt>
              <c:pt idx="5">
                <c:v>0.19192</c:v>
              </c:pt>
              <c:pt idx="6">
                <c:v>0.08333</c:v>
              </c:pt>
              <c:pt idx="7">
                <c:v>0.15859</c:v>
              </c:pt>
              <c:pt idx="8">
                <c:v>0.17778</c:v>
              </c:pt>
              <c:pt idx="9">
                <c:v>0.23567</c:v>
              </c:pt>
              <c:pt idx="10">
                <c:v>0.09778</c:v>
              </c:pt>
              <c:pt idx="11">
                <c:v>0.22822</c:v>
              </c:pt>
              <c:pt idx="12">
                <c:v>0.35788</c:v>
              </c:pt>
              <c:pt idx="13">
                <c:v>0.40641</c:v>
              </c:pt>
              <c:pt idx="14">
                <c:v>0.3192</c:v>
              </c:pt>
              <c:pt idx="15">
                <c:v>0.31781</c:v>
              </c:pt>
              <c:pt idx="16">
                <c:v>0.37701</c:v>
              </c:pt>
              <c:pt idx="17">
                <c:v>0.36017</c:v>
              </c:pt>
            </c:numLit>
          </c:val>
          <c:smooth val="0"/>
        </c:ser>
        <c:ser>
          <c:idx val="2"/>
          <c:order val="2"/>
          <c:tx>
            <c:v>C級</c:v>
          </c:tx>
          <c:spPr>
            <a:ln xmlns:a="http://schemas.openxmlformats.org/drawingml/2006/main" w="33338">
              <a:solidFill>
                <a:srgbClr val="70AD4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0.03704</c:v>
              </c:pt>
              <c:pt idx="1">
                <c:v>0.16256</c:v>
              </c:pt>
              <c:pt idx="2">
                <c:v>0.23881</c:v>
              </c:pt>
              <c:pt idx="3">
                <c:v>0.25664</c:v>
              </c:pt>
              <c:pt idx="4">
                <c:v>0.25</c:v>
              </c:pt>
              <c:pt idx="5">
                <c:v>0.17647</c:v>
              </c:pt>
              <c:pt idx="6">
                <c:v>0.10294</c:v>
              </c:pt>
              <c:pt idx="7">
                <c:v>0.30488</c:v>
              </c:pt>
              <c:pt idx="8">
                <c:v>0.19277</c:v>
              </c:pt>
              <c:pt idx="9">
                <c:v>0.17582</c:v>
              </c:pt>
              <c:pt idx="10">
                <c:v>0.08462</c:v>
              </c:pt>
              <c:pt idx="11">
                <c:v>0.26794</c:v>
              </c:pt>
              <c:pt idx="12">
                <c:v>0.38</c:v>
              </c:pt>
              <c:pt idx="13">
                <c:v>0.41322</c:v>
              </c:pt>
              <c:pt idx="14">
                <c:v>0.40698</c:v>
              </c:pt>
              <c:pt idx="15">
                <c:v>0.25676</c:v>
              </c:pt>
              <c:pt idx="16">
                <c:v>0.2716</c:v>
              </c:pt>
              <c:pt idx="17">
                <c:v>0.33333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0.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%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空還覆蓋率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A級</c:v>
          </c:tx>
          <c:spPr>
            <a:ln xmlns:a="http://schemas.openxmlformats.org/drawingml/2006/main" w="33338">
              <a:solidFill>
                <a:srgbClr val="4472C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0.05955</c:v>
              </c:pt>
              <c:pt idx="1">
                <c:v>0.15909</c:v>
              </c:pt>
              <c:pt idx="2">
                <c:v>0.13773</c:v>
              </c:pt>
              <c:pt idx="3">
                <c:v>0.12031</c:v>
              </c:pt>
              <c:pt idx="4">
                <c:v>0.13703</c:v>
              </c:pt>
              <c:pt idx="5">
                <c:v>0.11007</c:v>
              </c:pt>
              <c:pt idx="6">
                <c:v>0.03032</c:v>
              </c:pt>
              <c:pt idx="7">
                <c:v>0.05401</c:v>
              </c:pt>
              <c:pt idx="8">
                <c:v>0.0685</c:v>
              </c:pt>
              <c:pt idx="9">
                <c:v>0.03534</c:v>
              </c:pt>
              <c:pt idx="10">
                <c:v>0.04562</c:v>
              </c:pt>
              <c:pt idx="11">
                <c:v>0.05706</c:v>
              </c:pt>
              <c:pt idx="12">
                <c:v>0.14085</c:v>
              </c:pt>
              <c:pt idx="13">
                <c:v>0.14247</c:v>
              </c:pt>
              <c:pt idx="14">
                <c:v>0.13899</c:v>
              </c:pt>
              <c:pt idx="15">
                <c:v>0.10423</c:v>
              </c:pt>
              <c:pt idx="16">
                <c:v>0.20156</c:v>
              </c:pt>
              <c:pt idx="17">
                <c:v>0.2107</c:v>
              </c:pt>
            </c:numLit>
          </c:val>
          <c:smooth val="0"/>
        </c:ser>
        <c:ser>
          <c:idx val="1"/>
          <c:order val="1"/>
          <c:tx>
            <c:v>B級</c:v>
          </c:tx>
          <c:spPr>
            <a:ln xmlns:a="http://schemas.openxmlformats.org/drawingml/2006/main" w="33338">
              <a:solidFill>
                <a:srgbClr val="ED7D3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0.06151</c:v>
              </c:pt>
              <c:pt idx="1">
                <c:v>0.1544</c:v>
              </c:pt>
              <c:pt idx="2">
                <c:v>0.15115</c:v>
              </c:pt>
              <c:pt idx="3">
                <c:v>0.14164</c:v>
              </c:pt>
              <c:pt idx="4">
                <c:v>0.14704</c:v>
              </c:pt>
              <c:pt idx="5">
                <c:v>0.095</c:v>
              </c:pt>
              <c:pt idx="6">
                <c:v>0.03821</c:v>
              </c:pt>
              <c:pt idx="7">
                <c:v>0.06415</c:v>
              </c:pt>
              <c:pt idx="8">
                <c:v>0.06718</c:v>
              </c:pt>
              <c:pt idx="9">
                <c:v>0.0347</c:v>
              </c:pt>
              <c:pt idx="10">
                <c:v>0.01355</c:v>
              </c:pt>
              <c:pt idx="11">
                <c:v>0.04352</c:v>
              </c:pt>
              <c:pt idx="12">
                <c:v>0.05941</c:v>
              </c:pt>
              <c:pt idx="13">
                <c:v>0.07795</c:v>
              </c:pt>
              <c:pt idx="14">
                <c:v>0.08319</c:v>
              </c:pt>
              <c:pt idx="15">
                <c:v>0.0416</c:v>
              </c:pt>
              <c:pt idx="16">
                <c:v>0.1157</c:v>
              </c:pt>
              <c:pt idx="17">
                <c:v>0.2184</c:v>
              </c:pt>
            </c:numLit>
          </c:val>
          <c:smooth val="0"/>
        </c:ser>
        <c:ser>
          <c:idx val="2"/>
          <c:order val="2"/>
          <c:tx>
            <c:v>C級</c:v>
          </c:tx>
          <c:spPr>
            <a:ln xmlns:a="http://schemas.openxmlformats.org/drawingml/2006/main" w="33338">
              <a:solidFill>
                <a:srgbClr val="70AD4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0.00587</c:v>
              </c:pt>
              <c:pt idx="1">
                <c:v>0.07703</c:v>
              </c:pt>
              <c:pt idx="2">
                <c:v>0.08485</c:v>
              </c:pt>
              <c:pt idx="3">
                <c:v>0.10661</c:v>
              </c:pt>
              <c:pt idx="4">
                <c:v>0.10804</c:v>
              </c:pt>
              <c:pt idx="5">
                <c:v>0.08567</c:v>
              </c:pt>
              <c:pt idx="6">
                <c:v>0.04095</c:v>
              </c:pt>
              <c:pt idx="7">
                <c:v>0.05192</c:v>
              </c:pt>
              <c:pt idx="8">
                <c:v>0.06692</c:v>
              </c:pt>
              <c:pt idx="9">
                <c:v>0.04728</c:v>
              </c:pt>
              <c:pt idx="10">
                <c:v>0.00977</c:v>
              </c:pt>
              <c:pt idx="11">
                <c:v>0.02555</c:v>
              </c:pt>
              <c:pt idx="12">
                <c:v>0.04361</c:v>
              </c:pt>
              <c:pt idx="13">
                <c:v>0.05707</c:v>
              </c:pt>
              <c:pt idx="14">
                <c:v>0.06643</c:v>
              </c:pt>
              <c:pt idx="15">
                <c:v>0.03849</c:v>
              </c:pt>
              <c:pt idx="16">
                <c:v>0.08535</c:v>
              </c:pt>
              <c:pt idx="17">
                <c:v>0.11241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0.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%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滿借場站數與調出場站數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A調出</c:v>
          </c:tx>
          <c:spPr>
            <a:ln xmlns:a="http://schemas.openxmlformats.org/drawingml/2006/main" w="33338">
              <a:solidFill>
                <a:srgbClr val="4472C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35</c:v>
              </c:pt>
              <c:pt idx="1">
                <c:v>81.279</c:v>
              </c:pt>
              <c:pt idx="2">
                <c:v>43.93</c:v>
              </c:pt>
              <c:pt idx="3">
                <c:v>38.465</c:v>
              </c:pt>
              <c:pt idx="4">
                <c:v>36.163</c:v>
              </c:pt>
              <c:pt idx="5">
                <c:v>26.093</c:v>
              </c:pt>
              <c:pt idx="6">
                <c:v>18.419</c:v>
              </c:pt>
              <c:pt idx="7">
                <c:v>23.674</c:v>
              </c:pt>
              <c:pt idx="8">
                <c:v>22.767</c:v>
              </c:pt>
              <c:pt idx="9">
                <c:v>21.605</c:v>
              </c:pt>
              <c:pt idx="10">
                <c:v>40.907</c:v>
              </c:pt>
              <c:pt idx="11">
                <c:v>48.744</c:v>
              </c:pt>
              <c:pt idx="12">
                <c:v>66.814</c:v>
              </c:pt>
              <c:pt idx="13">
                <c:v>44.744</c:v>
              </c:pt>
              <c:pt idx="14">
                <c:v>33</c:v>
              </c:pt>
              <c:pt idx="15">
                <c:v>18.465</c:v>
              </c:pt>
              <c:pt idx="16">
                <c:v>36.744</c:v>
              </c:pt>
              <c:pt idx="17">
                <c:v>43.977</c:v>
              </c:pt>
            </c:numLit>
          </c:val>
          <c:smooth val="0"/>
        </c:ser>
        <c:ser>
          <c:idx val="1"/>
          <c:order val="1"/>
          <c:tx>
            <c:v>A滿借</c:v>
          </c:tx>
          <c:spPr>
            <a:ln xmlns:a="http://schemas.openxmlformats.org/drawingml/2006/main" w="23813">
              <a:solidFill>
                <a:srgbClr val="4472C4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11.023</c:v>
              </c:pt>
              <c:pt idx="1">
                <c:v>20.186</c:v>
              </c:pt>
              <c:pt idx="2">
                <c:v>16.977</c:v>
              </c:pt>
              <c:pt idx="3">
                <c:v>11.442</c:v>
              </c:pt>
              <c:pt idx="4">
                <c:v>7.953</c:v>
              </c:pt>
              <c:pt idx="5">
                <c:v>8.256</c:v>
              </c:pt>
              <c:pt idx="6">
                <c:v>13.558</c:v>
              </c:pt>
              <c:pt idx="7">
                <c:v>13.814</c:v>
              </c:pt>
              <c:pt idx="8">
                <c:v>10.465</c:v>
              </c:pt>
              <c:pt idx="9">
                <c:v>8.791</c:v>
              </c:pt>
              <c:pt idx="10">
                <c:v>13.419</c:v>
              </c:pt>
              <c:pt idx="11">
                <c:v>20.163</c:v>
              </c:pt>
              <c:pt idx="12">
                <c:v>22.465</c:v>
              </c:pt>
              <c:pt idx="13">
                <c:v>15.698</c:v>
              </c:pt>
              <c:pt idx="14">
                <c:v>9.233</c:v>
              </c:pt>
              <c:pt idx="15">
                <c:v>7.047</c:v>
              </c:pt>
              <c:pt idx="16">
                <c:v>7.953</c:v>
              </c:pt>
              <c:pt idx="17">
                <c:v>5.651</c:v>
              </c:pt>
            </c:numLit>
          </c:val>
          <c:smooth val="0"/>
        </c:ser>
        <c:ser>
          <c:idx val="2"/>
          <c:order val="2"/>
          <c:tx>
            <c:v>B調出</c:v>
          </c:tx>
          <c:spPr>
            <a:ln xmlns:a="http://schemas.openxmlformats.org/drawingml/2006/main" w="33338">
              <a:solidFill>
                <a:srgbClr val="ED7D3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23.837</c:v>
              </c:pt>
              <c:pt idx="1">
                <c:v>54.907</c:v>
              </c:pt>
              <c:pt idx="2">
                <c:v>25.884</c:v>
              </c:pt>
              <c:pt idx="3">
                <c:v>17.814</c:v>
              </c:pt>
              <c:pt idx="4">
                <c:v>12.256</c:v>
              </c:pt>
              <c:pt idx="5">
                <c:v>8.093</c:v>
              </c:pt>
              <c:pt idx="6">
                <c:v>4.721</c:v>
              </c:pt>
              <c:pt idx="7">
                <c:v>6.814</c:v>
              </c:pt>
              <c:pt idx="8">
                <c:v>9.535</c:v>
              </c:pt>
              <c:pt idx="9">
                <c:v>7.86</c:v>
              </c:pt>
              <c:pt idx="10">
                <c:v>11.372</c:v>
              </c:pt>
              <c:pt idx="11">
                <c:v>21.558</c:v>
              </c:pt>
              <c:pt idx="12">
                <c:v>22.558</c:v>
              </c:pt>
              <c:pt idx="13">
                <c:v>22.744</c:v>
              </c:pt>
              <c:pt idx="14">
                <c:v>23.628</c:v>
              </c:pt>
              <c:pt idx="15">
                <c:v>13.395</c:v>
              </c:pt>
              <c:pt idx="16">
                <c:v>32.302</c:v>
              </c:pt>
              <c:pt idx="17">
                <c:v>39.023</c:v>
              </c:pt>
            </c:numLit>
          </c:val>
          <c:smooth val="0"/>
        </c:ser>
        <c:ser>
          <c:idx val="3"/>
          <c:order val="3"/>
          <c:tx>
            <c:v>B滿借</c:v>
          </c:tx>
          <c:spPr>
            <a:ln xmlns:a="http://schemas.openxmlformats.org/drawingml/2006/main" w="23813">
              <a:solidFill>
                <a:srgbClr val="ED7D31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7.233</c:v>
              </c:pt>
              <c:pt idx="1">
                <c:v>14.07</c:v>
              </c:pt>
              <c:pt idx="2">
                <c:v>8.628</c:v>
              </c:pt>
              <c:pt idx="3">
                <c:v>3.163</c:v>
              </c:pt>
              <c:pt idx="4">
                <c:v>2.372</c:v>
              </c:pt>
              <c:pt idx="5">
                <c:v>2.302</c:v>
              </c:pt>
              <c:pt idx="6">
                <c:v>4.465</c:v>
              </c:pt>
              <c:pt idx="7">
                <c:v>5.279</c:v>
              </c:pt>
              <c:pt idx="8">
                <c:v>4.186</c:v>
              </c:pt>
              <c:pt idx="9">
                <c:v>3.651</c:v>
              </c:pt>
              <c:pt idx="10">
                <c:v>5.233</c:v>
              </c:pt>
              <c:pt idx="11">
                <c:v>11.209</c:v>
              </c:pt>
              <c:pt idx="12">
                <c:v>15.791</c:v>
              </c:pt>
              <c:pt idx="13">
                <c:v>13.791</c:v>
              </c:pt>
              <c:pt idx="14">
                <c:v>9.326</c:v>
              </c:pt>
              <c:pt idx="15">
                <c:v>8.488</c:v>
              </c:pt>
              <c:pt idx="16">
                <c:v>10.116</c:v>
              </c:pt>
              <c:pt idx="17">
                <c:v>5.488</c:v>
              </c:pt>
            </c:numLit>
          </c:val>
          <c:smooth val="0"/>
        </c:ser>
        <c:ser>
          <c:idx val="4"/>
          <c:order val="4"/>
          <c:tx>
            <c:v>C調出</c:v>
          </c:tx>
          <c:spPr>
            <a:ln xmlns:a="http://schemas.openxmlformats.org/drawingml/2006/main" w="33338">
              <a:solidFill>
                <a:srgbClr val="70AD4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6.093</c:v>
              </c:pt>
              <c:pt idx="1">
                <c:v>25.233</c:v>
              </c:pt>
              <c:pt idx="2">
                <c:v>17.884</c:v>
              </c:pt>
              <c:pt idx="3">
                <c:v>14.349</c:v>
              </c:pt>
              <c:pt idx="4">
                <c:v>12.488</c:v>
              </c:pt>
              <c:pt idx="5">
                <c:v>7.837</c:v>
              </c:pt>
              <c:pt idx="6">
                <c:v>4.372</c:v>
              </c:pt>
              <c:pt idx="7">
                <c:v>8.07</c:v>
              </c:pt>
              <c:pt idx="8">
                <c:v>9.395</c:v>
              </c:pt>
              <c:pt idx="9">
                <c:v>8.628</c:v>
              </c:pt>
              <c:pt idx="10">
                <c:v>5.721</c:v>
              </c:pt>
              <c:pt idx="11">
                <c:v>9.628</c:v>
              </c:pt>
              <c:pt idx="12">
                <c:v>11.767</c:v>
              </c:pt>
              <c:pt idx="13">
                <c:v>13.116</c:v>
              </c:pt>
              <c:pt idx="14">
                <c:v>15</c:v>
              </c:pt>
              <c:pt idx="15">
                <c:v>8.721</c:v>
              </c:pt>
              <c:pt idx="16">
                <c:v>12</c:v>
              </c:pt>
              <c:pt idx="17">
                <c:v>18.209</c:v>
              </c:pt>
            </c:numLit>
          </c:val>
          <c:smooth val="0"/>
        </c:ser>
        <c:ser>
          <c:idx val="5"/>
          <c:order val="5"/>
          <c:tx>
            <c:v>C滿借</c:v>
          </c:tx>
          <c:spPr>
            <a:ln xmlns:a="http://schemas.openxmlformats.org/drawingml/2006/main" w="23813">
              <a:solidFill>
                <a:srgbClr val="70AD47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1.884</c:v>
              </c:pt>
              <c:pt idx="1">
                <c:v>4.721</c:v>
              </c:pt>
              <c:pt idx="2">
                <c:v>4.674</c:v>
              </c:pt>
              <c:pt idx="3">
                <c:v>2.628</c:v>
              </c:pt>
              <c:pt idx="4">
                <c:v>1.488</c:v>
              </c:pt>
              <c:pt idx="5">
                <c:v>1.186</c:v>
              </c:pt>
              <c:pt idx="6">
                <c:v>1.581</c:v>
              </c:pt>
              <c:pt idx="7">
                <c:v>1.907</c:v>
              </c:pt>
              <c:pt idx="8">
                <c:v>1.93</c:v>
              </c:pt>
              <c:pt idx="9">
                <c:v>2.116</c:v>
              </c:pt>
              <c:pt idx="10">
                <c:v>3.023</c:v>
              </c:pt>
              <c:pt idx="11">
                <c:v>4.86</c:v>
              </c:pt>
              <c:pt idx="12">
                <c:v>3.488</c:v>
              </c:pt>
              <c:pt idx="13">
                <c:v>2.814</c:v>
              </c:pt>
              <c:pt idx="14">
                <c:v>2</c:v>
              </c:pt>
              <c:pt idx="15">
                <c:v>1.721</c:v>
              </c:pt>
              <c:pt idx="16">
                <c:v>1.884</c:v>
              </c:pt>
              <c:pt idx="17">
                <c:v>1.256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9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8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空還場站數與調入場站數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A調入</c:v>
          </c:tx>
          <c:spPr>
            <a:ln xmlns:a="http://schemas.openxmlformats.org/drawingml/2006/main" w="33338">
              <a:solidFill>
                <a:srgbClr val="4472C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14.116</c:v>
              </c:pt>
              <c:pt idx="1">
                <c:v>51.302</c:v>
              </c:pt>
              <c:pt idx="2">
                <c:v>84.744</c:v>
              </c:pt>
              <c:pt idx="3">
                <c:v>86.651</c:v>
              </c:pt>
              <c:pt idx="4">
                <c:v>65.884</c:v>
              </c:pt>
              <c:pt idx="5">
                <c:v>55.395</c:v>
              </c:pt>
              <c:pt idx="6">
                <c:v>12.953</c:v>
              </c:pt>
              <c:pt idx="7">
                <c:v>18.674</c:v>
              </c:pt>
              <c:pt idx="8">
                <c:v>22.953</c:v>
              </c:pt>
              <c:pt idx="9">
                <c:v>17.791</c:v>
              </c:pt>
              <c:pt idx="10">
                <c:v>11.488</c:v>
              </c:pt>
              <c:pt idx="11">
                <c:v>26</c:v>
              </c:pt>
              <c:pt idx="12">
                <c:v>73.884</c:v>
              </c:pt>
              <c:pt idx="13">
                <c:v>90.279</c:v>
              </c:pt>
              <c:pt idx="14">
                <c:v>71.953</c:v>
              </c:pt>
              <c:pt idx="15">
                <c:v>60.674</c:v>
              </c:pt>
              <c:pt idx="16">
                <c:v>54.605</c:v>
              </c:pt>
              <c:pt idx="17">
                <c:v>70.14</c:v>
              </c:pt>
            </c:numLit>
          </c:val>
          <c:smooth val="0"/>
        </c:ser>
        <c:ser>
          <c:idx val="1"/>
          <c:order val="1"/>
          <c:tx>
            <c:v>A空還</c:v>
          </c:tx>
          <c:spPr>
            <a:ln xmlns:a="http://schemas.openxmlformats.org/drawingml/2006/main" w="23813">
              <a:solidFill>
                <a:srgbClr val="4472C4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35.93</c:v>
              </c:pt>
              <c:pt idx="1">
                <c:v>116.651</c:v>
              </c:pt>
              <c:pt idx="2">
                <c:v>183.884</c:v>
              </c:pt>
              <c:pt idx="3">
                <c:v>165.465</c:v>
              </c:pt>
              <c:pt idx="4">
                <c:v>147.14</c:v>
              </c:pt>
              <c:pt idx="5">
                <c:v>129.512</c:v>
              </c:pt>
              <c:pt idx="6">
                <c:v>150.349</c:v>
              </c:pt>
              <c:pt idx="7">
                <c:v>132.628</c:v>
              </c:pt>
              <c:pt idx="8">
                <c:v>110</c:v>
              </c:pt>
              <c:pt idx="9">
                <c:v>100.023</c:v>
              </c:pt>
              <c:pt idx="10">
                <c:v>108.07</c:v>
              </c:pt>
              <c:pt idx="11">
                <c:v>116.977</c:v>
              </c:pt>
              <c:pt idx="12">
                <c:v>109.302</c:v>
              </c:pt>
              <c:pt idx="13">
                <c:v>112.14</c:v>
              </c:pt>
              <c:pt idx="14">
                <c:v>122.14</c:v>
              </c:pt>
              <c:pt idx="15">
                <c:v>138.116</c:v>
              </c:pt>
              <c:pt idx="16">
                <c:v>134.186</c:v>
              </c:pt>
              <c:pt idx="17">
                <c:v>89.07</c:v>
              </c:pt>
            </c:numLit>
          </c:val>
          <c:smooth val="0"/>
        </c:ser>
        <c:ser>
          <c:idx val="2"/>
          <c:order val="2"/>
          <c:tx>
            <c:v>B調入</c:v>
          </c:tx>
          <c:spPr>
            <a:ln xmlns:a="http://schemas.openxmlformats.org/drawingml/2006/main" w="33338">
              <a:solidFill>
                <a:srgbClr val="ED7D3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4.628</c:v>
              </c:pt>
              <c:pt idx="1">
                <c:v>28.488</c:v>
              </c:pt>
              <c:pt idx="2">
                <c:v>53.791</c:v>
              </c:pt>
              <c:pt idx="3">
                <c:v>56.023</c:v>
              </c:pt>
              <c:pt idx="4">
                <c:v>49.767</c:v>
              </c:pt>
              <c:pt idx="5">
                <c:v>34.395</c:v>
              </c:pt>
              <c:pt idx="6">
                <c:v>9.163</c:v>
              </c:pt>
              <c:pt idx="7">
                <c:v>16.326</c:v>
              </c:pt>
              <c:pt idx="8">
                <c:v>18.814</c:v>
              </c:pt>
              <c:pt idx="9">
                <c:v>11.651</c:v>
              </c:pt>
              <c:pt idx="10">
                <c:v>7.302</c:v>
              </c:pt>
              <c:pt idx="11">
                <c:v>17.047</c:v>
              </c:pt>
              <c:pt idx="12">
                <c:v>51.86</c:v>
              </c:pt>
              <c:pt idx="13">
                <c:v>61.116</c:v>
              </c:pt>
              <c:pt idx="14">
                <c:v>50.047</c:v>
              </c:pt>
              <c:pt idx="15">
                <c:v>46.814</c:v>
              </c:pt>
              <c:pt idx="16">
                <c:v>22.023</c:v>
              </c:pt>
              <c:pt idx="17">
                <c:v>31.837</c:v>
              </c:pt>
            </c:numLit>
          </c:val>
          <c:smooth val="0"/>
        </c:ser>
        <c:ser>
          <c:idx val="3"/>
          <c:order val="3"/>
          <c:tx>
            <c:v>B空還</c:v>
          </c:tx>
          <c:spPr>
            <a:ln xmlns:a="http://schemas.openxmlformats.org/drawingml/2006/main" w="23813">
              <a:solidFill>
                <a:srgbClr val="ED7D31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26.465</c:v>
              </c:pt>
              <c:pt idx="1">
                <c:v>86.907</c:v>
              </c:pt>
              <c:pt idx="2">
                <c:v>121.86</c:v>
              </c:pt>
              <c:pt idx="3">
                <c:v>106.395</c:v>
              </c:pt>
              <c:pt idx="4">
                <c:v>89.674</c:v>
              </c:pt>
              <c:pt idx="5">
                <c:v>83.721</c:v>
              </c:pt>
              <c:pt idx="6">
                <c:v>104.698</c:v>
              </c:pt>
              <c:pt idx="7">
                <c:v>99.326</c:v>
              </c:pt>
              <c:pt idx="8">
                <c:v>81</c:v>
              </c:pt>
              <c:pt idx="9">
                <c:v>80.419</c:v>
              </c:pt>
              <c:pt idx="10">
                <c:v>96.093</c:v>
              </c:pt>
              <c:pt idx="11">
                <c:v>115.419</c:v>
              </c:pt>
              <c:pt idx="12">
                <c:v>98.651</c:v>
              </c:pt>
              <c:pt idx="13">
                <c:v>76.674</c:v>
              </c:pt>
              <c:pt idx="14">
                <c:v>69.326</c:v>
              </c:pt>
              <c:pt idx="15">
                <c:v>61.488</c:v>
              </c:pt>
              <c:pt idx="16">
                <c:v>48.442</c:v>
              </c:pt>
              <c:pt idx="17">
                <c:v>25.023</c:v>
              </c:pt>
            </c:numLit>
          </c:val>
          <c:smooth val="0"/>
        </c:ser>
        <c:ser>
          <c:idx val="4"/>
          <c:order val="4"/>
          <c:tx>
            <c:v>C調入</c:v>
          </c:tx>
          <c:spPr>
            <a:ln xmlns:a="http://schemas.openxmlformats.org/drawingml/2006/main" w="33338">
              <a:solidFill>
                <a:srgbClr val="70AD4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2.07</c:v>
              </c:pt>
              <c:pt idx="1">
                <c:v>15.233</c:v>
              </c:pt>
              <c:pt idx="2">
                <c:v>30.093</c:v>
              </c:pt>
              <c:pt idx="3">
                <c:v>30.674</c:v>
              </c:pt>
              <c:pt idx="4">
                <c:v>28.395</c:v>
              </c:pt>
              <c:pt idx="5">
                <c:v>20.605</c:v>
              </c:pt>
              <c:pt idx="6">
                <c:v>6.977</c:v>
              </c:pt>
              <c:pt idx="7">
                <c:v>15.116</c:v>
              </c:pt>
              <c:pt idx="8">
                <c:v>18.349</c:v>
              </c:pt>
              <c:pt idx="9">
                <c:v>13.977</c:v>
              </c:pt>
              <c:pt idx="10">
                <c:v>6.628</c:v>
              </c:pt>
              <c:pt idx="11">
                <c:v>14.279</c:v>
              </c:pt>
              <c:pt idx="12">
                <c:v>29.884</c:v>
              </c:pt>
              <c:pt idx="13">
                <c:v>35.814</c:v>
              </c:pt>
              <c:pt idx="14">
                <c:v>30.023</c:v>
              </c:pt>
              <c:pt idx="15">
                <c:v>25.233</c:v>
              </c:pt>
              <c:pt idx="16">
                <c:v>12.837</c:v>
              </c:pt>
              <c:pt idx="17">
                <c:v>21.605</c:v>
              </c:pt>
            </c:numLit>
          </c:val>
          <c:smooth val="0"/>
        </c:ser>
        <c:ser>
          <c:idx val="5"/>
          <c:order val="5"/>
          <c:tx>
            <c:v>C空還</c:v>
          </c:tx>
          <c:spPr>
            <a:ln xmlns:a="http://schemas.openxmlformats.org/drawingml/2006/main" w="23813">
              <a:solidFill>
                <a:srgbClr val="70AD47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11.884</c:v>
              </c:pt>
              <c:pt idx="1">
                <c:v>34.116</c:v>
              </c:pt>
              <c:pt idx="2">
                <c:v>40.837</c:v>
              </c:pt>
              <c:pt idx="3">
                <c:v>34.465</c:v>
              </c:pt>
              <c:pt idx="4">
                <c:v>27.767</c:v>
              </c:pt>
              <c:pt idx="5">
                <c:v>27.419</c:v>
              </c:pt>
              <c:pt idx="6">
                <c:v>40.326</c:v>
              </c:pt>
              <c:pt idx="7">
                <c:v>36.279</c:v>
              </c:pt>
              <c:pt idx="8">
                <c:v>30.233</c:v>
              </c:pt>
              <c:pt idx="9">
                <c:v>32.953</c:v>
              </c:pt>
              <c:pt idx="10">
                <c:v>47.628</c:v>
              </c:pt>
              <c:pt idx="11">
                <c:v>68.256</c:v>
              </c:pt>
              <c:pt idx="12">
                <c:v>70.395</c:v>
              </c:pt>
              <c:pt idx="13">
                <c:v>47.674</c:v>
              </c:pt>
              <c:pt idx="14">
                <c:v>39.209</c:v>
              </c:pt>
              <c:pt idx="15">
                <c:v>31.419</c:v>
              </c:pt>
              <c:pt idx="16">
                <c:v>18.256</c:v>
              </c:pt>
              <c:pt idx="17">
                <c:v>9.93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投影片編號版面配置區 2">
            <a:extLst xmlns:a="http://schemas.openxmlformats.org/drawingml/2006/main">
              <a:ext uri="{FF2B5EF4-FFF2-40B4-BE49-F238E27FC236}">
                <a16:creationId xmlns:a16="http://schemas.microsoft.com/office/drawing/2014/main" id="{2F0538B9-230B-2673-0CBF-09C5DCF373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4223C03-1ED5-402E-8F3E-89A17789C924}" type="slidenum">
              <a:t>1</a:t>
            </a:fld>
            <a:endParaRPr/>
          </a:p>
        </p:txBody>
      </p:sp>
      <p:sp>
        <p:nvSpPr>
          <p:cNvPr id="6" name="標題 1">
            <a:extLst xmlns:a="http://schemas.openxmlformats.org/drawingml/2006/main">
              <a:ext uri="{FF2B5EF4-FFF2-40B4-BE49-F238E27FC236}">
                <a16:creationId xmlns:a16="http://schemas.microsoft.com/office/drawing/2014/main" id="{E26DB488-7653-E7BA-959F-A0EF1B7B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  <a:r>
              <a: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微軟正黑體"/>
                <a:ea typeface="微軟正黑體"/>
                <a:cs typeface="微軟正黑體"/>
              </a:rPr>
              <a:t>六、雙北專案任務_台大微型調度車營運分析</a:t>
            </a:r>
            <a:endParaRPr sz="4000" b="1">
              <a:solidFill>
                <a:schemeClr val="bg1"/>
              </a:solidFill>
              <a:latin typeface="微軟正黑體"/>
              <a:ea typeface="微軟正黑體"/>
              <a:cs typeface="微軟正黑體"/>
            </a:endParaRPr>
          </a:p>
        </p:txBody>
      </p:sp>
      <p:graphicFrame>
        <p:nvGraphicFramePr>
          <p:cNvPr id="12" name="表格 1"/>
          <p:cNvGraphicFramePr/>
          <p:nvPr/>
        </p:nvGraphicFramePr>
        <p:xfrm>
          <a:off xmlns:a="http://schemas.openxmlformats.org/drawingml/2006/main" x="107504" y="2058298"/>
          <a:ext xmlns:a="http://schemas.openxmlformats.org/drawingml/2006/main" cx="8760402" cy="417959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1681"/>
                <a:gridCol w="944182"/>
                <a:gridCol w="944182"/>
                <a:gridCol w="1117331"/>
                <a:gridCol w="944182"/>
                <a:gridCol w="1117331"/>
                <a:gridCol w="944182"/>
                <a:gridCol w="1117331"/>
              </a:tblGrid>
              <a:tr h="3147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指標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5月平日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8月平日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與5月差異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9/1–9/9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與5月差異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9/7–9/9</a:t>
                      </a:r>
                    </a:p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(開學)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與5月差異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日均用量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15,681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9,906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-36.83%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13,958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-10.99%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22,518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43.60%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日均還量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15,384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9,673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-37.12%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13,684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-11.05%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22,015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43.10%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6–24時見車率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86.60%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90.36%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4.34%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84.76%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-2.13%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76.31%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-11.89%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6–24時用量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15,459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9,722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-37.11%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13,780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-10.86%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22,338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44.50%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7–9時見車率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91.50%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93.14%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1.79%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89.94%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-1.71%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83.77%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-8.45%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7–9時用量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1,013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1,485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46.59%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1,922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89.73%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2,947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190.92%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11–13時見車率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90.00%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92.67%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2.97%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92.02%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2.25%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90.33%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0.37%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11–13時用量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2,656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2,289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-13.82%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3,949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48.68%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6,509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145.07%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16–20時見車率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84.50%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90.22%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6.77%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82.49%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-2.38%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71.06%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-15.90%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16–20時用量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4,948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3,490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-29.47%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3,908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-21.02%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6,240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26.11%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21–00時見車率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67.79%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80.48%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18.72%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64.26%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-5.20%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43.70%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-35.54%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21–00時用量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869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624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-28.19%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571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-34.29%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629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-27.62%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7–9見位率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96.50%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96.57%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0.08%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96.63%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0.14%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94.54%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-2.03%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文字方塊 7">
            <a:extLst xmlns:a="http://schemas.openxmlformats.org/drawingml/2006/main">
              <a:ext uri="{FF2B5EF4-FFF2-40B4-BE49-F238E27FC236}">
                <a16:creationId xmlns:a16="http://schemas.microsoft.com/office/drawing/2014/main" id="{4F8FC6BF-C9AC-EB28-6EEE-4268B315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3" y="980728"/>
            <a:ext cx="9174670" cy="9591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57200" indent="-457200">
              <a:lnSpc>
                <a:spcPct val="150000"/>
              </a:lnSpc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台大於9/7開學，用量23,866次，為歷史新高，相較於去年開學21,590次，成長10%，校內增柱408柱已全數啟用，目前校內共2496柱。</a:t>
            </a:r>
          </a:p>
        </p:txBody>
      </p:sp>
    </p:spTree>
    <p:extLst>
      <p:ext uri="{BB962C8B-B14F-4D97-AF65-F5344CB8AC3E}">
        <p14:creationId xmlns:p14="http://schemas.microsoft.com/office/powerpoint/2010/main" val="36821100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投影片編號版面配置區 2">
            <a:extLst xmlns:a="http://schemas.openxmlformats.org/drawingml/2006/main">
              <a:ext uri="{FF2B5EF4-FFF2-40B4-BE49-F238E27FC236}">
                <a16:creationId xmlns:a16="http://schemas.microsoft.com/office/drawing/2014/main" id="{C6D1B48F-346E-8B9E-02BB-D5EC07CA0C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4223C03-1ED5-402E-8F3E-89A17789C924}" type="slidenum">
              <a:t>2</a:t>
            </a:fld>
            <a:endParaRPr/>
          </a:p>
        </p:txBody>
      </p:sp>
      <p:sp>
        <p:nvSpPr>
          <p:cNvPr id="6" name="標題 1">
            <a:extLst xmlns:a="http://schemas.openxmlformats.org/drawingml/2006/main">
              <a:ext uri="{FF2B5EF4-FFF2-40B4-BE49-F238E27FC236}">
                <a16:creationId xmlns:a16="http://schemas.microsoft.com/office/drawing/2014/main" id="{8429D964-5C23-62EF-30B6-6B906AED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  <a:r>
              <a: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微軟正黑體"/>
                <a:ea typeface="微軟正黑體"/>
                <a:cs typeface="微軟正黑體"/>
              </a:rPr>
              <a:t>六、</a:t>
            </a:r>
            <a:r>
              <a:rPr sz="3600">
                <a:latin typeface="微軟正黑體"/>
                <a:ea typeface="微軟正黑體"/>
                <a:cs typeface="微軟正黑體"/>
              </a:rPr>
              <a:t>電輔微型調度車新增路線</a:t>
            </a:r>
            <a:endParaRPr sz="4000" b="1">
              <a:solidFill>
                <a:schemeClr val="bg1"/>
              </a:solidFill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19" name="圖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16c14da0242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775" y="900000"/>
            <a:ext cx="5015860" cy="3549430"/>
          </a:xfrm>
          <a:prstGeom xmlns:a="http://schemas.openxmlformats.org/drawingml/2006/main" prst="rect">
            <a:avLst/>
          </a:prstGeom>
        </p:spPr>
      </p:pic>
      <p:pic>
        <p:nvPicPr>
          <p:cNvPr id="20" name="圖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884ec6e7d41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93202" y="4166182"/>
            <a:ext cx="5209727" cy="2691818"/>
          </a:xfrm>
          <a:prstGeom xmlns:a="http://schemas.openxmlformats.org/drawingml/2006/main" prst="rect">
            <a:avLst/>
          </a:prstGeom>
        </p:spPr>
      </p:pic>
      <p:sp>
        <p:nvSpPr>
          <p:cNvPr id="12" name="文字方塊 11">
            <a:extLst xmlns:a="http://schemas.openxmlformats.org/drawingml/2006/main">
              <a:ext uri="{FF2B5EF4-FFF2-40B4-BE49-F238E27FC236}">
                <a16:creationId xmlns:a16="http://schemas.microsoft.com/office/drawing/2014/main" id="{A0813EFA-DAC2-EA52-E2F9-9DEF6012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6" y="903017"/>
            <a:ext cx="5039277" cy="64633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上午新增路線</a:t>
            </a:r>
          </a:p>
          <a:p xmlns:a="http://schemas.openxmlformats.org/drawingml/2006/main">
            <a:r>
              <a:rPr b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學新館，鄭江樓&gt;&gt;男六舍、男一舍、男七舍</a:t>
            </a:r>
            <a:endParaRPr sz="1200" b="1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4" name="文字方塊 13">
            <a:extLst xmlns:a="http://schemas.openxmlformats.org/drawingml/2006/main">
              <a:ext uri="{FF2B5EF4-FFF2-40B4-BE49-F238E27FC236}">
                <a16:creationId xmlns:a16="http://schemas.microsoft.com/office/drawing/2014/main" id="{DE74C4B3-D49B-2559-A9B6-2C62A0E3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057" y="4076930"/>
            <a:ext cx="4795943" cy="64633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晚上新增路線</a:t>
            </a:r>
          </a:p>
          <a:p xmlns:a="http://schemas.openxmlformats.org/drawingml/2006/main">
            <a:r>
              <a:rPr b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男六舍前、男一舍前、男七舍前&gt;&gt;校內空站</a:t>
            </a:r>
            <a:endParaRPr sz="1200" b="1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666589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投影片編號版面配置區 2">
            <a:extLst xmlns:a="http://schemas.openxmlformats.org/drawingml/2006/main">
              <a:ext uri="{FF2B5EF4-FFF2-40B4-BE49-F238E27FC236}">
                <a16:creationId xmlns:a16="http://schemas.microsoft.com/office/drawing/2014/main" id="{C2B2EFA6-6430-CCF3-74F3-5682E770A4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4223C03-1ED5-402E-8F3E-89A17789C924}" type="slidenum">
              <a:t>3</a:t>
            </a:fld>
            <a:endParaRPr/>
          </a:p>
        </p:txBody>
      </p:sp>
      <p:sp>
        <p:nvSpPr>
          <p:cNvPr id="6" name="標題 1">
            <a:extLst xmlns:a="http://schemas.openxmlformats.org/drawingml/2006/main">
              <a:ext uri="{FF2B5EF4-FFF2-40B4-BE49-F238E27FC236}">
                <a16:creationId xmlns:a16="http://schemas.microsoft.com/office/drawing/2014/main" id="{C8DDA1BA-6E0E-F1B9-AD17-5E6490A6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  <a:r>
              <a: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微軟正黑體"/>
                <a:ea typeface="微軟正黑體"/>
                <a:cs typeface="微軟正黑體"/>
              </a:rPr>
              <a:t>七、友愛接力</a:t>
            </a:r>
            <a:endParaRPr sz="4000" b="1">
              <a:solidFill>
                <a:schemeClr val="bg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文字方塊 4">
            <a:extLst xmlns:a="http://schemas.openxmlformats.org/drawingml/2006/main">
              <a:ext uri="{FF2B5EF4-FFF2-40B4-BE49-F238E27FC236}">
                <a16:creationId xmlns:a16="http://schemas.microsoft.com/office/drawing/2014/main" id="{EF50D5BE-46A3-2150-3091-29B6394E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" y="867095"/>
            <a:ext cx="8992616" cy="60374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57200" indent="-457200">
              <a:lnSpc>
                <a:spcPct val="150000"/>
              </a:lnSpc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資料來源7-9月的平日好天氣數據</a:t>
            </a:r>
          </a:p>
          <a:p xmlns:a="http://schemas.openxmlformats.org/drawingml/2006/main">
            <a:pPr marL="457200" indent="-457200">
              <a:lnSpc>
                <a:spcPct val="150000"/>
              </a:lnSpc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滿借/空還每發生1次，都視為調出/調入1輛車</a:t>
            </a:r>
          </a:p>
          <a:p xmlns:a="http://schemas.openxmlformats.org/drawingml/2006/main">
            <a:pPr marL="457200" indent="-457200">
              <a:lnSpc>
                <a:spcPct val="150000"/>
              </a:lnSpc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滿借覆蓋率:同時段內，調出、綁車總站數/滿借總站數</a:t>
            </a:r>
          </a:p>
          <a:p xmlns:a="http://schemas.openxmlformats.org/drawingml/2006/main"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空還覆蓋率:同時段內，調入、解綁車總站數/空還總站數(以上計算各時段)</a:t>
            </a:r>
          </a:p>
          <a:p xmlns:a="http://schemas.openxmlformats.org/drawingml/2006/main"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單站滿借覆蓋率:6-24時，如單小時發生滿借且有調出行為，則視為100%，如發生滿借且無調出行為，則視為0%，如無發生滿借且有調出行為，則視為0%</a:t>
            </a:r>
          </a:p>
          <a:p xmlns:a="http://schemas.openxmlformats.org/drawingml/2006/main"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設定幾種情況，空還車數大於調入車數(大於等於1)，空還車數小於調入車數，無空還(0)有調入，有空還無調入(0)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endParaRPr sz="2000"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 marL="457200" indent="-457200">
              <a:lnSpc>
                <a:spcPct val="150000"/>
              </a:lnSpc>
              <a:buFontTx/>
              <a:buAutoNum type="arabicPeriod"/>
            </a:pPr>
            <a:endParaRPr sz="2000"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50000"/>
              </a:lnSpc>
              <a:buNone/>
            </a:pPr>
            <a:endParaRPr sz="2000"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 marL="457200" indent="-457200">
              <a:lnSpc>
                <a:spcPct val="150000"/>
              </a:lnSpc>
              <a:buAutoNum type="arabicPeriod"/>
            </a:pPr>
            <a:endParaRPr sz="200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6940551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投影片編號版面配置區 2">
            <a:extLst xmlns:a="http://schemas.openxmlformats.org/drawingml/2006/main">
              <a:ext uri="{FF2B5EF4-FFF2-40B4-BE49-F238E27FC236}">
                <a16:creationId xmlns:a16="http://schemas.microsoft.com/office/drawing/2014/main" id="{E3CBCDE1-0B5B-EDC9-3360-F18A3F06AE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4223C03-1ED5-402E-8F3E-89A17789C924}" type="slidenum">
              <a:t>4</a:t>
            </a:fld>
            <a:endParaRPr/>
          </a:p>
        </p:txBody>
      </p:sp>
      <p:sp>
        <p:nvSpPr>
          <p:cNvPr id="6" name="標題 1">
            <a:extLst xmlns:a="http://schemas.openxmlformats.org/drawingml/2006/main">
              <a:ext uri="{FF2B5EF4-FFF2-40B4-BE49-F238E27FC236}">
                <a16:creationId xmlns:a16="http://schemas.microsoft.com/office/drawing/2014/main" id="{77D48EF8-4498-6E90-00EE-41F5885F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  <a:r>
              <a: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微軟正黑體"/>
                <a:ea typeface="微軟正黑體"/>
                <a:cs typeface="微軟正黑體"/>
              </a:rPr>
              <a:t>八、智慧調度進度</a:t>
            </a:r>
            <a:endParaRPr sz="4000" b="1">
              <a:solidFill>
                <a:schemeClr val="bg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文字方塊 4">
            <a:extLst xmlns:a="http://schemas.openxmlformats.org/drawingml/2006/main">
              <a:ext uri="{FF2B5EF4-FFF2-40B4-BE49-F238E27FC236}">
                <a16:creationId xmlns:a16="http://schemas.microsoft.com/office/drawing/2014/main" id="{26705AF6-28A6-3B00-32C4-5E9E4759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5606" y="933560"/>
            <a:ext cx="9144000" cy="1420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57200" indent="-457200">
              <a:lnSpc>
                <a:spcPct val="150000"/>
              </a:lnSpc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目前智慧調度已更新，預計9/12上線，預計實際上線後蒐集2個月的使用數據，作為後續系統持續精進使用。</a:t>
            </a:r>
          </a:p>
          <a:p xmlns:a="http://schemas.openxmlformats.org/drawingml/2006/main">
            <a:pPr marL="457200" indent="-457200">
              <a:lnSpc>
                <a:spcPct val="150000"/>
              </a:lnSpc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本次新增提供調度車輛數的配對組合，適合新進同仁直接參考並執行作業</a:t>
            </a:r>
          </a:p>
        </p:txBody>
      </p:sp>
      <p:pic>
        <p:nvPicPr>
          <p:cNvPr id="22" name="圖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4315d70ca4f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879918"/>
            <a:ext cx="3210373" cy="2143424"/>
          </a:xfrm>
          <a:prstGeom xmlns:a="http://schemas.openxmlformats.org/drawingml/2006/main" prst="rect">
            <a:avLst/>
          </a:prstGeom>
        </p:spPr>
      </p:pic>
      <p:pic>
        <p:nvPicPr>
          <p:cNvPr id="23" name="圖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05c91afa64e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48013" y="3924993"/>
            <a:ext cx="3210373" cy="2627728"/>
          </a:xfrm>
          <a:prstGeom xmlns:a="http://schemas.openxmlformats.org/drawingml/2006/main" prst="rect">
            <a:avLst/>
          </a:prstGeom>
        </p:spPr>
      </p:pic>
      <p:sp>
        <p:nvSpPr>
          <p:cNvPr id="14" name="文字方塊 13">
            <a:extLst xmlns:a="http://schemas.openxmlformats.org/drawingml/2006/main">
              <a:ext uri="{FF2B5EF4-FFF2-40B4-BE49-F238E27FC236}">
                <a16:creationId xmlns:a16="http://schemas.microsoft.com/office/drawing/2014/main" id="{FB6BEFE8-F0A4-DEDA-CFF3-4B3A66FD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20809"/>
            <a:ext cx="4248472" cy="959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000">
                <a:latin typeface="微軟正黑體"/>
                <a:ea typeface="微軟正黑體"/>
                <a:cs typeface="微軟正黑體"/>
              </a:rPr>
              <a:t>原本系統僅提供調度需求，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000">
                <a:latin typeface="微軟正黑體"/>
                <a:ea typeface="微軟正黑體"/>
                <a:cs typeface="微軟正黑體"/>
              </a:rPr>
              <a:t>並未告知同仁車輛該從甚麼場站取得</a:t>
            </a: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12D5789C-927E-2D9F-C2CA-0CD0C2BF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922" y="2920809"/>
            <a:ext cx="4248472" cy="959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000">
                <a:latin typeface="微軟正黑體"/>
                <a:ea typeface="微軟正黑體"/>
                <a:cs typeface="微軟正黑體"/>
              </a:rPr>
              <a:t>現在可直接指派同仁作業順序，從何處調出，往何處補車</a:t>
            </a:r>
          </a:p>
        </p:txBody>
      </p:sp>
    </p:spTree>
    <p:extLst>
      <p:ext uri="{BB962C8B-B14F-4D97-AF65-F5344CB8AC3E}">
        <p14:creationId xmlns:p14="http://schemas.microsoft.com/office/powerpoint/2010/main" val="2566833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-band">
            <a:extLst xmlns:a="http://schemas.openxmlformats.org/drawingml/2006/main">
              <a:ext uri="{FF2B5EF4-FFF2-40B4-BE49-F238E27FC236}">
                <a16:creationId xmlns:a16="http://schemas.microsoft.com/office/drawing/2014/main" id="{C42885C6-FF20-4E88-9E80-D6B9430C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九、覆蓋率的判讀方式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9A5CFA8-A861-4923-8377-214C2976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7" name="color-reading">
            <a:extLst xmlns:a="http://schemas.openxmlformats.org/drawingml/2006/main">
              <a:ext uri="{FF2B5EF4-FFF2-40B4-BE49-F238E27FC236}">
                <a16:creationId xmlns:a16="http://schemas.microsoft.com/office/drawing/2014/main" id="{2CE86E4D-AA9F-4D6E-85EE-631A6251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9339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725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顏色判讀</a:t>
            </a:r>
          </a:p>
        </p:txBody>
      </p:sp>
      <p:sp>
        <p:nvSpPr>
          <p:cNvPr id="8" name="full-swatch">
            <a:extLst xmlns:a="http://schemas.openxmlformats.org/drawingml/2006/main">
              <a:ext uri="{FF2B5EF4-FFF2-40B4-BE49-F238E27FC236}">
                <a16:creationId xmlns:a16="http://schemas.microsoft.com/office/drawing/2014/main" id="{5FF42AEB-1123-455F-94ED-6C2B96DD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34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19050">
            <a:solidFill>
              <a:srgbClr val="C1440E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full-label">
            <a:extLst xmlns:a="http://schemas.openxmlformats.org/drawingml/2006/main">
              <a:ext uri="{FF2B5EF4-FFF2-40B4-BE49-F238E27FC236}">
                <a16:creationId xmlns:a16="http://schemas.microsoft.com/office/drawing/2014/main" id="{BD0DC780-3C6F-439F-BC83-E76F1198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C1440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C1440E"/>
                </a:solidFill>
                <a:latin typeface="微軟正黑體"/>
                <a:ea typeface="微軟正黑體"/>
                <a:cs typeface="微軟正黑體"/>
              </a:rPr>
              <a:t>滿借</a:t>
            </a:r>
          </a:p>
        </p:txBody>
      </p:sp>
      <p:sp>
        <p:nvSpPr>
          <p:cNvPr id="10" name="full-plus">
            <a:extLst xmlns:a="http://schemas.openxmlformats.org/drawingml/2006/main">
              <a:ext uri="{FF2B5EF4-FFF2-40B4-BE49-F238E27FC236}">
                <a16:creationId xmlns:a16="http://schemas.microsoft.com/office/drawing/2014/main" id="{EB0A62D5-E2F2-4531-B9DA-39B448BD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57800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12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＋</a:t>
            </a:r>
          </a:p>
        </p:txBody>
      </p:sp>
      <p:sp>
        <p:nvSpPr>
          <p:cNvPr id="11" name="out-swatch">
            <a:extLst xmlns:a="http://schemas.openxmlformats.org/drawingml/2006/main">
              <a:ext uri="{FF2B5EF4-FFF2-40B4-BE49-F238E27FC236}">
                <a16:creationId xmlns:a16="http://schemas.microsoft.com/office/drawing/2014/main" id="{7F40B8CE-4E57-4E57-80ED-305484A4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34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19050">
            <a:solidFill>
              <a:srgbClr val="274C9C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ut-label">
            <a:extLst xmlns:a="http://schemas.openxmlformats.org/drawingml/2006/main">
              <a:ext uri="{FF2B5EF4-FFF2-40B4-BE49-F238E27FC236}">
                <a16:creationId xmlns:a16="http://schemas.microsoft.com/office/drawing/2014/main" id="{240D7C61-028A-4810-9F54-8846AFE9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257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74C9C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274C9C"/>
                </a:solidFill>
                <a:latin typeface="微軟正黑體"/>
                <a:ea typeface="微軟正黑體"/>
                <a:cs typeface="微軟正黑體"/>
              </a:rPr>
              <a:t>調出</a:t>
            </a:r>
          </a:p>
        </p:txBody>
      </p:sp>
      <p:sp>
        <p:nvSpPr>
          <p:cNvPr id="13" name="full-covered-label">
            <a:extLst xmlns:a="http://schemas.openxmlformats.org/drawingml/2006/main">
              <a:ext uri="{FF2B5EF4-FFF2-40B4-BE49-F238E27FC236}">
                <a16:creationId xmlns:a16="http://schemas.microsoft.com/office/drawing/2014/main" id="{4BCEB60F-EDE5-42E0-8326-6F3100B3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57800"/>
            <a:ext cx="366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同站同小時，有滿借與調出</a:t>
            </a:r>
            <a:endParaRPr sz="1350" b="1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4" name="empty-swatch">
            <a:extLst xmlns:a="http://schemas.openxmlformats.org/drawingml/2006/main">
              <a:ext uri="{FF2B5EF4-FFF2-40B4-BE49-F238E27FC236}">
                <a16:creationId xmlns:a16="http://schemas.microsoft.com/office/drawing/2014/main" id="{093DBA64-603A-4025-BD22-B90CCF6C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867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C69D"/>
          </a:solidFill>
          <a:ln xmlns:a="http://schemas.openxmlformats.org/drawingml/2006/main" w="19050">
            <a:solidFill>
              <a:srgbClr val="1B7D4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empty-label">
            <a:extLst xmlns:a="http://schemas.openxmlformats.org/drawingml/2006/main">
              <a:ext uri="{FF2B5EF4-FFF2-40B4-BE49-F238E27FC236}">
                <a16:creationId xmlns:a16="http://schemas.microsoft.com/office/drawing/2014/main" id="{F01BCD28-16B3-423D-9399-0D02B85B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B7D4F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1B7D4F"/>
                </a:solidFill>
                <a:latin typeface="微軟正黑體"/>
                <a:ea typeface="微軟正黑體"/>
                <a:cs typeface="微軟正黑體"/>
              </a:rPr>
              <a:t>空還</a:t>
            </a:r>
          </a:p>
        </p:txBody>
      </p:sp>
      <p:sp>
        <p:nvSpPr>
          <p:cNvPr id="16" name="empty-plus">
            <a:extLst xmlns:a="http://schemas.openxmlformats.org/drawingml/2006/main">
              <a:ext uri="{FF2B5EF4-FFF2-40B4-BE49-F238E27FC236}">
                <a16:creationId xmlns:a16="http://schemas.microsoft.com/office/drawing/2014/main" id="{C9D2ABF7-BCCA-4288-9916-B13269A5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91200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12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＋</a:t>
            </a:r>
          </a:p>
        </p:txBody>
      </p:sp>
      <p:sp>
        <p:nvSpPr>
          <p:cNvPr id="17" name="incoming-swatch">
            <a:extLst xmlns:a="http://schemas.openxmlformats.org/drawingml/2006/main">
              <a:ext uri="{FF2B5EF4-FFF2-40B4-BE49-F238E27FC236}">
                <a16:creationId xmlns:a16="http://schemas.microsoft.com/office/drawing/2014/main" id="{8B17E16F-1B20-4C4E-BC8C-610A7AF7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867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7EDC"/>
          </a:solidFill>
          <a:ln xmlns:a="http://schemas.openxmlformats.org/drawingml/2006/main" w="19050">
            <a:solidFill>
              <a:srgbClr val="6A189E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incoming-label">
            <a:extLst xmlns:a="http://schemas.openxmlformats.org/drawingml/2006/main">
              <a:ext uri="{FF2B5EF4-FFF2-40B4-BE49-F238E27FC236}">
                <a16:creationId xmlns:a16="http://schemas.microsoft.com/office/drawing/2014/main" id="{C9D2DB5E-8B22-49BA-B041-E031FE29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7912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A189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6A189E"/>
                </a:solidFill>
                <a:latin typeface="微軟正黑體"/>
                <a:ea typeface="微軟正黑體"/>
                <a:cs typeface="微軟正黑體"/>
              </a:rPr>
              <a:t>調入</a:t>
            </a:r>
          </a:p>
        </p:txBody>
      </p:sp>
      <p:sp>
        <p:nvSpPr>
          <p:cNvPr id="19" name="empty-covered-label">
            <a:extLst xmlns:a="http://schemas.openxmlformats.org/drawingml/2006/main">
              <a:ext uri="{FF2B5EF4-FFF2-40B4-BE49-F238E27FC236}">
                <a16:creationId xmlns:a16="http://schemas.microsoft.com/office/drawing/2014/main" id="{F528D7F3-85EE-4CF1-9BD8-12D9A618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791200"/>
            <a:ext cx="366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同站同小時，有空還與調入</a:t>
            </a:r>
          </a:p>
        </p:txBody>
      </p:sp>
      <p:sp>
        <p:nvSpPr>
          <p:cNvPr id="21" name="calculation-heading">
            <a:extLst xmlns:a="http://schemas.openxmlformats.org/drawingml/2006/main">
              <a:ext uri="{FF2B5EF4-FFF2-40B4-BE49-F238E27FC236}">
                <a16:creationId xmlns:a16="http://schemas.microsoft.com/office/drawing/2014/main" id="{1AFBE037-F20B-4FAE-A9D8-65500CF5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6680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計算方式</a:t>
            </a:r>
            <a:endParaRPr sz="1875" b="1">
              <a:solidFill>
                <a:srgbClr val="40404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2" name="full-formula">
            <a:extLst xmlns:a="http://schemas.openxmlformats.org/drawingml/2006/main">
              <a:ext uri="{FF2B5EF4-FFF2-40B4-BE49-F238E27FC236}">
                <a16:creationId xmlns:a16="http://schemas.microsoft.com/office/drawing/2014/main" id="{E8EA2E9E-8648-4A0E-AE46-7B194263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43050"/>
            <a:ext cx="2428875" cy="12382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1E6"/>
          </a:solidFill>
          <a:ln xmlns:a="http://schemas.openxmlformats.org/drawingml/2006/main" w="14288">
            <a:solidFill>
              <a:srgbClr val="C1440E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滿借覆蓋率</a:t>
            </a:r>
            <a:endParaRPr sz="127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＝同小時有調出行為的站數</a:t>
            </a:r>
            <a:endParaRPr sz="127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÷ 全部滿借事件站數</a:t>
            </a:r>
            <a:endParaRPr sz="127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3" name="empty-formula">
            <a:extLst xmlns:a="http://schemas.openxmlformats.org/drawingml/2006/main">
              <a:ext uri="{FF2B5EF4-FFF2-40B4-BE49-F238E27FC236}">
                <a16:creationId xmlns:a16="http://schemas.microsoft.com/office/drawing/2014/main" id="{43947CEB-382A-4E03-A727-EC4004BC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2428875" cy="12382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4288">
            <a:solidFill>
              <a:srgbClr val="1B7D4F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空還覆蓋率</a:t>
            </a:r>
            <a:endParaRPr sz="127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＝同時段有調入行為的站數</a:t>
            </a:r>
            <a:endParaRPr sz="127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÷ 全部空還事件站數</a:t>
            </a:r>
            <a:endParaRPr sz="127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5" name="example-note">
            <a:extLst xmlns:a="http://schemas.openxmlformats.org/drawingml/2006/main">
              <a:ext uri="{FF2B5EF4-FFF2-40B4-BE49-F238E27FC236}">
                <a16:creationId xmlns:a16="http://schemas.microsoft.com/office/drawing/2014/main" id="{C9AAFE1D-6095-4C6A-8D1F-147418CA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24288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例:同時段內共發生10 個滿借事件，其中3站有調出行為，滿借覆蓋率為 30%。</a:t>
            </a:r>
          </a:p>
        </p:txBody>
      </p:sp>
      <p:pic>
        <p:nvPicPr>
          <p:cNvPr id="47" name="圖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9216c9d5e43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" y="1066800"/>
            <a:ext cx="6286500" cy="3771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9702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band">
            <a:extLst xmlns:a="http://schemas.openxmlformats.org/drawingml/2006/main">
              <a:ext uri="{FF2B5EF4-FFF2-40B4-BE49-F238E27FC236}">
                <a16:creationId xmlns:a16="http://schemas.microsoft.com/office/drawing/2014/main" id="{FA1D926D-57B5-4EFC-BF51-579575CE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九、台北市 ABC 逐時覆蓋率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82DD11-7D64-46CB-A16A-00D9FBF4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7</a:t>
            </a:r>
          </a:p>
        </p:txBody>
      </p:sp>
      <p:sp>
        <p:nvSpPr>
          <p:cNvPr id="6" name="extrema-heading">
            <a:extLst xmlns:a="http://schemas.openxmlformats.org/drawingml/2006/main">
              <a:ext uri="{FF2B5EF4-FFF2-40B4-BE49-F238E27FC236}">
                <a16:creationId xmlns:a16="http://schemas.microsoft.com/office/drawing/2014/main" id="{1337FA4D-AA4A-4BC9-9F53-CDB5BA10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906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95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最高與最低時段</a:t>
            </a:r>
          </a:p>
        </p:txBody>
      </p:sp>
      <p:sp>
        <p:nvSpPr>
          <p:cNvPr id="7" name="grade-A">
            <a:extLst xmlns:a="http://schemas.openxmlformats.org/drawingml/2006/main">
              <a:ext uri="{FF2B5EF4-FFF2-40B4-BE49-F238E27FC236}">
                <a16:creationId xmlns:a16="http://schemas.microsoft.com/office/drawing/2014/main" id="{E12DE7AE-1757-41CF-93FA-9316C1A0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4097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472C4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4472C4"/>
                </a:solidFill>
                <a:latin typeface="微軟正黑體"/>
                <a:ea typeface="微軟正黑體"/>
                <a:cs typeface="微軟正黑體"/>
              </a:rPr>
              <a:t>A級</a:t>
            </a:r>
          </a:p>
        </p:txBody>
      </p:sp>
      <p:sp>
        <p:nvSpPr>
          <p:cNvPr id="8" name="extrema-A">
            <a:extLst xmlns:a="http://schemas.openxmlformats.org/drawingml/2006/main">
              <a:ext uri="{FF2B5EF4-FFF2-40B4-BE49-F238E27FC236}">
                <a16:creationId xmlns:a16="http://schemas.microsoft.com/office/drawing/2014/main" id="{B4C0F259-F051-429F-B260-B063A759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3355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09時 27.9%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1.3%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23時 10.8%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1.8%</a:t>
            </a:r>
          </a:p>
        </p:txBody>
      </p:sp>
      <p:sp>
        <p:nvSpPr>
          <p:cNvPr id="9" name="直線接點 8">
            <a:extLst xmlns:a="http://schemas.openxmlformats.org/drawingml/2006/main">
              <a:ext uri="{FF2B5EF4-FFF2-40B4-BE49-F238E27FC236}">
                <a16:creationId xmlns:a16="http://schemas.microsoft.com/office/drawing/2014/main" id="{5B66379C-2AAA-4B44-8259-9D706FDD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0035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" name="grade-B">
            <a:extLst xmlns:a="http://schemas.openxmlformats.org/drawingml/2006/main">
              <a:ext uri="{FF2B5EF4-FFF2-40B4-BE49-F238E27FC236}">
                <a16:creationId xmlns:a16="http://schemas.microsoft.com/office/drawing/2014/main" id="{E7E60C86-1356-4F9E-BDB8-46FB4D77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956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D7D3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ED7D31"/>
                </a:solidFill>
                <a:latin typeface="微軟正黑體"/>
                <a:ea typeface="微軟正黑體"/>
                <a:cs typeface="微軟正黑體"/>
              </a:rPr>
              <a:t>B級</a:t>
            </a:r>
          </a:p>
        </p:txBody>
      </p:sp>
      <p:sp>
        <p:nvSpPr>
          <p:cNvPr id="11" name="extrema-B">
            <a:extLst xmlns:a="http://schemas.openxmlformats.org/drawingml/2006/main">
              <a:ext uri="{FF2B5EF4-FFF2-40B4-BE49-F238E27FC236}">
                <a16:creationId xmlns:a16="http://schemas.microsoft.com/office/drawing/2014/main" id="{2C3EE76E-D031-42D3-954A-46C59DDB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1945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09時 24.9%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2.1%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07時 14.0%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1.6%</a:t>
            </a:r>
          </a:p>
        </p:txBody>
      </p:sp>
      <p:sp>
        <p:nvSpPr>
          <p:cNvPr id="12" name="直線接點 11">
            <a:extLst xmlns:a="http://schemas.openxmlformats.org/drawingml/2006/main">
              <a:ext uri="{FF2B5EF4-FFF2-40B4-BE49-F238E27FC236}">
                <a16:creationId xmlns:a16="http://schemas.microsoft.com/office/drawing/2014/main" id="{1DB593F7-C92D-4860-9EFC-DA48F3D9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8625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3" name="grade-C">
            <a:extLst xmlns:a="http://schemas.openxmlformats.org/drawingml/2006/main">
              <a:ext uri="{FF2B5EF4-FFF2-40B4-BE49-F238E27FC236}">
                <a16:creationId xmlns:a16="http://schemas.microsoft.com/office/drawing/2014/main" id="{C7FEACDE-3B90-4B24-8006-4BD5DC70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3815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0AD47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70AD47"/>
                </a:solidFill>
                <a:latin typeface="微軟正黑體"/>
                <a:ea typeface="微軟正黑體"/>
                <a:cs typeface="微軟正黑體"/>
              </a:rPr>
              <a:t>C級</a:t>
            </a:r>
          </a:p>
        </p:txBody>
      </p:sp>
      <p:sp>
        <p:nvSpPr>
          <p:cNvPr id="14" name="extrema-C">
            <a:extLst xmlns:a="http://schemas.openxmlformats.org/drawingml/2006/main">
              <a:ext uri="{FF2B5EF4-FFF2-40B4-BE49-F238E27FC236}">
                <a16:creationId xmlns:a16="http://schemas.microsoft.com/office/drawing/2014/main" id="{341FEC78-7CE4-475A-8942-A75B2C5A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0535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19時 29.4%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1.4%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07時 12.6%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1.4%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142875" y="952500"/>
          <a:ext xmlns:a="http://schemas.openxmlformats.org/drawingml/2006/main" cx="6334125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30f4fc686a4b65"/>
          </a:graphicData>
        </a:graphic>
      </p:graphicFrame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142875" y="3619500"/>
          <a:ext xmlns:a="http://schemas.openxmlformats.org/drawingml/2006/main" cx="6334125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22581212ea48c1"/>
          </a:graphicData>
        </a:graphic>
      </p:graphicFrame>
    </p:spTree>
    <p:extLst>
      <p:ext uri="{BB962C8B-B14F-4D97-AF65-F5344CB8AC3E}">
        <p14:creationId xmlns:p14="http://schemas.microsoft.com/office/powerpoint/2010/main" val="6593261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band">
            <a:extLst xmlns:a="http://schemas.openxmlformats.org/drawingml/2006/main">
              <a:ext uri="{FF2B5EF4-FFF2-40B4-BE49-F238E27FC236}">
                <a16:creationId xmlns:a16="http://schemas.microsoft.com/office/drawing/2014/main" id="{FA1D926D-57B5-4EFC-BF51-579575CE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九、台北市 ABC 逐時場站數比較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82DD11-7D64-46CB-A16A-00D9FBF4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17" name="station-count-scope">
            <a:extLst xmlns:a="http://schemas.openxmlformats.org/drawingml/2006/main">
              <a:ext uri="{FF2B5EF4-FFF2-40B4-BE49-F238E27FC236}">
                <a16:creationId xmlns:a16="http://schemas.microsoft.com/office/drawing/2014/main" id="{6A0689AF-5025-4110-8228-24CC1032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92392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2026年7–8月平日，06:00–23:59；單位：每日平均場站數；實線為調度，虛線為滿借／空還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238125" y="1257300"/>
          <a:ext xmlns:a="http://schemas.openxmlformats.org/drawingml/2006/main" cx="8667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0f6d4c78784b80"/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238125" y="3714750"/>
          <a:ext xmlns:a="http://schemas.openxmlformats.org/drawingml/2006/main" cx="8667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7f2867dee34165"/>
          </a:graphicData>
        </a:graphic>
      </p:graphicFrame>
    </p:spTree>
    <p:extLst>
      <p:ext uri="{BB962C8B-B14F-4D97-AF65-F5344CB8AC3E}">
        <p14:creationId xmlns:p14="http://schemas.microsoft.com/office/powerpoint/2010/main" val="6593261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band">
            <a:extLst xmlns:a="http://schemas.openxmlformats.org/drawingml/2006/main">
              <a:ext uri="{FF2B5EF4-FFF2-40B4-BE49-F238E27FC236}">
                <a16:creationId xmlns:a16="http://schemas.microsoft.com/office/drawing/2014/main" id="{0C9C1715-A56A-494F-9FB0-4E0C0879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九、新北市 ABC 逐時覆蓋率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1903189-86B9-4895-8336-D6B3860A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</a:t>
            </a:r>
          </a:p>
        </p:txBody>
      </p:sp>
      <p:sp>
        <p:nvSpPr>
          <p:cNvPr id="6" name="extrema-heading">
            <a:extLst xmlns:a="http://schemas.openxmlformats.org/drawingml/2006/main">
              <a:ext uri="{FF2B5EF4-FFF2-40B4-BE49-F238E27FC236}">
                <a16:creationId xmlns:a16="http://schemas.microsoft.com/office/drawing/2014/main" id="{6BA0C3AE-B928-468C-93CB-C2E6C5D6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573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95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最高與最低時段</a:t>
            </a:r>
          </a:p>
        </p:txBody>
      </p:sp>
      <p:sp>
        <p:nvSpPr>
          <p:cNvPr id="7" name="grade-A">
            <a:extLst xmlns:a="http://schemas.openxmlformats.org/drawingml/2006/main">
              <a:ext uri="{FF2B5EF4-FFF2-40B4-BE49-F238E27FC236}">
                <a16:creationId xmlns:a16="http://schemas.microsoft.com/office/drawing/2014/main" id="{0A8ACF6D-F1BA-46EA-8861-B73FE76E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764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472C4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4472C4"/>
                </a:solidFill>
                <a:latin typeface="微軟正黑體"/>
                <a:ea typeface="微軟正黑體"/>
                <a:cs typeface="微軟正黑體"/>
              </a:rPr>
              <a:t>A級</a:t>
            </a:r>
          </a:p>
        </p:txBody>
      </p:sp>
      <p:sp>
        <p:nvSpPr>
          <p:cNvPr id="8" name="extrema-A">
            <a:extLst xmlns:a="http://schemas.openxmlformats.org/drawingml/2006/main">
              <a:ext uri="{FF2B5EF4-FFF2-40B4-BE49-F238E27FC236}">
                <a16:creationId xmlns:a16="http://schemas.microsoft.com/office/drawing/2014/main" id="{0E959718-E3E7-4215-9CF5-1126CB47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0025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23時 39.9%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16時 7.8%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23時 21.1%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12時 3.0%</a:t>
            </a:r>
          </a:p>
        </p:txBody>
      </p:sp>
      <p:sp>
        <p:nvSpPr>
          <p:cNvPr id="9" name="直線接點 8">
            <a:extLst xmlns:a="http://schemas.openxmlformats.org/drawingml/2006/main">
              <a:ext uri="{FF2B5EF4-FFF2-40B4-BE49-F238E27FC236}">
                <a16:creationId xmlns:a16="http://schemas.microsoft.com/office/drawing/2014/main" id="{45367B9B-A116-4DD2-8497-D4593F81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6705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" name="grade-B">
            <a:extLst xmlns:a="http://schemas.openxmlformats.org/drawingml/2006/main">
              <a:ext uri="{FF2B5EF4-FFF2-40B4-BE49-F238E27FC236}">
                <a16:creationId xmlns:a16="http://schemas.microsoft.com/office/drawing/2014/main" id="{D89141FD-288D-4EAA-918E-B896EAE1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623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D7D3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ED7D31"/>
                </a:solidFill>
                <a:latin typeface="微軟正黑體"/>
                <a:ea typeface="微軟正黑體"/>
                <a:cs typeface="微軟正黑體"/>
              </a:rPr>
              <a:t>B級</a:t>
            </a:r>
          </a:p>
        </p:txBody>
      </p:sp>
      <p:sp>
        <p:nvSpPr>
          <p:cNvPr id="11" name="extrema-B">
            <a:extLst xmlns:a="http://schemas.openxmlformats.org/drawingml/2006/main">
              <a:ext uri="{FF2B5EF4-FFF2-40B4-BE49-F238E27FC236}">
                <a16:creationId xmlns:a16="http://schemas.microsoft.com/office/drawing/2014/main" id="{33D8A5E7-8017-4153-A979-EFFE2921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48615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19時 40.6%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2.6%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23時 21.8%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16時 1.4%</a:t>
            </a:r>
          </a:p>
        </p:txBody>
      </p:sp>
      <p:sp>
        <p:nvSpPr>
          <p:cNvPr id="12" name="直線接點 11">
            <a:extLst xmlns:a="http://schemas.openxmlformats.org/drawingml/2006/main">
              <a:ext uri="{FF2B5EF4-FFF2-40B4-BE49-F238E27FC236}">
                <a16:creationId xmlns:a16="http://schemas.microsoft.com/office/drawing/2014/main" id="{455DE276-021B-4D0B-952A-09440BEA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5295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3" name="grade-C">
            <a:extLst xmlns:a="http://schemas.openxmlformats.org/drawingml/2006/main">
              <a:ext uri="{FF2B5EF4-FFF2-40B4-BE49-F238E27FC236}">
                <a16:creationId xmlns:a16="http://schemas.microsoft.com/office/drawing/2014/main" id="{EE5C53BF-6E93-4B41-918D-F27DAD7F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482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0AD47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70AD47"/>
                </a:solidFill>
                <a:latin typeface="微軟正黑體"/>
                <a:ea typeface="微軟正黑體"/>
                <a:cs typeface="微軟正黑體"/>
              </a:rPr>
              <a:t>C級</a:t>
            </a:r>
          </a:p>
        </p:txBody>
      </p:sp>
      <p:sp>
        <p:nvSpPr>
          <p:cNvPr id="14" name="extrema-C">
            <a:extLst xmlns:a="http://schemas.openxmlformats.org/drawingml/2006/main">
              <a:ext uri="{FF2B5EF4-FFF2-40B4-BE49-F238E27FC236}">
                <a16:creationId xmlns:a16="http://schemas.microsoft.com/office/drawing/2014/main" id="{0D22E64E-5E82-4FA4-8374-372D064E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97205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19時 41.3%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3.7%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23時 11.2%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0.6%</a:t>
            </a:r>
          </a:p>
        </p:txBody>
      </p:sp>
      <p:sp>
        <p:nvSpPr>
          <p:cNvPr id="15" name="grade-note">
            <a:extLst xmlns:a="http://schemas.openxmlformats.org/drawingml/2006/main">
              <a:ext uri="{FF2B5EF4-FFF2-40B4-BE49-F238E27FC236}">
                <a16:creationId xmlns:a16="http://schemas.microsoft.com/office/drawing/2014/main" id="{DB8D98F7-26AB-4B6F-AFEE-675FAB2D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0579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新北市分級（日均用量）：A≥100、B 50–99、C&lt;50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142875" y="1238250"/>
          <a:ext xmlns:a="http://schemas.openxmlformats.org/drawingml/2006/main" cx="6334125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85e43fb4934a42"/>
          </a:graphicData>
        </a:graphic>
      </p:graphicFrame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142875" y="3676650"/>
          <a:ext xmlns:a="http://schemas.openxmlformats.org/drawingml/2006/main" cx="6334125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f38487394f45fb"/>
          </a:graphicData>
        </a:graphic>
      </p:graphicFrame>
    </p:spTree>
    <p:extLst>
      <p:ext uri="{BB962C8B-B14F-4D97-AF65-F5344CB8AC3E}">
        <p14:creationId xmlns:p14="http://schemas.microsoft.com/office/powerpoint/2010/main" val="21008649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band">
            <a:extLst xmlns:a="http://schemas.openxmlformats.org/drawingml/2006/main">
              <a:ext uri="{FF2B5EF4-FFF2-40B4-BE49-F238E27FC236}">
                <a16:creationId xmlns:a16="http://schemas.microsoft.com/office/drawing/2014/main" id="{FA1D926D-57B5-4EFC-BF51-579575CE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九、新北市 ABC 逐時場站數比較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82DD11-7D64-46CB-A16A-00D9FBF4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17" name="station-count-scope">
            <a:extLst xmlns:a="http://schemas.openxmlformats.org/drawingml/2006/main">
              <a:ext uri="{FF2B5EF4-FFF2-40B4-BE49-F238E27FC236}">
                <a16:creationId xmlns:a16="http://schemas.microsoft.com/office/drawing/2014/main" id="{FCF6DBEF-EDB8-4E2E-919B-CDFF5318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92392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2026年7–8月平日，06:00–23:59；單位：每日平均場站數；實線為調度，虛線為滿借／空還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238125" y="1257300"/>
          <a:ext xmlns:a="http://schemas.openxmlformats.org/drawingml/2006/main" cx="8667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1409b586c045a6"/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238125" y="3714750"/>
          <a:ext xmlns:a="http://schemas.openxmlformats.org/drawingml/2006/main" cx="8667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edc20a0df44b39"/>
          </a:graphicData>
        </a:graphic>
      </p:graphicFrame>
    </p:spTree>
    <p:extLst>
      <p:ext uri="{BB962C8B-B14F-4D97-AF65-F5344CB8AC3E}">
        <p14:creationId xmlns:p14="http://schemas.microsoft.com/office/powerpoint/2010/main" val="6593261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band">
            <a:extLst xmlns:a="http://schemas.openxmlformats.org/drawingml/2006/main">
              <a:ext uri="{FF2B5EF4-FFF2-40B4-BE49-F238E27FC236}">
                <a16:creationId xmlns:a16="http://schemas.microsoft.com/office/drawing/2014/main" id="{A0667E06-2D88-4E13-BE71-8D4F8B12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九、雙北 ABC 整日成效與對策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ECE27F4-8520-4D7C-93A8-CBD72C06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11</a:t>
            </a:r>
          </a:p>
        </p:txBody>
      </p:sp>
      <p:graphicFrame>
        <p:nvGraphicFramePr>
          <p:cNvPr id="9" name="表格 7"/>
          <p:cNvGraphicFramePr/>
          <p:nvPr/>
        </p:nvGraphicFramePr>
        <p:xfrm>
          <a:off xmlns:a="http://schemas.openxmlformats.org/drawingml/2006/main" x="228600" y="1381125"/>
          <a:ext xmlns:a="http://schemas.openxmlformats.org/drawingml/2006/main" cx="8686800" cy="441579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6300"/>
                <a:gridCol w="990600"/>
                <a:gridCol w="990600"/>
                <a:gridCol w="876300"/>
                <a:gridCol w="876300"/>
                <a:gridCol w="4076700"/>
              </a:tblGrid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城市／級別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滿借覆蓋率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空還覆蓋率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見車率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見位率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建議對策</a:t>
                      </a:r>
                      <a:endParaRPr sz="1800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台北 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13.7%</a:t>
                      </a:r>
                    </a:p>
                  </a:txBody>
                  <a:tcPr marL="91440" marR="91440" marT="45720" marB="45720" anchor="ctr">
                    <a:solidFill>
                      <a:srgbClr val="F2D8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6.0%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95.1%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97.5%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09時提升調出／綁車對應；23時補調入／解綁</a:t>
                      </a: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台北 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14.5%</a:t>
                      </a:r>
                    </a:p>
                  </a:txBody>
                  <a:tcPr marL="91440" marR="91440" marT="45720" marB="45720" anchor="ctr">
                    <a:solidFill>
                      <a:srgbClr val="F2D8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6.3%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94.4%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97.4%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07–09時同步配置兩向任務；22時檢查見車低點</a:t>
                      </a: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台北 C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16.6%</a:t>
                      </a:r>
                    </a:p>
                  </a:txBody>
                  <a:tcPr marL="91440" marR="91440" marT="45720" marB="45720" anchor="ctr">
                    <a:solidFill>
                      <a:srgbClr val="F2D8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6.5%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95.9%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98.5%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19時補滿借對應；07時補空還對應</a:t>
                      </a: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新北 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22.8%</a:t>
                      </a:r>
                    </a:p>
                  </a:txBody>
                  <a:tcPr marL="91440" marR="91440" marT="45720" marB="45720" anchor="ctr">
                    <a:solidFill>
                      <a:srgbClr val="F2D8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11.1%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92.9%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99.4%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22–23時延續覆蓋；08與22時聚焦見車低點</a:t>
                      </a: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新北 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25.7%</a:t>
                      </a:r>
                    </a:p>
                  </a:txBody>
                  <a:tcPr marL="91440" marR="91440" marT="45720" marB="45720" anchor="ctr">
                    <a:solidFill>
                      <a:srgbClr val="F2D8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8.6%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92.9%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99.3%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19時滿借維持；16時補空還對應</a:t>
                      </a: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新北 C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24.2%</a:t>
                      </a:r>
                    </a:p>
                  </a:txBody>
                  <a:tcPr marL="91440" marR="91440" marT="45720" marB="45720" anchor="ctr">
                    <a:solidFill>
                      <a:srgbClr val="F2D8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5.7%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94.7%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97.7%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19–20時補滿借；06與16時補空還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6232435"/>
      </p:ext>
    </p:extLst>
  </p:cSld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2026-09-11T08:20:59.4610000Z</dcterms:created>
  <dcterms:modified xsi:type="dcterms:W3CDTF">2026-09-11T08:20:59.4610000Z</dcterms:modified>
</coreProperties>
</file>