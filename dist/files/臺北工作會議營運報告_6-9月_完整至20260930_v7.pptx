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notesSlides/notesSlide11.xml" ContentType="application/vnd.openxmlformats-officedocument.presentationml.notesSlide+xml"/>
  <Override PartName="/ppt/charts/chart9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title>
      <c:tx>
        <c:rich>
          <a:bodyPr/>
          <a:lstStyle/>
          <a:p>
            <a:r>
              <a:rPr lang="zh-TW" sz="13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每日用量與周轉率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'Chart Data'!$B$1</c:f>
              <c:strCache>
                <c:ptCount val="1"/>
                <c:pt idx="0">
                  <c:v>當日租借車次</c:v>
                </c:pt>
              </c:strCache>
            </c:strRef>
          </c:tx>
          <c:spPr>
            <a:solidFill>
              <a:srgbClr val="4F81BD"/>
            </a:solidFill>
            <a:ln w="6350">
              <a:solidFill>
                <a:srgbClr val="4F81BD"/>
              </a:solidFill>
            </a:ln>
          </c:spPr>
          <c:invertIfNegative val="1"/>
          <c:cat>
            <c:strRef>
              <c:f>'Chart Data'!$A$2:$A$31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'Chart Data'!$B$2:$B$31</c:f>
              <c:numCache>
                <c:formatCode>General</c:formatCode>
                <c:ptCount val="30"/>
                <c:pt idx="0">
                  <c:v>173401</c:v>
                </c:pt>
                <c:pt idx="1">
                  <c:v>309417</c:v>
                </c:pt>
                <c:pt idx="2">
                  <c:v>70106</c:v>
                </c:pt>
                <c:pt idx="3">
                  <c:v>87037</c:v>
                </c:pt>
                <c:pt idx="4">
                  <c:v>194593</c:v>
                </c:pt>
                <c:pt idx="5">
                  <c:v>73316</c:v>
                </c:pt>
                <c:pt idx="6">
                  <c:v>325148</c:v>
                </c:pt>
                <c:pt idx="7">
                  <c:v>318370</c:v>
                </c:pt>
                <c:pt idx="8">
                  <c:v>303345</c:v>
                </c:pt>
                <c:pt idx="9">
                  <c:v>284034</c:v>
                </c:pt>
                <c:pt idx="10">
                  <c:v>212352</c:v>
                </c:pt>
                <c:pt idx="11">
                  <c:v>228120</c:v>
                </c:pt>
                <c:pt idx="12">
                  <c:v>251162</c:v>
                </c:pt>
                <c:pt idx="13">
                  <c:v>255044</c:v>
                </c:pt>
                <c:pt idx="14">
                  <c:v>303497</c:v>
                </c:pt>
                <c:pt idx="15">
                  <c:v>324608</c:v>
                </c:pt>
                <c:pt idx="16">
                  <c:v>319886</c:v>
                </c:pt>
                <c:pt idx="17">
                  <c:v>329763</c:v>
                </c:pt>
                <c:pt idx="18">
                  <c:v>278146</c:v>
                </c:pt>
                <c:pt idx="19">
                  <c:v>244325</c:v>
                </c:pt>
                <c:pt idx="20">
                  <c:v>311273</c:v>
                </c:pt>
                <c:pt idx="21">
                  <c:v>313142</c:v>
                </c:pt>
                <c:pt idx="22">
                  <c:v>322530</c:v>
                </c:pt>
                <c:pt idx="23">
                  <c:v>320774</c:v>
                </c:pt>
                <c:pt idx="24">
                  <c:v>212421</c:v>
                </c:pt>
                <c:pt idx="25">
                  <c:v>215779</c:v>
                </c:pt>
                <c:pt idx="26">
                  <c:v>216680</c:v>
                </c:pt>
                <c:pt idx="27">
                  <c:v>221239</c:v>
                </c:pt>
                <c:pt idx="28">
                  <c:v>314215</c:v>
                </c:pt>
                <c:pt idx="29">
                  <c:v>325959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350">
                    <a:solidFill>
                      <a:srgbClr val="4F81BD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387-40A5-A2A7-EBDAC76C81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5"/>
        <c:axId val="48650112"/>
        <c:axId val="48672768"/>
      </c:barChart>
      <c:lineChart>
        <c:grouping val="standard"/>
        <c:varyColors val="0"/>
        <c:ser>
          <c:idx val="1"/>
          <c:order val="1"/>
          <c:tx>
            <c:strRef>
              <c:f>'Chart Data'!$C$1</c:f>
              <c:strCache>
                <c:ptCount val="1"/>
                <c:pt idx="0">
                  <c:v>周轉率</c:v>
                </c:pt>
              </c:strCache>
            </c:strRef>
          </c:tx>
          <c:spPr>
            <a:ln w="28575">
              <a:solidFill>
                <a:srgbClr val="C0504D"/>
              </a:solidFill>
            </a:ln>
          </c:spPr>
          <c:marker>
            <c:symbol val="square"/>
            <c:size val="6"/>
            <c:spPr>
              <a:solidFill>
                <a:srgbClr val="C0504D"/>
              </a:solidFill>
              <a:ln w="28575">
                <a:solidFill>
                  <a:srgbClr val="C0504D"/>
                </a:solidFill>
                <a:prstDash val="solid"/>
              </a:ln>
            </c:spPr>
          </c:marker>
          <c:cat>
            <c:strRef>
              <c:f>'Chart Data'!$A$2:$A$31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'Chart Data'!$C$2:$C$31</c:f>
              <c:numCache>
                <c:formatCode>General</c:formatCode>
                <c:ptCount val="30"/>
                <c:pt idx="0">
                  <c:v>6.2760999999999996</c:v>
                </c:pt>
                <c:pt idx="1">
                  <c:v>11.199</c:v>
                </c:pt>
                <c:pt idx="2">
                  <c:v>2.5373999999999999</c:v>
                </c:pt>
                <c:pt idx="3">
                  <c:v>3.1501999999999999</c:v>
                </c:pt>
                <c:pt idx="4">
                  <c:v>7.0430999999999999</c:v>
                </c:pt>
                <c:pt idx="5">
                  <c:v>2.6536</c:v>
                </c:pt>
                <c:pt idx="6">
                  <c:v>11.7684</c:v>
                </c:pt>
                <c:pt idx="7">
                  <c:v>11.523</c:v>
                </c:pt>
                <c:pt idx="8">
                  <c:v>10.979200000000001</c:v>
                </c:pt>
                <c:pt idx="9">
                  <c:v>10.2803</c:v>
                </c:pt>
                <c:pt idx="10">
                  <c:v>7.6858000000000004</c:v>
                </c:pt>
                <c:pt idx="11">
                  <c:v>8.2565000000000008</c:v>
                </c:pt>
                <c:pt idx="12">
                  <c:v>9.0905000000000005</c:v>
                </c:pt>
                <c:pt idx="13">
                  <c:v>9.2309999999999999</c:v>
                </c:pt>
                <c:pt idx="14">
                  <c:v>10.9847</c:v>
                </c:pt>
                <c:pt idx="15">
                  <c:v>11.748799999999999</c:v>
                </c:pt>
                <c:pt idx="16">
                  <c:v>11.5779</c:v>
                </c:pt>
                <c:pt idx="17">
                  <c:v>11.9354</c:v>
                </c:pt>
                <c:pt idx="18">
                  <c:v>10.0672</c:v>
                </c:pt>
                <c:pt idx="19">
                  <c:v>8.8430999999999997</c:v>
                </c:pt>
                <c:pt idx="20">
                  <c:v>11.2662</c:v>
                </c:pt>
                <c:pt idx="21">
                  <c:v>11.3338</c:v>
                </c:pt>
                <c:pt idx="22">
                  <c:v>11.6736</c:v>
                </c:pt>
                <c:pt idx="23">
                  <c:v>11.61</c:v>
                </c:pt>
                <c:pt idx="24">
                  <c:v>7.6882999999999999</c:v>
                </c:pt>
                <c:pt idx="25">
                  <c:v>7.8098999999999998</c:v>
                </c:pt>
                <c:pt idx="26">
                  <c:v>7.8425000000000002</c:v>
                </c:pt>
                <c:pt idx="27">
                  <c:v>8.0075000000000003</c:v>
                </c:pt>
                <c:pt idx="28">
                  <c:v>11.3727</c:v>
                </c:pt>
                <c:pt idx="29">
                  <c:v>11.797700000000001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387-40A5-A2A7-EBDAC76C81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22083248"/>
        <c:axId val="221887896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7620">
            <a:solidFill>
              <a:srgbClr val="D9D9D9"/>
            </a:solidFill>
          </a:ln>
        </c:spPr>
        <c:txPr>
          <a:bodyPr anchorCtr="1"/>
          <a:lstStyle/>
          <a:p>
            <a:pPr>
              <a:defRPr sz="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tickLblSkip val="1"/>
        <c:noMultiLvlLbl val="1"/>
      </c:catAx>
      <c:valAx>
        <c:axId val="48672768"/>
        <c:scaling>
          <c:orientation val="minMax"/>
          <c:max val="350000"/>
          <c:min val="0"/>
        </c:scaling>
        <c:delete val="0"/>
        <c:axPos val="l"/>
        <c:majorGridlines>
          <c:spPr>
            <a:ln w="6350">
              <a:solidFill>
                <a:srgbClr val="D9D9D9"/>
              </a:solidFill>
              <a:prstDash val="solid"/>
            </a:ln>
          </c:spPr>
        </c:majorGridlines>
        <c:numFmt formatCode="#,##0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endParaRPr lang="zh-TW"/>
          </a:p>
        </c:txPr>
        <c:crossAx val="48650112"/>
        <c:crosses val="autoZero"/>
        <c:crossBetween val="between"/>
        <c:majorUnit val="50000"/>
      </c:valAx>
      <c:valAx>
        <c:axId val="221887896"/>
        <c:scaling>
          <c:orientation val="minMax"/>
          <c:max val="16"/>
          <c:min val="0"/>
        </c:scaling>
        <c:delete val="0"/>
        <c:axPos val="r"/>
        <c:numFmt formatCode="0.0" sourceLinked="0"/>
        <c:majorTickMark val="none"/>
        <c:minorTickMark val="none"/>
        <c:tickLblPos val="nextTo"/>
        <c:txPr>
          <a:bodyPr/>
          <a:lstStyle/>
          <a:p>
            <a:pPr>
              <a:defRPr sz="800" b="0">
                <a:latin typeface="微軟正黑體"/>
                <a:ea typeface="微軟正黑體"/>
                <a:cs typeface="微軟正黑體"/>
              </a:defRPr>
            </a:pPr>
            <a:endParaRPr lang="zh-TW"/>
          </a:p>
        </c:txPr>
        <c:crossAx val="322083248"/>
        <c:crosses val="max"/>
        <c:crossBetween val="between"/>
        <c:majorUnit val="2"/>
      </c:valAx>
      <c:catAx>
        <c:axId val="32208324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21887896"/>
        <c:auto val="1"/>
        <c:lblAlgn val="ctr"/>
        <c:lblOffset val="100"/>
        <c:noMultiLvlLbl val="0"/>
      </c:catAx>
      <c:spPr>
        <a:noFill/>
        <a:ln w="0">
          <a:noFill/>
        </a:ln>
      </c:spPr>
    </c:plotArea>
    <c:legend>
      <c:legendPos val="b"/>
      <c:overlay val="0"/>
      <c:txPr>
        <a:bodyPr/>
        <a:lstStyle/>
        <a:p>
          <a:pPr>
            <a:defRPr sz="900" b="0">
              <a:latin typeface="微軟正黑體" panose="020B0604030504040204" pitchFamily="34" charset="-120"/>
              <a:ea typeface="微軟正黑體" panose="020B0604030504040204" pitchFamily="34" charset="-120"/>
              <a:cs typeface="微軟正黑體"/>
            </a:defRPr>
          </a:pPr>
          <a:endParaRPr lang="zh-TW"/>
        </a:p>
      </c:txPr>
    </c:legend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title>
      <c:tx>
        <c:rich>
          <a:bodyPr/>
          <a:lstStyle/>
          <a:p>
            <a:r>
              <a:rPr lang="zh-TW" sz="13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每日用量與周轉率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'Chart Data'!$B$1</c:f>
              <c:strCache>
                <c:ptCount val="1"/>
                <c:pt idx="0">
                  <c:v>當日租借車次</c:v>
                </c:pt>
              </c:strCache>
            </c:strRef>
          </c:tx>
          <c:spPr>
            <a:solidFill>
              <a:srgbClr val="4F81BD"/>
            </a:solidFill>
            <a:ln w="6350">
              <a:solidFill>
                <a:srgbClr val="4F81BD"/>
              </a:solidFill>
            </a:ln>
          </c:spPr>
          <c:invertIfNegative val="1"/>
          <c:cat>
            <c:strRef>
              <c:f>'Chart Data'!$A$2:$A$32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'Chart Data'!$B$2:$B$32</c:f>
              <c:numCache>
                <c:formatCode>General</c:formatCode>
                <c:ptCount val="31"/>
                <c:pt idx="0">
                  <c:v>246301</c:v>
                </c:pt>
                <c:pt idx="1">
                  <c:v>221550</c:v>
                </c:pt>
                <c:pt idx="2">
                  <c:v>282607</c:v>
                </c:pt>
                <c:pt idx="3">
                  <c:v>295340</c:v>
                </c:pt>
                <c:pt idx="4">
                  <c:v>303120</c:v>
                </c:pt>
                <c:pt idx="5">
                  <c:v>291543</c:v>
                </c:pt>
                <c:pt idx="6">
                  <c:v>296277</c:v>
                </c:pt>
                <c:pt idx="7">
                  <c:v>141337</c:v>
                </c:pt>
                <c:pt idx="8">
                  <c:v>110086</c:v>
                </c:pt>
                <c:pt idx="9">
                  <c:v>230588</c:v>
                </c:pt>
                <c:pt idx="10">
                  <c:v>289004</c:v>
                </c:pt>
                <c:pt idx="11">
                  <c:v>296832</c:v>
                </c:pt>
                <c:pt idx="12">
                  <c:v>285267</c:v>
                </c:pt>
                <c:pt idx="13">
                  <c:v>268295</c:v>
                </c:pt>
                <c:pt idx="14">
                  <c:v>198163</c:v>
                </c:pt>
                <c:pt idx="15">
                  <c:v>203155</c:v>
                </c:pt>
                <c:pt idx="16">
                  <c:v>288900</c:v>
                </c:pt>
                <c:pt idx="17">
                  <c:v>281993</c:v>
                </c:pt>
                <c:pt idx="18">
                  <c:v>210410</c:v>
                </c:pt>
                <c:pt idx="19">
                  <c:v>176618</c:v>
                </c:pt>
                <c:pt idx="20">
                  <c:v>181717</c:v>
                </c:pt>
                <c:pt idx="21">
                  <c:v>169044</c:v>
                </c:pt>
                <c:pt idx="22">
                  <c:v>211627</c:v>
                </c:pt>
                <c:pt idx="23">
                  <c:v>126030</c:v>
                </c:pt>
                <c:pt idx="24">
                  <c:v>185554</c:v>
                </c:pt>
                <c:pt idx="25">
                  <c:v>305792</c:v>
                </c:pt>
                <c:pt idx="26">
                  <c:v>295671</c:v>
                </c:pt>
                <c:pt idx="27">
                  <c:v>303995</c:v>
                </c:pt>
                <c:pt idx="28">
                  <c:v>193439</c:v>
                </c:pt>
                <c:pt idx="29">
                  <c:v>234613</c:v>
                </c:pt>
                <c:pt idx="30">
                  <c:v>293454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350">
                    <a:solidFill>
                      <a:srgbClr val="4F81BD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DE1-483A-89A1-7A655B893A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5"/>
        <c:axId val="48650112"/>
        <c:axId val="48672768"/>
      </c:barChart>
      <c:lineChart>
        <c:grouping val="standard"/>
        <c:varyColors val="0"/>
        <c:ser>
          <c:idx val="1"/>
          <c:order val="1"/>
          <c:tx>
            <c:strRef>
              <c:f>'Chart Data'!$C$1</c:f>
              <c:strCache>
                <c:ptCount val="1"/>
                <c:pt idx="0">
                  <c:v>周轉率</c:v>
                </c:pt>
              </c:strCache>
            </c:strRef>
          </c:tx>
          <c:spPr>
            <a:ln w="28575">
              <a:solidFill>
                <a:srgbClr val="C0504D"/>
              </a:solidFill>
            </a:ln>
          </c:spPr>
          <c:marker>
            <c:symbol val="square"/>
            <c:size val="6"/>
            <c:spPr>
              <a:solidFill>
                <a:srgbClr val="C0504D"/>
              </a:solidFill>
              <a:ln w="28575">
                <a:solidFill>
                  <a:srgbClr val="C0504D"/>
                </a:solidFill>
                <a:prstDash val="solid"/>
              </a:ln>
            </c:spPr>
          </c:marker>
          <c:cat>
            <c:strRef>
              <c:f>'Chart Data'!$A$2:$A$32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'Chart Data'!$C$2:$C$32</c:f>
              <c:numCache>
                <c:formatCode>General</c:formatCode>
                <c:ptCount val="31"/>
                <c:pt idx="0">
                  <c:v>8.9765999999999995</c:v>
                </c:pt>
                <c:pt idx="1">
                  <c:v>8.0746000000000002</c:v>
                </c:pt>
                <c:pt idx="2">
                  <c:v>10.299799999999999</c:v>
                </c:pt>
                <c:pt idx="3">
                  <c:v>10.7639</c:v>
                </c:pt>
                <c:pt idx="4">
                  <c:v>11.047499999999999</c:v>
                </c:pt>
                <c:pt idx="5">
                  <c:v>10.625500000000001</c:v>
                </c:pt>
                <c:pt idx="6">
                  <c:v>10.7981</c:v>
                </c:pt>
                <c:pt idx="7">
                  <c:v>5.1510999999999996</c:v>
                </c:pt>
                <c:pt idx="8">
                  <c:v>4.0122</c:v>
                </c:pt>
                <c:pt idx="9">
                  <c:v>8.4039999999999999</c:v>
                </c:pt>
                <c:pt idx="10">
                  <c:v>10.532999999999999</c:v>
                </c:pt>
                <c:pt idx="11">
                  <c:v>10.818300000000001</c:v>
                </c:pt>
                <c:pt idx="12">
                  <c:v>10.396800000000001</c:v>
                </c:pt>
                <c:pt idx="13">
                  <c:v>9.7782</c:v>
                </c:pt>
                <c:pt idx="14">
                  <c:v>7.2222</c:v>
                </c:pt>
                <c:pt idx="15">
                  <c:v>7.4040999999999997</c:v>
                </c:pt>
                <c:pt idx="16">
                  <c:v>10.529199999999999</c:v>
                </c:pt>
                <c:pt idx="17">
                  <c:v>10.2775</c:v>
                </c:pt>
                <c:pt idx="18">
                  <c:v>7.6685999999999996</c:v>
                </c:pt>
                <c:pt idx="19">
                  <c:v>6.4370000000000003</c:v>
                </c:pt>
                <c:pt idx="20">
                  <c:v>6.6227999999999998</c:v>
                </c:pt>
                <c:pt idx="21">
                  <c:v>6.1608999999999998</c:v>
                </c:pt>
                <c:pt idx="22">
                  <c:v>7.7129000000000003</c:v>
                </c:pt>
                <c:pt idx="23">
                  <c:v>4.5933000000000002</c:v>
                </c:pt>
                <c:pt idx="24">
                  <c:v>6.7626999999999997</c:v>
                </c:pt>
                <c:pt idx="25">
                  <c:v>11.1448</c:v>
                </c:pt>
                <c:pt idx="26">
                  <c:v>10.776</c:v>
                </c:pt>
                <c:pt idx="27">
                  <c:v>11.0793</c:v>
                </c:pt>
                <c:pt idx="28">
                  <c:v>7.05</c:v>
                </c:pt>
                <c:pt idx="29">
                  <c:v>8.5507000000000009</c:v>
                </c:pt>
                <c:pt idx="30">
                  <c:v>10.6952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DE1-483A-89A1-7A655B893A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27635440"/>
        <c:axId val="327635080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7620">
            <a:solidFill>
              <a:srgbClr val="D9D9D9"/>
            </a:solidFill>
          </a:ln>
        </c:spPr>
        <c:txPr>
          <a:bodyPr anchorCtr="1"/>
          <a:lstStyle/>
          <a:p>
            <a:pPr>
              <a:defRPr sz="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tickLblSkip val="1"/>
        <c:noMultiLvlLbl val="1"/>
      </c:catAx>
      <c:valAx>
        <c:axId val="48672768"/>
        <c:scaling>
          <c:orientation val="minMax"/>
          <c:max val="350000"/>
          <c:min val="0"/>
        </c:scaling>
        <c:delete val="0"/>
        <c:axPos val="l"/>
        <c:majorGridlines>
          <c:spPr>
            <a:ln w="6350">
              <a:solidFill>
                <a:srgbClr val="D9D9D9"/>
              </a:solidFill>
              <a:prstDash val="solid"/>
            </a:ln>
          </c:spPr>
        </c:majorGridlines>
        <c:numFmt formatCode="#,##0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endParaRPr lang="zh-TW"/>
          </a:p>
        </c:txPr>
        <c:crossAx val="48650112"/>
        <c:crosses val="autoZero"/>
        <c:crossBetween val="between"/>
        <c:majorUnit val="50000"/>
      </c:valAx>
      <c:valAx>
        <c:axId val="327635080"/>
        <c:scaling>
          <c:orientation val="minMax"/>
          <c:max val="16"/>
          <c:min val="0"/>
        </c:scaling>
        <c:delete val="0"/>
        <c:axPos val="r"/>
        <c:numFmt formatCode="0.0" sourceLinked="0"/>
        <c:majorTickMark val="none"/>
        <c:minorTickMark val="none"/>
        <c:tickLblPos val="nextTo"/>
        <c:txPr>
          <a:bodyPr/>
          <a:lstStyle/>
          <a:p>
            <a:pPr>
              <a:defRPr sz="800" b="0">
                <a:latin typeface="微軟正黑體"/>
                <a:ea typeface="微軟正黑體"/>
                <a:cs typeface="微軟正黑體"/>
              </a:defRPr>
            </a:pPr>
            <a:endParaRPr lang="zh-TW"/>
          </a:p>
        </c:txPr>
        <c:crossAx val="327635440"/>
        <c:crosses val="max"/>
        <c:crossBetween val="between"/>
        <c:majorUnit val="2"/>
      </c:valAx>
      <c:catAx>
        <c:axId val="327635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27635080"/>
        <c:auto val="1"/>
        <c:lblAlgn val="ctr"/>
        <c:lblOffset val="100"/>
        <c:noMultiLvlLbl val="0"/>
      </c:catAx>
      <c:spPr>
        <a:noFill/>
        <a:ln w="0">
          <a:noFill/>
        </a:ln>
      </c:spPr>
    </c:plotArea>
    <c:legend>
      <c:legendPos val="b"/>
      <c:overlay val="0"/>
      <c:txPr>
        <a:bodyPr/>
        <a:lstStyle/>
        <a:p>
          <a:pPr>
            <a:defRPr sz="900" b="0">
              <a:latin typeface="微軟正黑體" panose="020B0604030504040204" pitchFamily="34" charset="-120"/>
              <a:ea typeface="微軟正黑體" panose="020B0604030504040204" pitchFamily="34" charset="-120"/>
              <a:cs typeface="微軟正黑體"/>
            </a:defRPr>
          </a:pPr>
          <a:endParaRPr lang="zh-TW"/>
        </a:p>
      </c:txPr>
    </c:legend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title>
      <c:tx>
        <c:rich>
          <a:bodyPr/>
          <a:lstStyle/>
          <a:p>
            <a:r>
              <a:rPr lang="zh-TW" sz="13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每日用量與周轉率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'Chart Data'!$B$1</c:f>
              <c:strCache>
                <c:ptCount val="1"/>
                <c:pt idx="0">
                  <c:v>當日租借車次</c:v>
                </c:pt>
              </c:strCache>
            </c:strRef>
          </c:tx>
          <c:spPr>
            <a:solidFill>
              <a:srgbClr val="4F81BD"/>
            </a:solidFill>
            <a:ln w="6350">
              <a:solidFill>
                <a:srgbClr val="4F81BD"/>
              </a:solidFill>
            </a:ln>
          </c:spPr>
          <c:invertIfNegative val="1"/>
          <c:cat>
            <c:strRef>
              <c:f>'Chart Data'!$A$2:$A$32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'Chart Data'!$B$2:$B$32</c:f>
              <c:numCache>
                <c:formatCode>General</c:formatCode>
                <c:ptCount val="31"/>
                <c:pt idx="0">
                  <c:v>291541</c:v>
                </c:pt>
                <c:pt idx="1">
                  <c:v>269361</c:v>
                </c:pt>
                <c:pt idx="2">
                  <c:v>280200</c:v>
                </c:pt>
                <c:pt idx="3">
                  <c:v>244588</c:v>
                </c:pt>
                <c:pt idx="4">
                  <c:v>203827</c:v>
                </c:pt>
                <c:pt idx="5">
                  <c:v>244006</c:v>
                </c:pt>
                <c:pt idx="6">
                  <c:v>291473</c:v>
                </c:pt>
                <c:pt idx="7">
                  <c:v>300105</c:v>
                </c:pt>
                <c:pt idx="8">
                  <c:v>307281</c:v>
                </c:pt>
                <c:pt idx="9">
                  <c:v>13607</c:v>
                </c:pt>
                <c:pt idx="10">
                  <c:v>0</c:v>
                </c:pt>
                <c:pt idx="11">
                  <c:v>202840</c:v>
                </c:pt>
                <c:pt idx="12">
                  <c:v>247396</c:v>
                </c:pt>
                <c:pt idx="13">
                  <c:v>276324</c:v>
                </c:pt>
                <c:pt idx="14">
                  <c:v>285432</c:v>
                </c:pt>
                <c:pt idx="15">
                  <c:v>279917</c:v>
                </c:pt>
                <c:pt idx="16">
                  <c:v>269555</c:v>
                </c:pt>
                <c:pt idx="17">
                  <c:v>245640</c:v>
                </c:pt>
                <c:pt idx="18">
                  <c:v>175717</c:v>
                </c:pt>
                <c:pt idx="19">
                  <c:v>222284</c:v>
                </c:pt>
                <c:pt idx="20">
                  <c:v>249808</c:v>
                </c:pt>
                <c:pt idx="21">
                  <c:v>294158</c:v>
                </c:pt>
                <c:pt idx="22">
                  <c:v>298620</c:v>
                </c:pt>
                <c:pt idx="23">
                  <c:v>301673</c:v>
                </c:pt>
                <c:pt idx="24">
                  <c:v>253694</c:v>
                </c:pt>
                <c:pt idx="25">
                  <c:v>226118</c:v>
                </c:pt>
                <c:pt idx="26">
                  <c:v>282266</c:v>
                </c:pt>
                <c:pt idx="27">
                  <c:v>287877</c:v>
                </c:pt>
                <c:pt idx="28">
                  <c:v>300126</c:v>
                </c:pt>
                <c:pt idx="29">
                  <c:v>305082</c:v>
                </c:pt>
                <c:pt idx="30">
                  <c:v>305126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350">
                    <a:solidFill>
                      <a:srgbClr val="4F81BD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751-4D49-9FEA-5F06489D2E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5"/>
        <c:axId val="48650112"/>
        <c:axId val="48672768"/>
      </c:barChart>
      <c:lineChart>
        <c:grouping val="standard"/>
        <c:varyColors val="0"/>
        <c:ser>
          <c:idx val="1"/>
          <c:order val="1"/>
          <c:tx>
            <c:strRef>
              <c:f>'Chart Data'!$C$1</c:f>
              <c:strCache>
                <c:ptCount val="1"/>
                <c:pt idx="0">
                  <c:v>周轉率</c:v>
                </c:pt>
              </c:strCache>
            </c:strRef>
          </c:tx>
          <c:spPr>
            <a:ln w="28575">
              <a:solidFill>
                <a:srgbClr val="C0504D"/>
              </a:solidFill>
            </a:ln>
          </c:spPr>
          <c:marker>
            <c:symbol val="square"/>
            <c:size val="6"/>
            <c:spPr>
              <a:solidFill>
                <a:srgbClr val="C0504D"/>
              </a:solidFill>
              <a:ln w="28575">
                <a:solidFill>
                  <a:srgbClr val="C0504D"/>
                </a:solidFill>
                <a:prstDash val="solid"/>
              </a:ln>
            </c:spPr>
          </c:marker>
          <c:cat>
            <c:strRef>
              <c:f>'Chart Data'!$A$2:$A$32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'Chart Data'!$C$2:$C$32</c:f>
              <c:numCache>
                <c:formatCode>General</c:formatCode>
                <c:ptCount val="31"/>
                <c:pt idx="0">
                  <c:v>10.8764</c:v>
                </c:pt>
                <c:pt idx="1">
                  <c:v>10.0489</c:v>
                </c:pt>
                <c:pt idx="2">
                  <c:v>10.4533</c:v>
                </c:pt>
                <c:pt idx="3">
                  <c:v>9.0394000000000005</c:v>
                </c:pt>
                <c:pt idx="4">
                  <c:v>7.5330000000000004</c:v>
                </c:pt>
                <c:pt idx="5">
                  <c:v>9.0178999999999991</c:v>
                </c:pt>
                <c:pt idx="6">
                  <c:v>10.7722</c:v>
                </c:pt>
                <c:pt idx="7">
                  <c:v>11.091200000000001</c:v>
                </c:pt>
                <c:pt idx="8">
                  <c:v>11.356400000000001</c:v>
                </c:pt>
                <c:pt idx="9">
                  <c:v>0.50290000000000001</c:v>
                </c:pt>
                <c:pt idx="10">
                  <c:v>0</c:v>
                </c:pt>
                <c:pt idx="11">
                  <c:v>7.4965000000000002</c:v>
                </c:pt>
                <c:pt idx="12">
                  <c:v>9.1432000000000002</c:v>
                </c:pt>
                <c:pt idx="13">
                  <c:v>10.212300000000001</c:v>
                </c:pt>
                <c:pt idx="14">
                  <c:v>10.5489</c:v>
                </c:pt>
                <c:pt idx="15">
                  <c:v>10.3451</c:v>
                </c:pt>
                <c:pt idx="16">
                  <c:v>9.9620999999999995</c:v>
                </c:pt>
                <c:pt idx="17">
                  <c:v>9.0783000000000005</c:v>
                </c:pt>
                <c:pt idx="18">
                  <c:v>6.4941000000000004</c:v>
                </c:pt>
                <c:pt idx="19">
                  <c:v>8.2150999999999996</c:v>
                </c:pt>
                <c:pt idx="20">
                  <c:v>9.2323000000000004</c:v>
                </c:pt>
                <c:pt idx="21">
                  <c:v>10.8714</c:v>
                </c:pt>
                <c:pt idx="22">
                  <c:v>11.036300000000001</c:v>
                </c:pt>
                <c:pt idx="23">
                  <c:v>11.149100000000001</c:v>
                </c:pt>
                <c:pt idx="24">
                  <c:v>9.2461000000000002</c:v>
                </c:pt>
                <c:pt idx="25">
                  <c:v>8.2410999999999994</c:v>
                </c:pt>
                <c:pt idx="26">
                  <c:v>10.2874</c:v>
                </c:pt>
                <c:pt idx="27">
                  <c:v>10.491899999999999</c:v>
                </c:pt>
                <c:pt idx="28">
                  <c:v>10.9383</c:v>
                </c:pt>
                <c:pt idx="29">
                  <c:v>11.119</c:v>
                </c:pt>
                <c:pt idx="30">
                  <c:v>11.1206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751-4D49-9FEA-5F06489D2E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27468368"/>
        <c:axId val="32747340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7620">
            <a:solidFill>
              <a:srgbClr val="D9D9D9"/>
            </a:solidFill>
          </a:ln>
        </c:spPr>
        <c:txPr>
          <a:bodyPr anchorCtr="1"/>
          <a:lstStyle/>
          <a:p>
            <a:pPr>
              <a:defRPr sz="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tickLblSkip val="1"/>
        <c:noMultiLvlLbl val="1"/>
      </c:catAx>
      <c:valAx>
        <c:axId val="48672768"/>
        <c:scaling>
          <c:orientation val="minMax"/>
          <c:max val="350000"/>
          <c:min val="0"/>
        </c:scaling>
        <c:delete val="0"/>
        <c:axPos val="l"/>
        <c:majorGridlines>
          <c:spPr>
            <a:ln w="6350">
              <a:solidFill>
                <a:srgbClr val="D9D9D9"/>
              </a:solidFill>
              <a:prstDash val="solid"/>
            </a:ln>
          </c:spPr>
        </c:majorGridlines>
        <c:numFmt formatCode="#,##0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endParaRPr lang="zh-TW"/>
          </a:p>
        </c:txPr>
        <c:crossAx val="48650112"/>
        <c:crosses val="autoZero"/>
        <c:crossBetween val="between"/>
        <c:majorUnit val="50000"/>
      </c:valAx>
      <c:valAx>
        <c:axId val="327473408"/>
        <c:scaling>
          <c:orientation val="minMax"/>
          <c:max val="16"/>
          <c:min val="0"/>
        </c:scaling>
        <c:delete val="0"/>
        <c:axPos val="r"/>
        <c:numFmt formatCode="0.0" sourceLinked="0"/>
        <c:majorTickMark val="none"/>
        <c:minorTickMark val="none"/>
        <c:tickLblPos val="nextTo"/>
        <c:txPr>
          <a:bodyPr/>
          <a:lstStyle/>
          <a:p>
            <a:pPr>
              <a:defRPr sz="800" b="0">
                <a:latin typeface="微軟正黑體"/>
                <a:ea typeface="微軟正黑體"/>
                <a:cs typeface="微軟正黑體"/>
              </a:defRPr>
            </a:pPr>
            <a:endParaRPr lang="zh-TW"/>
          </a:p>
        </c:txPr>
        <c:crossAx val="327468368"/>
        <c:crosses val="max"/>
        <c:crossBetween val="between"/>
        <c:majorUnit val="2"/>
      </c:valAx>
      <c:catAx>
        <c:axId val="32746836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27473408"/>
        <c:auto val="1"/>
        <c:lblAlgn val="ctr"/>
        <c:lblOffset val="100"/>
        <c:noMultiLvlLbl val="0"/>
      </c:catAx>
      <c:spPr>
        <a:noFill/>
        <a:ln w="0">
          <a:noFill/>
        </a:ln>
      </c:spPr>
    </c:plotArea>
    <c:legend>
      <c:legendPos val="b"/>
      <c:overlay val="0"/>
      <c:txPr>
        <a:bodyPr/>
        <a:lstStyle/>
        <a:p>
          <a:pPr>
            <a:defRPr sz="900" b="0">
              <a:latin typeface="微軟正黑體" panose="020B0604030504040204" pitchFamily="34" charset="-120"/>
              <a:ea typeface="微軟正黑體" panose="020B0604030504040204" pitchFamily="34" charset="-120"/>
              <a:cs typeface="微軟正黑體"/>
            </a:defRPr>
          </a:pPr>
          <a:endParaRPr lang="zh-TW"/>
        </a:p>
      </c:txPr>
    </c:legend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title>
      <c:tx>
        <c:rich>
          <a:bodyPr/>
          <a:lstStyle/>
          <a:p>
            <a:r>
              <a:rPr lang="zh-TW" sz="13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每日用量與周轉率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'Chart Data'!$B$1</c:f>
              <c:strCache>
                <c:ptCount val="1"/>
                <c:pt idx="0">
                  <c:v>當日租借車次</c:v>
                </c:pt>
              </c:strCache>
            </c:strRef>
          </c:tx>
          <c:spPr>
            <a:solidFill>
              <a:srgbClr val="4F81BD"/>
            </a:solidFill>
            <a:ln w="6350">
              <a:solidFill>
                <a:srgbClr val="4F81BD"/>
              </a:solidFill>
            </a:ln>
          </c:spPr>
          <c:invertIfNegative val="1"/>
          <c:cat>
            <c:strRef>
              <c:f>'Chart Data'!$A$2:$A$31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'Chart Data'!$B$2:$B$31</c:f>
              <c:numCache>
                <c:formatCode>General</c:formatCode>
                <c:ptCount val="30"/>
                <c:pt idx="0">
                  <c:v>306065</c:v>
                </c:pt>
                <c:pt idx="1">
                  <c:v>304752</c:v>
                </c:pt>
                <c:pt idx="2">
                  <c:v>296968</c:v>
                </c:pt>
                <c:pt idx="3">
                  <c:v>195141</c:v>
                </c:pt>
                <c:pt idx="4">
                  <c:v>79538</c:v>
                </c:pt>
                <c:pt idx="5">
                  <c:v>250689</c:v>
                </c:pt>
                <c:pt idx="6">
                  <c:v>189482</c:v>
                </c:pt>
                <c:pt idx="7">
                  <c:v>161652</c:v>
                </c:pt>
                <c:pt idx="8">
                  <c:v>94654</c:v>
                </c:pt>
                <c:pt idx="9">
                  <c:v>160186</c:v>
                </c:pt>
                <c:pt idx="10">
                  <c:v>175739</c:v>
                </c:pt>
                <c:pt idx="11">
                  <c:v>153701</c:v>
                </c:pt>
                <c:pt idx="12">
                  <c:v>259654</c:v>
                </c:pt>
                <c:pt idx="13">
                  <c:v>118365</c:v>
                </c:pt>
                <c:pt idx="14">
                  <c:v>269017</c:v>
                </c:pt>
                <c:pt idx="15">
                  <c:v>257050</c:v>
                </c:pt>
                <c:pt idx="16">
                  <c:v>250711</c:v>
                </c:pt>
                <c:pt idx="17">
                  <c:v>236809</c:v>
                </c:pt>
                <c:pt idx="18">
                  <c:v>213298</c:v>
                </c:pt>
                <c:pt idx="19">
                  <c:v>223747</c:v>
                </c:pt>
                <c:pt idx="20">
                  <c:v>209198</c:v>
                </c:pt>
                <c:pt idx="21">
                  <c:v>280332</c:v>
                </c:pt>
                <c:pt idx="22">
                  <c:v>292403</c:v>
                </c:pt>
                <c:pt idx="23">
                  <c:v>292278</c:v>
                </c:pt>
                <c:pt idx="24">
                  <c:v>141397</c:v>
                </c:pt>
                <c:pt idx="25">
                  <c:v>117317</c:v>
                </c:pt>
                <c:pt idx="26">
                  <c:v>139485</c:v>
                </c:pt>
                <c:pt idx="27">
                  <c:v>166829</c:v>
                </c:pt>
                <c:pt idx="28">
                  <c:v>284386</c:v>
                </c:pt>
                <c:pt idx="29">
                  <c:v>285598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350">
                    <a:solidFill>
                      <a:srgbClr val="4F81BD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199-45FA-8FE2-46CE5A40B4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5"/>
        <c:axId val="48650112"/>
        <c:axId val="48672768"/>
      </c:barChart>
      <c:lineChart>
        <c:grouping val="standard"/>
        <c:varyColors val="0"/>
        <c:ser>
          <c:idx val="1"/>
          <c:order val="1"/>
          <c:tx>
            <c:strRef>
              <c:f>'Chart Data'!$C$1</c:f>
              <c:strCache>
                <c:ptCount val="1"/>
                <c:pt idx="0">
                  <c:v>周轉率</c:v>
                </c:pt>
              </c:strCache>
            </c:strRef>
          </c:tx>
          <c:spPr>
            <a:ln w="28575">
              <a:solidFill>
                <a:srgbClr val="C0504D"/>
              </a:solidFill>
            </a:ln>
          </c:spPr>
          <c:marker>
            <c:symbol val="square"/>
            <c:size val="6"/>
            <c:spPr>
              <a:solidFill>
                <a:srgbClr val="C0504D"/>
              </a:solidFill>
              <a:ln w="28575">
                <a:solidFill>
                  <a:srgbClr val="C0504D"/>
                </a:solidFill>
                <a:prstDash val="solid"/>
              </a:ln>
            </c:spPr>
          </c:marker>
          <c:cat>
            <c:strRef>
              <c:f>'Chart Data'!$A$2:$A$31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'Chart Data'!$C$2:$C$31</c:f>
              <c:numCache>
                <c:formatCode>General</c:formatCode>
                <c:ptCount val="30"/>
                <c:pt idx="0">
                  <c:v>11.418200000000001</c:v>
                </c:pt>
                <c:pt idx="1">
                  <c:v>11.369199999999999</c:v>
                </c:pt>
                <c:pt idx="2">
                  <c:v>11.078799999999999</c:v>
                </c:pt>
                <c:pt idx="3">
                  <c:v>7.28</c:v>
                </c:pt>
                <c:pt idx="4">
                  <c:v>2.9672999999999998</c:v>
                </c:pt>
                <c:pt idx="5">
                  <c:v>9.3522999999999996</c:v>
                </c:pt>
                <c:pt idx="6">
                  <c:v>7.0689000000000002</c:v>
                </c:pt>
                <c:pt idx="7">
                  <c:v>6.0307000000000004</c:v>
                </c:pt>
                <c:pt idx="8">
                  <c:v>3.5312000000000001</c:v>
                </c:pt>
                <c:pt idx="9">
                  <c:v>5.976</c:v>
                </c:pt>
                <c:pt idx="10">
                  <c:v>6.5561999999999996</c:v>
                </c:pt>
                <c:pt idx="11">
                  <c:v>5.734</c:v>
                </c:pt>
                <c:pt idx="12">
                  <c:v>9.6867999999999999</c:v>
                </c:pt>
                <c:pt idx="13">
                  <c:v>4.4157999999999999</c:v>
                </c:pt>
                <c:pt idx="14">
                  <c:v>10.036099999999999</c:v>
                </c:pt>
                <c:pt idx="15">
                  <c:v>9.5896000000000008</c:v>
                </c:pt>
                <c:pt idx="16">
                  <c:v>9.3530999999999995</c:v>
                </c:pt>
                <c:pt idx="17">
                  <c:v>8.8345000000000002</c:v>
                </c:pt>
                <c:pt idx="18">
                  <c:v>7.9573999999999998</c:v>
                </c:pt>
                <c:pt idx="19">
                  <c:v>8.3472000000000008</c:v>
                </c:pt>
                <c:pt idx="20">
                  <c:v>7.8044000000000002</c:v>
                </c:pt>
                <c:pt idx="21">
                  <c:v>10.4582</c:v>
                </c:pt>
                <c:pt idx="22">
                  <c:v>10.9085</c:v>
                </c:pt>
                <c:pt idx="23">
                  <c:v>10.9039</c:v>
                </c:pt>
                <c:pt idx="24">
                  <c:v>5.2750000000000004</c:v>
                </c:pt>
                <c:pt idx="25">
                  <c:v>4.3766999999999996</c:v>
                </c:pt>
                <c:pt idx="26">
                  <c:v>5.2037000000000004</c:v>
                </c:pt>
                <c:pt idx="27">
                  <c:v>6.2237999999999998</c:v>
                </c:pt>
                <c:pt idx="28">
                  <c:v>10.609400000000001</c:v>
                </c:pt>
                <c:pt idx="29">
                  <c:v>10.6547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199-45FA-8FE2-46CE5A40B4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21266856"/>
        <c:axId val="321269376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7620">
            <a:solidFill>
              <a:srgbClr val="D9D9D9"/>
            </a:solidFill>
          </a:ln>
        </c:spPr>
        <c:txPr>
          <a:bodyPr anchorCtr="1"/>
          <a:lstStyle/>
          <a:p>
            <a:pPr>
              <a:defRPr sz="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tickLblSkip val="1"/>
        <c:noMultiLvlLbl val="1"/>
      </c:catAx>
      <c:valAx>
        <c:axId val="48672768"/>
        <c:scaling>
          <c:orientation val="minMax"/>
          <c:max val="350000"/>
          <c:min val="0"/>
        </c:scaling>
        <c:delete val="0"/>
        <c:axPos val="l"/>
        <c:majorGridlines>
          <c:spPr>
            <a:ln w="6350">
              <a:solidFill>
                <a:srgbClr val="D9D9D9"/>
              </a:solidFill>
              <a:prstDash val="solid"/>
            </a:ln>
          </c:spPr>
        </c:majorGridlines>
        <c:numFmt formatCode="#,##0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endParaRPr lang="zh-TW"/>
          </a:p>
        </c:txPr>
        <c:crossAx val="48650112"/>
        <c:crosses val="autoZero"/>
        <c:crossBetween val="between"/>
        <c:majorUnit val="50000"/>
      </c:valAx>
      <c:valAx>
        <c:axId val="321269376"/>
        <c:scaling>
          <c:orientation val="minMax"/>
          <c:max val="16"/>
          <c:min val="0"/>
        </c:scaling>
        <c:delete val="0"/>
        <c:axPos val="r"/>
        <c:numFmt formatCode="0.0" sourceLinked="0"/>
        <c:majorTickMark val="none"/>
        <c:minorTickMark val="none"/>
        <c:tickLblPos val="nextTo"/>
        <c:txPr>
          <a:bodyPr/>
          <a:lstStyle/>
          <a:p>
            <a:pPr>
              <a:defRPr sz="800" b="0">
                <a:latin typeface="微軟正黑體"/>
                <a:ea typeface="微軟正黑體"/>
                <a:cs typeface="微軟正黑體"/>
              </a:defRPr>
            </a:pPr>
            <a:endParaRPr lang="zh-TW"/>
          </a:p>
        </c:txPr>
        <c:crossAx val="321266856"/>
        <c:crosses val="max"/>
        <c:crossBetween val="between"/>
        <c:majorUnit val="2"/>
      </c:valAx>
      <c:catAx>
        <c:axId val="32126685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21269376"/>
        <c:auto val="1"/>
        <c:lblAlgn val="ctr"/>
        <c:lblOffset val="100"/>
        <c:noMultiLvlLbl val="0"/>
      </c:catAx>
      <c:spPr>
        <a:noFill/>
        <a:ln w="0">
          <a:noFill/>
        </a:ln>
      </c:spPr>
    </c:plotArea>
    <c:legend>
      <c:legendPos val="b"/>
      <c:overlay val="0"/>
      <c:txPr>
        <a:bodyPr/>
        <a:lstStyle/>
        <a:p>
          <a:pPr>
            <a:defRPr sz="900" b="0">
              <a:latin typeface="微軟正黑體" panose="020B0604030504040204" pitchFamily="34" charset="-120"/>
              <a:ea typeface="微軟正黑體" panose="020B0604030504040204" pitchFamily="34" charset="-120"/>
              <a:cs typeface="微軟正黑體"/>
            </a:defRPr>
          </a:pPr>
          <a:endParaRPr lang="zh-TW"/>
        </a:p>
      </c:txPr>
    </c:legend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title>
      <c:tx>
        <c:rich>
          <a:bodyPr/>
          <a:lstStyle/>
          <a:p>
            <a:r>
              <a:rPr lang="zh-TW" sz="13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臺北市 </a:t>
            </a:r>
            <a:r>
              <a:rPr lang="en-US" sz="13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- </a:t>
            </a:r>
            <a:r>
              <a:rPr lang="zh-TW" sz="13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近六個月使用狀況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'Chart Data'!$B$1</c:f>
              <c:strCache>
                <c:ptCount val="1"/>
                <c:pt idx="0">
                  <c:v>2.0用量</c:v>
                </c:pt>
              </c:strCache>
            </c:strRef>
          </c:tx>
          <c:spPr>
            <a:solidFill>
              <a:srgbClr val="C0504D"/>
            </a:solidFill>
            <a:ln w="6350">
              <a:solidFill>
                <a:srgbClr val="C0504D"/>
              </a:solidFill>
            </a:ln>
          </c:spPr>
          <c:invertIfNegative val="1"/>
          <c:dLbls>
            <c:numFmt formatCode="0.0&quot;萬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50" b="1">
                    <a:solidFill>
                      <a:srgbClr val="FFFFFF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微軟正黑體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'Chart Data'!$A$2:$A$7</c:f>
              <c:strCache>
                <c:ptCount val="6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693.24559999999997</c:v>
                </c:pt>
                <c:pt idx="1">
                  <c:v>765.48299999999995</c:v>
                </c:pt>
                <c:pt idx="2">
                  <c:v>597.09659999999997</c:v>
                </c:pt>
                <c:pt idx="3">
                  <c:v>708.15319999999997</c:v>
                </c:pt>
                <c:pt idx="4">
                  <c:v>670.78560000000004</c:v>
                </c:pt>
                <c:pt idx="5">
                  <c:v>690.89559999999994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350">
                    <a:solidFill>
                      <a:srgbClr val="C0504D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1E5-4442-AD56-1AE4C19CCC2D}"/>
            </c:ext>
          </c:extLst>
        </c:ser>
        <c:ser>
          <c:idx val="1"/>
          <c:order val="1"/>
          <c:tx>
            <c:strRef>
              <c:f>'Chart Data'!$C$1</c:f>
              <c:strCache>
                <c:ptCount val="1"/>
                <c:pt idx="0">
                  <c:v>2.0E用量</c:v>
                </c:pt>
              </c:strCache>
            </c:strRef>
          </c:tx>
          <c:spPr>
            <a:solidFill>
              <a:srgbClr val="9BBB59"/>
            </a:solidFill>
            <a:ln w="6350">
              <a:solidFill>
                <a:srgbClr val="9BBB59"/>
              </a:solidFill>
            </a:ln>
          </c:spPr>
          <c:invertIfNegative val="0"/>
          <c:dLbls>
            <c:numFmt formatCode="0.0&quot;萬&quot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50" b="1">
                    <a:solidFill>
                      <a:srgbClr val="FFFFFF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微軟正黑體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'Chart Data'!$A$2:$A$7</c:f>
              <c:strCache>
                <c:ptCount val="6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</c:strCache>
            </c:strRef>
          </c:cat>
          <c:val>
            <c:numRef>
              <c:f>'Chart Data'!$C$2:$C$7</c:f>
              <c:numCache>
                <c:formatCode>General</c:formatCode>
                <c:ptCount val="6"/>
                <c:pt idx="0">
                  <c:v>45.658099999999997</c:v>
                </c:pt>
                <c:pt idx="1">
                  <c:v>54.314999999999998</c:v>
                </c:pt>
                <c:pt idx="2">
                  <c:v>43.5473</c:v>
                </c:pt>
                <c:pt idx="3">
                  <c:v>67.411100000000005</c:v>
                </c:pt>
                <c:pt idx="4">
                  <c:v>71.046800000000005</c:v>
                </c:pt>
                <c:pt idx="5">
                  <c:v>75.072900000000004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E5-4442-AD56-1AE4C19CCC2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5"/>
        <c:overlap val="100"/>
        <c:axId val="48650112"/>
        <c:axId val="48672768"/>
      </c:barChart>
      <c:lineChart>
        <c:grouping val="standard"/>
        <c:varyColors val="0"/>
        <c:ser>
          <c:idx val="2"/>
          <c:order val="2"/>
          <c:tx>
            <c:strRef>
              <c:f>'Chart Data'!$D$1</c:f>
              <c:strCache>
                <c:ptCount val="1"/>
                <c:pt idx="0">
                  <c:v>周轉率</c:v>
                </c:pt>
              </c:strCache>
            </c:strRef>
          </c:tx>
          <c:spPr>
            <a:solidFill>
              <a:srgbClr val="9BBB59"/>
            </a:solidFill>
            <a:ln w="28575">
              <a:solidFill>
                <a:srgbClr val="4F81BD"/>
              </a:solidFill>
            </a:ln>
          </c:spPr>
          <c:marker>
            <c:symbol val="circle"/>
            <c:size val="6"/>
            <c:spPr>
              <a:solidFill>
                <a:srgbClr val="4F81BD"/>
              </a:solidFill>
              <a:ln w="28575">
                <a:solidFill>
                  <a:srgbClr val="4F81BD"/>
                </a:solidFill>
                <a:prstDash val="solid"/>
              </a:ln>
            </c:spPr>
          </c:marker>
          <c:dLbls>
            <c:dLbl>
              <c:idx val="0"/>
              <c:layout>
                <c:manualLayout>
                  <c:x val="-2.6886604452221251E-2"/>
                  <c:y val="6.035338582677165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1E5-4442-AD56-1AE4C19CCC2D}"/>
                </c:ext>
              </c:extLst>
            </c:dLbl>
            <c:dLbl>
              <c:idx val="1"/>
              <c:layout>
                <c:manualLayout>
                  <c:x val="-2.6886604452221251E-2"/>
                  <c:y val="6.035338582677165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1E5-4442-AD56-1AE4C19CCC2D}"/>
                </c:ext>
              </c:extLst>
            </c:dLbl>
            <c:dLbl>
              <c:idx val="2"/>
              <c:layout>
                <c:manualLayout>
                  <c:x val="-2.6886604452221251E-2"/>
                  <c:y val="6.035338582677165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1E5-4442-AD56-1AE4C19CCC2D}"/>
                </c:ext>
              </c:extLst>
            </c:dLbl>
            <c:dLbl>
              <c:idx val="3"/>
              <c:layout>
                <c:manualLayout>
                  <c:x val="-2.6886604452221251E-2"/>
                  <c:y val="6.035338582677165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1E5-4442-AD56-1AE4C19CCC2D}"/>
                </c:ext>
              </c:extLst>
            </c:dLbl>
            <c:dLbl>
              <c:idx val="4"/>
              <c:layout>
                <c:manualLayout>
                  <c:x val="-2.6886604452221251E-2"/>
                  <c:y val="6.035338582677165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1E5-4442-AD56-1AE4C19CCC2D}"/>
                </c:ext>
              </c:extLst>
            </c:dLbl>
            <c:dLbl>
              <c:idx val="5"/>
              <c:layout>
                <c:manualLayout>
                  <c:x val="-2.6886604452221251E-2"/>
                  <c:y val="6.035338582677160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1E5-4442-AD56-1AE4C19CCC2D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25" b="1">
                    <a:solidFill>
                      <a:srgbClr val="333333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微軟正黑體"/>
                  </a:defRPr>
                </a:pPr>
                <a:endParaRPr lang="zh-TW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'Chart Data'!$A$2:$A$7</c:f>
              <c:strCache>
                <c:ptCount val="6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</c:strCache>
            </c:str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9.41</c:v>
                </c:pt>
                <c:pt idx="1">
                  <c:v>9.98</c:v>
                </c:pt>
                <c:pt idx="2">
                  <c:v>7.96672387</c:v>
                </c:pt>
                <c:pt idx="3">
                  <c:v>9.2232360300000007</c:v>
                </c:pt>
                <c:pt idx="4">
                  <c:v>8.7215070200000007</c:v>
                </c:pt>
                <c:pt idx="5">
                  <c:v>9.2410999999999994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C1E5-4442-AD56-1AE4C19CCC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27625720"/>
        <c:axId val="327629680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7620">
            <a:solidFill>
              <a:srgbClr val="D9D9D9"/>
            </a:solidFill>
          </a:ln>
        </c:spPr>
        <c:txPr>
          <a:bodyPr anchorCtr="1"/>
          <a:lstStyle/>
          <a:p>
            <a:pPr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900"/>
          <c:min val="0"/>
        </c:scaling>
        <c:delete val="0"/>
        <c:axPos val="l"/>
        <c:majorGridlines>
          <c:spPr>
            <a:ln w="6350">
              <a:solidFill>
                <a:srgbClr val="D9D9D9"/>
              </a:solidFill>
              <a:prstDash val="solid"/>
            </a:ln>
          </c:spPr>
        </c:majorGridlines>
        <c:numFmt formatCode="0.0&quot;萬&quot;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endParaRPr lang="zh-TW"/>
          </a:p>
        </c:txPr>
        <c:crossAx val="48650112"/>
        <c:crosses val="autoZero"/>
        <c:crossBetween val="between"/>
        <c:majorUnit val="100"/>
      </c:valAx>
      <c:valAx>
        <c:axId val="327629680"/>
        <c:scaling>
          <c:orientation val="minMax"/>
          <c:max val="11"/>
          <c:min val="5"/>
        </c:scaling>
        <c:delete val="0"/>
        <c:axPos val="r"/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900" b="0">
                <a:latin typeface="微軟正黑體"/>
                <a:ea typeface="微軟正黑體"/>
                <a:cs typeface="微軟正黑體"/>
              </a:defRPr>
            </a:pPr>
            <a:endParaRPr lang="zh-TW"/>
          </a:p>
        </c:txPr>
        <c:crossAx val="327625720"/>
        <c:crosses val="max"/>
        <c:crossBetween val="between"/>
        <c:majorUnit val="1"/>
      </c:valAx>
      <c:catAx>
        <c:axId val="3276257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27629680"/>
        <c:auto val="1"/>
        <c:lblAlgn val="ctr"/>
        <c:lblOffset val="100"/>
        <c:noMultiLvlLbl val="0"/>
      </c:catAx>
      <c:spPr>
        <a:noFill/>
        <a:ln w="0">
          <a:noFill/>
        </a:ln>
      </c:spPr>
    </c:plotArea>
    <c:legend>
      <c:legendPos val="b"/>
      <c:overlay val="0"/>
      <c:txPr>
        <a:bodyPr/>
        <a:lstStyle/>
        <a:p>
          <a:pPr>
            <a:defRPr sz="900" b="0">
              <a:latin typeface="微軟正黑體" panose="020B0604030504040204" pitchFamily="34" charset="-120"/>
              <a:ea typeface="微軟正黑體" panose="020B0604030504040204" pitchFamily="34" charset="-120"/>
              <a:cs typeface="微軟正黑體"/>
            </a:defRPr>
          </a:pPr>
          <a:endParaRPr lang="zh-TW"/>
        </a:p>
      </c:txPr>
    </c:legend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title>
      <c:tx>
        <c:rich>
          <a:bodyPr/>
          <a:lstStyle/>
          <a:p>
            <a:r>
              <a:rPr sz="112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臺北租賃方式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v>臺北租賃方式</c:v>
          </c:tx>
          <c:dPt>
            <c:idx val="0"/>
            <c:bubble3D val="0"/>
            <c:spPr>
              <a:solidFill>
                <a:srgbClr val="4F81BD"/>
              </a:solidFill>
            </c:spPr>
            <c:extLst>
              <c:ext xmlns:c16="http://schemas.microsoft.com/office/drawing/2014/chart" uri="{C3380CC4-5D6E-409C-BE32-E72D297353CC}">
                <c16:uniqueId val="{00000001-91AD-4322-9BE2-09F55797F5BA}"/>
              </c:ext>
            </c:extLst>
          </c:dPt>
          <c:dPt>
            <c:idx val="1"/>
            <c:bubble3D val="0"/>
            <c:spPr>
              <a:solidFill>
                <a:srgbClr val="C0504D"/>
              </a:solidFill>
            </c:spPr>
            <c:extLst>
              <c:ext xmlns:c16="http://schemas.microsoft.com/office/drawing/2014/chart" uri="{C3380CC4-5D6E-409C-BE32-E72D297353CC}">
                <c16:uniqueId val="{00000003-91AD-4322-9BE2-09F55797F5BA}"/>
              </c:ext>
            </c:extLst>
          </c:dPt>
          <c:dPt>
            <c:idx val="2"/>
            <c:bubble3D val="0"/>
            <c:spPr>
              <a:solidFill>
                <a:srgbClr val="9BBB59"/>
              </a:solidFill>
            </c:spPr>
            <c:extLst>
              <c:ext xmlns:c16="http://schemas.microsoft.com/office/drawing/2014/chart" uri="{C3380CC4-5D6E-409C-BE32-E72D297353CC}">
                <c16:uniqueId val="{00000005-91AD-4322-9BE2-09F55797F5BA}"/>
              </c:ext>
            </c:extLst>
          </c:dPt>
          <c:dPt>
            <c:idx val="3"/>
            <c:bubble3D val="0"/>
            <c:spPr>
              <a:solidFill>
                <a:srgbClr val="8064A2"/>
              </a:solidFill>
            </c:spPr>
            <c:extLst>
              <c:ext xmlns:c16="http://schemas.microsoft.com/office/drawing/2014/chart" uri="{C3380CC4-5D6E-409C-BE32-E72D297353CC}">
                <c16:uniqueId val="{00000007-91AD-4322-9BE2-09F55797F5BA}"/>
              </c:ext>
            </c:extLst>
          </c:dPt>
          <c:dPt>
            <c:idx val="4"/>
            <c:bubble3D val="0"/>
            <c:spPr>
              <a:solidFill>
                <a:srgbClr val="4BACC6"/>
              </a:solidFill>
            </c:spPr>
            <c:extLst>
              <c:ext xmlns:c16="http://schemas.microsoft.com/office/drawing/2014/chart" uri="{C3380CC4-5D6E-409C-BE32-E72D297353CC}">
                <c16:uniqueId val="{00000009-91AD-4322-9BE2-09F55797F5BA}"/>
              </c:ext>
            </c:extLst>
          </c:dPt>
          <c:dPt>
            <c:idx val="5"/>
            <c:bubble3D val="0"/>
            <c:spPr>
              <a:solidFill>
                <a:srgbClr val="F79646"/>
              </a:solidFill>
            </c:spPr>
            <c:extLst>
              <c:ext xmlns:c16="http://schemas.microsoft.com/office/drawing/2014/chart" uri="{C3380CC4-5D6E-409C-BE32-E72D297353CC}">
                <c16:uniqueId val="{0000000B-91AD-4322-9BE2-09F55797F5BA}"/>
              </c:ext>
            </c:extLst>
          </c:dPt>
          <c:dPt>
            <c:idx val="6"/>
            <c:bubble3D val="0"/>
            <c:spPr>
              <a:solidFill>
                <a:srgbClr val="FCD5B4"/>
              </a:solidFill>
            </c:spPr>
            <c:extLst>
              <c:ext xmlns:c16="http://schemas.microsoft.com/office/drawing/2014/chart" uri="{C3380CC4-5D6E-409C-BE32-E72D297353CC}">
                <c16:uniqueId val="{0000000D-91AD-4322-9BE2-09F55797F5B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38">
                    <a:solidFill>
                      <a:srgbClr val="333333"/>
                    </a:solidFill>
                    <a:latin typeface="微軟正黑體"/>
                    <a:ea typeface="微軟正黑體"/>
                    <a:cs typeface="微軟正黑體"/>
                  </a:defRPr>
                </a:pPr>
                <a:endParaRPr lang="zh-TW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'Chart Data'!$A$2:$A$6</c:f>
              <c:strCache>
                <c:ptCount val="5"/>
                <c:pt idx="0">
                  <c:v>悠遊卡</c:v>
                </c:pt>
                <c:pt idx="1">
                  <c:v>掃碼租車</c:v>
                </c:pt>
                <c:pt idx="2">
                  <c:v>一卡通</c:v>
                </c:pt>
                <c:pt idx="3">
                  <c:v>悠遊付</c:v>
                </c:pt>
                <c:pt idx="4">
                  <c:v>單次租車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5985089</c:v>
                </c:pt>
                <c:pt idx="1">
                  <c:v>1100657</c:v>
                </c:pt>
                <c:pt idx="2">
                  <c:v>309682</c:v>
                </c:pt>
                <c:pt idx="3">
                  <c:v>245155</c:v>
                </c:pt>
                <c:pt idx="4">
                  <c:v>19102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1AD-4322-9BE2-09F55797F5BA}"/>
            </c:ext>
          </c:extLst>
        </c:ser>
        <c:dLbls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788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  <a:endParaRPr lang="zh-TW"/>
        </a:p>
      </c:txPr>
    </c:legend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title>
      <c:tx>
        <c:rich>
          <a:bodyPr/>
          <a:lstStyle/>
          <a:p>
            <a:r>
              <a:rPr sz="112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悠遊卡借車方式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v>悠遊卡借車方式</c:v>
          </c:tx>
          <c:dPt>
            <c:idx val="0"/>
            <c:bubble3D val="0"/>
            <c:spPr>
              <a:solidFill>
                <a:srgbClr val="4F81BD"/>
              </a:solidFill>
            </c:spPr>
            <c:extLst>
              <c:ext xmlns:c16="http://schemas.microsoft.com/office/drawing/2014/chart" uri="{C3380CC4-5D6E-409C-BE32-E72D297353CC}">
                <c16:uniqueId val="{00000001-B718-4BD9-A4DF-4FE16CCBBA06}"/>
              </c:ext>
            </c:extLst>
          </c:dPt>
          <c:dPt>
            <c:idx val="1"/>
            <c:bubble3D val="0"/>
            <c:spPr>
              <a:solidFill>
                <a:srgbClr val="C0504D"/>
              </a:solidFill>
            </c:spPr>
            <c:extLst>
              <c:ext xmlns:c16="http://schemas.microsoft.com/office/drawing/2014/chart" uri="{C3380CC4-5D6E-409C-BE32-E72D297353CC}">
                <c16:uniqueId val="{00000003-B718-4BD9-A4DF-4FE16CCBBA06}"/>
              </c:ext>
            </c:extLst>
          </c:dPt>
          <c:dPt>
            <c:idx val="2"/>
            <c:bubble3D val="0"/>
            <c:spPr>
              <a:solidFill>
                <a:srgbClr val="9BBB59"/>
              </a:solidFill>
            </c:spPr>
            <c:extLst>
              <c:ext xmlns:c16="http://schemas.microsoft.com/office/drawing/2014/chart" uri="{C3380CC4-5D6E-409C-BE32-E72D297353CC}">
                <c16:uniqueId val="{00000005-B718-4BD9-A4DF-4FE16CCBBA0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38">
                    <a:solidFill>
                      <a:srgbClr val="333333"/>
                    </a:solidFill>
                    <a:latin typeface="微軟正黑體"/>
                    <a:ea typeface="微軟正黑體"/>
                    <a:cs typeface="微軟正黑體"/>
                  </a:defRPr>
                </a:pPr>
                <a:endParaRPr lang="zh-TW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'Chart Data'!$A$2:$A$4</c:f>
              <c:strCache>
                <c:ptCount val="3"/>
                <c:pt idx="0">
                  <c:v>一般卡</c:v>
                </c:pt>
                <c:pt idx="1">
                  <c:v>月票</c:v>
                </c:pt>
                <c:pt idx="2">
                  <c:v>敬老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4085209</c:v>
                </c:pt>
                <c:pt idx="1">
                  <c:v>1190824</c:v>
                </c:pt>
                <c:pt idx="2">
                  <c:v>709056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718-4BD9-A4DF-4FE16CCBBA06}"/>
            </c:ext>
          </c:extLst>
        </c:ser>
        <c:dLbls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</c:pieChart>
      <c:spPr>
        <a:noFill/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788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  <a:endParaRPr lang="zh-TW"/>
        </a:p>
      </c:txPr>
    </c:legend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title>
      <c:tx>
        <c:rich>
          <a:bodyPr/>
          <a:lstStyle/>
          <a:p>
            <a:r>
              <a:rPr lang="zh-TW" sz="13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使用次數／見車率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'Chart Data'!$B$1</c:f>
              <c:strCache>
                <c:ptCount val="1"/>
                <c:pt idx="0">
                  <c:v>2.0用量</c:v>
                </c:pt>
              </c:strCache>
            </c:strRef>
          </c:tx>
          <c:spPr>
            <a:solidFill>
              <a:srgbClr val="C0504D"/>
            </a:solidFill>
            <a:ln w="6350">
              <a:solidFill>
                <a:srgbClr val="C0504D"/>
              </a:solidFill>
            </a:ln>
          </c:spPr>
          <c:invertIfNegative val="1"/>
          <c:cat>
            <c:strRef>
              <c:f>'Chart Data'!$A$2:$A$7</c:f>
              <c:strCache>
                <c:ptCount val="6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693.24559999999997</c:v>
                </c:pt>
                <c:pt idx="1">
                  <c:v>765.48299999999995</c:v>
                </c:pt>
                <c:pt idx="2">
                  <c:v>597.09659999999997</c:v>
                </c:pt>
                <c:pt idx="3">
                  <c:v>708.15319999999997</c:v>
                </c:pt>
                <c:pt idx="4">
                  <c:v>670.78560000000004</c:v>
                </c:pt>
                <c:pt idx="5">
                  <c:v>690.89559999999994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350">
                    <a:solidFill>
                      <a:srgbClr val="C0504D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671-4703-8B95-5DD88077709B}"/>
            </c:ext>
          </c:extLst>
        </c:ser>
        <c:ser>
          <c:idx val="1"/>
          <c:order val="1"/>
          <c:tx>
            <c:strRef>
              <c:f>'Chart Data'!$C$1</c:f>
              <c:strCache>
                <c:ptCount val="1"/>
                <c:pt idx="0">
                  <c:v>2.0E用量</c:v>
                </c:pt>
              </c:strCache>
            </c:strRef>
          </c:tx>
          <c:spPr>
            <a:solidFill>
              <a:srgbClr val="9BBB59"/>
            </a:solidFill>
            <a:ln w="6350">
              <a:solidFill>
                <a:srgbClr val="9BBB59"/>
              </a:solidFill>
            </a:ln>
          </c:spPr>
          <c:invertIfNegative val="0"/>
          <c:cat>
            <c:strRef>
              <c:f>'Chart Data'!$A$2:$A$7</c:f>
              <c:strCache>
                <c:ptCount val="6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</c:strCache>
            </c:strRef>
          </c:cat>
          <c:val>
            <c:numRef>
              <c:f>'Chart Data'!$C$2:$C$7</c:f>
              <c:numCache>
                <c:formatCode>General</c:formatCode>
                <c:ptCount val="6"/>
                <c:pt idx="0">
                  <c:v>45.658099999999997</c:v>
                </c:pt>
                <c:pt idx="1">
                  <c:v>54.314999999999998</c:v>
                </c:pt>
                <c:pt idx="2">
                  <c:v>43.5473</c:v>
                </c:pt>
                <c:pt idx="3">
                  <c:v>67.411100000000005</c:v>
                </c:pt>
                <c:pt idx="4">
                  <c:v>71.046800000000005</c:v>
                </c:pt>
                <c:pt idx="5">
                  <c:v>75.072900000000004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671-4703-8B95-5DD8807770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overlap val="100"/>
        <c:axId val="48650112"/>
        <c:axId val="48672768"/>
      </c:barChart>
      <c:lineChart>
        <c:grouping val="standard"/>
        <c:varyColors val="0"/>
        <c:ser>
          <c:idx val="2"/>
          <c:order val="2"/>
          <c:tx>
            <c:strRef>
              <c:f>'Chart Data'!$D$1</c:f>
              <c:strCache>
                <c:ptCount val="1"/>
                <c:pt idx="0">
                  <c:v>見車率</c:v>
                </c:pt>
              </c:strCache>
            </c:strRef>
          </c:tx>
          <c:spPr>
            <a:solidFill>
              <a:srgbClr val="9BBB59"/>
            </a:solidFill>
            <a:ln w="28575">
              <a:solidFill>
                <a:srgbClr val="4F81BD"/>
              </a:solidFill>
            </a:ln>
          </c:spPr>
          <c:marker>
            <c:symbol val="circle"/>
            <c:size val="6"/>
            <c:spPr>
              <a:solidFill>
                <a:srgbClr val="4F81BD"/>
              </a:solidFill>
              <a:ln w="28575">
                <a:solidFill>
                  <a:srgbClr val="4F81BD"/>
                </a:solidFill>
                <a:prstDash val="solid"/>
              </a:ln>
            </c:spPr>
          </c:marker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25" b="1">
                    <a:solidFill>
                      <a:srgbClr val="333333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微軟正黑體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'Chart Data'!$A$2:$A$7</c:f>
              <c:strCache>
                <c:ptCount val="6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</c:strCache>
            </c:str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0.95520000000000005</c:v>
                </c:pt>
                <c:pt idx="1">
                  <c:v>0.94389999999999996</c:v>
                </c:pt>
                <c:pt idx="2">
                  <c:v>0.96257967</c:v>
                </c:pt>
                <c:pt idx="3">
                  <c:v>0.95449914999999996</c:v>
                </c:pt>
                <c:pt idx="4">
                  <c:v>0.95923493000000004</c:v>
                </c:pt>
                <c:pt idx="5">
                  <c:v>0.94670525999999999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8671-4703-8B95-5DD8807770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27636160"/>
        <c:axId val="327636880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7620">
            <a:solidFill>
              <a:srgbClr val="D9D9D9"/>
            </a:solidFill>
          </a:ln>
        </c:spPr>
        <c:txPr>
          <a:bodyPr anchorCtr="1"/>
          <a:lstStyle/>
          <a:p>
            <a:pPr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900"/>
          <c:min val="0"/>
        </c:scaling>
        <c:delete val="0"/>
        <c:axPos val="l"/>
        <c:majorGridlines>
          <c:spPr>
            <a:ln w="6350">
              <a:solidFill>
                <a:srgbClr val="D9D9D9"/>
              </a:solidFill>
              <a:prstDash val="solid"/>
            </a:ln>
          </c:spPr>
        </c:majorGridlines>
        <c:numFmt formatCode="0.0&quot;萬&quot;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endParaRPr lang="zh-TW"/>
          </a:p>
        </c:txPr>
        <c:crossAx val="48650112"/>
        <c:crosses val="autoZero"/>
        <c:crossBetween val="between"/>
        <c:majorUnit val="100"/>
      </c:valAx>
      <c:valAx>
        <c:axId val="327636880"/>
        <c:scaling>
          <c:orientation val="minMax"/>
          <c:max val="1"/>
          <c:min val="0.9"/>
        </c:scaling>
        <c:delete val="0"/>
        <c:axPos val="r"/>
        <c:numFmt formatCode="0%" sourceLinked="0"/>
        <c:majorTickMark val="none"/>
        <c:minorTickMark val="none"/>
        <c:tickLblPos val="nextTo"/>
        <c:txPr>
          <a:bodyPr/>
          <a:lstStyle/>
          <a:p>
            <a:pPr>
              <a:defRPr sz="900" b="0">
                <a:latin typeface="微軟正黑體"/>
                <a:ea typeface="微軟正黑體"/>
                <a:cs typeface="微軟正黑體"/>
              </a:defRPr>
            </a:pPr>
            <a:endParaRPr lang="zh-TW"/>
          </a:p>
        </c:txPr>
        <c:crossAx val="327636160"/>
        <c:crosses val="max"/>
        <c:crossBetween val="between"/>
        <c:majorUnit val="0.02"/>
      </c:valAx>
      <c:catAx>
        <c:axId val="32763616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27636880"/>
        <c:auto val="1"/>
        <c:lblAlgn val="ctr"/>
        <c:lblOffset val="100"/>
        <c:noMultiLvlLbl val="0"/>
      </c:catAx>
      <c:spPr>
        <a:noFill/>
        <a:ln w="0">
          <a:noFill/>
        </a:ln>
      </c:spPr>
    </c:plotArea>
    <c:legend>
      <c:legendPos val="b"/>
      <c:overlay val="0"/>
      <c:txPr>
        <a:bodyPr/>
        <a:lstStyle/>
        <a:p>
          <a:pPr>
            <a:defRPr sz="900" b="0">
              <a:latin typeface="微軟正黑體" panose="020B0604030504040204" pitchFamily="34" charset="-120"/>
              <a:ea typeface="微軟正黑體" panose="020B0604030504040204" pitchFamily="34" charset="-120"/>
              <a:cs typeface="微軟正黑體"/>
            </a:defRPr>
          </a:pPr>
          <a:endParaRPr lang="zh-TW"/>
        </a:p>
      </c:txPr>
    </c:legend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title>
      <c:tx>
        <c:rich>
          <a:bodyPr/>
          <a:lstStyle/>
          <a:p>
            <a:r>
              <a:rPr lang="zh-TW" sz="1300" b="1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使用次數／見位率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'Chart Data'!$B$1</c:f>
              <c:strCache>
                <c:ptCount val="1"/>
                <c:pt idx="0">
                  <c:v>2.0用量</c:v>
                </c:pt>
              </c:strCache>
            </c:strRef>
          </c:tx>
          <c:spPr>
            <a:solidFill>
              <a:srgbClr val="C0504D"/>
            </a:solidFill>
            <a:ln w="6350">
              <a:solidFill>
                <a:srgbClr val="C0504D"/>
              </a:solidFill>
            </a:ln>
          </c:spPr>
          <c:invertIfNegative val="1"/>
          <c:cat>
            <c:strRef>
              <c:f>'Chart Data'!$A$2:$A$7</c:f>
              <c:strCache>
                <c:ptCount val="6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693.24559999999997</c:v>
                </c:pt>
                <c:pt idx="1">
                  <c:v>765.48299999999995</c:v>
                </c:pt>
                <c:pt idx="2">
                  <c:v>597.09659999999997</c:v>
                </c:pt>
                <c:pt idx="3">
                  <c:v>708.15319999999997</c:v>
                </c:pt>
                <c:pt idx="4">
                  <c:v>670.78560000000004</c:v>
                </c:pt>
                <c:pt idx="5">
                  <c:v>690.89559999999994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350">
                    <a:solidFill>
                      <a:srgbClr val="C0504D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EED-49F5-ABF0-FAE947A7FFCF}"/>
            </c:ext>
          </c:extLst>
        </c:ser>
        <c:ser>
          <c:idx val="1"/>
          <c:order val="1"/>
          <c:tx>
            <c:strRef>
              <c:f>'Chart Data'!$C$1</c:f>
              <c:strCache>
                <c:ptCount val="1"/>
                <c:pt idx="0">
                  <c:v>2.0E用量</c:v>
                </c:pt>
              </c:strCache>
            </c:strRef>
          </c:tx>
          <c:spPr>
            <a:solidFill>
              <a:srgbClr val="9BBB59"/>
            </a:solidFill>
            <a:ln w="6350">
              <a:solidFill>
                <a:srgbClr val="9BBB59"/>
              </a:solidFill>
            </a:ln>
          </c:spPr>
          <c:invertIfNegative val="0"/>
          <c:cat>
            <c:strRef>
              <c:f>'Chart Data'!$A$2:$A$7</c:f>
              <c:strCache>
                <c:ptCount val="6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</c:strCache>
            </c:strRef>
          </c:cat>
          <c:val>
            <c:numRef>
              <c:f>'Chart Data'!$C$2:$C$7</c:f>
              <c:numCache>
                <c:formatCode>General</c:formatCode>
                <c:ptCount val="6"/>
                <c:pt idx="0">
                  <c:v>45.658099999999997</c:v>
                </c:pt>
                <c:pt idx="1">
                  <c:v>54.314999999999998</c:v>
                </c:pt>
                <c:pt idx="2">
                  <c:v>43.5473</c:v>
                </c:pt>
                <c:pt idx="3">
                  <c:v>67.411100000000005</c:v>
                </c:pt>
                <c:pt idx="4">
                  <c:v>71.046800000000005</c:v>
                </c:pt>
                <c:pt idx="5">
                  <c:v>75.072900000000004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EED-49F5-ABF0-FAE947A7FF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overlap val="100"/>
        <c:axId val="48650112"/>
        <c:axId val="48672768"/>
      </c:barChart>
      <c:lineChart>
        <c:grouping val="standard"/>
        <c:varyColors val="0"/>
        <c:ser>
          <c:idx val="2"/>
          <c:order val="2"/>
          <c:tx>
            <c:strRef>
              <c:f>'Chart Data'!$D$1</c:f>
              <c:strCache>
                <c:ptCount val="1"/>
                <c:pt idx="0">
                  <c:v>見位率</c:v>
                </c:pt>
              </c:strCache>
            </c:strRef>
          </c:tx>
          <c:spPr>
            <a:solidFill>
              <a:srgbClr val="9BBB59"/>
            </a:solidFill>
            <a:ln w="28575">
              <a:solidFill>
                <a:srgbClr val="4F81BD"/>
              </a:solidFill>
            </a:ln>
          </c:spPr>
          <c:marker>
            <c:symbol val="circle"/>
            <c:size val="6"/>
            <c:spPr>
              <a:solidFill>
                <a:srgbClr val="4F81BD"/>
              </a:solidFill>
              <a:ln w="28575">
                <a:solidFill>
                  <a:srgbClr val="4F81BD"/>
                </a:solidFill>
                <a:prstDash val="solid"/>
              </a:ln>
            </c:spPr>
          </c:marker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25" b="1">
                    <a:solidFill>
                      <a:srgbClr val="333333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微軟正黑體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'Chart Data'!$A$2:$A$7</c:f>
              <c:strCache>
                <c:ptCount val="6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</c:strCache>
            </c:str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0.98180000000000001</c:v>
                </c:pt>
                <c:pt idx="1">
                  <c:v>0.98070000000000002</c:v>
                </c:pt>
                <c:pt idx="2">
                  <c:v>0.98270016999999998</c:v>
                </c:pt>
                <c:pt idx="3">
                  <c:v>0.97893697000000002</c:v>
                </c:pt>
                <c:pt idx="4">
                  <c:v>0.97928506999999998</c:v>
                </c:pt>
                <c:pt idx="5">
                  <c:v>0.98088087000000002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8EED-49F5-ABF0-FAE947A7FF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27480248"/>
        <c:axId val="32748132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7620">
            <a:solidFill>
              <a:srgbClr val="D9D9D9"/>
            </a:solidFill>
          </a:ln>
        </c:spPr>
        <c:txPr>
          <a:bodyPr anchorCtr="1"/>
          <a:lstStyle/>
          <a:p>
            <a:pPr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900"/>
          <c:min val="0"/>
        </c:scaling>
        <c:delete val="0"/>
        <c:axPos val="l"/>
        <c:majorGridlines>
          <c:spPr>
            <a:ln w="6350">
              <a:solidFill>
                <a:srgbClr val="D9D9D9"/>
              </a:solidFill>
              <a:prstDash val="solid"/>
            </a:ln>
          </c:spPr>
        </c:majorGridlines>
        <c:numFmt formatCode="0.0&quot;萬&quot;" sourceLinked="0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endParaRPr lang="zh-TW"/>
          </a:p>
        </c:txPr>
        <c:crossAx val="48650112"/>
        <c:crosses val="autoZero"/>
        <c:crossBetween val="between"/>
        <c:majorUnit val="100"/>
      </c:valAx>
      <c:valAx>
        <c:axId val="327481328"/>
        <c:scaling>
          <c:orientation val="minMax"/>
          <c:max val="1"/>
          <c:min val="0.95"/>
        </c:scaling>
        <c:delete val="0"/>
        <c:axPos val="r"/>
        <c:numFmt formatCode="0%" sourceLinked="0"/>
        <c:majorTickMark val="none"/>
        <c:minorTickMark val="none"/>
        <c:tickLblPos val="nextTo"/>
        <c:txPr>
          <a:bodyPr/>
          <a:lstStyle/>
          <a:p>
            <a:pPr>
              <a:defRPr sz="900" b="0">
                <a:latin typeface="微軟正黑體"/>
                <a:ea typeface="微軟正黑體"/>
                <a:cs typeface="微軟正黑體"/>
              </a:defRPr>
            </a:pPr>
            <a:endParaRPr lang="zh-TW"/>
          </a:p>
        </c:txPr>
        <c:crossAx val="327480248"/>
        <c:crosses val="max"/>
        <c:crossBetween val="between"/>
        <c:majorUnit val="0.01"/>
      </c:valAx>
      <c:catAx>
        <c:axId val="32748024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27481328"/>
        <c:auto val="1"/>
        <c:lblAlgn val="ctr"/>
        <c:lblOffset val="100"/>
        <c:noMultiLvlLbl val="0"/>
      </c:catAx>
      <c:spPr>
        <a:noFill/>
        <a:ln w="0">
          <a:noFill/>
        </a:ln>
      </c:spPr>
    </c:plotArea>
    <c:legend>
      <c:legendPos val="b"/>
      <c:overlay val="0"/>
      <c:txPr>
        <a:bodyPr/>
        <a:lstStyle/>
        <a:p>
          <a:pPr>
            <a:defRPr sz="900" b="0">
              <a:latin typeface="微軟正黑體" panose="020B0604030504040204" pitchFamily="34" charset="-120"/>
              <a:ea typeface="微軟正黑體" panose="020B0604030504040204" pitchFamily="34" charset="-120"/>
              <a:cs typeface="微軟正黑體"/>
            </a:defRPr>
          </a:pPr>
          <a:endParaRPr lang="zh-TW"/>
        </a:p>
      </c:txPr>
    </c:legend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本簡報依使用者提供之《臺北工作會議營運報告_3-5v2 (1).pptx》版型與表格架構，更新為2026年6–9月資料；9月為2026-09-01至2026-09-30完整月份。封面不臆測會議次數。資料來源見各頁備註。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章節沿用參考簡報：營運績效分析及場站分群服務水準。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章節分隔頁。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來源：Report 營運管理日報。期間：2026-09-01至2026-09-30。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來源：Report 營運管理日報。期間：2026-08-01至2026-08-31。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來源：Report 營運管理日報。期間：2026-07-01至2026-07-31。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來源：Report 營運管理日報。期間：2026-06-01至2026-06-30。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資料來源：Report 營運管理日報，https://youbike-report-api-421613424541.asia-east1.run.app/report/gcpfun 。月份：2026年4–9月完整月份。月用量採月底當月租借車次；周轉率4–5月沿用參考簡報，6–9月依同口徑計算。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資料來源：Report 營運管理日報，https://youbike-report-api-421613424541.asia-east1.run.app/report/gcpfun 。資料月份：2026年9月完整月。借車方式僅拆解悠遊卡：一般卡＝悠遊卡－月票－敬老；2.0每日租賃方式加總與月底累計差3次，依參考簡報慣例配置至悠遊卡並完成勾稽；2.0E無差異。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來源：Report 營運管理日報、prepared_rows_1159_v2.json。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來源：Report 營運管理日報、prepared_rows_1159_v2.json。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章節分隔頁。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來源：prepared_rows_1159_v2.json。2026年8–9月臺北市營運中場站6–24時平均見車率。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來源：prepared_rows_1159_v2.json。2026年8–9月臺北市營運中場站6–24時平均見位率。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資料來源：prepared_rows_1159_v2.json（臺北市、營運中場站），2026年8–9月，6–24時平均見位率。E/F名單依參考簡報採不分群門檻：E為82%～&lt;87%，F為&lt;82%。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rcRect l="330" r="330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CF00064-6630-4CB8-A577-096393F7F415}"/>
              </a:ext>
            </a:extLst>
          </p:cNvPr>
          <p:cNvSpPr>
            <a:spLocks noGrp="1"/>
          </p:cNvSpPr>
          <p:nvPr/>
        </p:nvSpPr>
        <p:spPr>
          <a:xfrm>
            <a:off x="4810125" y="142875"/>
            <a:ext cx="4048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5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臺北市公共自行車租賃系統建置及營運管理工作小組會議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63A057-B2DC-468A-9920-8029E682B4FA}"/>
              </a:ext>
            </a:extLst>
          </p:cNvPr>
          <p:cNvSpPr>
            <a:spLocks noGrp="1"/>
          </p:cNvSpPr>
          <p:nvPr/>
        </p:nvSpPr>
        <p:spPr>
          <a:xfrm>
            <a:off x="819150" y="2571750"/>
            <a:ext cx="75057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55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55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臺北市公共自行車租賃系統</a:t>
            </a:r>
          </a:p>
          <a:p>
            <a:pPr algn="ctr">
              <a:defRPr sz="255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55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建置及營運管理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52F1BF-84E1-4B4C-8401-AA2AF7806B2A}"/>
              </a:ext>
            </a:extLst>
          </p:cNvPr>
          <p:cNvSpPr>
            <a:spLocks noGrp="1"/>
          </p:cNvSpPr>
          <p:nvPr/>
        </p:nvSpPr>
        <p:spPr>
          <a:xfrm>
            <a:off x="1952625" y="3571875"/>
            <a:ext cx="5238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2026年6–9月營運報告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7183AA-3D0F-4A59-AE8D-C4479FE3F78F}"/>
              </a:ext>
            </a:extLst>
          </p:cNvPr>
          <p:cNvSpPr>
            <a:spLocks noGrp="1"/>
          </p:cNvSpPr>
          <p:nvPr/>
        </p:nvSpPr>
        <p:spPr>
          <a:xfrm>
            <a:off x="1952625" y="4095750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9月完整資料</a:t>
            </a: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286125" y="4749089"/>
            <a:ext cx="2571750" cy="97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577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rcRect l="122" r="12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頁碼2">
            <a:extLst>
              <a:ext uri="{FF2B5EF4-FFF2-40B4-BE49-F238E27FC236}">
                <a16:creationId xmlns:a16="http://schemas.microsoft.com/office/drawing/2014/main" id="{774BB53B-BB39-489E-A547-C726C282CFB5}"/>
              </a:ext>
            </a:extLst>
          </p:cNvPr>
          <p:cNvSpPr>
            <a:spLocks noGrp="1"/>
          </p:cNvSpPr>
          <p:nvPr/>
        </p:nvSpPr>
        <p:spPr>
          <a:xfrm>
            <a:off x="8648700" y="6496050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3" name="標題-報告議題大綱">
            <a:extLst>
              <a:ext uri="{FF2B5EF4-FFF2-40B4-BE49-F238E27FC236}">
                <a16:creationId xmlns:a16="http://schemas.microsoft.com/office/drawing/2014/main" id="{6B286282-6ADC-4F80-8157-CCD749590276}"/>
              </a:ext>
            </a:extLst>
          </p:cNvPr>
          <p:cNvSpPr>
            <a:spLocks noGrp="1"/>
          </p:cNvSpPr>
          <p:nvPr/>
        </p:nvSpPr>
        <p:spPr>
          <a:xfrm>
            <a:off x="133350" y="38100"/>
            <a:ext cx="7620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報告議題大綱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B97EC9-49F4-459B-801F-246D7B618516}"/>
              </a:ext>
            </a:extLst>
          </p:cNvPr>
          <p:cNvSpPr>
            <a:spLocks noGrp="1"/>
          </p:cNvSpPr>
          <p:nvPr/>
        </p:nvSpPr>
        <p:spPr>
          <a:xfrm>
            <a:off x="457200" y="1143000"/>
            <a:ext cx="781050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225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25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一、YouBike 2.0營運績效分析報告</a:t>
            </a:r>
          </a:p>
          <a:p>
            <a:endParaRPr sz="2250" b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 algn="l">
              <a:defRPr sz="225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25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二、場站分群服務水準</a:t>
            </a:r>
          </a:p>
        </p:txBody>
      </p:sp>
    </p:spTree>
    <p:extLst>
      <p:ext uri="{BB962C8B-B14F-4D97-AF65-F5344CB8AC3E}">
        <p14:creationId xmlns:p14="http://schemas.microsoft.com/office/powerpoint/2010/main" val="1915387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rcRect l="330" r="330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E1BA1E3-E318-4A6E-8980-380648E92164}"/>
              </a:ext>
            </a:extLst>
          </p:cNvPr>
          <p:cNvSpPr>
            <a:spLocks noGrp="1"/>
          </p:cNvSpPr>
          <p:nvPr/>
        </p:nvSpPr>
        <p:spPr>
          <a:xfrm>
            <a:off x="3476625" y="2571750"/>
            <a:ext cx="2190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7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7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議題一：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7C162B-A96D-4B7E-ACB4-C3A67812ED82}"/>
              </a:ext>
            </a:extLst>
          </p:cNvPr>
          <p:cNvSpPr>
            <a:spLocks noGrp="1"/>
          </p:cNvSpPr>
          <p:nvPr/>
        </p:nvSpPr>
        <p:spPr>
          <a:xfrm>
            <a:off x="1952625" y="3286125"/>
            <a:ext cx="5238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325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325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YouBike 2.0營運績效分析報告</a:t>
            </a:r>
          </a:p>
        </p:txBody>
      </p:sp>
    </p:spTree>
    <p:extLst>
      <p:ext uri="{BB962C8B-B14F-4D97-AF65-F5344CB8AC3E}">
        <p14:creationId xmlns:p14="http://schemas.microsoft.com/office/powerpoint/2010/main" val="1220955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/>
          <p:cNvPicPr>
            <a:picLocks noChangeAspect="1"/>
          </p:cNvPicPr>
          <p:nvPr/>
        </p:nvPicPr>
        <p:blipFill>
          <a:blip r:embed="rId3"/>
          <a:srcRect l="122" r="12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頁碼4">
            <a:extLst>
              <a:ext uri="{FF2B5EF4-FFF2-40B4-BE49-F238E27FC236}">
                <a16:creationId xmlns:a16="http://schemas.microsoft.com/office/drawing/2014/main" id="{BE604893-89BE-439F-91DD-30A27134B5C2}"/>
              </a:ext>
            </a:extLst>
          </p:cNvPr>
          <p:cNvSpPr>
            <a:spLocks noGrp="1"/>
          </p:cNvSpPr>
          <p:nvPr/>
        </p:nvSpPr>
        <p:spPr>
          <a:xfrm>
            <a:off x="8648700" y="6496050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3" name="標題-臺北市－2.0周轉率(9月)">
            <a:extLst>
              <a:ext uri="{FF2B5EF4-FFF2-40B4-BE49-F238E27FC236}">
                <a16:creationId xmlns:a16="http://schemas.microsoft.com/office/drawing/2014/main" id="{F30F14E8-33B9-4578-B834-267EDEACF5FE}"/>
              </a:ext>
            </a:extLst>
          </p:cNvPr>
          <p:cNvSpPr>
            <a:spLocks noGrp="1"/>
          </p:cNvSpPr>
          <p:nvPr/>
        </p:nvSpPr>
        <p:spPr>
          <a:xfrm>
            <a:off x="133350" y="38100"/>
            <a:ext cx="7620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臺北市－2.0周轉率(9月)</a:t>
            </a:r>
          </a:p>
        </p:txBody>
      </p:sp>
      <p:graphicFrame>
        <p:nvGraphicFramePr>
          <p:cNvPr id="17" name="表格 16"/>
          <p:cNvGraphicFramePr/>
          <p:nvPr/>
        </p:nvGraphicFramePr>
        <p:xfrm>
          <a:off x="323850" y="666750"/>
          <a:ext cx="4572000" cy="161925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2.0E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合計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使用次數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6,908,956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750,729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7,659,685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日均使用次數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230,299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25,024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255,323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日均周轉率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9.96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5.56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9.24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營運站數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1,808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共站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1,808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車輛數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23,129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4,500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27,629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CFED9AAA-EC6D-4FD5-99D1-1EA1C0E10B73}"/>
              </a:ext>
            </a:extLst>
          </p:cNvPr>
          <p:cNvSpPr>
            <a:spLocks noGrp="1"/>
          </p:cNvSpPr>
          <p:nvPr/>
        </p:nvSpPr>
        <p:spPr>
          <a:xfrm>
            <a:off x="5219700" y="666750"/>
            <a:ext cx="31432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650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rPr>
              <a:t>9月總用量 766.0萬</a:t>
            </a:r>
          </a:p>
          <a:p>
            <a:pPr algn="l">
              <a:defRPr sz="1650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rPr>
              <a:t>較8月 +3.3%</a:t>
            </a:r>
          </a:p>
          <a:p>
            <a:pPr algn="l">
              <a:defRPr sz="1650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rPr>
              <a:t>日均用量 25.5萬</a:t>
            </a:r>
          </a:p>
          <a:p>
            <a:pPr algn="l">
              <a:defRPr sz="1650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rPr>
              <a:t>2.0E占比 9.8%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5ADDD3E-261B-4869-80F3-4155C82ACA6F}"/>
              </a:ext>
            </a:extLst>
          </p:cNvPr>
          <p:cNvSpPr>
            <a:spLocks noGrp="1"/>
          </p:cNvSpPr>
          <p:nvPr/>
        </p:nvSpPr>
        <p:spPr>
          <a:xfrm>
            <a:off x="3714750" y="2324100"/>
            <a:ext cx="1714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5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9/1～9/30</a:t>
            </a:r>
          </a:p>
        </p:txBody>
      </p:sp>
      <p:graphicFrame>
        <p:nvGraphicFramePr>
          <p:cNvPr id="20" name="Chart"/>
          <p:cNvGraphicFramePr/>
          <p:nvPr>
            <p:extLst>
              <p:ext uri="{D42A27DB-BD31-4B8C-83A1-F6EECF244321}">
                <p14:modId xmlns:p14="http://schemas.microsoft.com/office/powerpoint/2010/main" val="46888526"/>
              </p:ext>
            </p:extLst>
          </p:nvPr>
        </p:nvGraphicFramePr>
        <p:xfrm>
          <a:off x="361950" y="2571749"/>
          <a:ext cx="842010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593078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/>
          <p:cNvPicPr>
            <a:picLocks noChangeAspect="1"/>
          </p:cNvPicPr>
          <p:nvPr/>
        </p:nvPicPr>
        <p:blipFill>
          <a:blip r:embed="rId3"/>
          <a:srcRect l="122" r="12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頁碼5">
            <a:extLst>
              <a:ext uri="{FF2B5EF4-FFF2-40B4-BE49-F238E27FC236}">
                <a16:creationId xmlns:a16="http://schemas.microsoft.com/office/drawing/2014/main" id="{3DD42581-046E-47F6-B623-F161FA37ECBB}"/>
              </a:ext>
            </a:extLst>
          </p:cNvPr>
          <p:cNvSpPr>
            <a:spLocks noGrp="1"/>
          </p:cNvSpPr>
          <p:nvPr/>
        </p:nvSpPr>
        <p:spPr>
          <a:xfrm>
            <a:off x="8648700" y="6496050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  <p:sp>
        <p:nvSpPr>
          <p:cNvPr id="3" name="標題-臺北市－2.0周轉率(8月)">
            <a:extLst>
              <a:ext uri="{FF2B5EF4-FFF2-40B4-BE49-F238E27FC236}">
                <a16:creationId xmlns:a16="http://schemas.microsoft.com/office/drawing/2014/main" id="{DEC4DBC3-13F0-446E-B7A1-8964A10AE7AC}"/>
              </a:ext>
            </a:extLst>
          </p:cNvPr>
          <p:cNvSpPr>
            <a:spLocks noGrp="1"/>
          </p:cNvSpPr>
          <p:nvPr/>
        </p:nvSpPr>
        <p:spPr>
          <a:xfrm>
            <a:off x="133350" y="38100"/>
            <a:ext cx="7620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臺北市－2.0周轉率(8月)</a:t>
            </a:r>
          </a:p>
        </p:txBody>
      </p:sp>
      <p:graphicFrame>
        <p:nvGraphicFramePr>
          <p:cNvPr id="17" name="表格 16"/>
          <p:cNvGraphicFramePr/>
          <p:nvPr/>
        </p:nvGraphicFramePr>
        <p:xfrm>
          <a:off x="323850" y="666750"/>
          <a:ext cx="4572000" cy="161925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2.0E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合計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使用次數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6,707,856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710,468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7,418,324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日均使用次數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216,382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22,918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239,301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日均周轉率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9.37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5.27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8.72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營運站數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1,798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共站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1,798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車輛數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23,088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4,350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27,438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067593C6-B025-45AD-905B-4E1C2C0FB079}"/>
              </a:ext>
            </a:extLst>
          </p:cNvPr>
          <p:cNvSpPr>
            <a:spLocks noGrp="1"/>
          </p:cNvSpPr>
          <p:nvPr/>
        </p:nvSpPr>
        <p:spPr>
          <a:xfrm>
            <a:off x="5219700" y="742950"/>
            <a:ext cx="314325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725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725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rPr>
              <a:t>8月總用量 741.8萬</a:t>
            </a:r>
          </a:p>
          <a:p>
            <a:pPr algn="l">
              <a:defRPr sz="1725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725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rPr>
              <a:t>較7月 -4.3%</a:t>
            </a:r>
          </a:p>
          <a:p>
            <a:pPr algn="l">
              <a:defRPr sz="1725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725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rPr>
              <a:t>2.0E占比 9.6%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D2DCC-339E-4E19-812D-200D26C49128}"/>
              </a:ext>
            </a:extLst>
          </p:cNvPr>
          <p:cNvSpPr>
            <a:spLocks noGrp="1"/>
          </p:cNvSpPr>
          <p:nvPr/>
        </p:nvSpPr>
        <p:spPr>
          <a:xfrm>
            <a:off x="3714750" y="2324100"/>
            <a:ext cx="1714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5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8/1～8/31</a:t>
            </a:r>
          </a:p>
        </p:txBody>
      </p:sp>
      <p:graphicFrame>
        <p:nvGraphicFramePr>
          <p:cNvPr id="20" name="Chart"/>
          <p:cNvGraphicFramePr/>
          <p:nvPr>
            <p:extLst>
              <p:ext uri="{D42A27DB-BD31-4B8C-83A1-F6EECF244321}">
                <p14:modId xmlns:p14="http://schemas.microsoft.com/office/powerpoint/2010/main" val="2552598061"/>
              </p:ext>
            </p:extLst>
          </p:nvPr>
        </p:nvGraphicFramePr>
        <p:xfrm>
          <a:off x="361950" y="2571749"/>
          <a:ext cx="842010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527822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/>
          <p:cNvPicPr>
            <a:picLocks noChangeAspect="1"/>
          </p:cNvPicPr>
          <p:nvPr/>
        </p:nvPicPr>
        <p:blipFill>
          <a:blip r:embed="rId3"/>
          <a:srcRect l="122" r="12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頁碼6">
            <a:extLst>
              <a:ext uri="{FF2B5EF4-FFF2-40B4-BE49-F238E27FC236}">
                <a16:creationId xmlns:a16="http://schemas.microsoft.com/office/drawing/2014/main" id="{747E2A25-324E-4F52-A115-A84709F9C6BE}"/>
              </a:ext>
            </a:extLst>
          </p:cNvPr>
          <p:cNvSpPr>
            <a:spLocks noGrp="1"/>
          </p:cNvSpPr>
          <p:nvPr/>
        </p:nvSpPr>
        <p:spPr>
          <a:xfrm>
            <a:off x="8648700" y="6496050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3" name="標題-臺北市－2.0周轉率(7月)">
            <a:extLst>
              <a:ext uri="{FF2B5EF4-FFF2-40B4-BE49-F238E27FC236}">
                <a16:creationId xmlns:a16="http://schemas.microsoft.com/office/drawing/2014/main" id="{083C0DF5-F999-4CB7-878D-4A8A12F0747E}"/>
              </a:ext>
            </a:extLst>
          </p:cNvPr>
          <p:cNvSpPr>
            <a:spLocks noGrp="1"/>
          </p:cNvSpPr>
          <p:nvPr/>
        </p:nvSpPr>
        <p:spPr>
          <a:xfrm>
            <a:off x="133350" y="38100"/>
            <a:ext cx="7620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臺北市－2.0周轉率(7月)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2381250" y="666750"/>
          <a:ext cx="4572000" cy="161925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2.0E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合計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使用次數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7,081,532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674,111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7,755,643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日均使用次數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228,437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21,746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250,182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日均周轉率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9.92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9.12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營運站數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1,783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共站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1,783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車輛數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23,088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4,350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27,438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CD493AA2-5DDE-4718-98BF-630B2A2F8A4F}"/>
              </a:ext>
            </a:extLst>
          </p:cNvPr>
          <p:cNvSpPr>
            <a:spLocks noGrp="1"/>
          </p:cNvSpPr>
          <p:nvPr/>
        </p:nvSpPr>
        <p:spPr>
          <a:xfrm>
            <a:off x="3714750" y="2324100"/>
            <a:ext cx="1714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5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7/1～7/31</a:t>
            </a:r>
          </a:p>
        </p:txBody>
      </p:sp>
      <p:graphicFrame>
        <p:nvGraphicFramePr>
          <p:cNvPr id="18" name="Chart"/>
          <p:cNvGraphicFramePr/>
          <p:nvPr>
            <p:extLst>
              <p:ext uri="{D42A27DB-BD31-4B8C-83A1-F6EECF244321}">
                <p14:modId xmlns:p14="http://schemas.microsoft.com/office/powerpoint/2010/main" val="525823484"/>
              </p:ext>
            </p:extLst>
          </p:nvPr>
        </p:nvGraphicFramePr>
        <p:xfrm>
          <a:off x="361950" y="2571749"/>
          <a:ext cx="842010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492779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/>
          <p:cNvPicPr>
            <a:picLocks noChangeAspect="1"/>
          </p:cNvPicPr>
          <p:nvPr/>
        </p:nvPicPr>
        <p:blipFill>
          <a:blip r:embed="rId3"/>
          <a:srcRect l="122" r="12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頁碼7">
            <a:extLst>
              <a:ext uri="{FF2B5EF4-FFF2-40B4-BE49-F238E27FC236}">
                <a16:creationId xmlns:a16="http://schemas.microsoft.com/office/drawing/2014/main" id="{149521E6-32C8-43AB-A0B1-CEBAE246EE17}"/>
              </a:ext>
            </a:extLst>
          </p:cNvPr>
          <p:cNvSpPr>
            <a:spLocks noGrp="1"/>
          </p:cNvSpPr>
          <p:nvPr/>
        </p:nvSpPr>
        <p:spPr>
          <a:xfrm>
            <a:off x="8648700" y="6496050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  <p:sp>
        <p:nvSpPr>
          <p:cNvPr id="3" name="標題-臺北市－2.0周轉率(6月)">
            <a:extLst>
              <a:ext uri="{FF2B5EF4-FFF2-40B4-BE49-F238E27FC236}">
                <a16:creationId xmlns:a16="http://schemas.microsoft.com/office/drawing/2014/main" id="{2B2A0693-B888-4E49-BF51-4D6F75230EA1}"/>
              </a:ext>
            </a:extLst>
          </p:cNvPr>
          <p:cNvSpPr>
            <a:spLocks noGrp="1"/>
          </p:cNvSpPr>
          <p:nvPr/>
        </p:nvSpPr>
        <p:spPr>
          <a:xfrm>
            <a:off x="133350" y="38100"/>
            <a:ext cx="7620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臺北市－2.0周轉率(6月)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2381250" y="666750"/>
          <a:ext cx="4572000" cy="161925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2.0E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合計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使用次數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5,970,966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435,473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6,406,439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日均使用次數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199,032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14,516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213,548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日均周轉率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8.67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3.77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7.97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營運站數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1,768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共站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1,768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車輛數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22,955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3,850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26,805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ED247BD9-6D89-4B66-9300-2776CE2C02A4}"/>
              </a:ext>
            </a:extLst>
          </p:cNvPr>
          <p:cNvSpPr>
            <a:spLocks noGrp="1"/>
          </p:cNvSpPr>
          <p:nvPr/>
        </p:nvSpPr>
        <p:spPr>
          <a:xfrm>
            <a:off x="3714750" y="2324100"/>
            <a:ext cx="1714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5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6/1～6/30</a:t>
            </a:r>
          </a:p>
        </p:txBody>
      </p:sp>
      <p:graphicFrame>
        <p:nvGraphicFramePr>
          <p:cNvPr id="18" name="Chart"/>
          <p:cNvGraphicFramePr/>
          <p:nvPr>
            <p:extLst>
              <p:ext uri="{D42A27DB-BD31-4B8C-83A1-F6EECF244321}">
                <p14:modId xmlns:p14="http://schemas.microsoft.com/office/powerpoint/2010/main" val="70017621"/>
              </p:ext>
            </p:extLst>
          </p:nvPr>
        </p:nvGraphicFramePr>
        <p:xfrm>
          <a:off x="361950" y="2571749"/>
          <a:ext cx="842010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11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/>
          <p:cNvPicPr>
            <a:picLocks noChangeAspect="1"/>
          </p:cNvPicPr>
          <p:nvPr/>
        </p:nvPicPr>
        <p:blipFill>
          <a:blip r:embed="rId3"/>
          <a:srcRect l="122" r="12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頁碼8">
            <a:extLst>
              <a:ext uri="{FF2B5EF4-FFF2-40B4-BE49-F238E27FC236}">
                <a16:creationId xmlns:a16="http://schemas.microsoft.com/office/drawing/2014/main" id="{C146564D-C8CC-4B49-BCBB-E9DF62717FC3}"/>
              </a:ext>
            </a:extLst>
          </p:cNvPr>
          <p:cNvSpPr>
            <a:spLocks noGrp="1"/>
          </p:cNvSpPr>
          <p:nvPr/>
        </p:nvSpPr>
        <p:spPr>
          <a:xfrm>
            <a:off x="8648700" y="6496050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3" name="標題-臺北市 - 近六個月使用狀況">
            <a:extLst>
              <a:ext uri="{FF2B5EF4-FFF2-40B4-BE49-F238E27FC236}">
                <a16:creationId xmlns:a16="http://schemas.microsoft.com/office/drawing/2014/main" id="{5E2240DB-AC18-489E-93BB-17808AB9A331}"/>
              </a:ext>
            </a:extLst>
          </p:cNvPr>
          <p:cNvSpPr>
            <a:spLocks noGrp="1"/>
          </p:cNvSpPr>
          <p:nvPr/>
        </p:nvSpPr>
        <p:spPr>
          <a:xfrm>
            <a:off x="133350" y="38100"/>
            <a:ext cx="7620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臺北市 - 近六個月使用狀況</a:t>
            </a:r>
          </a:p>
        </p:txBody>
      </p:sp>
      <p:graphicFrame>
        <p:nvGraphicFramePr>
          <p:cNvPr id="17" name="Chart"/>
          <p:cNvGraphicFramePr/>
          <p:nvPr>
            <p:extLst>
              <p:ext uri="{D42A27DB-BD31-4B8C-83A1-F6EECF244321}">
                <p14:modId xmlns:p14="http://schemas.microsoft.com/office/powerpoint/2010/main" val="3888712155"/>
              </p:ext>
            </p:extLst>
          </p:nvPr>
        </p:nvGraphicFramePr>
        <p:xfrm>
          <a:off x="457200" y="1047750"/>
          <a:ext cx="8229600" cy="476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417AD90B-B00C-474E-BE1F-D67A1AF02CA9}"/>
              </a:ext>
            </a:extLst>
          </p:cNvPr>
          <p:cNvSpPr>
            <a:spLocks noGrp="1"/>
          </p:cNvSpPr>
          <p:nvPr/>
        </p:nvSpPr>
        <p:spPr>
          <a:xfrm>
            <a:off x="5524500" y="5810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975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4–9月累計 4482.7萬次</a:t>
            </a:r>
          </a:p>
        </p:txBody>
      </p:sp>
    </p:spTree>
    <p:extLst>
      <p:ext uri="{BB962C8B-B14F-4D97-AF65-F5344CB8AC3E}">
        <p14:creationId xmlns:p14="http://schemas.microsoft.com/office/powerpoint/2010/main" val="1965968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rcRect l="122" r="12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頁碼9">
            <a:extLst>
              <a:ext uri="{FF2B5EF4-FFF2-40B4-BE49-F238E27FC236}">
                <a16:creationId xmlns:a16="http://schemas.microsoft.com/office/drawing/2014/main" id="{973FDF71-8C96-419C-BD97-A7C94431890A}"/>
              </a:ext>
            </a:extLst>
          </p:cNvPr>
          <p:cNvSpPr>
            <a:spLocks noGrp="1"/>
          </p:cNvSpPr>
          <p:nvPr/>
        </p:nvSpPr>
        <p:spPr>
          <a:xfrm>
            <a:off x="8648700" y="6496050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9</a:t>
            </a:r>
          </a:p>
        </p:txBody>
      </p:sp>
      <p:sp>
        <p:nvSpPr>
          <p:cNvPr id="3" name="標題-卡片使用狀況（9月）">
            <a:extLst>
              <a:ext uri="{FF2B5EF4-FFF2-40B4-BE49-F238E27FC236}">
                <a16:creationId xmlns:a16="http://schemas.microsoft.com/office/drawing/2014/main" id="{62CC25AA-4E71-4BAF-A9FF-3A4F2A3AE58E}"/>
              </a:ext>
            </a:extLst>
          </p:cNvPr>
          <p:cNvSpPr>
            <a:spLocks noGrp="1"/>
          </p:cNvSpPr>
          <p:nvPr/>
        </p:nvSpPr>
        <p:spPr>
          <a:xfrm>
            <a:off x="133350" y="38100"/>
            <a:ext cx="7620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卡片使用狀況（9月）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361950" y="590550"/>
          <a:ext cx="4095750" cy="2333625"/>
        </p:xfrm>
        <a:graphic>
          <a:graphicData uri="http://schemas.openxmlformats.org/drawingml/2006/table">
            <a:tbl>
              <a:tblPr/>
              <a:tblGrid>
                <a:gridCol w="10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3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39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租賃方式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2.0次數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2.0E次數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合計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悠遊卡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5,388,615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596,474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5,985,089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掃碼租車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990,341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110,316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1,100,657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一卡通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285,856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23,826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309,682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悠遊付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229,624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15,531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245,155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單次租車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14,520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4,582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19,102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合計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6,908,956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750,729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7,659,685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/>
          <p:nvPr/>
        </p:nvGraphicFramePr>
        <p:xfrm>
          <a:off x="4953000" y="590550"/>
          <a:ext cx="3857625" cy="1809750"/>
        </p:xfrm>
        <a:graphic>
          <a:graphicData uri="http://schemas.openxmlformats.org/drawingml/2006/table">
            <a:tbl>
              <a:tblPr/>
              <a:tblGrid>
                <a:gridCol w="964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44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44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借車方式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2.0次數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2.0E次數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合計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一般卡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3,802,405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282,804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4,085,209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月票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1,142,126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48,698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1,190,824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敬老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444,084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264,972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709,056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合計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5,388,615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596,474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5,985,089</a:t>
                      </a:r>
                    </a:p>
                  </a:txBody>
                  <a:tcPr anchor="ctr">
                    <a:solidFill>
                      <a:srgbClr val="FCD5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Chart"/>
          <p:cNvGraphicFramePr/>
          <p:nvPr/>
        </p:nvGraphicFramePr>
        <p:xfrm>
          <a:off x="762000" y="3143250"/>
          <a:ext cx="3429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="5191125" y="3143250"/>
          <a:ext cx="314325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80523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/>
          <p:cNvPicPr>
            <a:picLocks noChangeAspect="1"/>
          </p:cNvPicPr>
          <p:nvPr/>
        </p:nvPicPr>
        <p:blipFill>
          <a:blip r:embed="rId3"/>
          <a:srcRect l="122" r="12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頁碼10">
            <a:extLst>
              <a:ext uri="{FF2B5EF4-FFF2-40B4-BE49-F238E27FC236}">
                <a16:creationId xmlns:a16="http://schemas.microsoft.com/office/drawing/2014/main" id="{06E934A2-D31A-4950-B5EF-8A1758C60803}"/>
              </a:ext>
            </a:extLst>
          </p:cNvPr>
          <p:cNvSpPr>
            <a:spLocks noGrp="1"/>
          </p:cNvSpPr>
          <p:nvPr/>
        </p:nvSpPr>
        <p:spPr>
          <a:xfrm>
            <a:off x="8648700" y="6496050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3" name="標題-使用次數／見車率">
            <a:extLst>
              <a:ext uri="{FF2B5EF4-FFF2-40B4-BE49-F238E27FC236}">
                <a16:creationId xmlns:a16="http://schemas.microsoft.com/office/drawing/2014/main" id="{9D604613-51D4-4401-AA17-FB31070E4210}"/>
              </a:ext>
            </a:extLst>
          </p:cNvPr>
          <p:cNvSpPr>
            <a:spLocks noGrp="1"/>
          </p:cNvSpPr>
          <p:nvPr/>
        </p:nvSpPr>
        <p:spPr>
          <a:xfrm>
            <a:off x="133350" y="38100"/>
            <a:ext cx="7620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使用次數／見車率</a:t>
            </a:r>
          </a:p>
        </p:txBody>
      </p:sp>
      <p:graphicFrame>
        <p:nvGraphicFramePr>
          <p:cNvPr id="17" name="Chart"/>
          <p:cNvGraphicFramePr/>
          <p:nvPr>
            <p:extLst>
              <p:ext uri="{D42A27DB-BD31-4B8C-83A1-F6EECF244321}">
                <p14:modId xmlns:p14="http://schemas.microsoft.com/office/powerpoint/2010/main" val="1847122785"/>
              </p:ext>
            </p:extLst>
          </p:nvPr>
        </p:nvGraphicFramePr>
        <p:xfrm>
          <a:off x="457200" y="1047750"/>
          <a:ext cx="8229600" cy="476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DCF8B479-9FBF-414E-BB29-5629256C4279}"/>
              </a:ext>
            </a:extLst>
          </p:cNvPr>
          <p:cNvSpPr>
            <a:spLocks noGrp="1"/>
          </p:cNvSpPr>
          <p:nvPr/>
        </p:nvSpPr>
        <p:spPr>
          <a:xfrm>
            <a:off x="5524500" y="5810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975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9月 94.67%</a:t>
            </a:r>
          </a:p>
        </p:txBody>
      </p:sp>
    </p:spTree>
    <p:extLst>
      <p:ext uri="{BB962C8B-B14F-4D97-AF65-F5344CB8AC3E}">
        <p14:creationId xmlns:p14="http://schemas.microsoft.com/office/powerpoint/2010/main" val="819238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/>
          <p:cNvPicPr>
            <a:picLocks noChangeAspect="1"/>
          </p:cNvPicPr>
          <p:nvPr/>
        </p:nvPicPr>
        <p:blipFill>
          <a:blip r:embed="rId3"/>
          <a:srcRect l="122" r="12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頁碼11">
            <a:extLst>
              <a:ext uri="{FF2B5EF4-FFF2-40B4-BE49-F238E27FC236}">
                <a16:creationId xmlns:a16="http://schemas.microsoft.com/office/drawing/2014/main" id="{8BD4EECF-2AB0-46F1-B4A6-542004C5FF42}"/>
              </a:ext>
            </a:extLst>
          </p:cNvPr>
          <p:cNvSpPr>
            <a:spLocks noGrp="1"/>
          </p:cNvSpPr>
          <p:nvPr/>
        </p:nvSpPr>
        <p:spPr>
          <a:xfrm>
            <a:off x="8648700" y="6496050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11</a:t>
            </a:r>
          </a:p>
        </p:txBody>
      </p:sp>
      <p:sp>
        <p:nvSpPr>
          <p:cNvPr id="3" name="標題-使用次數／見位率">
            <a:extLst>
              <a:ext uri="{FF2B5EF4-FFF2-40B4-BE49-F238E27FC236}">
                <a16:creationId xmlns:a16="http://schemas.microsoft.com/office/drawing/2014/main" id="{115C04A1-2158-41D6-81EC-BBA198E3FC55}"/>
              </a:ext>
            </a:extLst>
          </p:cNvPr>
          <p:cNvSpPr>
            <a:spLocks noGrp="1"/>
          </p:cNvSpPr>
          <p:nvPr/>
        </p:nvSpPr>
        <p:spPr>
          <a:xfrm>
            <a:off x="133350" y="38100"/>
            <a:ext cx="7620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使用次數／見位率</a:t>
            </a:r>
          </a:p>
        </p:txBody>
      </p:sp>
      <p:graphicFrame>
        <p:nvGraphicFramePr>
          <p:cNvPr id="17" name="Chart"/>
          <p:cNvGraphicFramePr/>
          <p:nvPr>
            <p:extLst>
              <p:ext uri="{D42A27DB-BD31-4B8C-83A1-F6EECF244321}">
                <p14:modId xmlns:p14="http://schemas.microsoft.com/office/powerpoint/2010/main" val="1836418441"/>
              </p:ext>
            </p:extLst>
          </p:nvPr>
        </p:nvGraphicFramePr>
        <p:xfrm>
          <a:off x="457200" y="1047750"/>
          <a:ext cx="8229600" cy="476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77873A84-F326-42A1-BDB4-7F3EE0870D06}"/>
              </a:ext>
            </a:extLst>
          </p:cNvPr>
          <p:cNvSpPr>
            <a:spLocks noGrp="1"/>
          </p:cNvSpPr>
          <p:nvPr/>
        </p:nvSpPr>
        <p:spPr>
          <a:xfrm>
            <a:off x="5524500" y="581025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975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9月 98.09%</a:t>
            </a:r>
          </a:p>
        </p:txBody>
      </p:sp>
    </p:spTree>
    <p:extLst>
      <p:ext uri="{BB962C8B-B14F-4D97-AF65-F5344CB8AC3E}">
        <p14:creationId xmlns:p14="http://schemas.microsoft.com/office/powerpoint/2010/main" val="1505778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rcRect l="330" r="330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ED31A33-58CE-40DD-8CCE-2ED616225F64}"/>
              </a:ext>
            </a:extLst>
          </p:cNvPr>
          <p:cNvSpPr>
            <a:spLocks noGrp="1"/>
          </p:cNvSpPr>
          <p:nvPr/>
        </p:nvSpPr>
        <p:spPr>
          <a:xfrm>
            <a:off x="3476625" y="2571750"/>
            <a:ext cx="2190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7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7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議題二：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30A080-C7AE-4E39-8424-22334735FF80}"/>
              </a:ext>
            </a:extLst>
          </p:cNvPr>
          <p:cNvSpPr>
            <a:spLocks noGrp="1"/>
          </p:cNvSpPr>
          <p:nvPr/>
        </p:nvSpPr>
        <p:spPr>
          <a:xfrm>
            <a:off x="2381250" y="3333750"/>
            <a:ext cx="4381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55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55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場站分群服務水準</a:t>
            </a:r>
          </a:p>
        </p:txBody>
      </p:sp>
    </p:spTree>
    <p:extLst>
      <p:ext uri="{BB962C8B-B14F-4D97-AF65-F5344CB8AC3E}">
        <p14:creationId xmlns:p14="http://schemas.microsoft.com/office/powerpoint/2010/main" val="1447531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rcRect l="122" r="12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頁碼13">
            <a:extLst>
              <a:ext uri="{FF2B5EF4-FFF2-40B4-BE49-F238E27FC236}">
                <a16:creationId xmlns:a16="http://schemas.microsoft.com/office/drawing/2014/main" id="{C3FE1674-6696-4904-93A9-3B867DF6B7CB}"/>
              </a:ext>
            </a:extLst>
          </p:cNvPr>
          <p:cNvSpPr>
            <a:spLocks noGrp="1"/>
          </p:cNvSpPr>
          <p:nvPr/>
        </p:nvSpPr>
        <p:spPr>
          <a:xfrm>
            <a:off x="8648700" y="6496050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13</a:t>
            </a:r>
          </a:p>
        </p:txBody>
      </p:sp>
      <p:sp>
        <p:nvSpPr>
          <p:cNvPr id="3" name="標題-現有營運場站見車率分群">
            <a:extLst>
              <a:ext uri="{FF2B5EF4-FFF2-40B4-BE49-F238E27FC236}">
                <a16:creationId xmlns:a16="http://schemas.microsoft.com/office/drawing/2014/main" id="{8D1E2FA7-3053-4D46-A74B-874D79CF154E}"/>
              </a:ext>
            </a:extLst>
          </p:cNvPr>
          <p:cNvSpPr>
            <a:spLocks noGrp="1"/>
          </p:cNvSpPr>
          <p:nvPr/>
        </p:nvSpPr>
        <p:spPr>
          <a:xfrm>
            <a:off x="133350" y="38100"/>
            <a:ext cx="7620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現有營運場站見車率分群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619125" y="666750"/>
          <a:ext cx="7905750" cy="2143125"/>
        </p:xfrm>
        <a:graphic>
          <a:graphicData uri="http://schemas.openxmlformats.org/drawingml/2006/table">
            <a:tbl>
              <a:tblPr/>
              <a:tblGrid>
                <a:gridCol w="131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7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7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7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分級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不分群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1-15柱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16-25柱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26-40柱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40柱以上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見車率≥0.93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≥ 0.93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≥ 0.92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≥ 0.95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≥ 0.93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0.87≤見車率&lt;0.93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0.83–0.93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0.82–0.92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0.85–0.95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0.87–0.93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0.78≤見車率&lt;0.87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0.72–0.83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0.73–0.82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0.75–0.85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0.78–0.87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0.68≤見車率&lt;0.78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0.63–0.72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0.64–0.73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0.67–0.75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0.72–0.78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0.58≤見車率&lt;0.68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0.55–0.63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0.57–0.64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0.60–0.67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0.65–0.72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見車率&lt;0.58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&lt; 0.55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&lt; 0.57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&lt; 0.60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&lt; 0.65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76200" y="3009900"/>
          <a:ext cx="8991600" cy="2647950"/>
        </p:xfrm>
        <a:graphic>
          <a:graphicData uri="http://schemas.openxmlformats.org/drawingml/2006/table">
            <a:tbl>
              <a:tblPr/>
              <a:tblGrid>
                <a:gridCol w="473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不分群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1-15柱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16-25柱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26-40柱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40柱以上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總計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月份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-165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-39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-91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-28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-165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總計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653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rcRect l="122" r="12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頁碼14">
            <a:extLst>
              <a:ext uri="{FF2B5EF4-FFF2-40B4-BE49-F238E27FC236}">
                <a16:creationId xmlns:a16="http://schemas.microsoft.com/office/drawing/2014/main" id="{B15B82D7-6D58-48C0-92F0-7A64AB109EC5}"/>
              </a:ext>
            </a:extLst>
          </p:cNvPr>
          <p:cNvSpPr>
            <a:spLocks noGrp="1"/>
          </p:cNvSpPr>
          <p:nvPr/>
        </p:nvSpPr>
        <p:spPr>
          <a:xfrm>
            <a:off x="8648700" y="6496050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14</a:t>
            </a:r>
          </a:p>
        </p:txBody>
      </p:sp>
      <p:sp>
        <p:nvSpPr>
          <p:cNvPr id="3" name="標題-現有營運場站見位率分群">
            <a:extLst>
              <a:ext uri="{FF2B5EF4-FFF2-40B4-BE49-F238E27FC236}">
                <a16:creationId xmlns:a16="http://schemas.microsoft.com/office/drawing/2014/main" id="{358DAB0E-BF7B-4AE1-866C-70774A3FC469}"/>
              </a:ext>
            </a:extLst>
          </p:cNvPr>
          <p:cNvSpPr>
            <a:spLocks noGrp="1"/>
          </p:cNvSpPr>
          <p:nvPr/>
        </p:nvSpPr>
        <p:spPr>
          <a:xfrm>
            <a:off x="133350" y="38100"/>
            <a:ext cx="7620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現有營運場站見位率分群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619125" y="666750"/>
          <a:ext cx="7905750" cy="2143125"/>
        </p:xfrm>
        <a:graphic>
          <a:graphicData uri="http://schemas.openxmlformats.org/drawingml/2006/table">
            <a:tbl>
              <a:tblPr/>
              <a:tblGrid>
                <a:gridCol w="131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7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7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7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分級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不分群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1-15柱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16-25柱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26-40柱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40柱以上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見位率≥0.98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≥ 0.95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≥ 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≥ 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≥ 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0.93≤見位率&lt;0.98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0.90–0.95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0.93–0.98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0.95–0.98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0.97–0.98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0.90≤見位率&lt;0.93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0.85–0.90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0.90–0.93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0.90–0.95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0.95–0.97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0.87≤見位率&lt;0.90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0.80–0.85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0.87–0.90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0.85–0.90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0.90–0.95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0.82≤見位率&lt;0.87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0.75–0.80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0.82–0.87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0.80–0.85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0.85–0.90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見位率&lt;0.82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&lt; 0.75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&lt; 0.82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&lt; 0.80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&lt; 0.85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76200" y="3009900"/>
          <a:ext cx="8991600" cy="2647950"/>
        </p:xfrm>
        <a:graphic>
          <a:graphicData uri="http://schemas.openxmlformats.org/drawingml/2006/table">
            <a:tbl>
              <a:tblPr/>
              <a:tblGrid>
                <a:gridCol w="473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不分群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1-15柱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16-25柱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26-40柱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40柱以上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938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總計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月份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39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39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-6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-8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-6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-6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-6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總計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321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rcRect l="122" r="12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頁碼15">
            <a:extLst>
              <a:ext uri="{FF2B5EF4-FFF2-40B4-BE49-F238E27FC236}">
                <a16:creationId xmlns:a16="http://schemas.microsoft.com/office/drawing/2014/main" id="{37775705-9689-407D-9C5D-F7B493FD4455}"/>
              </a:ext>
            </a:extLst>
          </p:cNvPr>
          <p:cNvSpPr>
            <a:spLocks noGrp="1"/>
          </p:cNvSpPr>
          <p:nvPr/>
        </p:nvSpPr>
        <p:spPr>
          <a:xfrm>
            <a:off x="8648700" y="6496050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15</a:t>
            </a:r>
          </a:p>
        </p:txBody>
      </p:sp>
      <p:sp>
        <p:nvSpPr>
          <p:cNvPr id="3" name="標題-8–9月見位率E、F級名單">
            <a:extLst>
              <a:ext uri="{FF2B5EF4-FFF2-40B4-BE49-F238E27FC236}">
                <a16:creationId xmlns:a16="http://schemas.microsoft.com/office/drawing/2014/main" id="{27B179E8-7BE5-43CF-AF10-FEFE5C79C7B0}"/>
              </a:ext>
            </a:extLst>
          </p:cNvPr>
          <p:cNvSpPr>
            <a:spLocks noGrp="1"/>
          </p:cNvSpPr>
          <p:nvPr/>
        </p:nvSpPr>
        <p:spPr>
          <a:xfrm>
            <a:off x="133350" y="38100"/>
            <a:ext cx="76200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8–9月見位率E、F級名單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133350" y="1162050"/>
          <a:ext cx="8877300" cy="4362450"/>
        </p:xfrm>
        <a:graphic>
          <a:graphicData uri="http://schemas.openxmlformats.org/drawingml/2006/table">
            <a:tbl>
              <a:tblPr/>
              <a:tblGrid>
                <a:gridCol w="1109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9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9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96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96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96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096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8月場站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分級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柱數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見位率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9月場站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分級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柱數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見位率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基隆長興路口東側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環河南和平西路口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86.9%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臺靜農人文會館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83.7%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松高路(信義新天地A4館)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84.3%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朝陽公園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84.6%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羅斯福路三段245號前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85.2%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臥龍街195巷口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86.7%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臺灣師範大學(浦城街)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86.8%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忠駝公園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75.2%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56373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1198</Words>
  <Application>Microsoft Office PowerPoint</Application>
  <DocSecurity>0</DocSecurity>
  <PresentationFormat>如螢幕大小 (4:3)</PresentationFormat>
  <Paragraphs>664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8" baseType="lpstr">
      <vt:lpstr>微軟正黑體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Chris Ho 何文碩</cp:lastModifiedBy>
  <cp:revision>2</cp:revision>
  <dcterms:created xsi:type="dcterms:W3CDTF">2026-10-08T08:18:14Z</dcterms:created>
  <dcterms:modified xsi:type="dcterms:W3CDTF">2026-10-08T08:36:24Z</dcterms:modified>
</cp:coreProperties>
</file>