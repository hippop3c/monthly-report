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26794e0e614e12" /><Relationship Type="http://schemas.openxmlformats.org/officeDocument/2006/relationships/extended-properties" Target="/docProps/app.xml" Id="Rc69eea9b884d40a0" /><Relationship Type="http://schemas.openxmlformats.org/officeDocument/2006/relationships/officeDocument" Target="/ppt/presentation.xml" Id="R166803c4c802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71ed4df6b433d"/>
  </p:sldMasterIdLst>
  <p:notesMasterIdLst>
    <p:notesMasterId xmlns:r="http://schemas.openxmlformats.org/officeDocument/2006/relationships" r:id="Rc9666e1ab5e04a27"/>
  </p:notesMasterIdLst>
  <p:sldIdLst>
    <p:sldId xmlns:r="http://schemas.openxmlformats.org/officeDocument/2006/relationships" id="256" r:id="Rca18b68aba4c4ac5"/>
    <p:sldId xmlns:r="http://schemas.openxmlformats.org/officeDocument/2006/relationships" id="257" r:id="Rf1d0cb7dbc204fcc"/>
    <p:sldId xmlns:r="http://schemas.openxmlformats.org/officeDocument/2006/relationships" id="258" r:id="Rcb96bd9d7fea4b4b"/>
    <p:sldId xmlns:r="http://schemas.openxmlformats.org/officeDocument/2006/relationships" id="259" r:id="R2ed3bf656c384369"/>
    <p:sldId xmlns:r="http://schemas.openxmlformats.org/officeDocument/2006/relationships" id="260" r:id="R094baba911d94bd1"/>
    <p:sldId xmlns:r="http://schemas.openxmlformats.org/officeDocument/2006/relationships" id="261" r:id="R4699a7ba031742dc"/>
    <p:sldId xmlns:r="http://schemas.openxmlformats.org/officeDocument/2006/relationships" id="262" r:id="R14f328f5feb24cf1"/>
    <p:sldId xmlns:r="http://schemas.openxmlformats.org/officeDocument/2006/relationships" id="263" r:id="Ree98a49b369d44f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88cd465aa40d2" /><Relationship Type="http://schemas.openxmlformats.org/officeDocument/2006/relationships/slideMaster" Target="/ppt/slideMasters/slideMaster1.xml" Id="R60671ed4df6b433d" /><Relationship Type="http://schemas.openxmlformats.org/officeDocument/2006/relationships/notesMaster" Target="/ppt/notesMasters/notesMaster1.xml" Id="Rc9666e1ab5e04a27" /><Relationship Type="http://schemas.openxmlformats.org/officeDocument/2006/relationships/presProps" Target="/ppt/presProps.xml" Id="R7bb77c7675ff439a" /><Relationship Type="http://schemas.openxmlformats.org/officeDocument/2006/relationships/tableStyles" Target="/ppt/tableStyles.xml" Id="R066357d84f1b40b1" /><Relationship Type="http://schemas.openxmlformats.org/officeDocument/2006/relationships/slide" Target="/ppt/slides/slide1.xml" Id="Rca18b68aba4c4ac5" /><Relationship Type="http://schemas.openxmlformats.org/officeDocument/2006/relationships/slide" Target="/ppt/slides/slide2.xml" Id="Rf1d0cb7dbc204fcc" /><Relationship Type="http://schemas.openxmlformats.org/officeDocument/2006/relationships/slide" Target="/ppt/slides/slide3.xml" Id="Rcb96bd9d7fea4b4b" /><Relationship Type="http://schemas.openxmlformats.org/officeDocument/2006/relationships/slide" Target="/ppt/slides/slide4.xml" Id="R2ed3bf656c384369" /><Relationship Type="http://schemas.openxmlformats.org/officeDocument/2006/relationships/slide" Target="/ppt/slides/slide5.xml" Id="R094baba911d94bd1" /><Relationship Type="http://schemas.openxmlformats.org/officeDocument/2006/relationships/slide" Target="/ppt/slides/slide6.xml" Id="R4699a7ba031742dc" /><Relationship Type="http://schemas.openxmlformats.org/officeDocument/2006/relationships/slide" Target="/ppt/slides/slide7.xml" Id="R14f328f5feb24cf1" /><Relationship Type="http://schemas.openxmlformats.org/officeDocument/2006/relationships/slide" Target="/ppt/slides/slide8.xml" Id="Ree98a49b369d44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53678ba4d343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320847765f4de7" /><Relationship Type="http://schemas.openxmlformats.org/officeDocument/2006/relationships/notesMaster" Target="/ppt/notesMasters/notesMaster1.xml" Id="R583cc028fd7045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13a78dd6b405d" /><Relationship Type="http://schemas.openxmlformats.org/officeDocument/2006/relationships/notesMaster" Target="/ppt/notesMasters/notesMaster1.xml" Id="R85b7092d6b5b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5a3eb1906548be" /><Relationship Type="http://schemas.openxmlformats.org/officeDocument/2006/relationships/notesMaster" Target="/ppt/notesMasters/notesMaster1.xml" Id="R1829d1dcaee846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48785aab9480b" /><Relationship Type="http://schemas.openxmlformats.org/officeDocument/2006/relationships/notesMaster" Target="/ppt/notesMasters/notesMaster1.xml" Id="R5d6a6d968efd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91bb34fd14ca3" /><Relationship Type="http://schemas.openxmlformats.org/officeDocument/2006/relationships/notesMaster" Target="/ppt/notesMasters/notesMaster1.xml" Id="Rcfe73e59d310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3efdd2ec774cc3" /><Relationship Type="http://schemas.openxmlformats.org/officeDocument/2006/relationships/notesMaster" Target="/ppt/notesMasters/notesMaster1.xml" Id="R3978a33d3ccd4c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2f2d98f5bb44fc" /><Relationship Type="http://schemas.openxmlformats.org/officeDocument/2006/relationships/notesMaster" Target="/ppt/notesMasters/notesMaster1.xml" Id="Rc1609a14614a4f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437a4b51ec489b" /><Relationship Type="http://schemas.openxmlformats.org/officeDocument/2006/relationships/notesMaster" Target="/ppt/notesMasters/notesMaster1.xml" Id="R67b5ddbeb61c42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資料來源：C:/Users/user/Documents/調度相關/ntu-comparison-report/output/臺大_ZZ車輛9月調度與5月比較_更新至20260928_v2.xlsx，工作表「ZZ車號總覽」與「ZZ調度明細」。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資料來源：C:/Users/user/Documents/調度相關/ntu-comparison-report/output/臺大_ZZ車輛9月調度與5月比較_更新至20260928_v2.xlsx，工作表「ZZ車號總覽」。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資料來源：C:/Users/user/Documents/調度相關/ntu-comparison-report/output/臺大_ZZ車輛9月調度與5月比較_更新至20260928_v2.xlsx，工作表「ZZ每日車號」。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資料來源：C:/Users/user/Documents/調度相關/ntu-comparison-report/output/臺大_ZZ車輛9月調度與5月比較_更新至20260928_v2.xlsx，工作表「ZZ每日車號」。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資料來源：C:/Users/user/Documents/調度相關/ntu-comparison-report/output/臺大_ZZ車輛9月調度與5月比較_更新至20260928_v2.xlsx，工作表「ZZ調度明細」。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資料來源：C:/Users/user/Documents/調度相關/ntu-comparison-report/output/臺大_ZZ車輛9月調度與5月比較_更新至20260928_v2.xlsx，工作表「ZZ車號總覽」與「ZZ調度明細」。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資料來源：C:/Users/user/Documents/調度相關/ntu-comparison-report/output/臺大_ZZ車輛9月調度與5月比較_更新至20260928_v2.xlsx，工作表「比較總覽」與「騎乘路線比較」。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資料來源：C:/Users/user/Documents/調度相關/ntu-comparison-report/output/臺大_ZZ車輛9月調度與5月比較_更新至20260928_v2.xlsx，工作表「騎乘路線比較」。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ccfb9abc4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7278e7ff6740af" /><Relationship Type="http://schemas.openxmlformats.org/officeDocument/2006/relationships/slideLayout" Target="/ppt/slideLayouts/slideLayout1.xml" Id="Rc3eb9aa484b6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eb9aa484b6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ae2b9cf454edd" /><Relationship Type="http://schemas.openxmlformats.org/officeDocument/2006/relationships/notesSlide" Target="/ppt/notesSlides/notesSlide1.xml" Id="Rab9733dc435f4c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2899682644801" /><Relationship Type="http://schemas.openxmlformats.org/officeDocument/2006/relationships/chart" Target="/ppt/slides/charts/chart1.xml" Id="R76f6c39a2098410c" /><Relationship Type="http://schemas.openxmlformats.org/officeDocument/2006/relationships/notesSlide" Target="/ppt/notesSlides/notesSlide2.xml" Id="R1a366002b1d9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d6761b43b43b9" /><Relationship Type="http://schemas.openxmlformats.org/officeDocument/2006/relationships/notesSlide" Target="/ppt/notesSlides/notesSlide3.xml" Id="R2da450290fc14b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bc5130df7407e" /><Relationship Type="http://schemas.openxmlformats.org/officeDocument/2006/relationships/notesSlide" Target="/ppt/notesSlides/notesSlide4.xml" Id="R23662e1efbce48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61386cfc843b2" /><Relationship Type="http://schemas.openxmlformats.org/officeDocument/2006/relationships/notesSlide" Target="/ppt/notesSlides/notesSlide5.xml" Id="R48c46ca61b19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3f20c2ba249c5" /><Relationship Type="http://schemas.openxmlformats.org/officeDocument/2006/relationships/notesSlide" Target="/ppt/notesSlides/notesSlide6.xml" Id="Rd02516b97e74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04579b83c4561" /><Relationship Type="http://schemas.openxmlformats.org/officeDocument/2006/relationships/notesSlide" Target="/ppt/notesSlides/notesSlide7.xml" Id="R1147cc49a0814b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19462a1564702" /><Relationship Type="http://schemas.openxmlformats.org/officeDocument/2006/relationships/notesSlide" Target="/ppt/notesSlides/notesSlide8.xml" Id="Rae0c5ed2ea1a486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9月1日至28日調度單車數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調度單車數</c:v>
          </c:tx>
          <c:spPr>
            <a:solidFill xmlns:a="http://schemas.openxmlformats.org/drawingml/2006/main">
              <a:srgbClr val="4F96D1"/>
            </a:solidFill>
          </c:spPr>
          <c:cat>
            <c:strRef>
              <c:f>'Chart Data'!$A$2:$A$8</c:f>
              <c:strCache>
                <c:ptCount val="7"/>
                <c:pt idx="0">
                  <c:v>ZZB-0004</c:v>
                </c:pt>
                <c:pt idx="1">
                  <c:v>ZZB-0001</c:v>
                </c:pt>
                <c:pt idx="2">
                  <c:v>ZZB-0002</c:v>
                </c:pt>
                <c:pt idx="3">
                  <c:v>ZZB-0007</c:v>
                </c:pt>
                <c:pt idx="4">
                  <c:v>ZZB-0003</c:v>
                </c:pt>
                <c:pt idx="5">
                  <c:v>ZZB-0005</c:v>
                </c:pt>
                <c:pt idx="6">
                  <c:v>ZZB-0008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2048</c:v>
                </c:pt>
                <c:pt idx="1">
                  <c:v>1686</c:v>
                </c:pt>
                <c:pt idx="2">
                  <c:v>1041</c:v>
                </c:pt>
                <c:pt idx="3">
                  <c:v>377</c:v>
                </c:pt>
                <c:pt idx="4">
                  <c:v>281</c:v>
                </c:pt>
                <c:pt idx="5">
                  <c:v>70</c:v>
                </c:pt>
                <c:pt idx="6">
                  <c:v>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83B63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0272D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581D0-3502-4E16-8818-8F5B3C30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FC13A-798D-45E5-8658-92E9123C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台大相關 ZZ* 車號總覽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1D399-9E32-4E4F-8F3E-8BE542D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2026/9/1–9/28全日期，不套台北日用量25萬門檻；起站或訖站為500119*即納入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333500"/>
          <a:ext xmlns:a="http://schemas.openxmlformats.org/drawingml/2006/main" cx="8801100" cy="4495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52550"/>
                <a:gridCol w="904875"/>
                <a:gridCol w="1066800"/>
                <a:gridCol w="1285875"/>
                <a:gridCol w="1000125"/>
                <a:gridCol w="1000125"/>
                <a:gridCol w="1095375"/>
                <a:gridCol w="1095375"/>
              </a:tblGrid>
              <a:tr h="4953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ZZ車號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活動日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紀錄筆數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調度單車數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已配對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未配對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2,048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1,946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2,045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1,686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1,540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1,672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194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1,041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991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1,030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341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00063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ZZ合計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1,103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5,566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5,200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366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5,531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63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EBA1A-72F4-497A-88BA-4497C0ED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VDS無原生起訖旅次鍵；已配對5,531輛依同日、同車號、同車種FIFO推定，未配對35輛保留單邊事件。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5B395-C275-44C6-B3F5-56DBBD09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5914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94405-79A2-4BD8-9A34-E11BD30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85CBE-F7BA-4BEA-8AE6-07F55F9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各 ZZ 車號調度單車數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35A8-451A-477F-846F-34F07382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ZZB-0004、ZZB-0001與ZZB-0002合計4,775輛，占全部ZZ相關調度量85.8%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266700" y="1295400"/>
          <a:ext xmlns:a="http://schemas.openxmlformats.org/drawingml/2006/main" cx="4305300" cy="4591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6c39a2098410c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0" y="1447800"/>
          <a:ext xmlns:a="http://schemas.openxmlformats.org/drawingml/2006/main" cx="4114800" cy="4152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52550"/>
                <a:gridCol w="857250"/>
                <a:gridCol w="952500"/>
                <a:gridCol w="952500"/>
              </a:tblGrid>
              <a:tr h="4953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ZZ車號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活動日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1,946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1,540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991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341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6CD89-D096-4CDD-942E-0DA1850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數量皆指搬運單車數，不是調度汽車台數。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F0185-30B0-4DA7-9714-EF8BFE3B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003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839A5-D791-49E1-A82A-29134DDF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FED46-BC2D-4184-893E-DE3BD70B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ZZ 車號每日調度｜9月1日至14日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A2E7C-A3CB-45E4-852D-F69ADA53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每格為該ZZ車號當日調度單車數；比較日欄標示原比較子集，無紀錄日期保留0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76350"/>
          <a:ext xmlns:a="http://schemas.openxmlformats.org/drawingml/2006/main" cx="8801100" cy="4762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"/>
                <a:gridCol w="714375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71550"/>
              </a:tblGrid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比較日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ZZ合計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325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30289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0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A105C-F9EA-44FA-A0F7-39513146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比較日條件僅供篩選：平日且台北當日2.0＋2.0E用量至少25萬；ZZ主表仍保留全部28日。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6323D-0065-4CB2-A3F8-EF44AA44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2031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E53DD-B430-4DD8-8C38-ECF2B1FA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A387A-F886-41FC-ADDE-69064B0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ZZ 車號每日調度｜9月15日至28日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46A8-4CD3-4413-B6E9-DB911702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每格為該ZZ車號當日調度單車數；比較日欄標示原比較子集，無紀錄日期保留0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71450" y="1200150"/>
          <a:ext xmlns:a="http://schemas.openxmlformats.org/drawingml/2006/main" cx="8801100" cy="2114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"/>
                <a:gridCol w="714375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71550"/>
              </a:tblGrid>
              <a:tr h="3619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比較日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ZZ合計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324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130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9/19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171450" y="3524250"/>
          <a:ext xmlns:a="http://schemas.openxmlformats.org/drawingml/2006/main" cx="8801100" cy="2114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"/>
                <a:gridCol w="714375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71550"/>
              </a:tblGrid>
              <a:tr h="3619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比較日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ZZ合計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484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488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424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9/28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8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701C3-AA35-415F-8567-8667DF1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比較日條件僅供篩選：平日且台北當日2.0＋2.0E用量至少25萬；ZZ主表仍保留全部28日。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DB787-E0DB-4D65-8A67-204EB93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46987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55299-F4B6-48C2-9B6B-B90E4DBE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63870-DC29-42F7-BBC7-2FCFACD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各 ZZ 車號主要起訖路線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DCE4-ACA8-466A-B5F7-60846C6A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每個ZZ車號依已配對調度單車數取第一名；路線至少一端為500119*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352550"/>
          <a:ext xmlns:a="http://schemas.openxmlformats.org/drawingml/2006/main" cx="8801100" cy="4514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66800"/>
                <a:gridCol w="1000125"/>
                <a:gridCol w="2800350"/>
                <a:gridCol w="2800350"/>
                <a:gridCol w="685800"/>
                <a:gridCol w="447675"/>
              </a:tblGrid>
              <a:tr h="5143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ZZ車號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方向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起站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訖站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調度單車數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出現日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台大區內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500119050 臺大小福樓東側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500119097 臺大人文館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199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台大區內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500119102 臺大普通教學館東側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500119097 臺大人文館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台大區內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500119070 臺大椰林小舖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500119061 臺大鹿鳴堂東側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台大調入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500101276 羅斯福新生南路口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500119078 臺大森林館北側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台大區內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500119087 臺大總圖書館西南側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500119059 臺大共同教室北側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台大區內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500119087 臺大總圖書館西南側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500119045 臺大農業陳列館北側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台大調入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500101276 羅斯福新生南路口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500119047 臺大土木系館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3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D709B-F3DB-4455-8304-887566FE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起訖路線為FIFO事件配對推定，不代表GPS行駛軌跡。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ED4F7-31C1-4B43-A380-288D48AB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5899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AC78B-2439-4CC4-BC10-6EAC901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3DDDD-7EF0-4A42-B81F-00774702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ZZ 調度方向與未配對紀錄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5FF3-52DD-4EFC-B11F-9487334C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全部相關調度5,566輛；已配對5,531輛，未配對35輛，配對量占99.4%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74295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1285875"/>
                <a:gridCol w="1285875"/>
                <a:gridCol w="1285875"/>
                <a:gridCol w="1047750"/>
                <a:gridCol w="904875"/>
              </a:tblGrid>
              <a:tr h="5143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ZZ車號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台大區內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台大調入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台大調出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未配對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活動日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1,516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462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1,320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345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690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230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ZZB-0008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ZZ合計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3,997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1,279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255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83B63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EE587-3696-41B8-8AD3-E3AEEA4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未配對單邊事件完整保留於Excel；沒有補造起站、訖站或時間。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49B9A-4B74-4A83-8114-2A0B7DE1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70114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34F3D-7099-4AE3-B0A2-9C24ED31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81CB6-EE5C-4E31-98EE-89CF9C90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五月與九月 CPS 騎乘背景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7DD9-4720-4073-B304-D011DF9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本頁才套用原比較條件：平日且台北當日2.0＋2.0E租借量至少25萬；5月15日、9月14日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228600" y="1390650"/>
          <a:ext xmlns:a="http://schemas.openxmlformats.org/drawingml/2006/main" cx="8686800" cy="4343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095375"/>
                <a:gridCol w="1095375"/>
                <a:gridCol w="1095375"/>
                <a:gridCol w="1095375"/>
                <a:gridCol w="2305050"/>
              </a:tblGrid>
              <a:tr h="5143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指標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差異率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口徑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相關總騎乘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370,390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403,168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+32,778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+8.85%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相關騎乘日均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24,692.67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28,797.71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+4,105.05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+16.62%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校外→台大日均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7,720.67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8,511.79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+791.12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+10.25%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台大→校外日均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8,079.27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8,881.64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+802.38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+9.93%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台大內部日均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8,892.73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11,404.29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+2,511.55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+28.24%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台大日均借用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17,216.27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20,515.86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+3,299.59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+19.17%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台大日均歸還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16,816.20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20,109.57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+3,293.37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+19.58%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12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5EC02-1F7C-4396-8EE5-FA74E653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CPS為實際客戶騎乘；本頁只作需求背景，不與ZZ調度量直接相加。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95A02-0099-46C2-BAA8-E40DF7F9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74049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64A67-9734-483E-A113-F0B8D2EB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AA73B-16A5-42B2-AE35-1FA079B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CPS 實際騎乘熱門路線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8EDE3-A7F1-40D5-A5D1-95F901D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原比較條件下九月路線平均前8名；任一端為500119*皆納入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76350"/>
          <a:ext xmlns:a="http://schemas.openxmlformats.org/drawingml/2006/main" cx="88011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81050"/>
                <a:gridCol w="4095750"/>
                <a:gridCol w="714375"/>
                <a:gridCol w="714375"/>
                <a:gridCol w="809625"/>
                <a:gridCol w="809625"/>
                <a:gridCol w="876300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方向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起訖路線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5月出現日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9月出現日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5月平均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9月平均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平均差額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 → 捷運公館站(3號出口)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85.53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87.57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+2.04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校外→台大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捷運公館站(2號出口) → 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74.53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82.43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+7.90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 → 捷運公館站(2號出口)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71.47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76.43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+4.96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校外→台大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捷運公館站(3號出口) → 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60.00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59.50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-0.50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 → 羅斯福新生南路口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56.40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56.86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+0.46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臺大教研館北側 → 捷運公館站(2號出口)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54.33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55.93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台大內部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臺大普通教學館東側 → 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55.07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+55.07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臺大總圖書館西南側 → 捷運公館站(2號出口)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+16.79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BA0C5-B958-468B-9F47-3E2E689C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路線平均＝期間總騎乘÷該路線實際出現的納入日數；未出現日不列入分母。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92903-33C7-45DD-AE6D-99D68E0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52547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2026-09-29T08:52:39.6890000Z</dcterms:created>
  <dcterms:modified xsi:type="dcterms:W3CDTF">2026-09-29T08:52:39.6890000Z</dcterms:modified>
</coreProperties>
</file>