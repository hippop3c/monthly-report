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94fde56be94ad4" /><Relationship Type="http://schemas.openxmlformats.org/officeDocument/2006/relationships/extended-properties" Target="/docProps/app.xml" Id="R2c0ebaa4639241f1" /><Relationship Type="http://schemas.openxmlformats.org/officeDocument/2006/relationships/officeDocument" Target="/ppt/presentation.xml" Id="Reafcaa19dd4a4d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8a7639784543d2"/>
  </p:sldMasterIdLst>
  <p:notesMasterIdLst>
    <p:notesMasterId xmlns:r="http://schemas.openxmlformats.org/officeDocument/2006/relationships" r:id="R05c31de7f6dc4703"/>
  </p:notesMasterIdLst>
  <p:sldIdLst>
    <p:sldId xmlns:r="http://schemas.openxmlformats.org/officeDocument/2006/relationships" id="256" r:id="R7c1bd3c7bc57472c"/>
    <p:sldId xmlns:r="http://schemas.openxmlformats.org/officeDocument/2006/relationships" id="257" r:id="R073ac53cf7d94ea9"/>
    <p:sldId xmlns:r="http://schemas.openxmlformats.org/officeDocument/2006/relationships" id="258" r:id="R22accea208794f9a"/>
    <p:sldId xmlns:r="http://schemas.openxmlformats.org/officeDocument/2006/relationships" id="259" r:id="Rca7b3088d0cb4a3b"/>
    <p:sldId xmlns:r="http://schemas.openxmlformats.org/officeDocument/2006/relationships" id="260" r:id="R3048dbfc33a24c1e"/>
    <p:sldId xmlns:r="http://schemas.openxmlformats.org/officeDocument/2006/relationships" id="261" r:id="R1067aa42718e4cd6"/>
    <p:sldId xmlns:r="http://schemas.openxmlformats.org/officeDocument/2006/relationships" id="262" r:id="R0a0a830830744c86"/>
    <p:sldId xmlns:r="http://schemas.openxmlformats.org/officeDocument/2006/relationships" id="263" r:id="R3c37017e79bd4311"/>
    <p:sldId xmlns:r="http://schemas.openxmlformats.org/officeDocument/2006/relationships" id="264" r:id="R47ac34a8a0f94e61"/>
    <p:sldId xmlns:r="http://schemas.openxmlformats.org/officeDocument/2006/relationships" id="265" r:id="R5fc9ae5d618d4ece"/>
    <p:sldId xmlns:r="http://schemas.openxmlformats.org/officeDocument/2006/relationships" id="266" r:id="Raee65ef7d60546eb"/>
    <p:sldId xmlns:r="http://schemas.openxmlformats.org/officeDocument/2006/relationships" id="267" r:id="R74d6489941464345"/>
    <p:sldId xmlns:r="http://schemas.openxmlformats.org/officeDocument/2006/relationships" id="268" r:id="Raf985794acce4433"/>
    <p:sldId xmlns:r="http://schemas.openxmlformats.org/officeDocument/2006/relationships" id="269" r:id="R41065dd7b5eb46c3"/>
    <p:sldId xmlns:r="http://schemas.openxmlformats.org/officeDocument/2006/relationships" id="270" r:id="R5eae0194a3214a9f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eab46991a4a8d" /><Relationship Type="http://schemas.openxmlformats.org/officeDocument/2006/relationships/slideMaster" Target="/ppt/slideMasters/slideMaster1.xml" Id="R498a7639784543d2" /><Relationship Type="http://schemas.openxmlformats.org/officeDocument/2006/relationships/notesMaster" Target="/ppt/notesMasters/notesMaster1.xml" Id="R05c31de7f6dc4703" /><Relationship Type="http://schemas.openxmlformats.org/officeDocument/2006/relationships/presProps" Target="/ppt/presProps.xml" Id="Rb2032b234fc244cc" /><Relationship Type="http://schemas.openxmlformats.org/officeDocument/2006/relationships/tableStyles" Target="/ppt/tableStyles.xml" Id="R6ece76c28d3e414c" /><Relationship Type="http://schemas.openxmlformats.org/officeDocument/2006/relationships/slide" Target="/ppt/slides/slide1.xml" Id="R7c1bd3c7bc57472c" /><Relationship Type="http://schemas.openxmlformats.org/officeDocument/2006/relationships/slide" Target="/ppt/slides/slide2.xml" Id="R073ac53cf7d94ea9" /><Relationship Type="http://schemas.openxmlformats.org/officeDocument/2006/relationships/slide" Target="/ppt/slides/slide3.xml" Id="R22accea208794f9a" /><Relationship Type="http://schemas.openxmlformats.org/officeDocument/2006/relationships/slide" Target="/ppt/slides/slide4.xml" Id="Rca7b3088d0cb4a3b" /><Relationship Type="http://schemas.openxmlformats.org/officeDocument/2006/relationships/slide" Target="/ppt/slides/slide5.xml" Id="R3048dbfc33a24c1e" /><Relationship Type="http://schemas.openxmlformats.org/officeDocument/2006/relationships/slide" Target="/ppt/slides/slide6.xml" Id="R1067aa42718e4cd6" /><Relationship Type="http://schemas.openxmlformats.org/officeDocument/2006/relationships/slide" Target="/ppt/slides/slide7.xml" Id="R0a0a830830744c86" /><Relationship Type="http://schemas.openxmlformats.org/officeDocument/2006/relationships/slide" Target="/ppt/slides/slide8.xml" Id="R3c37017e79bd4311" /><Relationship Type="http://schemas.openxmlformats.org/officeDocument/2006/relationships/slide" Target="/ppt/slides/slide9.xml" Id="R47ac34a8a0f94e61" /><Relationship Type="http://schemas.openxmlformats.org/officeDocument/2006/relationships/slide" Target="/ppt/slides/slide10.xml" Id="R5fc9ae5d618d4ece" /><Relationship Type="http://schemas.openxmlformats.org/officeDocument/2006/relationships/slide" Target="/ppt/slides/slide11.xml" Id="Raee65ef7d60546eb" /><Relationship Type="http://schemas.openxmlformats.org/officeDocument/2006/relationships/slide" Target="/ppt/slides/slide12.xml" Id="R74d6489941464345" /><Relationship Type="http://schemas.openxmlformats.org/officeDocument/2006/relationships/slide" Target="/ppt/slides/slide13.xml" Id="Raf985794acce4433" /><Relationship Type="http://schemas.openxmlformats.org/officeDocument/2006/relationships/slide" Target="/ppt/slides/slide14.xml" Id="R41065dd7b5eb46c3" /><Relationship Type="http://schemas.openxmlformats.org/officeDocument/2006/relationships/slide" Target="/ppt/slides/slide15.xml" Id="R5eae0194a3214a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9629dae82b4f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cd105aa05949a8" /><Relationship Type="http://schemas.openxmlformats.org/officeDocument/2006/relationships/notesMaster" Target="/ppt/notesMasters/notesMaster1.xml" Id="R635a1640c32f40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0ddc1fc9a44430" /><Relationship Type="http://schemas.openxmlformats.org/officeDocument/2006/relationships/notesMaster" Target="/ppt/notesMasters/notesMaster1.xml" Id="R5f9748ac11fe40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a05b7804554063" /><Relationship Type="http://schemas.openxmlformats.org/officeDocument/2006/relationships/notesMaster" Target="/ppt/notesMasters/notesMaster1.xml" Id="Re902b8e191964f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6b649adc1647a4" /><Relationship Type="http://schemas.openxmlformats.org/officeDocument/2006/relationships/notesMaster" Target="/ppt/notesMasters/notesMaster1.xml" Id="R0e15adec315a49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236dbb43e64c8c" /><Relationship Type="http://schemas.openxmlformats.org/officeDocument/2006/relationships/notesMaster" Target="/ppt/notesMasters/notesMaster1.xml" Id="Rb52234734a9f42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38e36470843dc" /><Relationship Type="http://schemas.openxmlformats.org/officeDocument/2006/relationships/notesMaster" Target="/ppt/notesMasters/notesMaster1.xml" Id="Rf3b2d641930047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a2a99cfb9d4d76" /><Relationship Type="http://schemas.openxmlformats.org/officeDocument/2006/relationships/notesMaster" Target="/ppt/notesMasters/notesMaster1.xml" Id="R396e4524383744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91c28808cf4315" /><Relationship Type="http://schemas.openxmlformats.org/officeDocument/2006/relationships/notesMaster" Target="/ppt/notesMasters/notesMaster1.xml" Id="Ra1f004cf3ee544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6b7c2d95084dc8" /><Relationship Type="http://schemas.openxmlformats.org/officeDocument/2006/relationships/notesMaster" Target="/ppt/notesMasters/notesMaster1.xml" Id="R0333424002c34a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abe76d2261491f" /><Relationship Type="http://schemas.openxmlformats.org/officeDocument/2006/relationships/notesMaster" Target="/ppt/notesMasters/notesMaster1.xml" Id="R17acdb14eb054d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353f527fa949f5" /><Relationship Type="http://schemas.openxmlformats.org/officeDocument/2006/relationships/notesMaster" Target="/ppt/notesMasters/notesMaster1.xml" Id="Rf2925429d6184e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5dd61fc8fe464b" /><Relationship Type="http://schemas.openxmlformats.org/officeDocument/2006/relationships/notesMaster" Target="/ppt/notesMasters/notesMaster1.xml" Id="Rb5a34d081a4e47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876dd4b7db4c4a" /><Relationship Type="http://schemas.openxmlformats.org/officeDocument/2006/relationships/notesMaster" Target="/ppt/notesMasters/notesMaster1.xml" Id="Rbac7a1dd84ff40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a62ce401914d65" /><Relationship Type="http://schemas.openxmlformats.org/officeDocument/2006/relationships/notesMaster" Target="/ppt/notesMasters/notesMaster1.xml" Id="R3ee26bc10e6544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88c7cb760e9451f" /><Relationship Type="http://schemas.openxmlformats.org/officeDocument/2006/relationships/notesMaster" Target="/ppt/notesMasters/notesMaster1.xml" Id="R37983f7a2edd44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本簡報依使用者提供之《臺北工作會議營運報告_3-5v2 (1).pptx》版型與表格架構，更新為2026年6–9月資料；9月為2026-09-01至2026-09-30完整月份。封面不臆測會議次數。資料來源見各頁備註。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章節沿用參考簡報：營運績效分析及場站分群服務水準。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章節分隔頁。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。資料期間：2026-09-01至2026-09-30。月用量採月底「當月租借車次」；日均使用次數＝月用量÷日數；合計日均周轉率＝合計日均用量÷期末總車輛數。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。資料期間：2026-08-01至2026-08-31。月用量採月底「當月租借車次」；日均使用次數＝月用量÷日數；合計日均周轉率＝合計日均用量÷期末總車輛數。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。資料期間：2026-07-01至2026-07-31。月用量採月底「當月租借車次」；日均使用次數＝月用量÷日數；合計日均周轉率＝合計日均用量÷期末總車輛數。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。資料期間：2026-06-01至2026-06-30。月用量採月底「當月租借車次」；日均使用次數＝月用量÷日數；合計日均周轉率＝合計日均用量÷期末總車輛數。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。月份：2026年4–9月完整月份。月用量採月底當月租借車次；周轉率4–5月沿用參考簡報，6–9月依同口徑計算。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資料來源：Report 營運管理日報，https://youbike-report-api-421613424541.asia-east1.run.app/report/gcpfun 。資料月份：2026年9月完整月。借車方式僅拆解悠遊卡：一般卡＝悠遊卡－月票－敬老；2.0每日租賃方式加總與月底累計差3次，依參考簡報慣例配置至悠遊卡並完成勾稽；2.0E無差異。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月用量來源：Report 營運管理日報，https://youbike-report-api-421613424541.asia-east1.run.app/report/gcpfun 。見車率：4–5月沿用使用者提供之前期簡報；6–8月沿用既有月率，9月取 prepared_rows_1159_v2.json 中臺北市有效場站6–24時月率的場站算術平均。2026-04至2026-05沿用使用者提供之前期簡報數值。；2026-06至2026-08沿用availability_38_data.json既有同口徑結果。；2026-09使用prepared_rows_1159_v2.json values[6]見車率、values[11]見位率的第3個月值。；各月市級率為臺北市非空白且大於0之場站06:00-23:59月率的未加權算術平均；沿用舊簡報口徑，不以月底營運狀態再篩選。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月用量來源：Report 營運管理日報，https://youbike-report-api-421613424541.asia-east1.run.app/report/gcpfun 。見位率：4–5月沿用使用者提供之前期簡報；6–8月沿用既有月率，9月取 prepared_rows_1159_v2.json 中臺北市有效場站6–24時月率的場站算術平均。2026-04至2026-05沿用使用者提供之前期簡報數值。；2026-06至2026-08沿用availability_38_data.json既有同口徑結果。；2026-09使用prepared_rows_1159_v2.json values[6]見車率、values[11]見位率的第3個月值。；各月市級率為臺北市非空白且大於0之場站06:00-23:59月率的未加權算術平均；沿用舊簡報口徑，不以月底營運狀態再篩選。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章節分隔頁。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資料來源：prepared_rows_1159_v2.json（臺北市、營運中場站），2026年8–9月，6–24時平均見車率。分級門檻沿用參考簡報。8月有效1765站、缺16站；9月有效1781站。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資料來源：prepared_rows_1159_v2.json（臺北市、營運中場站），2026年8–9月，6–24時平均見位率。分級門檻沿用參考簡報。8月有效1765站、缺16站；9月有效1781站。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資料來源：prepared_rows_1159_v2.json（臺北市、營運中場站），2026年8–9月，6–24時平均見位率。E/F名單依參考簡報採不分群門檻：E為82%～&lt;87%，F為&lt;82%。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c53f08f9646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457d9a5fd74494" /><Relationship Type="http://schemas.openxmlformats.org/officeDocument/2006/relationships/slideLayout" Target="/ppt/slideLayouts/slideLayout1.xml" Id="R3271333538bb41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71333538bb41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bd68afb03474b" /><Relationship Type="http://schemas.openxmlformats.org/officeDocument/2006/relationships/image" Target="/ppt/media/image.png" Id="R6156bf75850b4b4f" /><Relationship Type="http://schemas.openxmlformats.org/officeDocument/2006/relationships/image" Target="/ppt/media/image.jpeg" Id="Reae37268428246fe" /><Relationship Type="http://schemas.openxmlformats.org/officeDocument/2006/relationships/notesSlide" Target="/ppt/notesSlides/notesSlide1.xml" Id="R0afbc1920a7a49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7be4e58724406" /><Relationship Type="http://schemas.openxmlformats.org/officeDocument/2006/relationships/image" Target="/ppt/media/image2.png" Id="Rab4765ce9ba44eeb" /><Relationship Type="http://schemas.openxmlformats.org/officeDocument/2006/relationships/notesSlide" Target="/ppt/notesSlides/notesSlide2.xml" Id="Ra9740e8f4aba43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c153926a94ee9" /><Relationship Type="http://schemas.openxmlformats.org/officeDocument/2006/relationships/image" Target="/ppt/media/image3.png" Id="Rf4e849e1d7e4498e" /><Relationship Type="http://schemas.openxmlformats.org/officeDocument/2006/relationships/notesSlide" Target="/ppt/notesSlides/notesSlide3.xml" Id="Rbd1fec01fd6e4f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d54c9107c423f" /><Relationship Type="http://schemas.openxmlformats.org/officeDocument/2006/relationships/image" Target="/ppt/media/image4.png" Id="R2b2cfafe8d2a46df" /><Relationship Type="http://schemas.openxmlformats.org/officeDocument/2006/relationships/chart" Target="/ppt/slides/charts/chart1.xml" Id="Rd2e44d6ca5a246b2" /><Relationship Type="http://schemas.openxmlformats.org/officeDocument/2006/relationships/chart" Target="/ppt/slides/charts/chart2.xml" Id="R10411741d7af4708" /><Relationship Type="http://schemas.openxmlformats.org/officeDocument/2006/relationships/notesSlide" Target="/ppt/notesSlides/notesSlide4.xml" Id="Rb994dc37c36d43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37302ef944a72" /><Relationship Type="http://schemas.openxmlformats.org/officeDocument/2006/relationships/image" Target="/ppt/media/image5.png" Id="R823971fcdd9140eb" /><Relationship Type="http://schemas.openxmlformats.org/officeDocument/2006/relationships/chart" Target="/ppt/slides/charts/chart3.xml" Id="R89a6615766684288" /><Relationship Type="http://schemas.openxmlformats.org/officeDocument/2006/relationships/chart" Target="/ppt/slides/charts/chart4.xml" Id="R11c0499ca4a0411d" /><Relationship Type="http://schemas.openxmlformats.org/officeDocument/2006/relationships/notesSlide" Target="/ppt/notesSlides/notesSlide5.xml" Id="R5e84ad7c3da545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0f917942c4057" /><Relationship Type="http://schemas.openxmlformats.org/officeDocument/2006/relationships/image" Target="/ppt/media/image6.png" Id="Rfd455f860f784452" /><Relationship Type="http://schemas.openxmlformats.org/officeDocument/2006/relationships/chart" Target="/ppt/slides/charts/chart5.xml" Id="R0c93fc59acee42f7" /><Relationship Type="http://schemas.openxmlformats.org/officeDocument/2006/relationships/chart" Target="/ppt/slides/charts/chart6.xml" Id="R74d708774f084cc8" /><Relationship Type="http://schemas.openxmlformats.org/officeDocument/2006/relationships/notesSlide" Target="/ppt/notesSlides/notesSlide6.xml" Id="Re429a9ca565248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368a96dc04694" /><Relationship Type="http://schemas.openxmlformats.org/officeDocument/2006/relationships/image" Target="/ppt/media/image7.png" Id="R2cc4cdfd7468490f" /><Relationship Type="http://schemas.openxmlformats.org/officeDocument/2006/relationships/chart" Target="/ppt/slides/charts/chart7.xml" Id="Rf07224fbd2594644" /><Relationship Type="http://schemas.openxmlformats.org/officeDocument/2006/relationships/chart" Target="/ppt/slides/charts/chart8.xml" Id="R14838f36d4f548d2" /><Relationship Type="http://schemas.openxmlformats.org/officeDocument/2006/relationships/notesSlide" Target="/ppt/notesSlides/notesSlide7.xml" Id="R4a60058555b04a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77c182941430f" /><Relationship Type="http://schemas.openxmlformats.org/officeDocument/2006/relationships/image" Target="/ppt/media/image8.png" Id="Rbe7c69a88a3a4178" /><Relationship Type="http://schemas.openxmlformats.org/officeDocument/2006/relationships/chart" Target="/ppt/slides/charts/chart9.xml" Id="Raaa534a7ce8d4004" /><Relationship Type="http://schemas.openxmlformats.org/officeDocument/2006/relationships/chart" Target="/ppt/slides/charts/chart10.xml" Id="Rf1ef6de359964203" /><Relationship Type="http://schemas.openxmlformats.org/officeDocument/2006/relationships/notesSlide" Target="/ppt/notesSlides/notesSlide8.xml" Id="R15167683d24041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5568c690d433a" /><Relationship Type="http://schemas.openxmlformats.org/officeDocument/2006/relationships/image" Target="/ppt/media/image9.png" Id="Rcec1e979d12443e0" /><Relationship Type="http://schemas.openxmlformats.org/officeDocument/2006/relationships/chart" Target="/ppt/slides/charts/chart11.xml" Id="R298dd4aeaee14ecd" /><Relationship Type="http://schemas.openxmlformats.org/officeDocument/2006/relationships/chart" Target="/ppt/slides/charts/chart12.xml" Id="R878e5182d3484fc4" /><Relationship Type="http://schemas.openxmlformats.org/officeDocument/2006/relationships/notesSlide" Target="/ppt/notesSlides/notesSlide9.xml" Id="R88a1cac15d5949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960812a4848c3" /><Relationship Type="http://schemas.openxmlformats.org/officeDocument/2006/relationships/image" Target="/ppt/media/image10.png" Id="R2e1f3f0c4acf49c1" /><Relationship Type="http://schemas.openxmlformats.org/officeDocument/2006/relationships/chart" Target="/ppt/slides/charts/chart13.xml" Id="R3160e9e6bda94215" /><Relationship Type="http://schemas.openxmlformats.org/officeDocument/2006/relationships/chart" Target="/ppt/slides/charts/chart14.xml" Id="R438a06e914b8425c" /><Relationship Type="http://schemas.openxmlformats.org/officeDocument/2006/relationships/notesSlide" Target="/ppt/notesSlides/notesSlide10.xml" Id="R91a307880d6145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be1e9cf5148c5" /><Relationship Type="http://schemas.openxmlformats.org/officeDocument/2006/relationships/image" Target="/ppt/media/image11.png" Id="Rf1ab5f0b7d4d40a3" /><Relationship Type="http://schemas.openxmlformats.org/officeDocument/2006/relationships/chart" Target="/ppt/slides/charts/chart15.xml" Id="Rb5a733914b384f37" /><Relationship Type="http://schemas.openxmlformats.org/officeDocument/2006/relationships/chart" Target="/ppt/slides/charts/chart16.xml" Id="Rf83ee124ffac49e3" /><Relationship Type="http://schemas.openxmlformats.org/officeDocument/2006/relationships/notesSlide" Target="/ppt/notesSlides/notesSlide11.xml" Id="R58022f636b044b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5cbb0ebb924c02" /><Relationship Type="http://schemas.openxmlformats.org/officeDocument/2006/relationships/image" Target="/ppt/media/image12.png" Id="Rdc4b1e4a874c4a9b" /><Relationship Type="http://schemas.openxmlformats.org/officeDocument/2006/relationships/notesSlide" Target="/ppt/notesSlides/notesSlide12.xml" Id="R57fcd3e984934a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22a9339944f54" /><Relationship Type="http://schemas.openxmlformats.org/officeDocument/2006/relationships/image" Target="/ppt/media/image13.png" Id="R14c12e5374764d52" /><Relationship Type="http://schemas.openxmlformats.org/officeDocument/2006/relationships/notesSlide" Target="/ppt/notesSlides/notesSlide13.xml" Id="Rc927323587704c5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bc8844efc4b89" /><Relationship Type="http://schemas.openxmlformats.org/officeDocument/2006/relationships/image" Target="/ppt/media/image14.png" Id="Raa5deed4dcb946c1" /><Relationship Type="http://schemas.openxmlformats.org/officeDocument/2006/relationships/notesSlide" Target="/ppt/notesSlides/notesSlide14.xml" Id="Re31beadd8f2b4c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a7d13f3a14b7a" /><Relationship Type="http://schemas.openxmlformats.org/officeDocument/2006/relationships/image" Target="/ppt/media/image15.png" Id="R55efc91e7ab84e6f" /><Relationship Type="http://schemas.openxmlformats.org/officeDocument/2006/relationships/notesSlide" Target="/ppt/notesSlides/notesSlide15.xml" Id="Rdd57c8ab6b4b4c66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#,##0</c:formatCode>
              <c:ptCount val="30"/>
              <c:pt idx="0">
                <c:v>173401</c:v>
              </c:pt>
              <c:pt idx="1">
                <c:v>309417</c:v>
              </c:pt>
              <c:pt idx="2">
                <c:v>70106</c:v>
              </c:pt>
              <c:pt idx="3">
                <c:v>87037</c:v>
              </c:pt>
              <c:pt idx="4">
                <c:v>194593</c:v>
              </c:pt>
              <c:pt idx="5">
                <c:v>73316</c:v>
              </c:pt>
              <c:pt idx="6">
                <c:v>325148</c:v>
              </c:pt>
              <c:pt idx="7">
                <c:v>318370</c:v>
              </c:pt>
              <c:pt idx="8">
                <c:v>303345</c:v>
              </c:pt>
              <c:pt idx="9">
                <c:v>284034</c:v>
              </c:pt>
              <c:pt idx="10">
                <c:v>212352</c:v>
              </c:pt>
              <c:pt idx="11">
                <c:v>228120</c:v>
              </c:pt>
              <c:pt idx="12">
                <c:v>251162</c:v>
              </c:pt>
              <c:pt idx="13">
                <c:v>255044</c:v>
              </c:pt>
              <c:pt idx="14">
                <c:v>303497</c:v>
              </c:pt>
              <c:pt idx="15">
                <c:v>324608</c:v>
              </c:pt>
              <c:pt idx="16">
                <c:v>319886</c:v>
              </c:pt>
              <c:pt idx="17">
                <c:v>329763</c:v>
              </c:pt>
              <c:pt idx="18">
                <c:v>278146</c:v>
              </c:pt>
              <c:pt idx="19">
                <c:v>244325</c:v>
              </c:pt>
              <c:pt idx="20">
                <c:v>311273</c:v>
              </c:pt>
              <c:pt idx="21">
                <c:v>313142</c:v>
              </c:pt>
              <c:pt idx="22">
                <c:v>322530</c:v>
              </c:pt>
              <c:pt idx="23">
                <c:v>320774</c:v>
              </c:pt>
              <c:pt idx="24">
                <c:v>212421</c:v>
              </c:pt>
              <c:pt idx="25">
                <c:v>215779</c:v>
              </c:pt>
              <c:pt idx="26">
                <c:v>216680</c:v>
              </c:pt>
              <c:pt idx="27">
                <c:v>221239</c:v>
              </c:pt>
              <c:pt idx="28">
                <c:v>314215</c:v>
              </c:pt>
              <c:pt idx="29">
                <c:v>325959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</c:formatCode>
              <c:ptCount val="30"/>
              <c:pt idx="0">
                <c:v>6.2761</c:v>
              </c:pt>
              <c:pt idx="1">
                <c:v>11.199</c:v>
              </c:pt>
              <c:pt idx="2">
                <c:v>2.5374</c:v>
              </c:pt>
              <c:pt idx="3">
                <c:v>3.1502</c:v>
              </c:pt>
              <c:pt idx="4">
                <c:v>7.0431</c:v>
              </c:pt>
              <c:pt idx="5">
                <c:v>2.6536</c:v>
              </c:pt>
              <c:pt idx="6">
                <c:v>11.7684</c:v>
              </c:pt>
              <c:pt idx="7">
                <c:v>11.523</c:v>
              </c:pt>
              <c:pt idx="8">
                <c:v>10.9792</c:v>
              </c:pt>
              <c:pt idx="9">
                <c:v>10.2803</c:v>
              </c:pt>
              <c:pt idx="10">
                <c:v>7.6858</c:v>
              </c:pt>
              <c:pt idx="11">
                <c:v>8.2565</c:v>
              </c:pt>
              <c:pt idx="12">
                <c:v>9.0905</c:v>
              </c:pt>
              <c:pt idx="13">
                <c:v>9.231</c:v>
              </c:pt>
              <c:pt idx="14">
                <c:v>10.9847</c:v>
              </c:pt>
              <c:pt idx="15">
                <c:v>11.7488</c:v>
              </c:pt>
              <c:pt idx="16">
                <c:v>11.5779</c:v>
              </c:pt>
              <c:pt idx="17">
                <c:v>11.9354</c:v>
              </c:pt>
              <c:pt idx="18">
                <c:v>10.0672</c:v>
              </c:pt>
              <c:pt idx="19">
                <c:v>8.8431</c:v>
              </c:pt>
              <c:pt idx="20">
                <c:v>11.2662</c:v>
              </c:pt>
              <c:pt idx="21">
                <c:v>11.3338</c:v>
              </c:pt>
              <c:pt idx="22">
                <c:v>11.6736</c:v>
              </c:pt>
              <c:pt idx="23">
                <c:v>11.61</c:v>
              </c:pt>
              <c:pt idx="24">
                <c:v>7.6883</c:v>
              </c:pt>
              <c:pt idx="25">
                <c:v>7.8099</c:v>
              </c:pt>
              <c:pt idx="26">
                <c:v>7.8425</c:v>
              </c:pt>
              <c:pt idx="27">
                <c:v>8.0075</c:v>
              </c:pt>
              <c:pt idx="28">
                <c:v>11.3727</c:v>
              </c:pt>
              <c:pt idx="29">
                <c:v>11.7977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#,##0</c:formatCode>
              <c:ptCount val="31"/>
              <c:pt idx="0">
                <c:v>246301</c:v>
              </c:pt>
              <c:pt idx="1">
                <c:v>221550</c:v>
              </c:pt>
              <c:pt idx="2">
                <c:v>282607</c:v>
              </c:pt>
              <c:pt idx="3">
                <c:v>295340</c:v>
              </c:pt>
              <c:pt idx="4">
                <c:v>303120</c:v>
              </c:pt>
              <c:pt idx="5">
                <c:v>291543</c:v>
              </c:pt>
              <c:pt idx="6">
                <c:v>296277</c:v>
              </c:pt>
              <c:pt idx="7">
                <c:v>141337</c:v>
              </c:pt>
              <c:pt idx="8">
                <c:v>110086</c:v>
              </c:pt>
              <c:pt idx="9">
                <c:v>230588</c:v>
              </c:pt>
              <c:pt idx="10">
                <c:v>289004</c:v>
              </c:pt>
              <c:pt idx="11">
                <c:v>296832</c:v>
              </c:pt>
              <c:pt idx="12">
                <c:v>285267</c:v>
              </c:pt>
              <c:pt idx="13">
                <c:v>268295</c:v>
              </c:pt>
              <c:pt idx="14">
                <c:v>198163</c:v>
              </c:pt>
              <c:pt idx="15">
                <c:v>203155</c:v>
              </c:pt>
              <c:pt idx="16">
                <c:v>288900</c:v>
              </c:pt>
              <c:pt idx="17">
                <c:v>281993</c:v>
              </c:pt>
              <c:pt idx="18">
                <c:v>210410</c:v>
              </c:pt>
              <c:pt idx="19">
                <c:v>176618</c:v>
              </c:pt>
              <c:pt idx="20">
                <c:v>181717</c:v>
              </c:pt>
              <c:pt idx="21">
                <c:v>169044</c:v>
              </c:pt>
              <c:pt idx="22">
                <c:v>211627</c:v>
              </c:pt>
              <c:pt idx="23">
                <c:v>126030</c:v>
              </c:pt>
              <c:pt idx="24">
                <c:v>185554</c:v>
              </c:pt>
              <c:pt idx="25">
                <c:v>305792</c:v>
              </c:pt>
              <c:pt idx="26">
                <c:v>295671</c:v>
              </c:pt>
              <c:pt idx="27">
                <c:v>303995</c:v>
              </c:pt>
              <c:pt idx="28">
                <c:v>193439</c:v>
              </c:pt>
              <c:pt idx="29">
                <c:v>234613</c:v>
              </c:pt>
              <c:pt idx="30">
                <c:v>293454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0.0</c:formatCode>
              <c:ptCount val="31"/>
              <c:pt idx="0">
                <c:v>8.9766</c:v>
              </c:pt>
              <c:pt idx="1">
                <c:v>8.0746</c:v>
              </c:pt>
              <c:pt idx="2">
                <c:v>10.2998</c:v>
              </c:pt>
              <c:pt idx="3">
                <c:v>10.7639</c:v>
              </c:pt>
              <c:pt idx="4">
                <c:v>11.0475</c:v>
              </c:pt>
              <c:pt idx="5">
                <c:v>10.6255</c:v>
              </c:pt>
              <c:pt idx="6">
                <c:v>10.7981</c:v>
              </c:pt>
              <c:pt idx="7">
                <c:v>5.1511</c:v>
              </c:pt>
              <c:pt idx="8">
                <c:v>4.0122</c:v>
              </c:pt>
              <c:pt idx="9">
                <c:v>8.404</c:v>
              </c:pt>
              <c:pt idx="10">
                <c:v>10.533</c:v>
              </c:pt>
              <c:pt idx="11">
                <c:v>10.8183</c:v>
              </c:pt>
              <c:pt idx="12">
                <c:v>10.3968</c:v>
              </c:pt>
              <c:pt idx="13">
                <c:v>9.7782</c:v>
              </c:pt>
              <c:pt idx="14">
                <c:v>7.2222</c:v>
              </c:pt>
              <c:pt idx="15">
                <c:v>7.4041</c:v>
              </c:pt>
              <c:pt idx="16">
                <c:v>10.5292</c:v>
              </c:pt>
              <c:pt idx="17">
                <c:v>10.2775</c:v>
              </c:pt>
              <c:pt idx="18">
                <c:v>7.6686</c:v>
              </c:pt>
              <c:pt idx="19">
                <c:v>6.437</c:v>
              </c:pt>
              <c:pt idx="20">
                <c:v>6.6228</c:v>
              </c:pt>
              <c:pt idx="21">
                <c:v>6.1609</c:v>
              </c:pt>
              <c:pt idx="22">
                <c:v>7.7129</c:v>
              </c:pt>
              <c:pt idx="23">
                <c:v>4.5933</c:v>
              </c:pt>
              <c:pt idx="24">
                <c:v>6.7627</c:v>
              </c:pt>
              <c:pt idx="25">
                <c:v>11.1448</c:v>
              </c:pt>
              <c:pt idx="26">
                <c:v>10.776</c:v>
              </c:pt>
              <c:pt idx="27">
                <c:v>11.0793</c:v>
              </c:pt>
              <c:pt idx="28">
                <c:v>7.05</c:v>
              </c:pt>
              <c:pt idx="29">
                <c:v>8.5507</c:v>
              </c:pt>
              <c:pt idx="30">
                <c:v>10.6952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#,##0</c:formatCode>
              <c:ptCount val="31"/>
              <c:pt idx="0">
                <c:v>291541</c:v>
              </c:pt>
              <c:pt idx="1">
                <c:v>269361</c:v>
              </c:pt>
              <c:pt idx="2">
                <c:v>280200</c:v>
              </c:pt>
              <c:pt idx="3">
                <c:v>244588</c:v>
              </c:pt>
              <c:pt idx="4">
                <c:v>203827</c:v>
              </c:pt>
              <c:pt idx="5">
                <c:v>244006</c:v>
              </c:pt>
              <c:pt idx="6">
                <c:v>291473</c:v>
              </c:pt>
              <c:pt idx="7">
                <c:v>300105</c:v>
              </c:pt>
              <c:pt idx="8">
                <c:v>307281</c:v>
              </c:pt>
              <c:pt idx="9">
                <c:v>13607</c:v>
              </c:pt>
              <c:pt idx="10">
                <c:v>0</c:v>
              </c:pt>
              <c:pt idx="11">
                <c:v>202840</c:v>
              </c:pt>
              <c:pt idx="12">
                <c:v>247396</c:v>
              </c:pt>
              <c:pt idx="13">
                <c:v>276324</c:v>
              </c:pt>
              <c:pt idx="14">
                <c:v>285432</c:v>
              </c:pt>
              <c:pt idx="15">
                <c:v>279917</c:v>
              </c:pt>
              <c:pt idx="16">
                <c:v>269555</c:v>
              </c:pt>
              <c:pt idx="17">
                <c:v>245640</c:v>
              </c:pt>
              <c:pt idx="18">
                <c:v>175717</c:v>
              </c:pt>
              <c:pt idx="19">
                <c:v>222284</c:v>
              </c:pt>
              <c:pt idx="20">
                <c:v>249808</c:v>
              </c:pt>
              <c:pt idx="21">
                <c:v>294158</c:v>
              </c:pt>
              <c:pt idx="22">
                <c:v>298620</c:v>
              </c:pt>
              <c:pt idx="23">
                <c:v>301673</c:v>
              </c:pt>
              <c:pt idx="24">
                <c:v>253694</c:v>
              </c:pt>
              <c:pt idx="25">
                <c:v>226118</c:v>
              </c:pt>
              <c:pt idx="26">
                <c:v>282266</c:v>
              </c:pt>
              <c:pt idx="27">
                <c:v>287877</c:v>
              </c:pt>
              <c:pt idx="28">
                <c:v>300126</c:v>
              </c:pt>
              <c:pt idx="29">
                <c:v>305082</c:v>
              </c:pt>
              <c:pt idx="30">
                <c:v>305126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1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  <c:pt idx="30">
                <c:v>31</c:v>
              </c:pt>
            </c:numLit>
          </c:cat>
          <c:val>
            <c:numLit>
              <c:formatCode>0.0</c:formatCode>
              <c:ptCount val="31"/>
              <c:pt idx="0">
                <c:v>10.8764</c:v>
              </c:pt>
              <c:pt idx="1">
                <c:v>10.0489</c:v>
              </c:pt>
              <c:pt idx="2">
                <c:v>10.4533</c:v>
              </c:pt>
              <c:pt idx="3">
                <c:v>9.0394</c:v>
              </c:pt>
              <c:pt idx="4">
                <c:v>7.533</c:v>
              </c:pt>
              <c:pt idx="5">
                <c:v>9.0179</c:v>
              </c:pt>
              <c:pt idx="6">
                <c:v>10.7722</c:v>
              </c:pt>
              <c:pt idx="7">
                <c:v>11.0912</c:v>
              </c:pt>
              <c:pt idx="8">
                <c:v>11.3564</c:v>
              </c:pt>
              <c:pt idx="9">
                <c:v>0.5029</c:v>
              </c:pt>
              <c:pt idx="10">
                <c:v>0</c:v>
              </c:pt>
              <c:pt idx="11">
                <c:v>7.4965</c:v>
              </c:pt>
              <c:pt idx="12">
                <c:v>9.1432</c:v>
              </c:pt>
              <c:pt idx="13">
                <c:v>10.2123</c:v>
              </c:pt>
              <c:pt idx="14">
                <c:v>10.5489</c:v>
              </c:pt>
              <c:pt idx="15">
                <c:v>10.3451</c:v>
              </c:pt>
              <c:pt idx="16">
                <c:v>9.9621</c:v>
              </c:pt>
              <c:pt idx="17">
                <c:v>9.0783</c:v>
              </c:pt>
              <c:pt idx="18">
                <c:v>6.4941</c:v>
              </c:pt>
              <c:pt idx="19">
                <c:v>8.2151</c:v>
              </c:pt>
              <c:pt idx="20">
                <c:v>9.2323</c:v>
              </c:pt>
              <c:pt idx="21">
                <c:v>10.8714</c:v>
              </c:pt>
              <c:pt idx="22">
                <c:v>11.0363</c:v>
              </c:pt>
              <c:pt idx="23">
                <c:v>11.1491</c:v>
              </c:pt>
              <c:pt idx="24">
                <c:v>9.2461</c:v>
              </c:pt>
              <c:pt idx="25">
                <c:v>8.2411</c:v>
              </c:pt>
              <c:pt idx="26">
                <c:v>10.2874</c:v>
              </c:pt>
              <c:pt idx="27">
                <c:v>10.4919</c:v>
              </c:pt>
              <c:pt idx="28">
                <c:v>10.9383</c:v>
              </c:pt>
              <c:pt idx="29">
                <c:v>11.119</c:v>
              </c:pt>
              <c:pt idx="30">
                <c:v>11.1206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當日租借車次</c:v>
          </c:tx>
          <c:spPr>
            <a:solidFill xmlns:a="http://schemas.openxmlformats.org/drawingml/2006/main">
              <a:srgbClr val="4F81BD"/>
            </a:solidFill>
            <a:ln xmlns:a="http://schemas.openxmlformats.org/drawingml/2006/main" w="4763">
              <a:solidFill>
                <a:srgbClr val="4F81BD"/>
              </a:solidFill>
            </a:ln>
          </c:spP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#,##0</c:formatCode>
              <c:ptCount val="30"/>
              <c:pt idx="0">
                <c:v>306065</c:v>
              </c:pt>
              <c:pt idx="1">
                <c:v>304752</c:v>
              </c:pt>
              <c:pt idx="2">
                <c:v>296968</c:v>
              </c:pt>
              <c:pt idx="3">
                <c:v>195141</c:v>
              </c:pt>
              <c:pt idx="4">
                <c:v>79538</c:v>
              </c:pt>
              <c:pt idx="5">
                <c:v>250689</c:v>
              </c:pt>
              <c:pt idx="6">
                <c:v>189482</c:v>
              </c:pt>
              <c:pt idx="7">
                <c:v>161652</c:v>
              </c:pt>
              <c:pt idx="8">
                <c:v>94654</c:v>
              </c:pt>
              <c:pt idx="9">
                <c:v>160186</c:v>
              </c:pt>
              <c:pt idx="10">
                <c:v>175739</c:v>
              </c:pt>
              <c:pt idx="11">
                <c:v>153701</c:v>
              </c:pt>
              <c:pt idx="12">
                <c:v>259654</c:v>
              </c:pt>
              <c:pt idx="13">
                <c:v>118365</c:v>
              </c:pt>
              <c:pt idx="14">
                <c:v>269017</c:v>
              </c:pt>
              <c:pt idx="15">
                <c:v>257050</c:v>
              </c:pt>
              <c:pt idx="16">
                <c:v>250711</c:v>
              </c:pt>
              <c:pt idx="17">
                <c:v>236809</c:v>
              </c:pt>
              <c:pt idx="18">
                <c:v>213298</c:v>
              </c:pt>
              <c:pt idx="19">
                <c:v>223747</c:v>
              </c:pt>
              <c:pt idx="20">
                <c:v>209198</c:v>
              </c:pt>
              <c:pt idx="21">
                <c:v>280332</c:v>
              </c:pt>
              <c:pt idx="22">
                <c:v>292403</c:v>
              </c:pt>
              <c:pt idx="23">
                <c:v>292278</c:v>
              </c:pt>
              <c:pt idx="24">
                <c:v>141397</c:v>
              </c:pt>
              <c:pt idx="25">
                <c:v>117317</c:v>
              </c:pt>
              <c:pt idx="26">
                <c:v>139485</c:v>
              </c:pt>
              <c:pt idx="27">
                <c:v>166829</c:v>
              </c:pt>
              <c:pt idx="28">
                <c:v>284386</c:v>
              </c:pt>
              <c:pt idx="29">
                <c:v>285598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3500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每日用量與周轉率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C0504D"/>
              </a:solidFill>
              <a:prstDash val="solid"/>
            </a:ln>
          </c:spPr>
          <c:marker>
            <c:symbol val="square"/>
            <c:size val="6"/>
            <c:spPr>
              <a:solidFill xmlns:a="http://schemas.openxmlformats.org/drawingml/2006/main">
                <a:srgbClr val="C0504D"/>
              </a:solidFill>
            </c:spPr>
          </c:marker>
          <c:dPt>
            <c:idx val="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1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0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1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2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3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4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5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6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7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8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dPt>
            <c:idx val="29"/>
            <c:spPr>
              <a:solidFill xmlns:a="http://schemas.openxmlformats.org/drawingml/2006/main">
                <a:srgbClr val="C0504D"/>
              </a:solidFill>
              <a:ln xmlns:a="http://schemas.openxmlformats.org/drawingml/2006/main" w="9525">
                <a:solidFill>
                  <a:srgbClr val="C0504D"/>
                </a:solidFill>
              </a:ln>
            </c:spPr>
          </c:dPt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</c:formatCode>
              <c:ptCount val="30"/>
              <c:pt idx="0">
                <c:v>11.4182</c:v>
              </c:pt>
              <c:pt idx="1">
                <c:v>11.3692</c:v>
              </c:pt>
              <c:pt idx="2">
                <c:v>11.0788</c:v>
              </c:pt>
              <c:pt idx="3">
                <c:v>7.28</c:v>
              </c:pt>
              <c:pt idx="4">
                <c:v>2.9673</c:v>
              </c:pt>
              <c:pt idx="5">
                <c:v>9.3523</c:v>
              </c:pt>
              <c:pt idx="6">
                <c:v>7.0689</c:v>
              </c:pt>
              <c:pt idx="7">
                <c:v>6.0307</c:v>
              </c:pt>
              <c:pt idx="8">
                <c:v>3.5312</c:v>
              </c:pt>
              <c:pt idx="9">
                <c:v>5.976</c:v>
              </c:pt>
              <c:pt idx="10">
                <c:v>6.5562</c:v>
              </c:pt>
              <c:pt idx="11">
                <c:v>5.734</c:v>
              </c:pt>
              <c:pt idx="12">
                <c:v>9.6868</c:v>
              </c:pt>
              <c:pt idx="13">
                <c:v>4.4158</c:v>
              </c:pt>
              <c:pt idx="14">
                <c:v>10.0361</c:v>
              </c:pt>
              <c:pt idx="15">
                <c:v>9.5896</c:v>
              </c:pt>
              <c:pt idx="16">
                <c:v>9.3531</c:v>
              </c:pt>
              <c:pt idx="17">
                <c:v>8.8345</c:v>
              </c:pt>
              <c:pt idx="18">
                <c:v>7.9574</c:v>
              </c:pt>
              <c:pt idx="19">
                <c:v>8.3472</c:v>
              </c:pt>
              <c:pt idx="20">
                <c:v>7.8044</c:v>
              </c:pt>
              <c:pt idx="21">
                <c:v>10.4582</c:v>
              </c:pt>
              <c:pt idx="22">
                <c:v>10.9085</c:v>
              </c:pt>
              <c:pt idx="23">
                <c:v>10.9039</c:v>
              </c:pt>
              <c:pt idx="24">
                <c:v>5.275</c:v>
              </c:pt>
              <c:pt idx="25">
                <c:v>4.3767</c:v>
              </c:pt>
              <c:pt idx="26">
                <c:v>5.2037</c:v>
              </c:pt>
              <c:pt idx="27">
                <c:v>6.2238</c:v>
              </c:pt>
              <c:pt idx="28">
                <c:v>10.6094</c:v>
              </c:pt>
              <c:pt idx="29">
                <c:v>10.6547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r"/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臺北市 - 近六個月使用狀況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2.0用量</c:v>
          </c:tx>
          <c:spPr>
            <a:solidFill xmlns:a="http://schemas.openxmlformats.org/drawingml/2006/main">
              <a:srgbClr val="C0504D"/>
            </a:solidFill>
            <a:ln xmlns:a="http://schemas.openxmlformats.org/drawingml/2006/main" w="4763">
              <a:solidFill>
                <a:srgbClr val="C0504D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693.2456</c:v>
              </c:pt>
              <c:pt idx="1">
                <c:v>765.483</c:v>
              </c:pt>
              <c:pt idx="2">
                <c:v>597.0966</c:v>
              </c:pt>
              <c:pt idx="3">
                <c:v>708.1532</c:v>
              </c:pt>
              <c:pt idx="4">
                <c:v>670.7856</c:v>
              </c:pt>
              <c:pt idx="5">
                <c:v>690.8956</c:v>
              </c:pt>
            </c:numLit>
          </c:val>
        </c:ser>
        <c:ser>
          <c:idx val="1"/>
          <c:order val="1"/>
          <c:tx>
            <c:v>2.0E用量</c:v>
          </c:tx>
          <c:spPr>
            <a:solidFill xmlns:a="http://schemas.openxmlformats.org/drawingml/2006/main">
              <a:srgbClr val="9BBB59"/>
            </a:solidFill>
            <a:ln xmlns:a="http://schemas.openxmlformats.org/drawingml/2006/main" w="4763">
              <a:solidFill>
                <a:srgbClr val="9BBB59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45.6581</c:v>
              </c:pt>
              <c:pt idx="1">
                <c:v>54.315</c:v>
              </c:pt>
              <c:pt idx="2">
                <c:v>43.5473</c:v>
              </c:pt>
              <c:pt idx="3">
                <c:v>67.4111</c:v>
              </c:pt>
              <c:pt idx="4">
                <c:v>71.0468</c:v>
              </c:pt>
              <c:pt idx="5">
                <c:v>75.0729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0.0&quot;萬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臺北市 - 近六個月使用狀況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周轉率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81BD"/>
              </a:solidFill>
            </c:spPr>
          </c:marker>
          <c:dPt>
            <c:idx val="0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0.00</c:formatCode>
              <c:ptCount val="6"/>
              <c:pt idx="0">
                <c:v>9.41</c:v>
              </c:pt>
              <c:pt idx="1">
                <c:v>9.98</c:v>
              </c:pt>
              <c:pt idx="2">
                <c:v>7.96672387</c:v>
              </c:pt>
              <c:pt idx="3">
                <c:v>9.22323603</c:v>
              </c:pt>
              <c:pt idx="4">
                <c:v>8.72150702</c:v>
              </c:pt>
              <c:pt idx="5">
                <c:v>9.2411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1"/>
          <c:min val="5"/>
        </c:scaling>
        <c:delete val="0"/>
        <c:axPos val="r"/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臺北租賃方式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pieChart>
        <c:ser>
          <c:idx val="0"/>
          <c:order val="0"/>
          <c:tx>
            <c:v>臺北租賃方式</c:v>
          </c:tx>
          <c:dPt>
            <c:idx val="0"/>
            <c:spPr>
              <a:solidFill xmlns:a="http://schemas.openxmlformats.org/drawingml/2006/main">
                <a:srgbClr val="4F81BD"/>
              </a:solidFill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</c:spPr>
          </c:dPt>
          <c:dPt>
            <c:idx val="2"/>
            <c:spPr>
              <a:solidFill xmlns:a="http://schemas.openxmlformats.org/drawingml/2006/main">
                <a:srgbClr val="9BBB59"/>
              </a:solidFill>
            </c:spPr>
          </c:dPt>
          <c:dPt>
            <c:idx val="3"/>
            <c:spPr>
              <a:solidFill xmlns:a="http://schemas.openxmlformats.org/drawingml/2006/main">
                <a:srgbClr val="8064A2"/>
              </a:solidFill>
            </c:spPr>
          </c:dPt>
          <c:dPt>
            <c:idx val="4"/>
            <c:spPr>
              <a:solidFill xmlns:a="http://schemas.openxmlformats.org/drawingml/2006/main">
                <a:srgbClr val="4BACC6"/>
              </a:solidFill>
            </c:spPr>
          </c:dPt>
          <c:dPt>
            <c:idx val="5"/>
            <c:spPr>
              <a:solidFill xmlns:a="http://schemas.openxmlformats.org/drawingml/2006/main">
                <a:srgbClr val="F79646"/>
              </a:solidFill>
            </c:spPr>
          </c:dPt>
          <c:dPt>
            <c:idx val="6"/>
            <c:spPr>
              <a:solidFill xmlns:a="http://schemas.openxmlformats.org/drawingml/2006/main">
                <a:srgbClr val="FCD5B4"/>
              </a:solidFill>
            </c:spPr>
          </c:dPt>
          <c:cat>
            <c:strLit>
              <c:ptCount val="5"/>
              <c:pt idx="0">
                <c:v>悠遊卡</c:v>
              </c:pt>
              <c:pt idx="1">
                <c:v>掃碼租車</c:v>
              </c:pt>
              <c:pt idx="2">
                <c:v>一卡通</c:v>
              </c:pt>
              <c:pt idx="3">
                <c:v>悠遊付</c:v>
              </c:pt>
              <c:pt idx="4">
                <c:v>單次租車</c:v>
              </c:pt>
            </c:strLit>
          </c:cat>
          <c:val>
            <c:numLit>
              <c:formatCode>General</c:formatCode>
              <c:ptCount val="5"/>
              <c:pt idx="0">
                <c:v>5985089</c:v>
              </c:pt>
              <c:pt idx="1">
                <c:v>1100657</c:v>
              </c:pt>
              <c:pt idx="2">
                <c:v>309682</c:v>
              </c:pt>
              <c:pt idx="3">
                <c:v>245155</c:v>
              </c:pt>
              <c:pt idx="4">
                <c:v>19102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悠遊卡借車方式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pieChart>
        <c:ser>
          <c:idx val="0"/>
          <c:order val="0"/>
          <c:tx>
            <c:v>悠遊卡借車方式</c:v>
          </c:tx>
          <c:dPt>
            <c:idx val="0"/>
            <c:spPr>
              <a:solidFill xmlns:a="http://schemas.openxmlformats.org/drawingml/2006/main">
                <a:srgbClr val="4F81BD"/>
              </a:solidFill>
            </c:spPr>
          </c:dPt>
          <c:dPt>
            <c:idx val="1"/>
            <c:spPr>
              <a:solidFill xmlns:a="http://schemas.openxmlformats.org/drawingml/2006/main">
                <a:srgbClr val="C0504D"/>
              </a:solidFill>
            </c:spPr>
          </c:dPt>
          <c:dPt>
            <c:idx val="2"/>
            <c:spPr>
              <a:solidFill xmlns:a="http://schemas.openxmlformats.org/drawingml/2006/main">
                <a:srgbClr val="9BBB59"/>
              </a:solidFill>
            </c:spPr>
          </c:dPt>
          <c:cat>
            <c:strLit>
              <c:ptCount val="3"/>
              <c:pt idx="0">
                <c:v>一般卡</c:v>
              </c:pt>
              <c:pt idx="1">
                <c:v>月票</c:v>
              </c:pt>
              <c:pt idx="2">
                <c:v>敬老</c:v>
              </c:pt>
            </c:strLit>
          </c:cat>
          <c:val>
            <c:numLit>
              <c:formatCode>General</c:formatCode>
              <c:ptCount val="3"/>
              <c:pt idx="0">
                <c:v>4085209</c:v>
              </c:pt>
              <c:pt idx="1">
                <c:v>1190824</c:v>
              </c:pt>
              <c:pt idx="2">
                <c:v>709056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38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dLblPos val="bestFit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Chart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88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使用次數／見車率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2.0用量</c:v>
          </c:tx>
          <c:spPr>
            <a:solidFill xmlns:a="http://schemas.openxmlformats.org/drawingml/2006/main">
              <a:srgbClr val="C0504D"/>
            </a:solidFill>
            <a:ln xmlns:a="http://schemas.openxmlformats.org/drawingml/2006/main" w="4763">
              <a:solidFill>
                <a:srgbClr val="C0504D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693.2456</c:v>
              </c:pt>
              <c:pt idx="1">
                <c:v>765.483</c:v>
              </c:pt>
              <c:pt idx="2">
                <c:v>597.0966</c:v>
              </c:pt>
              <c:pt idx="3">
                <c:v>708.1532</c:v>
              </c:pt>
              <c:pt idx="4">
                <c:v>670.7856</c:v>
              </c:pt>
              <c:pt idx="5">
                <c:v>690.8956</c:v>
              </c:pt>
            </c:numLit>
          </c:val>
        </c:ser>
        <c:ser>
          <c:idx val="1"/>
          <c:order val="1"/>
          <c:tx>
            <c:v>2.0E用量</c:v>
          </c:tx>
          <c:spPr>
            <a:solidFill xmlns:a="http://schemas.openxmlformats.org/drawingml/2006/main">
              <a:srgbClr val="9BBB59"/>
            </a:solidFill>
            <a:ln xmlns:a="http://schemas.openxmlformats.org/drawingml/2006/main" w="4763">
              <a:solidFill>
                <a:srgbClr val="9BBB59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45.6581</c:v>
              </c:pt>
              <c:pt idx="1">
                <c:v>54.315</c:v>
              </c:pt>
              <c:pt idx="2">
                <c:v>43.5473</c:v>
              </c:pt>
              <c:pt idx="3">
                <c:v>67.4111</c:v>
              </c:pt>
              <c:pt idx="4">
                <c:v>71.0468</c:v>
              </c:pt>
              <c:pt idx="5">
                <c:v>75.0729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0.0&quot;萬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使用次數／見車率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見車率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81BD"/>
              </a:solidFill>
            </c:spPr>
          </c:marker>
          <c:dPt>
            <c:idx val="0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0.00%</c:formatCode>
              <c:ptCount val="6"/>
              <c:pt idx="0">
                <c:v>0.9552</c:v>
              </c:pt>
              <c:pt idx="1">
                <c:v>0.9439</c:v>
              </c:pt>
              <c:pt idx="2">
                <c:v>0.96257967</c:v>
              </c:pt>
              <c:pt idx="3">
                <c:v>0.95449915</c:v>
              </c:pt>
              <c:pt idx="4">
                <c:v>0.95923493</c:v>
              </c:pt>
              <c:pt idx="5">
                <c:v>0.94670526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"/>
        </c:scaling>
        <c:delete val="0"/>
        <c:axPos val="r"/>
        <c:numFmt formatCode="0.0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0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使用次數／見位率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2.0用量</c:v>
          </c:tx>
          <c:spPr>
            <a:solidFill xmlns:a="http://schemas.openxmlformats.org/drawingml/2006/main">
              <a:srgbClr val="C0504D"/>
            </a:solidFill>
            <a:ln xmlns:a="http://schemas.openxmlformats.org/drawingml/2006/main" w="4763">
              <a:solidFill>
                <a:srgbClr val="C0504D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693.2456</c:v>
              </c:pt>
              <c:pt idx="1">
                <c:v>765.483</c:v>
              </c:pt>
              <c:pt idx="2">
                <c:v>597.0966</c:v>
              </c:pt>
              <c:pt idx="3">
                <c:v>708.1532</c:v>
              </c:pt>
              <c:pt idx="4">
                <c:v>670.7856</c:v>
              </c:pt>
              <c:pt idx="5">
                <c:v>690.8956</c:v>
              </c:pt>
            </c:numLit>
          </c:val>
        </c:ser>
        <c:ser>
          <c:idx val="1"/>
          <c:order val="1"/>
          <c:tx>
            <c:v>2.0E用量</c:v>
          </c:tx>
          <c:spPr>
            <a:solidFill xmlns:a="http://schemas.openxmlformats.org/drawingml/2006/main">
              <a:srgbClr val="9BBB59"/>
            </a:solidFill>
            <a:ln xmlns:a="http://schemas.openxmlformats.org/drawingml/2006/main" w="4763">
              <a:solidFill>
                <a:srgbClr val="9BBB59"/>
              </a:solidFill>
            </a:ln>
          </c:spPr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0.0"萬"</c:formatCode>
              <c:ptCount val="6"/>
              <c:pt idx="0">
                <c:v>45.6581</c:v>
              </c:pt>
              <c:pt idx="1">
                <c:v>54.315</c:v>
              </c:pt>
              <c:pt idx="2">
                <c:v>43.5473</c:v>
              </c:pt>
              <c:pt idx="3">
                <c:v>67.4111</c:v>
              </c:pt>
              <c:pt idx="4">
                <c:v>71.0468</c:v>
              </c:pt>
              <c:pt idx="5">
                <c:v>75.0729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7620">
            <a:solidFill>
              <a:srgbClr val="D9D9D9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90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D9D9"/>
              </a:solidFill>
              <a:prstDash val="solid"/>
            </a:ln>
          </c:spPr>
        </c:majorGridlines>
        <c:numFmt formatCode="0.0&quot;萬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1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使用次數／見位率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75" b="1">
              <a:solidFill>
                <a:srgbClr val="333333"/>
              </a:solidFill>
              <a:latin typeface="微軟正黑體"/>
              <a:ea typeface="微軟正黑體"/>
              <a:cs typeface="微軟正黑體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見位率</c:v>
          </c:tx>
          <c:spPr>
            <a:ln xmlns:a="http://schemas.openxmlformats.org/drawingml/2006/main" w="28575">
              <a:solidFill>
                <a:srgbClr val="4F81BD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F81BD"/>
              </a:solidFill>
            </c:spPr>
          </c:marker>
          <c:dPt>
            <c:idx val="0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1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2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3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4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dPt>
            <c:idx val="5"/>
            <c:spPr>
              <a:solidFill xmlns:a="http://schemas.openxmlformats.org/drawingml/2006/main">
                <a:srgbClr val="4F81BD"/>
              </a:solidFill>
              <a:ln xmlns:a="http://schemas.openxmlformats.org/drawingml/2006/main" w="9525">
                <a:solidFill>
                  <a:srgbClr val="4F81BD"/>
                </a:solidFill>
              </a:ln>
            </c:spPr>
          </c:dPt>
          <c:cat>
            <c:strLit>
              <c:ptCount val="6"/>
              <c:pt idx="0">
                <c:v>4月</c:v>
              </c:pt>
              <c:pt idx="1">
                <c:v>5月</c:v>
              </c:pt>
              <c:pt idx="2">
                <c:v>6月</c:v>
              </c:pt>
              <c:pt idx="3">
                <c:v>7月</c:v>
              </c:pt>
              <c:pt idx="4">
                <c:v>8月</c:v>
              </c:pt>
              <c:pt idx="5">
                <c:v>9月</c:v>
              </c:pt>
            </c:strLit>
          </c:cat>
          <c:val>
            <c:numLit>
              <c:formatCode>0.00%</c:formatCode>
              <c:ptCount val="6"/>
              <c:pt idx="0">
                <c:v>0.9818</c:v>
              </c:pt>
              <c:pt idx="1">
                <c:v>0.9807</c:v>
              </c:pt>
              <c:pt idx="2">
                <c:v>0.98270017</c:v>
              </c:pt>
              <c:pt idx="3">
                <c:v>0.97893697</c:v>
              </c:pt>
              <c:pt idx="4">
                <c:v>0.97928507</c:v>
              </c:pt>
              <c:pt idx="5">
                <c:v>0.98088087</c:v>
              </c:pt>
            </c:numLit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333333"/>
                  </a:solidFill>
                  <a:latin typeface="微軟正黑體"/>
                  <a:ea typeface="微軟正黑體"/>
                  <a:cs typeface="微軟正黑體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95"/>
        </c:scaling>
        <c:delete val="0"/>
        <c:axPos val="r"/>
        <c:numFmt formatCode="0.00%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FFFFF"/>
                </a:solidFill>
                <a:latin typeface="微軟正黑體"/>
                <a:ea typeface="微軟正黑體"/>
                <a:cs typeface="微軟正黑體"/>
              </a:defRPr>
            </a:pPr>
          </a:p>
        </c:txPr>
        <c:crossAx val="48650112"/>
        <c:crossBetween val="between"/>
        <c:majorUnit val="0.0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6bf75850b4b4f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84780-B88B-4CA4-BE5C-69162029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臺北市公共自行車租賃系統建置及營運管理工作小組會議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464D6-4C84-42BC-8B4C-4929A74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7505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臺北市公共自行車租賃系統</a:t>
            </a:r>
          </a:p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建置及營運管理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14F74-ED25-4D4D-9E23-AB15A094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571875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2026年6–9月營運報告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B6DA6-65E6-40E2-89B6-97936BBD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957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9月完整資料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37268428246fe"/>
          <a:stretch xmlns:a="http://schemas.openxmlformats.org/drawingml/2006/main"/>
        </p:blipFill>
        <p:spPr>
          <a:xfrm xmlns:a="http://schemas.openxmlformats.org/drawingml/2006/main">
            <a:off x="3286125" y="4749089"/>
            <a:ext cx="2571750" cy="9793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8737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765ce9ba44eeb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2">
            <a:extLst xmlns:a="http://schemas.openxmlformats.org/drawingml/2006/main">
              <a:ext uri="{FF2B5EF4-FFF2-40B4-BE49-F238E27FC236}">
                <a16:creationId xmlns:a16="http://schemas.microsoft.com/office/drawing/2014/main" id="{4D635028-50B7-49F6-91C0-1FBC6ED3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3" name="標題-報告議題大綱">
            <a:extLst xmlns:a="http://schemas.openxmlformats.org/drawingml/2006/main">
              <a:ext uri="{FF2B5EF4-FFF2-40B4-BE49-F238E27FC236}">
                <a16:creationId xmlns:a16="http://schemas.microsoft.com/office/drawing/2014/main" id="{6CD1F2B2-18CE-48D2-9105-B5DDD4FB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報告議題大綱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7DE4C-7D32-4F93-A815-3617F704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781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一、YouBike 2.0營運績效分析報告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2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二、場站分群服務水準</a:t>
            </a:r>
          </a:p>
        </p:txBody>
      </p:sp>
    </p:spTree>
    <p:extLst>
      <p:ext uri="{BB962C8B-B14F-4D97-AF65-F5344CB8AC3E}">
        <p14:creationId xmlns:p14="http://schemas.microsoft.com/office/powerpoint/2010/main" val="795851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849e1d7e4498e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7D925-B247-476D-AA5E-F949291B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議題一：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94D52-1D56-4FAB-A360-55B9C5D4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86125"/>
            <a:ext cx="523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325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YouBike 2.0營運績效分析報告</a:t>
            </a:r>
          </a:p>
        </p:txBody>
      </p:sp>
    </p:spTree>
    <p:extLst>
      <p:ext uri="{BB962C8B-B14F-4D97-AF65-F5344CB8AC3E}">
        <p14:creationId xmlns:p14="http://schemas.microsoft.com/office/powerpoint/2010/main" val="3682517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cfafe8d2a46df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4">
            <a:extLst xmlns:a="http://schemas.openxmlformats.org/drawingml/2006/main">
              <a:ext uri="{FF2B5EF4-FFF2-40B4-BE49-F238E27FC236}">
                <a16:creationId xmlns:a16="http://schemas.microsoft.com/office/drawing/2014/main" id="{03A6E13A-F955-4215-8FB0-5C745C1A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3" name="標題-臺北市－2.0周轉率(9月)">
            <a:extLst xmlns:a="http://schemas.openxmlformats.org/drawingml/2006/main">
              <a:ext uri="{FF2B5EF4-FFF2-40B4-BE49-F238E27FC236}">
                <a16:creationId xmlns:a16="http://schemas.microsoft.com/office/drawing/2014/main" id="{89F9BEC8-8982-4417-BD8E-9886B918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臺北市－2.0周轉率(9月)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3238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6,908,956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750,729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7,659,685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230,299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25,024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255,323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1,808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1,808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23,129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4,500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27,629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DA75F-0C2F-478B-A4C6-EAF09EBA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66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9月總用量 766.0萬</a:t>
            </a:r>
          </a:p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較8月 +3.3%</a:t>
            </a:r>
          </a:p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日均用量 25.5萬</a:t>
            </a:r>
          </a:p>
          <a:p xmlns:a="http://schemas.openxmlformats.org/drawingml/2006/main">
            <a:pPr algn="l">
              <a:def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650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2.0E占比 9.8%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94DC1-0F4E-41B5-B5AA-5D5B1CEA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9/1～9/30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e44d6ca5a246b2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0411741d7af470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62F58-A1BB-4A35-8965-CE2DB014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5D55B-E8D8-4243-8B19-0A3806DB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5E375-8C98-4A0D-8C3D-EBF1A755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30A63-B931-420C-95A2-8C38B201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8B158-FFDB-4E88-BD1B-22CA068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2C3EC-B19A-47A1-BCFF-4D3E024F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4F8F5-1EF3-4F47-97EA-F7A808A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DE55E-2385-48B1-853E-9AE1E24B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EADA25-59E6-4549-AADC-FACBEBF8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F4B58-184A-4ABB-90EE-08F48F72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75E57-E60A-40FB-820E-88F64BB4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180825-1E4F-462A-86CD-3557C7E8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C8925-ECB3-4120-BC4F-CB725894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5A45A3-DA07-45F0-8060-E8395BB4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BC3E0-EB24-440A-8B9C-4D4C4119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註：2.0E與2.0共站，營運站數不重複相加。</a:t>
            </a:r>
          </a:p>
        </p:txBody>
      </p:sp>
    </p:spTree>
    <p:extLst>
      <p:ext uri="{BB962C8B-B14F-4D97-AF65-F5344CB8AC3E}">
        <p14:creationId xmlns:p14="http://schemas.microsoft.com/office/powerpoint/2010/main" val="861719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971fcdd9140eb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5">
            <a:extLst xmlns:a="http://schemas.openxmlformats.org/drawingml/2006/main">
              <a:ext uri="{FF2B5EF4-FFF2-40B4-BE49-F238E27FC236}">
                <a16:creationId xmlns:a16="http://schemas.microsoft.com/office/drawing/2014/main" id="{4144EA02-D581-4699-B5D3-0E4AE6B2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3" name="標題-臺北市－2.0周轉率(8月)">
            <a:extLst xmlns:a="http://schemas.openxmlformats.org/drawingml/2006/main">
              <a:ext uri="{FF2B5EF4-FFF2-40B4-BE49-F238E27FC236}">
                <a16:creationId xmlns:a16="http://schemas.microsoft.com/office/drawing/2014/main" id="{02796B95-9589-4F79-A090-21294FCB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臺北市－2.0周轉率(8月)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3238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6,707,856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710,468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7,418,324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216,382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22,918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239,301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23,088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4,350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27,438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A667C-8B56-4F7A-9DB0-931A7EB7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42950"/>
            <a:ext cx="3143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8月總用量 741.8萬</a:t>
            </a:r>
          </a:p>
          <a:p xmlns:a="http://schemas.openxmlformats.org/drawingml/2006/main"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較7月 -4.3%</a:t>
            </a:r>
          </a:p>
          <a:p xmlns:a="http://schemas.openxmlformats.org/drawingml/2006/main">
            <a:pPr algn="l">
              <a:def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725" b="1">
                <a:solidFill>
                  <a:srgbClr val="C0504D"/>
                </a:solidFill>
                <a:latin typeface="微軟正黑體"/>
                <a:ea typeface="微軟正黑體"/>
                <a:cs typeface="微軟正黑體"/>
              </a:rPr>
              <a:t>2.0E占比 9.6%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E7F834-485B-49FC-BCD3-333877A4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8/1～8/31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a6615766684288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c0499ca4a0411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8D03-36F5-4E8C-817F-A703B826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B6B0A-A8C0-40D2-A632-8ED3F7BB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5E78A-18B6-4D50-A4DB-CBACF48B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2EF59-070F-452B-AB12-638F483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C6CBD-77DE-491F-8793-DC41A78F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FD72C-739D-4F5E-877B-6CD4667B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AF4DE-80FB-4EFF-9D8C-35BB867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CFCC1A-14C1-4A94-89AC-33094EF0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DF5CA-1535-4FF4-8D71-EE11FEE1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5BC07-31F7-43B0-A763-861C4324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06F0A5-566A-4152-A689-157D8388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B9F22-6FF2-4554-9AF4-2E79526A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9CACE-0715-4BCE-B7E2-A326EE1E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CC5CA-D411-4F3C-9C86-14FCFE9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29991-62E1-4FCA-B358-3CBEE285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註：2.0E與2.0共站，營運站數不重複相加。</a:t>
            </a:r>
          </a:p>
        </p:txBody>
      </p:sp>
    </p:spTree>
    <p:extLst>
      <p:ext uri="{BB962C8B-B14F-4D97-AF65-F5344CB8AC3E}">
        <p14:creationId xmlns:p14="http://schemas.microsoft.com/office/powerpoint/2010/main" val="14775925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55f860f784452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6">
            <a:extLst xmlns:a="http://schemas.openxmlformats.org/drawingml/2006/main">
              <a:ext uri="{FF2B5EF4-FFF2-40B4-BE49-F238E27FC236}">
                <a16:creationId xmlns:a16="http://schemas.microsoft.com/office/drawing/2014/main" id="{8416E991-07C1-4EB3-986C-1C8F4870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3" name="標題-臺北市－2.0周轉率(7月)">
            <a:extLst xmlns:a="http://schemas.openxmlformats.org/drawingml/2006/main">
              <a:ext uri="{FF2B5EF4-FFF2-40B4-BE49-F238E27FC236}">
                <a16:creationId xmlns:a16="http://schemas.microsoft.com/office/drawing/2014/main" id="{6C2B4357-82E8-4739-B853-0687C2E5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臺北市－2.0周轉率(7月)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23812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7,081,532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674,111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7,755,643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228,437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21,746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250,182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5.30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9.12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1,783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23,088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4,350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27,438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13E1E-419F-46A9-8522-5B41BC59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7/1～7/31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93fc59acee42f7"/>
          </a:graphicData>
        </a:graphic>
      </p:graphicFrame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d708774f084cc8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E2CBF-34C5-493C-B801-E66CFA5D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D54D0-D84E-4950-B41E-CFD4777D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81CCF-CB6A-4E37-933C-21E711C7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C1E84-7E44-46CA-9FE7-6FC6553C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761C8-1C39-44EB-9F96-BE70C741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97F8E-4AA1-4150-A56A-F37EAAC6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6413C5-0A3B-4801-8D37-6B90032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E8C52-F5B9-475B-83FF-F06BF13B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622F2-1612-40D4-9BF4-1C91F093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E51FE-5207-4B2A-9B8C-2D2DE230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4E60A9-20BA-459E-9031-EDF223D5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876ABA-0C07-439F-8106-4E2A6C0F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21811-F22F-4476-B4C2-6FC72BA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4FEED9-0903-4220-BB08-EBE80F7D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92D12-4C1D-47C8-9C21-14786514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註：2.0E與2.0共站，營運站數不重複相加。</a:t>
            </a:r>
          </a:p>
        </p:txBody>
      </p:sp>
    </p:spTree>
    <p:extLst>
      <p:ext uri="{BB962C8B-B14F-4D97-AF65-F5344CB8AC3E}">
        <p14:creationId xmlns:p14="http://schemas.microsoft.com/office/powerpoint/2010/main" val="433967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4cdfd7468490f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7">
            <a:extLst xmlns:a="http://schemas.openxmlformats.org/drawingml/2006/main">
              <a:ext uri="{FF2B5EF4-FFF2-40B4-BE49-F238E27FC236}">
                <a16:creationId xmlns:a16="http://schemas.microsoft.com/office/drawing/2014/main" id="{2BC88882-F14F-47BE-B44E-DDA244F4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3" name="標題-臺北市－2.0周轉率(6月)">
            <a:extLst xmlns:a="http://schemas.openxmlformats.org/drawingml/2006/main">
              <a:ext uri="{FF2B5EF4-FFF2-40B4-BE49-F238E27FC236}">
                <a16:creationId xmlns:a16="http://schemas.microsoft.com/office/drawing/2014/main" id="{37995DDA-7C51-41BB-ABA4-A99F8BDC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臺北市－2.0周轉率(6月)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2381250" y="666750"/>
          <a:ext xmlns:a="http://schemas.openxmlformats.org/drawingml/2006/main" cx="4572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5,970,966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435,473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6,406,439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日均使用次數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199,032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14,516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213,548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日均周轉率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8.67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3.77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7.97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營運站數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共站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7622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車輛數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22,955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26,805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E7C31-1DBD-4538-9882-A261F450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24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6/1～6/30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7224fbd2594644"/>
          </a:graphicData>
        </a:graphic>
      </p:graphicFrame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361950" y="2571750"/>
          <a:ext xmlns:a="http://schemas.openxmlformats.org/drawingml/2006/main" cx="84201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838f36d4f548d2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09F5A-0C06-4AB5-8CC7-71DC6D35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76950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AE6C5-BE87-4D6A-962D-1D99117B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當日租借車次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06191-4660-466E-A843-32D68B7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341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050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EE46-EA2D-45CC-BDBF-2A1F54DB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6086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2821B-083A-4244-A2CF-8E173247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29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1DD65-0489-4092-8C8B-09123461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952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323D4-925B-49DD-B224-254DA387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28136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B77CA-BDE0-4CEE-AC35-23280334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6099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CA17C-A4D3-4052-8194-2E55259F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9385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86BC96-77B2-43B8-9CF5-1B22F2EF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2672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2BB74-702C-4AD0-BB30-2CEA0880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5958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D2755-313F-4E43-9E45-18DA2F2E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49244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CAEC3-49A2-46C2-923B-8A2CF272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2530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EE1EC-8318-4DCA-8861-82CB25B0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5816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D58801-1064-45A5-9A95-5F0275F3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150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註：2.0E與2.0共站，營運站數不重複相加。</a:t>
            </a:r>
          </a:p>
        </p:txBody>
      </p:sp>
    </p:spTree>
    <p:extLst>
      <p:ext uri="{BB962C8B-B14F-4D97-AF65-F5344CB8AC3E}">
        <p14:creationId xmlns:p14="http://schemas.microsoft.com/office/powerpoint/2010/main" val="12628101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c69a88a3a4178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8">
            <a:extLst xmlns:a="http://schemas.openxmlformats.org/drawingml/2006/main">
              <a:ext uri="{FF2B5EF4-FFF2-40B4-BE49-F238E27FC236}">
                <a16:creationId xmlns:a16="http://schemas.microsoft.com/office/drawing/2014/main" id="{FC1B2BEA-3561-4DB0-B8FD-93AD844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3" name="標題-臺北市 - 近六個月使用狀況">
            <a:extLst xmlns:a="http://schemas.openxmlformats.org/drawingml/2006/main">
              <a:ext uri="{FF2B5EF4-FFF2-40B4-BE49-F238E27FC236}">
                <a16:creationId xmlns:a16="http://schemas.microsoft.com/office/drawing/2014/main" id="{903E5E1A-638A-495F-AB0E-C65919FC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臺北市 - 近六個月使用狀況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aa534a7ce8d4004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ef6de35996420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93EBCF-67D8-4E62-B834-FE250538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3446A-5B42-4324-9B99-C508F13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24793-2AEE-4BA6-8DDC-EC702B06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4763">
            <a:solidFill>
              <a:srgbClr val="9BBB5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DF9D7-D98F-4264-80C4-E89E812C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2.0E用量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ACC1E-2AB8-4874-B165-0C598167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76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81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DC687-F1B4-4041-B27F-039BD999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2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E09FF0-2AB2-4346-BD7C-EA21B8D9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周轉率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6E46A-CD12-4445-BFEB-1AC4FAF4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0AEF9-5B63-4F3D-B5EF-445E9A1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518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D09E7D-F818-4617-A006-2DDCCAAA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98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C1F43-2DF0-4999-8084-0F5E3FC5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62313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BAFCA-DECA-4184-B870-78F598FA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5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BA5C97-9100-4FC2-8EA2-25C1CFE9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9438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C7FD8-BD8F-4077-88DB-D6605B1A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3DC390-FAC6-4BE4-87C5-1D2F418A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4–9月累計 4482.7萬次</a:t>
            </a:r>
          </a:p>
        </p:txBody>
      </p:sp>
    </p:spTree>
    <p:extLst>
      <p:ext uri="{BB962C8B-B14F-4D97-AF65-F5344CB8AC3E}">
        <p14:creationId xmlns:p14="http://schemas.microsoft.com/office/powerpoint/2010/main" val="591205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1e979d12443e0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9">
            <a:extLst xmlns:a="http://schemas.openxmlformats.org/drawingml/2006/main">
              <a:ext uri="{FF2B5EF4-FFF2-40B4-BE49-F238E27FC236}">
                <a16:creationId xmlns:a16="http://schemas.microsoft.com/office/drawing/2014/main" id="{3512A5CA-2E0B-4DD5-9575-D759FF63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3" name="標題-卡片使用狀況（9月）">
            <a:extLst xmlns:a="http://schemas.openxmlformats.org/drawingml/2006/main">
              <a:ext uri="{FF2B5EF4-FFF2-40B4-BE49-F238E27FC236}">
                <a16:creationId xmlns:a16="http://schemas.microsoft.com/office/drawing/2014/main" id="{943D9786-300A-4574-9FAF-7427FC26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卡片使用狀況（9月）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361950" y="590550"/>
          <a:ext xmlns:a="http://schemas.openxmlformats.org/drawingml/2006/main" cx="409575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3938"/>
                <a:gridCol w="1023938"/>
                <a:gridCol w="1023938"/>
                <a:gridCol w="1023938"/>
              </a:tblGrid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租賃方式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悠遊卡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5,388,615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596,474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5,985,089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掃碼租車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990,341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110,316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1,100,657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一卡通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285,856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23,826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309,682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悠遊付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229,624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15,531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245,155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單次租車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14,520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4,582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19,102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333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6,908,956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750,729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7,659,685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4953000" y="590550"/>
          <a:ext xmlns:a="http://schemas.openxmlformats.org/drawingml/2006/main" cx="3857625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64406"/>
                <a:gridCol w="964406"/>
                <a:gridCol w="964406"/>
                <a:gridCol w="964406"/>
              </a:tblGrid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借車方式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2.0E次數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一般卡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3,802,405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282,804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4,085,209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月票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1,142,126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48,698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1,190,824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敬老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444,084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264,972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709,056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  <a:tr h="3619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合計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5,388,615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596,474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5,985,089</a:t>
                      </a:r>
                    </a:p>
                  </a:txBody>
                  <a:tcPr marL="91440" marR="91440" marT="45720" marB="45720" anchor="ctr">
                    <a:solidFill>
                      <a:srgbClr val="FCD5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3429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8dd4aeaee14ecd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191125" y="3143250"/>
          <a:ext xmlns:a="http://schemas.openxmlformats.org/drawingml/2006/main" cx="31432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78e5182d3484fc4"/>
          </a:graphicData>
        </a:graphic>
      </p:graphicFrame>
    </p:spTree>
    <p:extLst>
      <p:ext uri="{BB962C8B-B14F-4D97-AF65-F5344CB8AC3E}">
        <p14:creationId xmlns:p14="http://schemas.microsoft.com/office/powerpoint/2010/main" val="14915088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f3f0c4acf49c1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0">
            <a:extLst xmlns:a="http://schemas.openxmlformats.org/drawingml/2006/main">
              <a:ext uri="{FF2B5EF4-FFF2-40B4-BE49-F238E27FC236}">
                <a16:creationId xmlns:a16="http://schemas.microsoft.com/office/drawing/2014/main" id="{C2D1BD74-A6E4-406B-A114-976AD79A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3" name="標題-使用次數／見車率">
            <a:extLst xmlns:a="http://schemas.openxmlformats.org/drawingml/2006/main">
              <a:ext uri="{FF2B5EF4-FFF2-40B4-BE49-F238E27FC236}">
                <a16:creationId xmlns:a16="http://schemas.microsoft.com/office/drawing/2014/main" id="{A03CABE8-7BCF-4C7C-9D1B-9E189DE7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使用次數／見車率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160e9e6bda94215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8a06e914b8425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33E91C-FAA9-4404-9ACB-3DC12785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9B5FD-DFB1-47CF-935A-691FBE22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86A83-C352-4946-B44A-CFFFB25E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4763">
            <a:solidFill>
              <a:srgbClr val="9BBB5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593E8-71B2-4BA8-8E2B-9CCE22FE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2.0E用量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7CA5B-0090-4766-B5F3-0110A3B3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76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81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2FB86F-E9E5-488B-B17B-473A8F70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2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43C430-D2A1-4905-B486-6DD4C3796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見車率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423A6-B2C7-4999-9A40-83E91E83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DF663-2EA4-43D0-85A0-38863316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483342-56A3-49F9-B693-3EBCC26B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E8B27-A608-45E7-946A-ACE2FB74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94%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844B2-B355-4168-9392-24CC61E0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B6C1E0-AF82-4D1F-85CD-5180FE24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E3535-87EC-45F5-80C1-A3C90BB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 94.67%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3BE15D-F7D7-4158-9FBB-302C693B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4–5月沿用前期報告；6–9月為有效場站6–24時月率平均</a:t>
            </a:r>
          </a:p>
        </p:txBody>
      </p:sp>
    </p:spTree>
    <p:extLst>
      <p:ext uri="{BB962C8B-B14F-4D97-AF65-F5344CB8AC3E}">
        <p14:creationId xmlns:p14="http://schemas.microsoft.com/office/powerpoint/2010/main" val="16882588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ab5f0b7d4d40a3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1">
            <a:extLst xmlns:a="http://schemas.openxmlformats.org/drawingml/2006/main">
              <a:ext uri="{FF2B5EF4-FFF2-40B4-BE49-F238E27FC236}">
                <a16:creationId xmlns:a16="http://schemas.microsoft.com/office/drawing/2014/main" id="{0AFBF1E9-7393-42D0-97B8-6B37842F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3" name="標題-使用次數／見位率">
            <a:extLst xmlns:a="http://schemas.openxmlformats.org/drawingml/2006/main">
              <a:ext uri="{FF2B5EF4-FFF2-40B4-BE49-F238E27FC236}">
                <a16:creationId xmlns:a16="http://schemas.microsoft.com/office/drawing/2014/main" id="{C7E98E6B-25B1-4E79-B05D-0E74A65B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使用次數／見位率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a733914b384f37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57200" y="1047750"/>
          <a:ext xmlns:a="http://schemas.openxmlformats.org/drawingml/2006/main" cx="82296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3ee124ffac49e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01A2B-23B0-4731-B0CA-60E937A8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04D"/>
          </a:solidFill>
          <a:ln xmlns:a="http://schemas.openxmlformats.org/drawingml/2006/main" w="4763">
            <a:solidFill>
              <a:srgbClr val="C0504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3F3BE-5CFE-4509-A7E9-844F7228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1FA13B-00F5-43C7-8A9F-7F45BDC8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819775"/>
            <a:ext cx="285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B59"/>
          </a:solidFill>
          <a:ln xmlns:a="http://schemas.openxmlformats.org/drawingml/2006/main" w="4763">
            <a:solidFill>
              <a:srgbClr val="9BBB5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11A35-B03D-48DE-86B4-B040E153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2.0E用量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34338-BF22-4CF1-8A1F-EBA2CF61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7692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F81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4094F-C15C-46F2-8DB2-53BE904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829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1BD"/>
          </a:solidFill>
          <a:ln xmlns:a="http://schemas.openxmlformats.org/drawingml/2006/main" w="4763">
            <a:solidFill>
              <a:srgbClr val="4F81B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F6BAD-1689-4AF1-BF95-8B732D2D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721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見位率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1441E-30F7-407A-9BCC-72B7BE93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716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4DA25-C380-46CD-B88A-99C356B5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47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2CC56-B1C1-4A1D-993C-64016092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241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4B1DE5-FEA6-4C43-9B2A-4308B543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97%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0A184-BE27-4CB7-918B-CE1A4AD8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76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96%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E3C0E-9BD4-4974-B158-EC497757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13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408C7-1369-42E3-B0BE-E076461D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810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9月 98.09%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7C241-6879-4C05-8692-C07EB39E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2388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4–5月沿用前期報告；6–9月為有效場站6–24時月率平均</a:t>
            </a:r>
          </a:p>
        </p:txBody>
      </p:sp>
    </p:spTree>
    <p:extLst>
      <p:ext uri="{BB962C8B-B14F-4D97-AF65-F5344CB8AC3E}">
        <p14:creationId xmlns:p14="http://schemas.microsoft.com/office/powerpoint/2010/main" val="14725851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b1e4a874c4a9b"/>
          <a:srcRect xmlns:a="http://schemas.openxmlformats.org/drawingml/2006/main" l="330" t="0" r="3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C0E7C-359E-4410-B7F8-50785AF7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7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議題二：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7FE9B-A6E1-4DBD-A221-644D5380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550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場站分群服務水準</a:t>
            </a:r>
          </a:p>
        </p:txBody>
      </p:sp>
    </p:spTree>
    <p:extLst>
      <p:ext uri="{BB962C8B-B14F-4D97-AF65-F5344CB8AC3E}">
        <p14:creationId xmlns:p14="http://schemas.microsoft.com/office/powerpoint/2010/main" val="1665535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12e5374764d52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3">
            <a:extLst xmlns:a="http://schemas.openxmlformats.org/drawingml/2006/main">
              <a:ext uri="{FF2B5EF4-FFF2-40B4-BE49-F238E27FC236}">
                <a16:creationId xmlns:a16="http://schemas.microsoft.com/office/drawing/2014/main" id="{D30169F2-38A5-4E79-890F-ECCE05F4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3" name="標題-現有營運場站見車率分群">
            <a:extLst xmlns:a="http://schemas.openxmlformats.org/drawingml/2006/main">
              <a:ext uri="{FF2B5EF4-FFF2-40B4-BE49-F238E27FC236}">
                <a16:creationId xmlns:a16="http://schemas.microsoft.com/office/drawing/2014/main" id="{BCB261C6-77BD-4E14-8C34-24770F16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現有營運場站見車率分群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666750"/>
          <a:ext xmlns:a="http://schemas.openxmlformats.org/drawingml/2006/main" cx="79057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7625"/>
                <a:gridCol w="1317625"/>
                <a:gridCol w="1317625"/>
                <a:gridCol w="1317625"/>
                <a:gridCol w="1317625"/>
                <a:gridCol w="1317625"/>
              </a:tblGrid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87%～93%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83%～93%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82%～92%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85%～95%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87%～93%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78%～87%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72%～83%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73%～82%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75%～85%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78%～87%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68%～78%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63%～72%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64%～73%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67%～75%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72%～78%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58%～68%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55%～63%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57%～64%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60%～67%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65%～72%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&lt;58%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&lt;55%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&lt;57%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&lt;60%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&lt;65%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76200" y="3009900"/>
          <a:ext xmlns:a="http://schemas.openxmlformats.org/drawingml/2006/main" cx="89916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</a:tblGrid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月份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-91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1328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97A42-AC01-4695-A8E9-138F4487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不分群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747FC-0458-4881-A0E4-C445DF8D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4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1-15柱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D5C98-2E22-47B4-A295-BECC81C8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16-25柱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C55DF-D32A-4B0E-9D01-A6D1F0EB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26-40柱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2BD91-7823-4765-96FA-609A50E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40柱以上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C4C2A-CE6C-4EBF-9D71-87D5EF60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總計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1E82F-7EED-4765-81B8-EC8123DD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7531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註：8月缺16站月率；9月資料完整。末組標示40柱以上，實際分組為＞40柱。</a:t>
            </a:r>
          </a:p>
        </p:txBody>
      </p:sp>
    </p:spTree>
    <p:extLst>
      <p:ext uri="{BB962C8B-B14F-4D97-AF65-F5344CB8AC3E}">
        <p14:creationId xmlns:p14="http://schemas.microsoft.com/office/powerpoint/2010/main" val="9591245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deed4dcb946c1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4">
            <a:extLst xmlns:a="http://schemas.openxmlformats.org/drawingml/2006/main">
              <a:ext uri="{FF2B5EF4-FFF2-40B4-BE49-F238E27FC236}">
                <a16:creationId xmlns:a16="http://schemas.microsoft.com/office/drawing/2014/main" id="{CCB9ECCA-EFA4-42E8-8200-17678A90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3" name="標題-現有營運場站見位率分群">
            <a:extLst xmlns:a="http://schemas.openxmlformats.org/drawingml/2006/main">
              <a:ext uri="{FF2B5EF4-FFF2-40B4-BE49-F238E27FC236}">
                <a16:creationId xmlns:a16="http://schemas.microsoft.com/office/drawing/2014/main" id="{C1B04032-C541-4B67-9AC4-C2303A95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現有營運場站見位率分群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19125" y="666750"/>
          <a:ext xmlns:a="http://schemas.openxmlformats.org/drawingml/2006/main" cx="790575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17625"/>
                <a:gridCol w="1317625"/>
                <a:gridCol w="1317625"/>
                <a:gridCol w="1317625"/>
                <a:gridCol w="1317625"/>
                <a:gridCol w="1317625"/>
              </a:tblGrid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不分群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1-15柱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16-25柱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26-40柱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40柱以上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≥98%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93%～98%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90%～95%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93%～98%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95%～98%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97%～98%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90%～93%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85%～90%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90%～93%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90%～95%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95%～97%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87%～90%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80%～85%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87%～90%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85%～90%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90%～95%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82%～87%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75%～80%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82%～87%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80%～85%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85%～90%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&lt;82%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&lt;75%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&lt;82%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&lt;80%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&lt;85%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76200" y="3009900"/>
          <a:ext xmlns:a="http://schemas.openxmlformats.org/drawingml/2006/main" cx="899160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  <a:gridCol w="473242"/>
              </a:tblGrid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257175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月份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76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差異</a:t>
                      </a:r>
                    </a:p>
                  </a:txBody>
                  <a:tcPr marL="91440" marR="91440" marT="45720" marB="45720" anchor="ctr"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190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438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369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1178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263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540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-1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總計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297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1781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810" b="0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9BE08-5608-43DC-A62A-FCFB1651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不分群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AC370-F2A4-479E-852B-920C5DB3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4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1-15柱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930B0-7E2A-4D6A-AFA8-7A98D1D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16-25柱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E3B401-FE90-4C0B-8224-8417391F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26-40柱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D92DC-BFA9-4260-95AE-5FF7C688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40柱以上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4CE2EB-B7BE-4E6F-998D-FFF2E5DD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4925" y="3009900"/>
            <a:ext cx="14128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00"/>
          </a:solidFill>
          <a:ln xmlns:a="http://schemas.openxmlformats.org/drawingml/2006/main" w="7620">
            <a:solidFill>
              <a:srgbClr val="666666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38" b="0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總計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BB92C6-926E-4215-A1FF-7FFE4D62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57531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788" b="0">
                <a:solidFill>
                  <a:srgbClr val="666666"/>
                </a:solidFill>
                <a:latin typeface="微軟正黑體"/>
                <a:ea typeface="微軟正黑體"/>
                <a:cs typeface="微軟正黑體"/>
              </a:rPr>
              <a:t>註：8月缺16站月率；9月資料完整。末組標示40柱以上，實際分組為＞40柱。</a:t>
            </a:r>
          </a:p>
        </p:txBody>
      </p:sp>
    </p:spTree>
    <p:extLst>
      <p:ext uri="{BB962C8B-B14F-4D97-AF65-F5344CB8AC3E}">
        <p14:creationId xmlns:p14="http://schemas.microsoft.com/office/powerpoint/2010/main" val="13263529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fc91e7ab84e6f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頁碼15">
            <a:extLst xmlns:a="http://schemas.openxmlformats.org/drawingml/2006/main">
              <a:ext uri="{FF2B5EF4-FFF2-40B4-BE49-F238E27FC236}">
                <a16:creationId xmlns:a16="http://schemas.microsoft.com/office/drawing/2014/main" id="{AC6831E8-F840-4DCD-8E4A-CDFBBB01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4960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975" b="0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3" name="標題-8–9月見位率E、F級名單">
            <a:extLst xmlns:a="http://schemas.openxmlformats.org/drawingml/2006/main">
              <a:ext uri="{FF2B5EF4-FFF2-40B4-BE49-F238E27FC236}">
                <a16:creationId xmlns:a16="http://schemas.microsoft.com/office/drawing/2014/main" id="{6E9BBBF5-46BC-4CBE-971E-6FD0889A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000000"/>
                </a:solidFill>
                <a:latin typeface="微軟正黑體"/>
                <a:ea typeface="微軟正黑體"/>
                <a:cs typeface="微軟正黑體"/>
              </a:rPr>
              <a:t>8–9月見位率E、F級名單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33350" y="1162050"/>
          <a:ext xmlns:a="http://schemas.openxmlformats.org/drawingml/2006/main" cx="88773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9663"/>
                <a:gridCol w="1109663"/>
                <a:gridCol w="1109663"/>
                <a:gridCol w="1109663"/>
                <a:gridCol w="1109663"/>
                <a:gridCol w="1109663"/>
                <a:gridCol w="1109663"/>
                <a:gridCol w="1109663"/>
              </a:tblGrid>
              <a:tr h="5143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8月場站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柱數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9月場站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分級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柱數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見位率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基隆長興路口東側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環河南和平西路口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臺靜農人文會館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83.7%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松高路(信義新天地A4館)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朝陽公園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84.6%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羅斯福路三段245號前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85.2%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臥龍街195巷口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臺灣師範大學(浦城街)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86.8%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忠駝公園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41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pPr algn="ctr"/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>75.2%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9050" tIns="19050" rIns="19050" bIns="19050">
                      <a:normAutofit/>
                    </a:bodyPr>
                    <a:lstStyle/>
                    <a:p>
                      <a:r>
                        <a:rPr sz="1013">
                          <a:solidFill>
                            <a:srgbClr val="000000"/>
                          </a:solidFill>
                          <a:latin typeface="微軟正黑體"/>
                          <a:ea typeface="微軟正黑體"/>
                          <a:cs typeface="微軟正黑體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DB404-68B8-4171-BD27-0804780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38800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050" b="1">
                <a:solidFill>
                  <a:srgbClr val="333333"/>
                </a:solidFill>
                <a:latin typeface="微軟正黑體"/>
                <a:ea typeface="微軟正黑體"/>
                <a:cs typeface="微軟正黑體"/>
              </a:rPr>
              <a:t>8月：E級7站、F級1站　｜　9月：E級1站、F級0站</a:t>
            </a:r>
          </a:p>
        </p:txBody>
      </p:sp>
    </p:spTree>
    <p:extLst>
      <p:ext uri="{BB962C8B-B14F-4D97-AF65-F5344CB8AC3E}">
        <p14:creationId xmlns:p14="http://schemas.microsoft.com/office/powerpoint/2010/main" val="304576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2026-10-05T05:36:26.2370000Z</dcterms:created>
  <dcterms:modified xsi:type="dcterms:W3CDTF">2026-10-05T05:36:26.2370000Z</dcterms:modified>
</coreProperties>
</file>