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547e6a90044abf" /><Relationship Type="http://schemas.openxmlformats.org/officeDocument/2006/relationships/extended-properties" Target="/docProps/app.xml" Id="R0f33d78712d64c30" /><Relationship Type="http://schemas.openxmlformats.org/officeDocument/2006/relationships/officeDocument" Target="/ppt/presentation.xml" Id="R7c2df3a58eed42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26eef9a70f43fb"/>
  </p:sldMasterIdLst>
  <p:notesMasterIdLst>
    <p:notesMasterId xmlns:r="http://schemas.openxmlformats.org/officeDocument/2006/relationships" r:id="Rfa17a24415b64f31"/>
  </p:notesMasterIdLst>
  <p:sldIdLst>
    <p:sldId xmlns:r="http://schemas.openxmlformats.org/officeDocument/2006/relationships" id="256" r:id="R21e9f343d5e34bce"/>
    <p:sldId xmlns:r="http://schemas.openxmlformats.org/officeDocument/2006/relationships" id="257" r:id="R668003faace3456a"/>
    <p:sldId xmlns:r="http://schemas.openxmlformats.org/officeDocument/2006/relationships" id="258" r:id="Rab4e1a99fdde4e6e"/>
    <p:sldId xmlns:r="http://schemas.openxmlformats.org/officeDocument/2006/relationships" id="259" r:id="Rb594c2034cdf4915"/>
    <p:sldId xmlns:r="http://schemas.openxmlformats.org/officeDocument/2006/relationships" id="260" r:id="Rd45f277df6a5499a"/>
    <p:sldId xmlns:r="http://schemas.openxmlformats.org/officeDocument/2006/relationships" id="261" r:id="R547e72b383da411c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ebb52a4bb04eb9" /><Relationship Type="http://schemas.openxmlformats.org/officeDocument/2006/relationships/slideMaster" Target="/ppt/slideMasters/slideMaster1.xml" Id="R1226eef9a70f43fb" /><Relationship Type="http://schemas.openxmlformats.org/officeDocument/2006/relationships/notesMaster" Target="/ppt/notesMasters/notesMaster1.xml" Id="Rfa17a24415b64f31" /><Relationship Type="http://schemas.openxmlformats.org/officeDocument/2006/relationships/presProps" Target="/ppt/presProps.xml" Id="Rc420036f03954d60" /><Relationship Type="http://schemas.openxmlformats.org/officeDocument/2006/relationships/tableStyles" Target="/ppt/tableStyles.xml" Id="Rb55ccd671e5d4222" /><Relationship Type="http://schemas.openxmlformats.org/officeDocument/2006/relationships/slide" Target="/ppt/slides/slide1.xml" Id="R21e9f343d5e34bce" /><Relationship Type="http://schemas.openxmlformats.org/officeDocument/2006/relationships/slide" Target="/ppt/slides/slide2.xml" Id="R668003faace3456a" /><Relationship Type="http://schemas.openxmlformats.org/officeDocument/2006/relationships/slide" Target="/ppt/slides/slide3.xml" Id="Rab4e1a99fdde4e6e" /><Relationship Type="http://schemas.openxmlformats.org/officeDocument/2006/relationships/slide" Target="/ppt/slides/slide4.xml" Id="Rb594c2034cdf4915" /><Relationship Type="http://schemas.openxmlformats.org/officeDocument/2006/relationships/slide" Target="/ppt/slides/slide5.xml" Id="Rd45f277df6a5499a" /><Relationship Type="http://schemas.openxmlformats.org/officeDocument/2006/relationships/slide" Target="/ppt/slides/slide6.xml" Id="R547e72b383da41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581ad328f347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e16cdc0e434e49" /><Relationship Type="http://schemas.openxmlformats.org/officeDocument/2006/relationships/notesMaster" Target="/ppt/notesMasters/notesMaster1.xml" Id="R9fda7e8a3b5c41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cd587a62447f0" /><Relationship Type="http://schemas.openxmlformats.org/officeDocument/2006/relationships/notesMaster" Target="/ppt/notesMasters/notesMaster1.xml" Id="Rb7409f5bf00f49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353fe6c2864dec" /><Relationship Type="http://schemas.openxmlformats.org/officeDocument/2006/relationships/notesMaster" Target="/ppt/notesMasters/notesMaster1.xml" Id="Rcbd2fa37de7843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17dcd1ee9d489a" /><Relationship Type="http://schemas.openxmlformats.org/officeDocument/2006/relationships/notesMaster" Target="/ppt/notesMasters/notesMaster1.xml" Id="R05d4c9df14434f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c081a4523e42a1" /><Relationship Type="http://schemas.openxmlformats.org/officeDocument/2006/relationships/notesMaster" Target="/ppt/notesMasters/notesMaster1.xml" Id="R5871fa4c72574c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fd0b0d2aa24c48" /><Relationship Type="http://schemas.openxmlformats.org/officeDocument/2006/relationships/notesMaster" Target="/ppt/notesMasters/notesMaster1.xml" Id="Rf7573e85c50549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monthly-report/outputs/01a0c1d5-a6fd-7252-a0d1-23864c1ef07b/ntu_od_may_sep_high_usage/artifact/臺大_500119起訖站_2026年5月與9月平日比較_台北日用量25萬以上.xlsx；CPS場站起訖表與VDS調度紀錄。篩選口徑：平日且台北當日2.0與2.0E租借總量至少250,000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monthly-report/outputs/01a0c1d5-a6fd-7252-a0d1-23864c1ef07b/ntu_od_may_sep_high_usage/artifact/臺大_500119起訖站_2026年5月與9月平日比較_台北日用量25萬以上.xlsx，CPS場站起訖表。相關總騎乘5月370,390次、9月403,168次；日均分母為各月納入日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monthly-report/outputs/01a0c1d5-a6fd-7252-a0d1-23864c1ef07b/ntu_od_may_sep_high_usage/artifact/臺大_500119起訖站_2026年5月與9月平日比較_台北日用量25萬以上.xlsx，工作表「騎乘路線比較」。CPS實際客戶騎乘，不含VDS推定調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:/Users/user/Documents/調度相關/monthly-report/outputs/01a0c1d5-a6fd-7252-a0d1-23864c1ef07b/ntu_od_may_sep_high_usage/artifact/臺大_500119起訖站_2026年5月與9月平日比較_台北日用量25萬以上.xlsx，CPS場站起訖表。圖中為實際客戶騎乘路線平均差，不是VDS調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PS完整場站起訖路線資料，來源彙整於C:/Users/user/Documents/調度相關/monthly-report/outputs/01a0c1d5-a6fd-7252-a0d1-23864c1ef07b/ntu_od_may_sep_high_usage/artifact/臺大_500119起訖站_2026年5月與9月平日比較_台北日用量25萬以上.xlsx。場站端點總量為調出端點加調入端點，內部路線於兩端各計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CPS完整場站起訖路線資料，來源彙整於C:/Users/user/Documents/調度相關/monthly-report/outputs/01a0c1d5-a6fd-7252-a0d1-23864c1ef07b/ntu_od_may_sep_high_usage/artifact/臺大_500119起訖站_2026年5月與9月平日比較_台北日用量25萬以上.xlsx。圖中為實際騎乘場站端點日均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a4926ba2c4c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8305c58f254517" /><Relationship Type="http://schemas.openxmlformats.org/officeDocument/2006/relationships/slideLayout" Target="/ppt/slideLayouts/slideLayout1.xml" Id="R74284bff8a0a45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284bff8a0a45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29c65c23c4902" /><Relationship Type="http://schemas.openxmlformats.org/officeDocument/2006/relationships/notesSlide" Target="/ppt/notesSlides/notesSlide1.xml" Id="R390c8aba8c70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39f3de5af4bf1" /><Relationship Type="http://schemas.openxmlformats.org/officeDocument/2006/relationships/chart" Target="/ppt/slides/charts/chart1.xml" Id="R6042970d0cd84e8e" /><Relationship Type="http://schemas.openxmlformats.org/officeDocument/2006/relationships/chart" Target="/ppt/slides/charts/chart2.xml" Id="R931f16e1f4064118" /><Relationship Type="http://schemas.openxmlformats.org/officeDocument/2006/relationships/notesSlide" Target="/ppt/notesSlides/notesSlide2.xml" Id="R96c0fa18d87a41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1398352eb49df" /><Relationship Type="http://schemas.openxmlformats.org/officeDocument/2006/relationships/notesSlide" Target="/ppt/notesSlides/notesSlide3.xml" Id="R72c330f717ba4e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d7641617042ad" /><Relationship Type="http://schemas.openxmlformats.org/officeDocument/2006/relationships/chart" Target="/ppt/slides/charts/chart3.xml" Id="Ra5113f97a3ca4e39" /><Relationship Type="http://schemas.openxmlformats.org/officeDocument/2006/relationships/chart" Target="/ppt/slides/charts/chart4.xml" Id="Ra49601c587934a7f" /><Relationship Type="http://schemas.openxmlformats.org/officeDocument/2006/relationships/notesSlide" Target="/ppt/notesSlides/notesSlide4.xml" Id="R458688cbed034e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ddae2aff4451c" /><Relationship Type="http://schemas.openxmlformats.org/officeDocument/2006/relationships/notesSlide" Target="/ppt/notesSlides/notesSlide5.xml" Id="R89121dc0ce6142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d12ceca274bba" /><Relationship Type="http://schemas.openxmlformats.org/officeDocument/2006/relationships/chart" Target="/ppt/slides/charts/chart5.xml" Id="R508550b22d554255" /><Relationship Type="http://schemas.openxmlformats.org/officeDocument/2006/relationships/chart" Target="/ppt/slides/charts/chart6.xml" Id="Rc9984705c3754bb5" /><Relationship Type="http://schemas.openxmlformats.org/officeDocument/2006/relationships/notesSlide" Target="/ppt/notesSlides/notesSlide6.xml" Id="R0a760dbe361e437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CPS實際騎乘方向日均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0272D"/>
              </a:solidFill>
              <a:latin typeface="Noto Sans TC"/>
              <a:ea typeface="Noto Sans TC"/>
              <a:cs typeface="Noto Sans T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5月</c:v>
          </c:tx>
          <c:spPr>
            <a:solidFill xmlns:a="http://schemas.openxmlformats.org/drawingml/2006/main">
              <a:srgbClr val="4F96D1"/>
            </a:solidFill>
          </c:spPr>
          <c:cat>
            <c:strRef>
              <c:f>'Chart Data'!$A$2:$A$4</c:f>
              <c:strCache>
                <c:ptCount val="3"/>
                <c:pt idx="0">
                  <c:v>校外→台大</c:v>
                </c:pt>
                <c:pt idx="1">
                  <c:v>台大→校外</c:v>
                </c:pt>
                <c:pt idx="2">
                  <c:v>台大內部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7720.67</c:v>
                </c:pt>
                <c:pt idx="1">
                  <c:v>8079.27</c:v>
                </c:pt>
                <c:pt idx="2">
                  <c:v>8892.73</c:v>
                </c:pt>
              </c:numCache>
            </c:numRef>
          </c:val>
        </c:ser>
        <c:ser>
          <c:idx val="1"/>
          <c:order val="1"/>
          <c:tx>
            <c:v>9月</c:v>
          </c:tx>
          <c:spPr>
            <a:solidFill xmlns:a="http://schemas.openxmlformats.org/drawingml/2006/main">
              <a:srgbClr val="00A95C"/>
            </a:solidFill>
          </c:spPr>
          <c:cat>
            <c:strRef>
              <c:f>'Chart Data'!$C$2:$C$4</c:f>
              <c:strCache>
                <c:ptCount val="3"/>
                <c:pt idx="0">
                  <c:v>校外→台大</c:v>
                </c:pt>
                <c:pt idx="1">
                  <c:v>台大→校外</c:v>
                </c:pt>
                <c:pt idx="2">
                  <c:v>台大內部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8511.79</c:v>
                </c:pt>
                <c:pt idx="1">
                  <c:v>8881.64</c:v>
                </c:pt>
                <c:pt idx="2">
                  <c:v>11404.29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 b="1">
                  <a:solidFill>
                    <a:srgbClr val="20272D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13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3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5717B"/>
              </a:solidFill>
              <a:latin typeface="Noto Sans TC"/>
              <a:ea typeface="Noto Sans TC"/>
              <a:cs typeface="Noto Sans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台大營運與相關騎乘日均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0272D"/>
              </a:solidFill>
              <a:latin typeface="Noto Sans TC"/>
              <a:ea typeface="Noto Sans TC"/>
              <a:cs typeface="Noto Sans T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5月</c:v>
          </c:tx>
          <c:spPr>
            <a:solidFill xmlns:a="http://schemas.openxmlformats.org/drawingml/2006/main">
              <a:srgbClr val="4F96D1"/>
            </a:solidFill>
          </c:spPr>
          <c:cat>
            <c:strRef>
              <c:f>'Chart Data'!$A$2:$A$4</c:f>
              <c:strCache>
                <c:ptCount val="3"/>
                <c:pt idx="0">
                  <c:v>借用</c:v>
                </c:pt>
                <c:pt idx="1">
                  <c:v>歸還</c:v>
                </c:pt>
                <c:pt idx="2">
                  <c:v>相關騎乘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17216.27</c:v>
                </c:pt>
                <c:pt idx="1">
                  <c:v>16816.2</c:v>
                </c:pt>
                <c:pt idx="2">
                  <c:v>24692.67</c:v>
                </c:pt>
              </c:numCache>
            </c:numRef>
          </c:val>
        </c:ser>
        <c:ser>
          <c:idx val="1"/>
          <c:order val="1"/>
          <c:tx>
            <c:v>9月</c:v>
          </c:tx>
          <c:spPr>
            <a:solidFill xmlns:a="http://schemas.openxmlformats.org/drawingml/2006/main">
              <a:srgbClr val="00A95C"/>
            </a:solidFill>
          </c:spPr>
          <c:cat>
            <c:strRef>
              <c:f>'Chart Data'!$C$2:$C$4</c:f>
              <c:strCache>
                <c:ptCount val="3"/>
                <c:pt idx="0">
                  <c:v>借用</c:v>
                </c:pt>
                <c:pt idx="1">
                  <c:v>歸還</c:v>
                </c:pt>
                <c:pt idx="2">
                  <c:v>相關騎乘</c:v>
                </c:pt>
              </c:strCache>
            </c:strRef>
          </c:cat>
          <c:val>
            <c:numRef>
              <c:f>'Chart Data'!$D$2:$D$4</c:f>
              <c:numCache>
                <c:formatCode>#,##0</c:formatCode>
                <c:ptCount val="3"/>
                <c:pt idx="0">
                  <c:v>20515.86</c:v>
                </c:pt>
                <c:pt idx="1">
                  <c:v>20109.57</c:v>
                </c:pt>
                <c:pt idx="2">
                  <c:v>28797.71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 b="1">
                  <a:solidFill>
                    <a:srgbClr val="20272D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32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8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5717B"/>
              </a:solidFill>
              <a:latin typeface="Noto Sans TC"/>
              <a:ea typeface="Noto Sans TC"/>
              <a:cs typeface="Noto Sans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增加路線（次／實際出現日）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0272D"/>
              </a:solidFill>
              <a:latin typeface="Noto Sans TC"/>
              <a:ea typeface="Noto Sans TC"/>
              <a:cs typeface="Noto Sans T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9月－5月</c:v>
          </c:tx>
          <c:spPr>
            <a:solidFill xmlns:a="http://schemas.openxmlformats.org/drawingml/2006/main">
              <a:srgbClr val="00A95C"/>
            </a:solidFill>
          </c:spPr>
          <c:cat>
            <c:strRef>
              <c:f>'Chart Data'!$A$2:$A$6</c:f>
              <c:strCache>
                <c:ptCount val="5"/>
                <c:pt idx="0">
                  <c:v>普通教學館 → 第一活動中心</c:v>
                </c:pt>
                <c:pt idx="1">
                  <c:v>第一活動中心 → 普通教學館</c:v>
                </c:pt>
                <c:pt idx="2">
                  <c:v>男一舍前 → 普通教學館</c:v>
                </c:pt>
                <c:pt idx="3">
                  <c:v>普通教學館 → 公館站3號口</c:v>
                </c:pt>
                <c:pt idx="4">
                  <c:v>普通教學館 → 男一舍前</c:v>
                </c:pt>
              </c:strCache>
            </c:strRef>
          </c:cat>
          <c:val>
            <c:numRef>
              <c:f>'Chart Data'!$B$2:$B$6</c:f>
              <c:numCache>
                <c:formatCode>+0.0;-0.0</c:formatCode>
                <c:ptCount val="5"/>
                <c:pt idx="0">
                  <c:v>55.07</c:v>
                </c:pt>
                <c:pt idx="1">
                  <c:v>48.43</c:v>
                </c:pt>
                <c:pt idx="2">
                  <c:v>35.29</c:v>
                </c:pt>
                <c:pt idx="3">
                  <c:v>35.07</c:v>
                </c:pt>
                <c:pt idx="4">
                  <c:v>34.64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 b="1">
                  <a:solidFill>
                    <a:srgbClr val="00A95C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減少路線（次／實際出現日）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0272D"/>
              </a:solidFill>
              <a:latin typeface="Noto Sans TC"/>
              <a:ea typeface="Noto Sans TC"/>
              <a:cs typeface="Noto Sans T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9月－5月</c:v>
          </c:tx>
          <c:spPr>
            <a:solidFill xmlns:a="http://schemas.openxmlformats.org/drawingml/2006/main">
              <a:srgbClr val="F17624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新體育館 → 動物園站</c:v>
                </c:pt>
                <c:pt idx="1">
                  <c:v>凝態館 → 凝態館</c:v>
                </c:pt>
                <c:pt idx="2">
                  <c:v>捷運科技大樓站 → 社會系館</c:v>
                </c:pt>
                <c:pt idx="3">
                  <c:v>小福樓 → 公館站3號口</c:v>
                </c:pt>
                <c:pt idx="4">
                  <c:v>捷運大安森林公園站(2號出口) → 生命科學館</c:v>
                </c:pt>
              </c:strCache>
            </c:strRef>
          </c:cat>
          <c:val>
            <c:numRef>
              <c:f>'Chart Data'!$B$2:$B$6</c:f>
              <c:numCache>
                <c:formatCode>+0.0;-0.0</c:formatCode>
                <c:ptCount val="5"/>
                <c:pt idx="0">
                  <c:v>-17</c:v>
                </c:pt>
                <c:pt idx="1">
                  <c:v>-15.49</c:v>
                </c:pt>
                <c:pt idx="2">
                  <c:v>-13.02</c:v>
                </c:pt>
                <c:pt idx="3">
                  <c:v>-11.06</c:v>
                </c:pt>
                <c:pt idx="4">
                  <c:v>-11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 b="1">
                  <a:solidFill>
                    <a:srgbClr val="F17624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增加場站（次／納入日）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0272D"/>
              </a:solidFill>
              <a:latin typeface="Noto Sans TC"/>
              <a:ea typeface="Noto Sans TC"/>
              <a:cs typeface="Noto Sans T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9月－5月</c:v>
          </c:tx>
          <c:spPr>
            <a:solidFill xmlns:a="http://schemas.openxmlformats.org/drawingml/2006/main">
              <a:srgbClr val="00A95C"/>
            </a:solidFill>
          </c:spPr>
          <c:cat>
            <c:strRef>
              <c:f>'Chart Data'!$A$2:$A$6</c:f>
              <c:strCache>
                <c:ptCount val="5"/>
                <c:pt idx="0">
                  <c:v>普通教學館</c:v>
                </c:pt>
                <c:pt idx="1">
                  <c:v>總圖書館</c:v>
                </c:pt>
                <c:pt idx="2">
                  <c:v>第一活動中心</c:v>
                </c:pt>
                <c:pt idx="3">
                  <c:v>德田館</c:v>
                </c:pt>
                <c:pt idx="4">
                  <c:v>次震宇宙館</c:v>
                </c:pt>
              </c:strCache>
            </c:strRef>
          </c:cat>
          <c:val>
            <c:numRef>
              <c:f>'Chart Data'!$B$2:$B$6</c:f>
              <c:numCache>
                <c:formatCode>+#,##0.0;-#,##0.0</c:formatCode>
                <c:ptCount val="5"/>
                <c:pt idx="0">
                  <c:v>1539.71</c:v>
                </c:pt>
                <c:pt idx="1">
                  <c:v>550.5</c:v>
                </c:pt>
                <c:pt idx="2">
                  <c:v>469.46</c:v>
                </c:pt>
                <c:pt idx="3">
                  <c:v>436.79</c:v>
                </c:pt>
                <c:pt idx="4">
                  <c:v>401.71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 b="1">
                  <a:solidFill>
                    <a:srgbClr val="00A95C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20272D"/>
                </a:solidFill>
                <a:latin typeface="Noto Sans TC"/>
                <a:ea typeface="Noto Sans TC"/>
                <a:cs typeface="Noto Sans TC"/>
              </a:rPr>
              <a:t>減少場站（次／納入日）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20272D"/>
              </a:solidFill>
              <a:latin typeface="Noto Sans TC"/>
              <a:ea typeface="Noto Sans TC"/>
              <a:cs typeface="Noto Sans TC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9月－5月</c:v>
          </c:tx>
          <c:spPr>
            <a:solidFill xmlns:a="http://schemas.openxmlformats.org/drawingml/2006/main">
              <a:srgbClr val="F17624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小福樓</c:v>
                </c:pt>
                <c:pt idx="1">
                  <c:v>新體育館</c:v>
                </c:pt>
                <c:pt idx="2">
                  <c:v>社會系館</c:v>
                </c:pt>
                <c:pt idx="3">
                  <c:v>凝態館</c:v>
                </c:pt>
                <c:pt idx="4">
                  <c:v>人文館</c:v>
                </c:pt>
              </c:strCache>
            </c:strRef>
          </c:cat>
          <c:val>
            <c:numRef>
              <c:f>'Chart Data'!$B$2:$B$6</c:f>
              <c:numCache>
                <c:formatCode>+#,##0.0;-#,##0.0</c:formatCode>
                <c:ptCount val="5"/>
                <c:pt idx="0">
                  <c:v>-227.82</c:v>
                </c:pt>
                <c:pt idx="1">
                  <c:v>-212.44</c:v>
                </c:pt>
                <c:pt idx="2">
                  <c:v>-141.46</c:v>
                </c:pt>
                <c:pt idx="3">
                  <c:v>-124.39</c:v>
                </c:pt>
                <c:pt idx="4">
                  <c:v>-108.66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 b="1">
                  <a:solidFill>
                    <a:srgbClr val="F17624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7DC"/>
              </a:solidFill>
              <a:prstDash val="dash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2D7D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7DCE0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3D17F-4560-4619-84E2-20B701A4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DD17F-38B3-4E3D-A820-9FD80D49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台大 500119* 五月與九月比較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26F68-CE39-433C-A7C2-B5525F2E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平日且台北當日2.0＋2.0E租借量達25萬；5月15日、9月14日，九月符合門檻日期截至9/24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1257300"/>
          <a:ext xmlns:a="http://schemas.openxmlformats.org/drawingml/2006/main" cx="8801100" cy="4705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66750"/>
                <a:gridCol w="2190750"/>
                <a:gridCol w="1000125"/>
                <a:gridCol w="1000125"/>
                <a:gridCol w="1000125"/>
                <a:gridCol w="1000125"/>
                <a:gridCol w="1943100"/>
              </a:tblGrid>
              <a:tr h="4381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資料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指標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5月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9月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差額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差異率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單位／口徑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篩選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納入日數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-6.67%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CPS實際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相關總騎乘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370,390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403,168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+32,778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+8.85%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CPS實際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相關騎乘日均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24,692.67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28,797.71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+4,105.05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+16.62%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CPS實際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校外→台大日均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7,720.67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8,511.79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+791.12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+10.25%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CPS實際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台大→校外日均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8,079.27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8,881.64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+802.38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+9.93%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CPS實際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台大內部日均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8,892.73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11,404.29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+2,511.55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+28.24%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營運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台大日均借用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17,216.27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20,515.86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+3,299.59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+19.17%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營運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台大日均歸還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16,816.20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20,109.57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+3,293.37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+19.58%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營運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2.0E日均借用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499.87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878.00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+378.13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+75.65%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營運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2.0E日均歸還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494.13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853.29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+359.15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+72.68%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次／納入日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VDS推定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日均調度單車數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1,273.80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1,360.07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+86.27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+6.77%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輛／納入日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VDS推定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日均2.0調度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1,231.60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1,298.00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+66.40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+5.39%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輛／納入日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</a:tr>
              <a:tr h="32813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VDS推定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日均2.0E調度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42.20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62.07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+19.87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9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+47.09%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9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輛／納入日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93F7B-76CD-4EB0-9786-4268F351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CPS為實際客戶騎乘；VDS調度為同日同車號、同車種FIFO配對的推定OD，兩者分開呈現。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56386-594F-48BD-880B-6C9984EE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84075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CE7BD-C040-4E81-BD9A-055CD4D9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874CF-583C-43F5-82B4-470C36E1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台大營運與騎乘方向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73A73-B2A5-41A0-90F7-31DC033F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CPS實際騎乘：九月相關日均28,797.71次，較五月增加16.62%；台大內部增幅28.24%最高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266700" y="1257300"/>
          <a:ext xmlns:a="http://schemas.openxmlformats.org/drawingml/2006/main" cx="42100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42970d0cd84e8e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667250" y="1257300"/>
          <a:ext xmlns:a="http://schemas.openxmlformats.org/drawingml/2006/main" cx="42100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1f16e1f406411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57AA3-DDA1-41A6-B517-19359E3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相關騎乘以任一端為500119*計算；台大內部路線每趟只計一次。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B0CE2-440B-470C-904C-A6B7F11A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5294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CC19C-087B-44C0-84CC-D029C8C4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27108-7FA3-47FB-AEED-46F0FE73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CPS實際騎乘熱門路線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A15C5-D279-4AA5-A424-3B93F10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九月路線平均前8名；任一端為500119*皆納入，包含校外騎乘至台大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1276350"/>
          <a:ext xmlns:a="http://schemas.openxmlformats.org/drawingml/2006/main" cx="8801100" cy="4686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81050"/>
                <a:gridCol w="4095750"/>
                <a:gridCol w="714375"/>
                <a:gridCol w="714375"/>
                <a:gridCol w="809625"/>
                <a:gridCol w="809625"/>
                <a:gridCol w="876300"/>
              </a:tblGrid>
              <a:tr h="4762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方向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起訖路線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5月</a:t>
                      </a:r>
                    </a:p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出現日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9月</a:t>
                      </a:r>
                    </a:p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出現日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5月</a:t>
                      </a:r>
                    </a:p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路線平均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9月</a:t>
                      </a:r>
                    </a:p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路線平均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平均差額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臺大第一活動中心西南側 → 捷運公館站(3號出口)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85.53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87.57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+2.04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校外→台大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捷運公館站(2號出口) → 臺大第一活動中心西南側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74.53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82.43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+7.90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臺大第一活動中心西南側 → 捷運公館站(2號出口)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71.47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76.43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+4.96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校外→台大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捷運公館站(3號出口) → 臺大第一活動中心西南側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60.00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59.50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-0.50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臺大第一活動中心西南側 → 羅斯福新生南路口</a:t>
                      </a:r>
                    </a:p>
                  </a:txBody>
                  <a:tcPr marL="47625" marR="38100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56.40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56.86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+0.46</a:t>
                      </a:r>
                    </a:p>
                  </a:txBody>
                  <a:tcPr marL="28575" marR="28575" marT="19050" marB="19050" anchor="ctr">
                    <a:solidFill>
                      <a:srgbClr val="E8F0F7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臺大教研館北側 → 捷運公館站(2號出口)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54.33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55.93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+1.60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台大內部</a:t>
                      </a:r>
                    </a:p>
                  </a:txBody>
                  <a:tcPr marL="28575" marR="28575" marT="19050" marB="19050" anchor="ctr">
                    <a:solidFill>
                      <a:srgbClr val="FFF3CB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臺大普通教學館東側 → 臺大第一活動中心西南側</a:t>
                      </a:r>
                    </a:p>
                  </a:txBody>
                  <a:tcPr marL="47625" marR="38100" marT="19050" marB="19050" anchor="ctr">
                    <a:solidFill>
                      <a:srgbClr val="FFF3CB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</a:t>
                      </a:r>
                    </a:p>
                  </a:txBody>
                  <a:tcPr marL="28575" marR="28575" marT="19050" marB="19050" anchor="ctr">
                    <a:solidFill>
                      <a:srgbClr val="FFF3CB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3CB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0.00</a:t>
                      </a:r>
                    </a:p>
                  </a:txBody>
                  <a:tcPr marL="28575" marR="28575" marT="19050" marB="19050" anchor="ctr">
                    <a:solidFill>
                      <a:srgbClr val="FFF3CB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55.07</a:t>
                      </a:r>
                    </a:p>
                  </a:txBody>
                  <a:tcPr marL="28575" marR="28575" marT="19050" marB="19050" anchor="ctr">
                    <a:solidFill>
                      <a:srgbClr val="FFF3CB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+55.07</a:t>
                      </a:r>
                    </a:p>
                  </a:txBody>
                  <a:tcPr marL="28575" marR="28575" marT="19050" marB="19050" anchor="ctr">
                    <a:solidFill>
                      <a:srgbClr val="FFF3CB"/>
                    </a:solidFill>
                  </a:tcPr>
                </a:tc>
              </a:tr>
              <a:tr h="526256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台大→校外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臺大總圖書館西南側 → 捷運公館站(2號出口)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38.00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45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54.79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96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+16.79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C97F3-7A06-4B85-BDCC-71FE4F7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路線平均＝期間總騎乘÷該路線實際出現的納入日數；未出現日不列入分母，任一月平均大於1才列入。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9215F-D7DB-4B21-939D-84617E8E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89807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3E9184-1E54-4E7F-9FD2-BCD7EAFC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90813-3557-4EB9-AF44-E648A67B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CPS實際騎乘路線增減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4022F-0DFC-463D-9EB0-D6CC9412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九月路線平均減五月路線平均；增減各取絕對差前5名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266700" y="1295400"/>
          <a:ext xmlns:a="http://schemas.openxmlformats.org/drawingml/2006/main" cx="42100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113f97a3ca4e39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667250" y="1295400"/>
          <a:ext xmlns:a="http://schemas.openxmlformats.org/drawingml/2006/main" cx="42100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9601c587934a7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5C1D0-565E-48C5-8975-E1363C3A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路線未出現日不列入平均分母；黃色表格列與本頁新路線均代表五月未出現、九月開始出現。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07FE1-4106-4A63-A365-9C883187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40580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ACA51-354B-4D56-BC87-0A8C2B4E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96F4E-0019-456E-8B9E-A221E2ED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CPS實際騎乘場站變化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4DE5D-085B-43AF-8C13-2EDD88D0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完整CPS路線端點聚合；台大內部路線於起站調出與訖站調入各計一次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1276350"/>
          <a:ext xmlns:a="http://schemas.openxmlformats.org/drawingml/2006/main" cx="8801100" cy="4762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66750"/>
                <a:gridCol w="1047750"/>
                <a:gridCol w="2571750"/>
                <a:gridCol w="1095375"/>
                <a:gridCol w="1095375"/>
                <a:gridCol w="1095375"/>
                <a:gridCol w="1228725"/>
              </a:tblGrid>
              <a:tr h="476250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變化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場站代號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台大場站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5月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端點日均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9月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端點日均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日均差額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差異率</a:t>
                      </a:r>
                    </a:p>
                  </a:txBody>
                  <a:tcPr marL="28575" marR="28575" marT="19050" marB="19050" anchor="ctr">
                    <a:solidFill>
                      <a:srgbClr val="183B63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增加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500119102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臺大普通教學館東側</a:t>
                      </a:r>
                    </a:p>
                  </a:txBody>
                  <a:tcPr marL="47625" marR="38100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0.00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1,539.71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+1,539.71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新增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增加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500119087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臺大總圖書館西南側</a:t>
                      </a:r>
                    </a:p>
                  </a:txBody>
                  <a:tcPr marL="47625" marR="38100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618.00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1,168.50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+550.50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+89.08%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增加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500119075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臺大第一活動中心西南側</a:t>
                      </a:r>
                    </a:p>
                  </a:txBody>
                  <a:tcPr marL="47625" marR="38100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2,293.33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2,762.79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+469.46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+20.47%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增加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500119101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臺大德田館東北側</a:t>
                      </a:r>
                    </a:p>
                  </a:txBody>
                  <a:tcPr marL="47625" marR="38100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0.00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436.79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+436.79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新增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增加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500119103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臺大次震宇宙館西側</a:t>
                      </a:r>
                    </a:p>
                  </a:txBody>
                  <a:tcPr marL="47625" marR="38100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0.00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401.71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+401.71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00A95C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新增</a:t>
                      </a:r>
                    </a:p>
                  </a:txBody>
                  <a:tcPr marL="28575" marR="28575" marT="19050" marB="19050" anchor="ctr">
                    <a:solidFill>
                      <a:srgbClr val="E8F5ED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減少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500119050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臺大小福樓東側</a:t>
                      </a:r>
                    </a:p>
                  </a:txBody>
                  <a:tcPr marL="47625" marR="38100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1,299.53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1,071.71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-227.82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-17.53%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減少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500119090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臺大新體育館東南側</a:t>
                      </a:r>
                    </a:p>
                  </a:txBody>
                  <a:tcPr marL="47625" marR="38100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1,522.73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1,310.29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-212.44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-13.95%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減少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500119068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臺大社會系館南側</a:t>
                      </a:r>
                    </a:p>
                  </a:txBody>
                  <a:tcPr marL="47625" marR="38100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718.67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577.21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-141.46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-19.68%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減少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500119066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臺大凝態館南側</a:t>
                      </a:r>
                    </a:p>
                  </a:txBody>
                  <a:tcPr marL="47625" marR="38100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576.60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452.21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-124.39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-21.57%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</a:tr>
              <a:tr h="428625"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減少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500119097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l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臺大人文館</a:t>
                      </a:r>
                    </a:p>
                  </a:txBody>
                  <a:tcPr marL="47625" marR="38100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741.80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>
                          <a:solidFill>
                            <a:srgbClr val="20272D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633.14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-108.66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  <a:tc>
                  <a:txBody>
                    <a:bodyPr wrap="square" anchor="ctr">
                      <a:normAutofit/>
                    </a:bodyPr>
                    <a:lstStyle/>
                    <a:p>
                      <a:pPr algn="ctr"/>
                      <a:r>
                        <a:rPr sz="1020" b="1">
                          <a:solidFill>
                            <a:srgbClr val="F1762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-14.65%</a:t>
                      </a:r>
                    </a:p>
                  </a:txBody>
                  <a:tcPr marL="28575" marR="28575" marT="19050" marB="19050" anchor="ctr">
                    <a:solidFill>
                      <a:srgbClr val="FCEDE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D7480-98C1-4E73-974B-E92946D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端點日均採CPS實際騎乘完整路線聚合，未使用VDS推定OD；五月為0者以「新增」標示。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58F33-2510-4E5B-B950-5DCEA1D4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958914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C62C6-2501-4ABC-B900-FCDB3F7E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9D4C9-6F36-4A73-B86E-F68BADF8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38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defRPr>
            </a:pPr>
            <a:r>
              <a:rPr sz="3000" b="1">
                <a:solidFill>
                  <a:srgbClr val="263746"/>
                </a:solidFill>
                <a:latin typeface="Noto Sans TC"/>
                <a:ea typeface="Noto Sans TC"/>
                <a:cs typeface="Noto Sans TC"/>
              </a:rPr>
              <a:t>CPS實際騎乘場站增減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14227-3715-40CC-838E-9D884A45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47725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116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九月端點日均減五月端點日均；場站代號皆為500119*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266700" y="1295400"/>
          <a:ext xmlns:a="http://schemas.openxmlformats.org/drawingml/2006/main" cx="42100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8550b22d554255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667250" y="1295400"/>
          <a:ext xmlns:a="http://schemas.openxmlformats.org/drawingml/2006/main" cx="42100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984705c3754bb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74B43-728B-4390-BE48-58A43F57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6076950"/>
            <a:ext cx="866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defRPr>
            </a:pPr>
            <a:r>
              <a:rPr sz="953">
                <a:solidFill>
                  <a:srgbClr val="65717B"/>
                </a:solidFill>
                <a:latin typeface="Noto Sans TC"/>
                <a:ea typeface="Noto Sans TC"/>
                <a:cs typeface="Noto Sans TC"/>
              </a:rPr>
              <a:t>普通教學館、德田館與次震宇宙館五月無資料，九月新增後形成主要增量。 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A46C6-2C0D-4FDC-AC81-1E2C2252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6103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defRPr>
            </a:pPr>
            <a:r>
              <a:rPr sz="900">
                <a:solidFill>
                  <a:srgbClr val="7C858D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97562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2026-09-29T06:43:58.3060000Z</dcterms:created>
  <dcterms:modified xsi:type="dcterms:W3CDTF">2026-09-29T06:43:58.3060000Z</dcterms:modified>
</coreProperties>
</file>