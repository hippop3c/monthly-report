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574df7129141c6" /><Relationship Type="http://schemas.openxmlformats.org/officeDocument/2006/relationships/extended-properties" Target="/docProps/app.xml" Id="Rd0100bc51e9e4952" /><Relationship Type="http://schemas.openxmlformats.org/officeDocument/2006/relationships/officeDocument" Target="/ppt/presentation.xml" Id="R6fc73254cad94c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807087aaa3403b"/>
  </p:sldMasterIdLst>
  <p:notesMasterIdLst>
    <p:notesMasterId xmlns:r="http://schemas.openxmlformats.org/officeDocument/2006/relationships" r:id="Ra2eaeb352adc4adf"/>
  </p:notesMasterIdLst>
  <p:sldIdLst>
    <p:sldId xmlns:r="http://schemas.openxmlformats.org/officeDocument/2006/relationships" id="256" r:id="R39ed5da693c54afa"/>
    <p:sldId xmlns:r="http://schemas.openxmlformats.org/officeDocument/2006/relationships" id="257" r:id="R425d5e135b474c9d"/>
    <p:sldId xmlns:r="http://schemas.openxmlformats.org/officeDocument/2006/relationships" id="258" r:id="Rbba32351c7b94414"/>
    <p:sldId xmlns:r="http://schemas.openxmlformats.org/officeDocument/2006/relationships" id="259" r:id="Rfc3974f50982434b"/>
    <p:sldId xmlns:r="http://schemas.openxmlformats.org/officeDocument/2006/relationships" id="260" r:id="R5144c48d437f4193"/>
    <p:sldId xmlns:r="http://schemas.openxmlformats.org/officeDocument/2006/relationships" id="261" r:id="Rffc0c37aa4fa4e3f"/>
    <p:sldId xmlns:r="http://schemas.openxmlformats.org/officeDocument/2006/relationships" id="262" r:id="Rd2ede1382b364158"/>
    <p:sldId xmlns:r="http://schemas.openxmlformats.org/officeDocument/2006/relationships" id="263" r:id="Rad728198e91d4c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51da124218420f" /><Relationship Type="http://schemas.openxmlformats.org/officeDocument/2006/relationships/slideMaster" Target="/ppt/slideMasters/slideMaster1.xml" Id="Rdf807087aaa3403b" /><Relationship Type="http://schemas.openxmlformats.org/officeDocument/2006/relationships/notesMaster" Target="/ppt/notesMasters/notesMaster1.xml" Id="Ra2eaeb352adc4adf" /><Relationship Type="http://schemas.openxmlformats.org/officeDocument/2006/relationships/presProps" Target="/ppt/presProps.xml" Id="R4ef5d3f62e974ff5" /><Relationship Type="http://schemas.openxmlformats.org/officeDocument/2006/relationships/tableStyles" Target="/ppt/tableStyles.xml" Id="R1dd95202328c4d9f" /><Relationship Type="http://schemas.openxmlformats.org/officeDocument/2006/relationships/slide" Target="/ppt/slides/slide1.xml" Id="R39ed5da693c54afa" /><Relationship Type="http://schemas.openxmlformats.org/officeDocument/2006/relationships/slide" Target="/ppt/slides/slide2.xml" Id="R425d5e135b474c9d" /><Relationship Type="http://schemas.openxmlformats.org/officeDocument/2006/relationships/slide" Target="/ppt/slides/slide3.xml" Id="Rbba32351c7b94414" /><Relationship Type="http://schemas.openxmlformats.org/officeDocument/2006/relationships/slide" Target="/ppt/slides/slide4.xml" Id="Rfc3974f50982434b" /><Relationship Type="http://schemas.openxmlformats.org/officeDocument/2006/relationships/slide" Target="/ppt/slides/slide5.xml" Id="R5144c48d437f4193" /><Relationship Type="http://schemas.openxmlformats.org/officeDocument/2006/relationships/slide" Target="/ppt/slides/slide6.xml" Id="Rffc0c37aa4fa4e3f" /><Relationship Type="http://schemas.openxmlformats.org/officeDocument/2006/relationships/slide" Target="/ppt/slides/slide7.xml" Id="Rd2ede1382b364158" /><Relationship Type="http://schemas.openxmlformats.org/officeDocument/2006/relationships/slide" Target="/ppt/slides/slide8.xml" Id="Rad728198e91d4c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0362a7cc5445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ec6590ad214ee6" /><Relationship Type="http://schemas.openxmlformats.org/officeDocument/2006/relationships/notesMaster" Target="/ppt/notesMasters/notesMaster1.xml" Id="R8477624f54e74c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a54df74e6942ee" /><Relationship Type="http://schemas.openxmlformats.org/officeDocument/2006/relationships/notesMaster" Target="/ppt/notesMasters/notesMaster1.xml" Id="R82885d5436a74b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dfa9eec3424895" /><Relationship Type="http://schemas.openxmlformats.org/officeDocument/2006/relationships/notesMaster" Target="/ppt/notesMasters/notesMaster1.xml" Id="Rbd4c16f97dc240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a199ab082d4f2f" /><Relationship Type="http://schemas.openxmlformats.org/officeDocument/2006/relationships/notesMaster" Target="/ppt/notesMasters/notesMaster1.xml" Id="R496a9fb98d5449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db0f6d054b4b52" /><Relationship Type="http://schemas.openxmlformats.org/officeDocument/2006/relationships/notesMaster" Target="/ppt/notesMasters/notesMaster1.xml" Id="Rb936a514a9f24e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13c576e1d14bd8" /><Relationship Type="http://schemas.openxmlformats.org/officeDocument/2006/relationships/notesMaster" Target="/ppt/notesMasters/notesMaster1.xml" Id="Rb03a56f7a65b43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f886618cd7475c" /><Relationship Type="http://schemas.openxmlformats.org/officeDocument/2006/relationships/notesMaster" Target="/ppt/notesMasters/notesMaster1.xml" Id="Ra6cb28fbf8af4b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966215ccbd4aa9" /><Relationship Type="http://schemas.openxmlformats.org/officeDocument/2006/relationships/notesMaster" Target="/ppt/notesMasters/notesMaster1.xml" Id="R7ecf3337897a4c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計算資料：C:\Users\user\Documents\調度相關\outputs\01a0c1d5-a6fd-7252-a0d1-23864c1ef07b\smart_dispatch_performance\smart_dispatch_metrics.json</a:t>
            </a:r>
          </a:p>
          <a:p xmlns:a="http://schemas.openxmlformats.org/drawingml/2006/main">
            <a:r>
              <a:t>比較口徑：平日且台北全市2.0加2.0E日用量超過20萬，06:00至23:59。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計算資料：C:\Users\user\Documents\調度相關\outputs\01a0c1d5-a6fd-7252-a0d1-23864c1ef07b\smart_dispatch_performance\smart_dispatch_metrics.json</a:t>
            </a:r>
          </a:p>
          <a:p xmlns:a="http://schemas.openxmlformats.org/drawingml/2006/main">
            <a:r>
              <a:t>比較口徑：平日且台北全市2.0加2.0E日用量超過20萬，06:00至23:59。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計算資料：C:\Users\user\Documents\調度相關\outputs\01a0c1d5-a6fd-7252-a0d1-23864c1ef07b\smart_dispatch_performance\smart_dispatch_metrics.json</a:t>
            </a:r>
          </a:p>
          <a:p xmlns:a="http://schemas.openxmlformats.org/drawingml/2006/main">
            <a:r>
              <a:t>比較口徑：平日且台北全市2.0加2.0E日用量超過20萬，06:00至23:59。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計算資料：C:\Users\user\Documents\調度相關\outputs\01a0c1d5-a6fd-7252-a0d1-23864c1ef07b\smart_dispatch_performance\smart_dispatch_metrics.json</a:t>
            </a:r>
          </a:p>
          <a:p xmlns:a="http://schemas.openxmlformats.org/drawingml/2006/main">
            <a:r>
              <a:t>比較口徑：平日且台北全市2.0加2.0E日用量超過20萬，06:00至23:59。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計算資料：C:\Users\user\Documents\調度相關\outputs\01a0c1d5-a6fd-7252-a0d1-23864c1ef07b\smart_dispatch_performance\smart_dispatch_metrics.json</a:t>
            </a:r>
          </a:p>
          <a:p xmlns:a="http://schemas.openxmlformats.org/drawingml/2006/main">
            <a:r>
              <a:t>比較口徑：平日且台北全市2.0加2.0E日用量超過20萬，06:00至23:59。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計算資料：C:\Users\user\Documents\調度相關\outputs\01a0c1d5-a6fd-7252-a0d1-23864c1ef07b\smart_dispatch_performance\smart_dispatch_metrics.json</a:t>
            </a:r>
          </a:p>
          <a:p xmlns:a="http://schemas.openxmlformats.org/drawingml/2006/main">
            <a:r>
              <a:t>比較口徑：平日且台北全市2.0加2.0E日用量超過20萬，06:00至23:59。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計算資料：C:\Users\user\Documents\調度相關\outputs\01a0c1d5-a6fd-7252-a0d1-23864c1ef07b\smart_dispatch_performance\smart_dispatch_metrics.json</a:t>
            </a:r>
          </a:p>
          <a:p xmlns:a="http://schemas.openxmlformats.org/drawingml/2006/main">
            <a:r>
              <a:t>比較口徑：平日且台北全市2.0加2.0E日用量超過20萬，06:00至23:59。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計算資料：C:\Users\user\Documents\調度相關\outputs\01a0c1d5-a6fd-7252-a0d1-23864c1ef07b\smart_dispatch_performance\smart_dispatch_metrics.json</a:t>
            </a:r>
          </a:p>
          <a:p xmlns:a="http://schemas.openxmlformats.org/drawingml/2006/main">
            <a:r>
              <a:t>比較口徑：平日且台北全市2.0加2.0E日用量超過20萬，06:00至23:59。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726bbf5c8f46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2aaaab3cdf4e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1c0255626248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823c0d435e46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e27778bc8a4d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264279999545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5784EB-EFCA-4686-BA07-F59145EFB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4F83CC-FF57-4B16-96F4-8E4762EDEC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B392CFA-3713-4D81-B28F-A7AE7B9606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A6C428-2957-4E2F-828C-2A752BC051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2BCFC9E-91A9-4C13-B72C-E5BCFF96E5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343A6A-5BA8-4FFC-AD0D-5A2F8925A1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B352DA-883E-4037-8681-DFCB6A3E14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D249B62-B6A3-49BD-9162-702C45247E1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AD0A24-38AD-4F05-9B50-FD1B0A91F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ED93BC-324D-47E0-8363-0072B3CDA3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a8b2cffd854329" /><Relationship Type="http://schemas.openxmlformats.org/officeDocument/2006/relationships/slideLayout" Target="/ppt/slideLayouts/slideLayout1.xml" Id="R1b5f16b9c15147e0" /><Relationship Type="http://schemas.openxmlformats.org/officeDocument/2006/relationships/slideLayout" Target="/ppt/slideLayouts/slideLayout2.xml" Id="R6eb03fb6df5a49f2" /><Relationship Type="http://schemas.openxmlformats.org/officeDocument/2006/relationships/slideLayout" Target="/ppt/slideLayouts/slideLayout3.xml" Id="R3f9e256452f4466b" /><Relationship Type="http://schemas.openxmlformats.org/officeDocument/2006/relationships/slideLayout" Target="/ppt/slideLayouts/slideLayout4.xml" Id="Rd1d42f55c5d745ea" /><Relationship Type="http://schemas.openxmlformats.org/officeDocument/2006/relationships/slideLayout" Target="/ppt/slideLayouts/slideLayout5.xml" Id="R7f6584361d294d40" /><Relationship Type="http://schemas.openxmlformats.org/officeDocument/2006/relationships/slideLayout" Target="/ppt/slideLayouts/slideLayout6.xml" Id="R62006017b3c945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5f16b9c15147e0"/>
    <p:sldLayoutId xmlns:r="http://schemas.openxmlformats.org/officeDocument/2006/relationships" id="2147483650" r:id="R6eb03fb6df5a49f2"/>
    <p:sldLayoutId xmlns:r="http://schemas.openxmlformats.org/officeDocument/2006/relationships" id="2147483651" r:id="R3f9e256452f4466b"/>
    <p:sldLayoutId xmlns:r="http://schemas.openxmlformats.org/officeDocument/2006/relationships" id="2147483652" r:id="Rd1d42f55c5d745ea"/>
    <p:sldLayoutId xmlns:r="http://schemas.openxmlformats.org/officeDocument/2006/relationships" id="2147483653" r:id="R7f6584361d294d40"/>
    <p:sldLayoutId xmlns:r="http://schemas.openxmlformats.org/officeDocument/2006/relationships" id="2147483654" r:id="R62006017b3c945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8062c8697840f8" /><Relationship Type="http://schemas.openxmlformats.org/officeDocument/2006/relationships/notesSlide" Target="/ppt/notesSlides/notesSlide1.xml" Id="Re4daa49f233e4e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0653b8a02949dd" /><Relationship Type="http://schemas.openxmlformats.org/officeDocument/2006/relationships/notesSlide" Target="/ppt/notesSlides/notesSlide2.xml" Id="R0cbaf13fdd6b4d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a9b422b33d42c8" /><Relationship Type="http://schemas.openxmlformats.org/officeDocument/2006/relationships/chart" Target="/ppt/slides/charts/chart1.xml" Id="Re8ba64f7cb5049e8" /><Relationship Type="http://schemas.openxmlformats.org/officeDocument/2006/relationships/chart" Target="/ppt/slides/charts/chart2.xml" Id="Rcb3e62ef02c2488b" /><Relationship Type="http://schemas.openxmlformats.org/officeDocument/2006/relationships/chart" Target="/ppt/slides/charts/chart3.xml" Id="Rf13afe0268634c78" /><Relationship Type="http://schemas.openxmlformats.org/officeDocument/2006/relationships/notesSlide" Target="/ppt/notesSlides/notesSlide3.xml" Id="Rff0b1906627545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701ca2626c4f42" /><Relationship Type="http://schemas.openxmlformats.org/officeDocument/2006/relationships/chart" Target="/ppt/slides/charts/chart4.xml" Id="R0234e0cd45be437a" /><Relationship Type="http://schemas.openxmlformats.org/officeDocument/2006/relationships/chart" Target="/ppt/slides/charts/chart5.xml" Id="Rce016eeb07e84616" /><Relationship Type="http://schemas.openxmlformats.org/officeDocument/2006/relationships/notesSlide" Target="/ppt/notesSlides/notesSlide4.xml" Id="R8e96dbdbce6748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c5b1120b644222" /><Relationship Type="http://schemas.openxmlformats.org/officeDocument/2006/relationships/chart" Target="/ppt/slides/charts/chart6.xml" Id="R41321f23a1684df4" /><Relationship Type="http://schemas.openxmlformats.org/officeDocument/2006/relationships/chart" Target="/ppt/slides/charts/chart7.xml" Id="R05ace6ae83344d0b" /><Relationship Type="http://schemas.openxmlformats.org/officeDocument/2006/relationships/chart" Target="/ppt/slides/charts/chart8.xml" Id="R3ab775a35d64478c" /><Relationship Type="http://schemas.openxmlformats.org/officeDocument/2006/relationships/notesSlide" Target="/ppt/notesSlides/notesSlide5.xml" Id="Rf5b3f98102f644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94d88d45d6429c" /><Relationship Type="http://schemas.openxmlformats.org/officeDocument/2006/relationships/chart" Target="/ppt/slides/charts/chart9.xml" Id="Rc5c335ff23034d6a" /><Relationship Type="http://schemas.openxmlformats.org/officeDocument/2006/relationships/chart" Target="/ppt/slides/charts/chart10.xml" Id="Ra966d582b3294e4d" /><Relationship Type="http://schemas.openxmlformats.org/officeDocument/2006/relationships/notesSlide" Target="/ppt/notesSlides/notesSlide6.xml" Id="Rac34c07005e346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60ba078b154296" /><Relationship Type="http://schemas.openxmlformats.org/officeDocument/2006/relationships/notesSlide" Target="/ppt/notesSlides/notesSlide7.xml" Id="R1add7daee8564a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2ff19681fb4cd8" /><Relationship Type="http://schemas.openxmlformats.org/officeDocument/2006/relationships/notesSlide" Target="/ppt/notesSlides/notesSlide8.xml" Id="Raad8be5fd0314b5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rPr>
              <a:t>日均用量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20272D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5月</c:v>
          </c:tx>
          <c:spPr>
            <a:solidFill xmlns:a="http://schemas.openxmlformats.org/drawingml/2006/main">
              <a:srgbClr val="4F96D1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H1</c:v>
                </c:pt>
                <c:pt idx="1">
                  <c:v>H2</c:v>
                </c:pt>
              </c:strCache>
            </c:strRef>
          </c:cat>
          <c:val>
            <c:numRef>
              <c:f>'Chart Data'!$B$2:$B$3</c:f>
              <c:numCache>
                <c:formatCode>#,##0.0</c:formatCode>
                <c:ptCount val="2"/>
                <c:pt idx="0">
                  <c:v>7776</c:v>
                </c:pt>
                <c:pt idx="1">
                  <c:v>7725</c:v>
                </c:pt>
              </c:numCache>
            </c:numRef>
          </c:val>
        </c:ser>
        <c:ser>
          <c:idx val="1"/>
          <c:order val="1"/>
          <c:tx>
            <c:v>執行期</c:v>
          </c:tx>
          <c:spPr>
            <a:solidFill xmlns:a="http://schemas.openxmlformats.org/drawingml/2006/main">
              <a:srgbClr val="00A95C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H1</c:v>
                </c:pt>
                <c:pt idx="1">
                  <c:v>H2</c:v>
                </c:pt>
              </c:strCache>
            </c:strRef>
          </c:cat>
          <c:val>
            <c:numRef>
              <c:f>'Chart Data'!$D$2:$D$3</c:f>
              <c:numCache>
                <c:formatCode>#,##0.0</c:formatCode>
                <c:ptCount val="2"/>
                <c:pt idx="0">
                  <c:v>8036</c:v>
                </c:pt>
                <c:pt idx="1">
                  <c:v>8288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183B63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7DC"/>
              </a:solidFill>
              <a:prstDash val="dash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20272D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CE0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rPr>
              <a:t>見車率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20272D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5月</c:v>
          </c:tx>
          <c:spPr>
            <a:solidFill xmlns:a="http://schemas.openxmlformats.org/drawingml/2006/main">
              <a:srgbClr val="4F96D1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H1</c:v>
                </c:pt>
                <c:pt idx="1">
                  <c:v>H2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0.9598</c:v>
                </c:pt>
                <c:pt idx="1">
                  <c:v>0.9507</c:v>
                </c:pt>
              </c:numCache>
            </c:numRef>
          </c:val>
        </c:ser>
        <c:ser>
          <c:idx val="1"/>
          <c:order val="1"/>
          <c:tx>
            <c:v>執行期</c:v>
          </c:tx>
          <c:spPr>
            <a:solidFill xmlns:a="http://schemas.openxmlformats.org/drawingml/2006/main">
              <a:srgbClr val="00A95C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H1</c:v>
                </c:pt>
                <c:pt idx="1">
                  <c:v>H2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0.9604</c:v>
                </c:pt>
                <c:pt idx="1">
                  <c:v>0.9443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183B63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7DC"/>
              </a:solidFill>
              <a:prstDash val="dash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20272D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CE0"/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rPr>
              <a:t>日均調度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20272D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5月</c:v>
          </c:tx>
          <c:spPr>
            <a:solidFill xmlns:a="http://schemas.openxmlformats.org/drawingml/2006/main">
              <a:srgbClr val="4F96D1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H1 趟次</c:v>
                </c:pt>
                <c:pt idx="1">
                  <c:v>H1 調出</c:v>
                </c:pt>
                <c:pt idx="2">
                  <c:v>H1 調入</c:v>
                </c:pt>
                <c:pt idx="3">
                  <c:v>H2 趟次</c:v>
                </c:pt>
                <c:pt idx="4">
                  <c:v>H2 調出</c:v>
                </c:pt>
                <c:pt idx="5">
                  <c:v>H2 調入</c:v>
                </c:pt>
              </c:strCache>
            </c:strRef>
          </c:cat>
          <c:val>
            <c:numRef>
              <c:f>'Chart Data'!$B$2:$B$7</c:f>
              <c:numCache>
                <c:formatCode>#,##0.0</c:formatCode>
                <c:ptCount val="6"/>
                <c:pt idx="0">
                  <c:v>53.3</c:v>
                </c:pt>
                <c:pt idx="1">
                  <c:v>263.2</c:v>
                </c:pt>
                <c:pt idx="2">
                  <c:v>214.4</c:v>
                </c:pt>
                <c:pt idx="3">
                  <c:v>52.1</c:v>
                </c:pt>
                <c:pt idx="4">
                  <c:v>207.7</c:v>
                </c:pt>
                <c:pt idx="5">
                  <c:v>288.9</c:v>
                </c:pt>
              </c:numCache>
            </c:numRef>
          </c:val>
        </c:ser>
        <c:ser>
          <c:idx val="1"/>
          <c:order val="1"/>
          <c:tx>
            <c:v>執行期</c:v>
          </c:tx>
          <c:spPr>
            <a:solidFill xmlns:a="http://schemas.openxmlformats.org/drawingml/2006/main">
              <a:srgbClr val="00A95C"/>
            </a:solidFill>
          </c:spPr>
          <c:invertIfNegative val="0"/>
          <c:cat>
            <c:strRef>
              <c:f>'Chart Data'!$C$2:$C$7</c:f>
              <c:strCache>
                <c:ptCount val="6"/>
                <c:pt idx="0">
                  <c:v>H1 趟次</c:v>
                </c:pt>
                <c:pt idx="1">
                  <c:v>H1 調出</c:v>
                </c:pt>
                <c:pt idx="2">
                  <c:v>H1 調入</c:v>
                </c:pt>
                <c:pt idx="3">
                  <c:v>H2 趟次</c:v>
                </c:pt>
                <c:pt idx="4">
                  <c:v>H2 調出</c:v>
                </c:pt>
                <c:pt idx="5">
                  <c:v>H2 調入</c:v>
                </c:pt>
              </c:strCache>
            </c:strRef>
          </c:cat>
          <c:val>
            <c:numRef>
              <c:f>'Chart Data'!$D$2:$D$7</c:f>
              <c:numCache>
                <c:formatCode>#,##0.0</c:formatCode>
                <c:ptCount val="6"/>
                <c:pt idx="0">
                  <c:v>57.5</c:v>
                </c:pt>
                <c:pt idx="1">
                  <c:v>276.8</c:v>
                </c:pt>
                <c:pt idx="2">
                  <c:v>219.4</c:v>
                </c:pt>
                <c:pt idx="3">
                  <c:v>66.5</c:v>
                </c:pt>
                <c:pt idx="4">
                  <c:v>284.5</c:v>
                </c:pt>
                <c:pt idx="5">
                  <c:v>335.1</c:v>
                </c:pt>
              </c:numCache>
            </c:numRef>
          </c:val>
        </c:ser>
        <c:dLbls>
          <c:numFmt formatCode="#,##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183B63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7DC"/>
              </a:solidFill>
              <a:prstDash val="dash"/>
            </a:ln>
          </c:spPr>
        </c:majorGridlines>
        <c:numFmt formatCode="#,##0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20272D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CE0"/>
      </a:solidFill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rPr>
              <a:t>日均用量成長率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20272D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用量成長率</c:v>
          </c:tx>
          <c:spPr>
            <a:solidFill xmlns:a="http://schemas.openxmlformats.org/drawingml/2006/main">
              <a:srgbClr val="00A95C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0A95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A95C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A95C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士林測試</c:v>
                </c:pt>
                <c:pt idx="1">
                  <c:v>大同</c:v>
                </c:pt>
                <c:pt idx="2">
                  <c:v>內湖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0.0531</c:v>
                </c:pt>
                <c:pt idx="1">
                  <c:v>0.0466</c:v>
                </c:pt>
                <c:pt idx="2">
                  <c:v>0.0516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183B63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7DC"/>
              </a:solidFill>
              <a:prstDash val="dash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CE0"/>
      </a:solidFill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rPr>
              <a:t>見車率差異（百分點）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20272D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見車率差異</c:v>
          </c:tx>
          <c:spPr>
            <a:solidFill xmlns:a="http://schemas.openxmlformats.org/drawingml/2006/main">
              <a:srgbClr val="4F96D1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D94A3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A95C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A95C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士林測試</c:v>
                </c:pt>
                <c:pt idx="1">
                  <c:v>大同</c:v>
                </c:pt>
                <c:pt idx="2">
                  <c:v>內湖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-0.27</c:v>
                </c:pt>
                <c:pt idx="1">
                  <c:v>0.61</c:v>
                </c:pt>
                <c:pt idx="2">
                  <c:v>0.78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183B63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7DC"/>
              </a:solidFill>
              <a:prstDash val="dash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CE0"/>
      </a:solidFill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rPr>
              <a:t>日均用量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20272D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5月</c:v>
          </c:tx>
          <c:spPr>
            <a:solidFill xmlns:a="http://schemas.openxmlformats.org/drawingml/2006/main">
              <a:srgbClr val="4F96D1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L2</c:v>
                </c:pt>
                <c:pt idx="1">
                  <c:v>L4</c:v>
                </c:pt>
              </c:strCache>
            </c:strRef>
          </c:cat>
          <c:val>
            <c:numRef>
              <c:f>'Chart Data'!$B$2:$B$3</c:f>
              <c:numCache>
                <c:formatCode>#,##0.0</c:formatCode>
                <c:ptCount val="2"/>
                <c:pt idx="0">
                  <c:v>4134</c:v>
                </c:pt>
                <c:pt idx="1">
                  <c:v>3938</c:v>
                </c:pt>
              </c:numCache>
            </c:numRef>
          </c:val>
        </c:ser>
        <c:ser>
          <c:idx val="1"/>
          <c:order val="1"/>
          <c:tx>
            <c:v>執行期</c:v>
          </c:tx>
          <c:spPr>
            <a:solidFill xmlns:a="http://schemas.openxmlformats.org/drawingml/2006/main">
              <a:srgbClr val="00A95C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L2</c:v>
                </c:pt>
                <c:pt idx="1">
                  <c:v>L4</c:v>
                </c:pt>
              </c:strCache>
            </c:strRef>
          </c:cat>
          <c:val>
            <c:numRef>
              <c:f>'Chart Data'!$D$2:$D$3</c:f>
              <c:numCache>
                <c:formatCode>#,##0.0</c:formatCode>
                <c:ptCount val="2"/>
                <c:pt idx="0">
                  <c:v>4193</c:v>
                </c:pt>
                <c:pt idx="1">
                  <c:v>4127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183B63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7DC"/>
              </a:solidFill>
              <a:prstDash val="dash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20272D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CE0"/>
      </a:solidFill>
      <a:prstDash val="solid"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rPr>
              <a:t>見車率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20272D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5月</c:v>
          </c:tx>
          <c:spPr>
            <a:solidFill xmlns:a="http://schemas.openxmlformats.org/drawingml/2006/main">
              <a:srgbClr val="4F96D1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L2</c:v>
                </c:pt>
                <c:pt idx="1">
                  <c:v>L4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0.9374</c:v>
                </c:pt>
                <c:pt idx="1">
                  <c:v>0.9138</c:v>
                </c:pt>
              </c:numCache>
            </c:numRef>
          </c:val>
        </c:ser>
        <c:ser>
          <c:idx val="1"/>
          <c:order val="1"/>
          <c:tx>
            <c:v>執行期</c:v>
          </c:tx>
          <c:spPr>
            <a:solidFill xmlns:a="http://schemas.openxmlformats.org/drawingml/2006/main">
              <a:srgbClr val="00A95C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L2</c:v>
                </c:pt>
                <c:pt idx="1">
                  <c:v>L4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0.9</c:v>
                </c:pt>
                <c:pt idx="1">
                  <c:v>0.8913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183B63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7DC"/>
              </a:solidFill>
              <a:prstDash val="dash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20272D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CE0"/>
      </a:solidFill>
      <a:prstDash val="solid"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rPr>
              <a:t>日均調度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20272D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5月</c:v>
          </c:tx>
          <c:spPr>
            <a:solidFill xmlns:a="http://schemas.openxmlformats.org/drawingml/2006/main">
              <a:srgbClr val="4F96D1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L2 趟次</c:v>
                </c:pt>
                <c:pt idx="1">
                  <c:v>L2 調出</c:v>
                </c:pt>
                <c:pt idx="2">
                  <c:v>L2 調入</c:v>
                </c:pt>
                <c:pt idx="3">
                  <c:v>L4 趟次</c:v>
                </c:pt>
                <c:pt idx="4">
                  <c:v>L4 調出</c:v>
                </c:pt>
                <c:pt idx="5">
                  <c:v>L4 調入</c:v>
                </c:pt>
              </c:strCache>
            </c:strRef>
          </c:cat>
          <c:val>
            <c:numRef>
              <c:f>'Chart Data'!$B$2:$B$7</c:f>
              <c:numCache>
                <c:formatCode>#,##0.0</c:formatCode>
                <c:ptCount val="6"/>
                <c:pt idx="0">
                  <c:v>78</c:v>
                </c:pt>
                <c:pt idx="1">
                  <c:v>419</c:v>
                </c:pt>
                <c:pt idx="2">
                  <c:v>385.8</c:v>
                </c:pt>
                <c:pt idx="3">
                  <c:v>49.2</c:v>
                </c:pt>
                <c:pt idx="4">
                  <c:v>186.9</c:v>
                </c:pt>
                <c:pt idx="5">
                  <c:v>324.8</c:v>
                </c:pt>
              </c:numCache>
            </c:numRef>
          </c:val>
        </c:ser>
        <c:ser>
          <c:idx val="1"/>
          <c:order val="1"/>
          <c:tx>
            <c:v>執行期</c:v>
          </c:tx>
          <c:spPr>
            <a:solidFill xmlns:a="http://schemas.openxmlformats.org/drawingml/2006/main">
              <a:srgbClr val="00A95C"/>
            </a:solidFill>
          </c:spPr>
          <c:invertIfNegative val="0"/>
          <c:cat>
            <c:strRef>
              <c:f>'Chart Data'!$C$2:$C$7</c:f>
              <c:strCache>
                <c:ptCount val="6"/>
                <c:pt idx="0">
                  <c:v>L2 趟次</c:v>
                </c:pt>
                <c:pt idx="1">
                  <c:v>L2 調出</c:v>
                </c:pt>
                <c:pt idx="2">
                  <c:v>L2 調入</c:v>
                </c:pt>
                <c:pt idx="3">
                  <c:v>L4 趟次</c:v>
                </c:pt>
                <c:pt idx="4">
                  <c:v>L4 調出</c:v>
                </c:pt>
                <c:pt idx="5">
                  <c:v>L4 調入</c:v>
                </c:pt>
              </c:strCache>
            </c:strRef>
          </c:cat>
          <c:val>
            <c:numRef>
              <c:f>'Chart Data'!$D$2:$D$7</c:f>
              <c:numCache>
                <c:formatCode>#,##0.0</c:formatCode>
                <c:ptCount val="6"/>
                <c:pt idx="0">
                  <c:v>68</c:v>
                </c:pt>
                <c:pt idx="1">
                  <c:v>384.4</c:v>
                </c:pt>
                <c:pt idx="2">
                  <c:v>310.9</c:v>
                </c:pt>
                <c:pt idx="3">
                  <c:v>45.6</c:v>
                </c:pt>
                <c:pt idx="4">
                  <c:v>159</c:v>
                </c:pt>
                <c:pt idx="5">
                  <c:v>316.7</c:v>
                </c:pt>
              </c:numCache>
            </c:numRef>
          </c:val>
        </c:ser>
        <c:dLbls>
          <c:numFmt formatCode="#,##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183B63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7DC"/>
              </a:solidFill>
              <a:prstDash val="dash"/>
            </a:ln>
          </c:spPr>
        </c:majorGridlines>
        <c:numFmt formatCode="#,##0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20272D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CE0"/>
      </a:solidFill>
      <a:prstDash val="solid"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rPr>
              <a:t>日均用量成長率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20272D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用量成長率</c:v>
          </c:tx>
          <c:spPr>
            <a:solidFill xmlns:a="http://schemas.openxmlformats.org/drawingml/2006/main">
              <a:srgbClr val="00A95C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0A95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A95C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A95C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新莊測試</c:v>
                </c:pt>
                <c:pt idx="1">
                  <c:v>三重</c:v>
                </c:pt>
                <c:pt idx="2">
                  <c:v>中和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0.0307</c:v>
                </c:pt>
                <c:pt idx="1">
                  <c:v>0.0422</c:v>
                </c:pt>
                <c:pt idx="2">
                  <c:v>0.0323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183B63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7DC"/>
              </a:solidFill>
              <a:prstDash val="dash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CE0"/>
      </a:solidFill>
      <a:prstDash val="solid"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rPr>
              <a:t>見車率差異（百分點）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20272D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見車率差異</c:v>
          </c:tx>
          <c:spPr>
            <a:solidFill xmlns:a="http://schemas.openxmlformats.org/drawingml/2006/main">
              <a:srgbClr val="4F96D1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D94A3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94A3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94A3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新莊測試</c:v>
                </c:pt>
                <c:pt idx="1">
                  <c:v>三重</c:v>
                </c:pt>
                <c:pt idx="2">
                  <c:v>中和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-3.1</c:v>
                </c:pt>
                <c:pt idx="1">
                  <c:v>-0.95</c:v>
                </c:pt>
                <c:pt idx="2">
                  <c:v>-0.93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183B63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7DC"/>
              </a:solidFill>
              <a:prstDash val="dash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CE0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5E0FB-B348-435C-8340-7977A92C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9BB80-55DA-4E6E-81D6-3BAA3539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60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360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360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360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360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360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360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360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360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360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智慧調度績效比較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D3540-1874-4AA5-BD01-32DDC7B5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76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65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65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65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65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65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65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65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65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65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rPr>
              <a:t>計畫期間 2026/9/14–10/31｜本版共同資料截至10/16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E5468-55FC-48D4-A78C-346DE6D2F224}"/>
              </a:ext>
            </a:extLst>
          </p:cNvPr>
          <p:cNvGraphicFramePr/>
          <p:nvPr/>
        </p:nvGraphicFramePr>
        <p:xfrm>
          <a:off xmlns:a="http://schemas.openxmlformats.org/drawingml/2006/main" x="1190625" y="1952625"/>
          <a:ext xmlns:a="http://schemas.openxmlformats.org/drawingml/2006/main" cx="9810750" cy="2905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3714750"/>
                <a:gridCol w="3714750"/>
              </a:tblGrid>
              <a:tr h="5524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比較項目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T w="7144">
                      <a:solidFill>
                        <a:srgbClr val="66717A"/>
                      </a:solidFill>
                      <a:prstDash val="solid"/>
                    </a:lnT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台北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T w="7144">
                      <a:solidFill>
                        <a:srgbClr val="66717A"/>
                      </a:solidFill>
                      <a:prstDash val="solid"/>
                    </a:lnT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新北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T w="7144">
                      <a:solidFill>
                        <a:srgbClr val="66717A"/>
                      </a:solidFill>
                      <a:prstDash val="solid"/>
                    </a:lnT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183B63"/>
                    </a:solidFill>
                  </a:tcPr>
                </a:tc>
              </a:tr>
              <a:tr h="5810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測試區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H1、H2（士林）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L2、L4（新莊）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</a:tr>
              <a:tr h="5810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對照區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大同、內湖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三重、中和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基準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2026年5月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2026年5月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</a:tr>
              <a:tr h="5810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執行期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2026/9/14–10/16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2026/9/14–10/16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494D2-444C-4189-8194-5734272E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91125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72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72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72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72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72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72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72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72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72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rPr>
              <a:t>有效樣本：5月 17 天，執行期 22 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2EDF2-58E9-498D-AF01-78E93656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388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ctr">
              <a:defRPr sz="157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7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7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7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7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7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7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7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7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7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rPr>
              <a:t>比較日均用量、見車率、調度趟次、調出數與調入數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85AAD-52AE-4A5B-A45E-96D0F2D6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34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rPr>
              <a:t>平日且台北全市日用量超過20萬｜06:00–23:59｜本版統計至2026/10/16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4B715-07E8-4B2A-9357-1ABF0388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796664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1ED14-78D0-4724-9431-E63D489E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292FA-C00A-4E04-8B05-24C87F83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1165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整體績效摘要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36026-17C9-43A5-96D8-8666D4CA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57250"/>
            <a:ext cx="11468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rPr>
              <a:t>用量與調度採相對變化，見車率採百分點差異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DF661-1906-45F2-8035-726413A88E5C}"/>
              </a:ext>
            </a:extLst>
          </p:cNvPr>
          <p:cNvGraphicFramePr/>
          <p:nvPr/>
        </p:nvGraphicFramePr>
        <p:xfrm>
          <a:off xmlns:a="http://schemas.openxmlformats.org/drawingml/2006/main" x="476250" y="1381125"/>
          <a:ext xmlns:a="http://schemas.openxmlformats.org/drawingml/2006/main" cx="112395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1809750"/>
                <a:gridCol w="1714500"/>
                <a:gridCol w="1857375"/>
                <a:gridCol w="1809750"/>
                <a:gridCol w="1857375"/>
              </a:tblGrid>
              <a:tr h="5143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區域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T w="7144">
                      <a:solidFill>
                        <a:srgbClr val="66717A"/>
                      </a:solidFill>
                      <a:prstDash val="solid"/>
                    </a:lnT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日均用量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T w="7144">
                      <a:solidFill>
                        <a:srgbClr val="66717A"/>
                      </a:solidFill>
                      <a:prstDash val="solid"/>
                    </a:lnT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見車率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T w="7144">
                      <a:solidFill>
                        <a:srgbClr val="66717A"/>
                      </a:solidFill>
                      <a:prstDash val="solid"/>
                    </a:lnT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調度趟次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T w="7144">
                      <a:solidFill>
                        <a:srgbClr val="66717A"/>
                      </a:solidFill>
                      <a:prstDash val="solid"/>
                    </a:lnT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調出數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T w="7144">
                      <a:solidFill>
                        <a:srgbClr val="66717A"/>
                      </a:solidFill>
                      <a:prstDash val="solid"/>
                    </a:lnT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調入數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T w="7144">
                      <a:solidFill>
                        <a:srgbClr val="66717A"/>
                      </a:solidFill>
                      <a:prstDash val="solid"/>
                    </a:lnT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183B63"/>
                    </a:solidFill>
                  </a:tcPr>
                </a:tc>
              </a:tr>
              <a:tr h="5810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士林測試區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+5.3%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D94A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-0.3pp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CEDE9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+17.7%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+19.2%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+10.2%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</a:tr>
              <a:tr h="5810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大同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+4.7%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+0.6pp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+21.1%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+20.3%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+16.7%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</a:tr>
              <a:tr h="5810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內湖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+5.2%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+0.8pp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+3.1%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+3.5%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D94A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-1.5%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CEDE9"/>
                    </a:solidFill>
                  </a:tcPr>
                </a:tc>
              </a:tr>
              <a:tr h="5810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新莊測試區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+3.1%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D94A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-3.1pp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CEDE9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D94A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-10.6%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CEDE9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D94A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-10.3%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CEDE9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D94A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-11.7%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CEDE9"/>
                    </a:solidFill>
                  </a:tcPr>
                </a:tc>
              </a:tr>
              <a:tr h="5810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三重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+4.2%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D94A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-0.9pp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CEDE9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+5.7%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+4.0%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+3.7%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</a:tr>
              <a:tr h="5810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中和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+3.2%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D94A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-0.9pp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CEDE9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+6.2%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+4.4%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+8.9%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D1369-6C26-4C8C-B8D4-96F9D368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rPr>
              <a:t>調度趟次、調出數與調入數分開呈現，不以調出加調入作為單一車輛數。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F13F0-65A1-48CC-951B-C0DAF364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34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rPr>
              <a:t>平日且台北全市日用量超過20萬｜06:00–23:59｜本版統計至2026/10/16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8E1A1-DB3C-4863-AD66-825AC27B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528120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BE2CD-484F-4257-BED1-660168CD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03018-673E-4BD8-8FC2-F9A566EF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1165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台北測試區：H1與H2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D283D-02BC-42FD-B24A-551BFBAD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57250"/>
            <a:ext cx="11468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rPr>
              <a:t>五月與智慧調度執行期日均比較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64AABF3-E00A-4E23-8F18-10F040FC34C7}"/>
              </a:ext>
            </a:extLst>
          </p:cNvPr>
          <p:cNvGraphicFramePr/>
          <p:nvPr/>
        </p:nvGraphicFramePr>
        <p:xfrm>
          <a:off xmlns:a="http://schemas.openxmlformats.org/drawingml/2006/main" x="238125" y="1285875"/>
          <a:ext xmlns:a="http://schemas.openxmlformats.org/drawingml/2006/main" cx="3381375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ba64f7cb5049e8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C9FA941-C1D0-4478-9BE3-85276E4A972D}"/>
              </a:ext>
            </a:extLst>
          </p:cNvPr>
          <p:cNvGraphicFramePr/>
          <p:nvPr/>
        </p:nvGraphicFramePr>
        <p:xfrm>
          <a:off xmlns:a="http://schemas.openxmlformats.org/drawingml/2006/main" x="3781425" y="1285875"/>
          <a:ext xmlns:a="http://schemas.openxmlformats.org/drawingml/2006/main" cx="3381375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3e62ef02c2488b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F39BC2EC-1CCD-4250-BFFC-53D1D64AA781}"/>
              </a:ext>
            </a:extLst>
          </p:cNvPr>
          <p:cNvGraphicFramePr/>
          <p:nvPr/>
        </p:nvGraphicFramePr>
        <p:xfrm>
          <a:off xmlns:a="http://schemas.openxmlformats.org/drawingml/2006/main" x="7334250" y="1285875"/>
          <a:ext xmlns:a="http://schemas.openxmlformats.org/drawingml/2006/main" cx="4619625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3afe0268634c7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52EEB-0C07-49EC-B9E2-B01581B7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626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ctr">
              <a:defRPr sz="1425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425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425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425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425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425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425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425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425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425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rPr>
              <a:t>調度圖分列趟次、調出、調入，避免同一移車任務被合併成不明確的調度量。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0499D-6A1B-441A-ABBA-24A893EB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34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rPr>
              <a:t>平日且台北全市日用量超過20萬｜06:00–23:59｜本版統計至2026/10/16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7A1B0-ED33-44E7-9C00-7592B92C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73010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A07F2-C066-455B-88CE-225289B5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A8A8E-E695-4214-BE58-56C24AE2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1165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台北：士林測試區與對照區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BD695-3FE4-4B8B-88D4-A374C6CE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57250"/>
            <a:ext cx="11468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rPr>
              <a:t>士林為H1與H2合計，大同與內湖為對照區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877951A-400D-40B7-92FF-625730875617}"/>
              </a:ext>
            </a:extLst>
          </p:cNvPr>
          <p:cNvGraphicFramePr/>
          <p:nvPr/>
        </p:nvGraphicFramePr>
        <p:xfrm>
          <a:off xmlns:a="http://schemas.openxmlformats.org/drawingml/2006/main" x="238125" y="1333500"/>
          <a:ext xmlns:a="http://schemas.openxmlformats.org/drawingml/2006/main" cx="3524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34e0cd45be437a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16EEA1A-79C8-4320-8D2E-A75BB063CD00}"/>
              </a:ext>
            </a:extLst>
          </p:cNvPr>
          <p:cNvGraphicFramePr/>
          <p:nvPr/>
        </p:nvGraphicFramePr>
        <p:xfrm>
          <a:off xmlns:a="http://schemas.openxmlformats.org/drawingml/2006/main" x="3952875" y="1333500"/>
          <a:ext xmlns:a="http://schemas.openxmlformats.org/drawingml/2006/main" cx="3524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016eeb07e84616"/>
          </a:graphicData>
        </a:graphic>
      </p:graphicFrame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ADE60-9B9D-4D65-9BAE-F80ECEB57739}"/>
              </a:ext>
            </a:extLst>
          </p:cNvPr>
          <p:cNvGraphicFramePr/>
          <p:nvPr/>
        </p:nvGraphicFramePr>
        <p:xfrm>
          <a:off xmlns:a="http://schemas.openxmlformats.org/drawingml/2006/main" x="7667625" y="1428750"/>
          <a:ext xmlns:a="http://schemas.openxmlformats.org/drawingml/2006/main" cx="428625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381125"/>
                <a:gridCol w="971550"/>
                <a:gridCol w="971550"/>
                <a:gridCol w="962025"/>
              </a:tblGrid>
              <a:tr h="5143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區域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T w="7144">
                      <a:solidFill>
                        <a:srgbClr val="66717A"/>
                      </a:solidFill>
                      <a:prstDash val="solid"/>
                    </a:lnT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趟次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T w="7144">
                      <a:solidFill>
                        <a:srgbClr val="66717A"/>
                      </a:solidFill>
                      <a:prstDash val="solid"/>
                    </a:lnT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調出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T w="7144">
                      <a:solidFill>
                        <a:srgbClr val="66717A"/>
                      </a:solidFill>
                      <a:prstDash val="solid"/>
                    </a:lnT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調入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T w="7144">
                      <a:solidFill>
                        <a:srgbClr val="66717A"/>
                      </a:solidFill>
                      <a:prstDash val="solid"/>
                    </a:lnT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183B63"/>
                    </a:solidFill>
                  </a:tcPr>
                </a:tc>
              </a:tr>
              <a:tr h="628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士林測試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+17.7%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+19.2%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+10.2%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</a:tr>
              <a:tr h="628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大同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+21.1%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+20.3%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+16.7%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</a:tr>
              <a:tr h="628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內湖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+3.1%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+3.5%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D94A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-1.5%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CEDE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F9575-A92E-4F95-A9DF-F62D82AF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72125"/>
            <a:ext cx="1123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rPr>
              <a:t>士林測試區日均用量+5.3%，見車率-0.3pp，調度趟次+17.7%。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366DD-0AAA-4558-BFDA-507D06F5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34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rPr>
              <a:t>平日且台北全市日用量超過20萬｜06:00–23:59｜本版統計至2026/10/16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54963-51D0-424C-BEB4-FE0C426B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164426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AD368-308D-47EC-A283-0B3F65E1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D4B65-08E5-4AE3-9F5D-AC206F80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1165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新北測試區：L2與L4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F4323-6E54-4A45-89A8-26764BB7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57250"/>
            <a:ext cx="11468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rPr>
              <a:t>五月與智慧調度執行期日均比較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2BF37EB-AE91-4E86-9083-F6A7B4A56400}"/>
              </a:ext>
            </a:extLst>
          </p:cNvPr>
          <p:cNvGraphicFramePr/>
          <p:nvPr/>
        </p:nvGraphicFramePr>
        <p:xfrm>
          <a:off xmlns:a="http://schemas.openxmlformats.org/drawingml/2006/main" x="238125" y="1285875"/>
          <a:ext xmlns:a="http://schemas.openxmlformats.org/drawingml/2006/main" cx="3381375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321f23a1684df4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403C8EA-A8E9-41E6-AECD-6E82648FFA8E}"/>
              </a:ext>
            </a:extLst>
          </p:cNvPr>
          <p:cNvGraphicFramePr/>
          <p:nvPr/>
        </p:nvGraphicFramePr>
        <p:xfrm>
          <a:off xmlns:a="http://schemas.openxmlformats.org/drawingml/2006/main" x="3781425" y="1285875"/>
          <a:ext xmlns:a="http://schemas.openxmlformats.org/drawingml/2006/main" cx="3381375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ace6ae83344d0b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708AAEFD-FD5C-4CC8-8E52-D230AFF59F21}"/>
              </a:ext>
            </a:extLst>
          </p:cNvPr>
          <p:cNvGraphicFramePr/>
          <p:nvPr/>
        </p:nvGraphicFramePr>
        <p:xfrm>
          <a:off xmlns:a="http://schemas.openxmlformats.org/drawingml/2006/main" x="7334250" y="1285875"/>
          <a:ext xmlns:a="http://schemas.openxmlformats.org/drawingml/2006/main" cx="4619625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b775a35d64478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2E3E3-51B6-42CB-B17D-2282E0BE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626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ctr">
              <a:defRPr sz="1425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425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425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425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425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425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425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425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425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425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rPr>
              <a:t>測試區僅納入新莊場站，排除同責任區內其他行政區。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D20D4-C9ED-4ED8-8ED7-3414C29F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34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rPr>
              <a:t>平日且台北全市日用量超過20萬｜06:00–23:59｜本版統計至2026/10/16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1DFC5-FD6F-4B9A-8D84-FC4CA24E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086738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8394D-7EDF-4B9A-BECF-B7EA1F09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1E7C4-FF61-4DC1-8655-D9ACC121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1165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新北：新莊測試區與對照區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E3511-F2C4-4876-812B-AA9C830F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57250"/>
            <a:ext cx="11468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rPr>
              <a:t>新莊為L2與L4合計，三重與中和為對照區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AE6796C-8565-4E88-B704-B4C0148DF821}"/>
              </a:ext>
            </a:extLst>
          </p:cNvPr>
          <p:cNvGraphicFramePr/>
          <p:nvPr/>
        </p:nvGraphicFramePr>
        <p:xfrm>
          <a:off xmlns:a="http://schemas.openxmlformats.org/drawingml/2006/main" x="238125" y="1333500"/>
          <a:ext xmlns:a="http://schemas.openxmlformats.org/drawingml/2006/main" cx="3524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c335ff23034d6a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A7FF94E-DD17-4C66-B394-C508BA30D577}"/>
              </a:ext>
            </a:extLst>
          </p:cNvPr>
          <p:cNvGraphicFramePr/>
          <p:nvPr/>
        </p:nvGraphicFramePr>
        <p:xfrm>
          <a:off xmlns:a="http://schemas.openxmlformats.org/drawingml/2006/main" x="3952875" y="1333500"/>
          <a:ext xmlns:a="http://schemas.openxmlformats.org/drawingml/2006/main" cx="3524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66d582b3294e4d"/>
          </a:graphicData>
        </a:graphic>
      </p:graphicFrame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801B4-8259-4DF2-88D0-6F39A7A72141}"/>
              </a:ext>
            </a:extLst>
          </p:cNvPr>
          <p:cNvGraphicFramePr/>
          <p:nvPr/>
        </p:nvGraphicFramePr>
        <p:xfrm>
          <a:off xmlns:a="http://schemas.openxmlformats.org/drawingml/2006/main" x="7667625" y="1428750"/>
          <a:ext xmlns:a="http://schemas.openxmlformats.org/drawingml/2006/main" cx="428625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381125"/>
                <a:gridCol w="971550"/>
                <a:gridCol w="971550"/>
                <a:gridCol w="962025"/>
              </a:tblGrid>
              <a:tr h="5143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區域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T w="7144">
                      <a:solidFill>
                        <a:srgbClr val="66717A"/>
                      </a:solidFill>
                      <a:prstDash val="solid"/>
                    </a:lnT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趟次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T w="7144">
                      <a:solidFill>
                        <a:srgbClr val="66717A"/>
                      </a:solidFill>
                      <a:prstDash val="solid"/>
                    </a:lnT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調出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T w="7144">
                      <a:solidFill>
                        <a:srgbClr val="66717A"/>
                      </a:solidFill>
                      <a:prstDash val="solid"/>
                    </a:lnT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調入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T w="7144">
                      <a:solidFill>
                        <a:srgbClr val="66717A"/>
                      </a:solidFill>
                      <a:prstDash val="solid"/>
                    </a:lnT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183B63"/>
                    </a:solidFill>
                  </a:tcPr>
                </a:tc>
              </a:tr>
              <a:tr h="628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新莊測試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D94A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-10.6%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CEDE9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D94A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-10.3%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CEDE9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D94A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-11.7%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CEDE9"/>
                    </a:solidFill>
                  </a:tcPr>
                </a:tc>
              </a:tr>
              <a:tr h="628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三重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+5.7%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+4.0%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+3.7%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</a:tr>
              <a:tr h="628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中和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+6.2%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+4.4%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0A95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+8.9%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9BB65-5259-43DE-BA5D-416C4AE0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72125"/>
            <a:ext cx="1123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rPr>
              <a:t>新莊測試區日均用量+3.1%，見車率-3.1pp，調度趟次-10.6%。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F5702-20F5-4A7F-8002-75E2F89A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34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rPr>
              <a:t>平日且台北全市日用量超過20萬｜06:00–23:59｜本版統計至2026/10/16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CB2CE-ED4E-4DCE-982A-97C9E6B3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008262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6706A-4825-4479-9471-8D154988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83734-7C90-4C07-A246-D0ADA444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1165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調度投入比較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A45A4-4486-43EE-9519-C99229D8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57250"/>
            <a:ext cx="11468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rPr>
              <a:t>數字為每日平均，趟次、調出與調入分開計算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60644-78C1-4BA8-A630-C817D67AB681}"/>
              </a:ext>
            </a:extLst>
          </p:cNvPr>
          <p:cNvGraphicFramePr/>
          <p:nvPr/>
        </p:nvGraphicFramePr>
        <p:xfrm>
          <a:off xmlns:a="http://schemas.openxmlformats.org/drawingml/2006/main" x="342900" y="1409700"/>
          <a:ext xmlns:a="http://schemas.openxmlformats.org/drawingml/2006/main" cx="11506200" cy="4238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57400"/>
                <a:gridCol w="1562100"/>
                <a:gridCol w="1619250"/>
                <a:gridCol w="1562100"/>
                <a:gridCol w="1619250"/>
                <a:gridCol w="1524000"/>
                <a:gridCol w="1562100"/>
              </a:tblGrid>
              <a:tr h="5905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區域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T w="7144">
                      <a:solidFill>
                        <a:srgbClr val="66717A"/>
                      </a:solidFill>
                      <a:prstDash val="solid"/>
                    </a:lnT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5月趟次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T w="7144">
                      <a:solidFill>
                        <a:srgbClr val="66717A"/>
                      </a:solidFill>
                      <a:prstDash val="solid"/>
                    </a:lnT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執行期趟次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T w="7144">
                      <a:solidFill>
                        <a:srgbClr val="66717A"/>
                      </a:solidFill>
                      <a:prstDash val="solid"/>
                    </a:lnT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5月調出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T w="7144">
                      <a:solidFill>
                        <a:srgbClr val="66717A"/>
                      </a:solidFill>
                      <a:prstDash val="solid"/>
                    </a:lnT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執行期調出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T w="7144">
                      <a:solidFill>
                        <a:srgbClr val="66717A"/>
                      </a:solidFill>
                      <a:prstDash val="solid"/>
                    </a:lnT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5月調入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T w="7144">
                      <a:solidFill>
                        <a:srgbClr val="66717A"/>
                      </a:solidFill>
                      <a:prstDash val="solid"/>
                    </a:lnT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執行期調入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T w="7144">
                      <a:solidFill>
                        <a:srgbClr val="66717A"/>
                      </a:solidFill>
                      <a:prstDash val="solid"/>
                    </a:lnT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183B63"/>
                    </a:solidFill>
                  </a:tcPr>
                </a:tc>
              </a:tr>
              <a:tr h="60007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士林測試區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105.4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124.0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470.8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561.3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503.4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554.6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</a:tr>
              <a:tr h="60007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大同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31.8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38.6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130.2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156.7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174.0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203.1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內湖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193.5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199.5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863.8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894.2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950.4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935.7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</a:tr>
              <a:tr h="60007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新莊測試區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127.2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113.6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605.9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543.4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710.6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627.6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三重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204.9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216.5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1,051.4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1,093.2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1,035.7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1,074.5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E9F1F8"/>
                    </a:solidFill>
                  </a:tcPr>
                </a:tc>
              </a:tr>
              <a:tr h="60007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中和</a:t>
                      </a:r>
                    </a:p>
                  </a:txBody>
                  <a:tcPr marL="38100" marR="38100" marT="19050" marB="19050" anchor="ctr">
                    <a:lnL w="7144">
                      <a:solidFill>
                        <a:srgbClr val="66717A"/>
                      </a:solidFill>
                      <a:prstDash val="solid"/>
                    </a:lnL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172.8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183.4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959.2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1,001.6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947.2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027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1,031.8</a:t>
                      </a:r>
                    </a:p>
                  </a:txBody>
                  <a:tcPr marL="38100" marR="38100" marT="19050" marB="19050" anchor="ctr">
                    <a:lnR w="7144">
                      <a:solidFill>
                        <a:srgbClr val="66717A"/>
                      </a:solidFill>
                      <a:prstDash val="solid"/>
                    </a:lnR>
                    <a:lnB w="7144">
                      <a:solidFill>
                        <a:srgbClr val="66717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9B787-4068-4954-BAD1-BCA62961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57875"/>
            <a:ext cx="1133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rPr>
              <a:t>同車號、同時間、同站點、同狀態、同車種與同數量的多人紀錄只計一次。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28EC9-DC7A-45F9-AC24-3B01AC1F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34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rPr>
              <a:t>平日且台北全市日用量超過20萬｜06:00–23:59｜本版統計至2026/10/16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B53AF-3726-4A09-BA78-191B7A56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685996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7A545-9BD0-4836-95E4-285A305F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3DDAC-F383-44B6-813C-C3761A68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1165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階段結論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E1AE1-7399-4CE8-8B8A-434605E8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57250"/>
            <a:ext cx="11468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rPr>
              <a:t>本版呈現截至10/16的共同完整資料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DB72F-AD83-4690-919B-1BB58142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0" cy="4000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D7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AA6D7-2574-483C-BE62-0678B385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1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1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1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1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1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1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1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1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1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rPr>
              <a:t>台北｜H1＋H2士林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595CF-EA82-4647-82E5-72C0CFEB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4572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rPr>
              <a:t>日均用量由 15,501 增至 16,324，+5.3%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rPr>
              <a:t>見車率由 95.5% 變為 95.3%，-0.3pp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rPr>
              <a:t>調度趟次 +17.7%</a:t>
            </a:r>
          </a:p>
          <a:p xmlns:a="http://schemas.openxmlformats.org/drawingml/2006/main">
            <a: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rPr>
              <a:t>調出 +19.2%，調入 +10.2%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D6234-7F25-4B99-ACA9-7DD19A26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38112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1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1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1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1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1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1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1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1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1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rPr>
              <a:t>新北｜L2＋L4新莊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77BC2-1BAE-497C-8D72-CCB5032A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47875"/>
            <a:ext cx="4572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rPr>
              <a:t>日均用量由 8,072 增至 8,320，+3.1%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rPr>
              <a:t>見車率由 92.7% 變為 89.6%，-3.1pp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rPr>
              <a:t>調度趟次 -10.6%</a:t>
            </a:r>
          </a:p>
          <a:p xmlns:a="http://schemas.openxmlformats.org/drawingml/2006/main">
            <a:pPr>
              <a:def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20272D"/>
                </a:solidFill>
                <a:latin typeface="Microsoft JhengHei"/>
                <a:ea typeface="Microsoft JhengHei"/>
                <a:cs typeface="Microsoft JhengHei"/>
              </a:rPr>
              <a:t>調出 -10.3%，調入 -11.7%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C133D-CCFD-40B4-BD6E-AD5580FB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959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83B63"/>
                </a:solidFill>
                <a:latin typeface="Microsoft JhengHei"/>
                <a:ea typeface="Microsoft JhengHei"/>
                <a:cs typeface="Microsoft JhengHei"/>
              </a:rPr>
              <a:t>完整計畫至10/31，最後兩週資料完成後可直接沿用本版口徑更新。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40747-76E5-46CE-977E-DC448DEB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34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rPr>
              <a:t>平日且台北全市日用量超過20萬｜06:00–23:59｜本版統計至2026/10/16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62CEB-21F9-4019-8F8F-589A228D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65717B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5738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2026-10-26T10:26:39.0970000Z</dcterms:created>
  <dcterms:modified xsi:type="dcterms:W3CDTF">2026-10-26T10:26:39.0970000Z</dcterms:modified>
</coreProperties>
</file>