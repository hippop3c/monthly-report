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5caaeb75e54b9f" /><Relationship Type="http://schemas.openxmlformats.org/officeDocument/2006/relationships/extended-properties" Target="/docProps/app.xml" Id="Rd2a9159f5d9b42ca" /><Relationship Type="http://schemas.openxmlformats.org/officeDocument/2006/relationships/officeDocument" Target="/ppt/presentation.xml" Id="R5d62bd0f4a3f4d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f4b6e1e374a6c"/>
  </p:sldMasterIdLst>
  <p:notesMasterIdLst>
    <p:notesMasterId xmlns:r="http://schemas.openxmlformats.org/officeDocument/2006/relationships" r:id="R7af08364a2984f50"/>
  </p:notesMasterIdLst>
  <p:sldIdLst>
    <p:sldId xmlns:r="http://schemas.openxmlformats.org/officeDocument/2006/relationships" id="256" r:id="Rfa1f8f436bf1492b"/>
    <p:sldId xmlns:r="http://schemas.openxmlformats.org/officeDocument/2006/relationships" id="257" r:id="R6bbcb1c2280b4eae"/>
    <p:sldId xmlns:r="http://schemas.openxmlformats.org/officeDocument/2006/relationships" id="258" r:id="R14eb3a4fa5a14d96"/>
    <p:sldId xmlns:r="http://schemas.openxmlformats.org/officeDocument/2006/relationships" id="259" r:id="Rb2ee6767c6f74e2e"/>
    <p:sldId xmlns:r="http://schemas.openxmlformats.org/officeDocument/2006/relationships" id="260" r:id="Rd2f5c548d6414229"/>
    <p:sldId xmlns:r="http://schemas.openxmlformats.org/officeDocument/2006/relationships" id="261" r:id="Rc62164c74efe4cf4"/>
    <p:sldId xmlns:r="http://schemas.openxmlformats.org/officeDocument/2006/relationships" id="262" r:id="R9dc938c08e9e4d37"/>
    <p:sldId xmlns:r="http://schemas.openxmlformats.org/officeDocument/2006/relationships" id="263" r:id="Rf40f9149628c4369"/>
    <p:sldId xmlns:r="http://schemas.openxmlformats.org/officeDocument/2006/relationships" id="264" r:id="Rbbf5b8b8b3ca4ed0"/>
    <p:sldId xmlns:r="http://schemas.openxmlformats.org/officeDocument/2006/relationships" id="265" r:id="Rcabd6f7e7f3e40f1"/>
    <p:sldId xmlns:r="http://schemas.openxmlformats.org/officeDocument/2006/relationships" id="266" r:id="R2101496b10ec4e35"/>
    <p:sldId xmlns:r="http://schemas.openxmlformats.org/officeDocument/2006/relationships" id="267" r:id="R41900eb8132a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b9dcfa62c145ac" /><Relationship Type="http://schemas.openxmlformats.org/officeDocument/2006/relationships/slideMaster" Target="/ppt/slideMasters/slideMaster1.xml" Id="Ref4f4b6e1e374a6c" /><Relationship Type="http://schemas.openxmlformats.org/officeDocument/2006/relationships/notesMaster" Target="/ppt/notesMasters/notesMaster1.xml" Id="R7af08364a2984f50" /><Relationship Type="http://schemas.openxmlformats.org/officeDocument/2006/relationships/presProps" Target="/ppt/presProps.xml" Id="Rf97f41cbd32d4582" /><Relationship Type="http://schemas.openxmlformats.org/officeDocument/2006/relationships/tableStyles" Target="/ppt/tableStyles.xml" Id="Rcc51ac4330194ae4" /><Relationship Type="http://schemas.openxmlformats.org/officeDocument/2006/relationships/slide" Target="/ppt/slides/slide1.xml" Id="Rfa1f8f436bf1492b" /><Relationship Type="http://schemas.openxmlformats.org/officeDocument/2006/relationships/slide" Target="/ppt/slides/slide2.xml" Id="R6bbcb1c2280b4eae" /><Relationship Type="http://schemas.openxmlformats.org/officeDocument/2006/relationships/slide" Target="/ppt/slides/slide3.xml" Id="R14eb3a4fa5a14d96" /><Relationship Type="http://schemas.openxmlformats.org/officeDocument/2006/relationships/slide" Target="/ppt/slides/slide4.xml" Id="Rb2ee6767c6f74e2e" /><Relationship Type="http://schemas.openxmlformats.org/officeDocument/2006/relationships/slide" Target="/ppt/slides/slide5.xml" Id="Rd2f5c548d6414229" /><Relationship Type="http://schemas.openxmlformats.org/officeDocument/2006/relationships/slide" Target="/ppt/slides/slide6.xml" Id="Rc62164c74efe4cf4" /><Relationship Type="http://schemas.openxmlformats.org/officeDocument/2006/relationships/slide" Target="/ppt/slides/slide7.xml" Id="R9dc938c08e9e4d37" /><Relationship Type="http://schemas.openxmlformats.org/officeDocument/2006/relationships/slide" Target="/ppt/slides/slide8.xml" Id="Rf40f9149628c4369" /><Relationship Type="http://schemas.openxmlformats.org/officeDocument/2006/relationships/slide" Target="/ppt/slides/slide9.xml" Id="Rbbf5b8b8b3ca4ed0" /><Relationship Type="http://schemas.openxmlformats.org/officeDocument/2006/relationships/slide" Target="/ppt/slides/slide10.xml" Id="Rcabd6f7e7f3e40f1" /><Relationship Type="http://schemas.openxmlformats.org/officeDocument/2006/relationships/slide" Target="/ppt/slides/slide11.xml" Id="R2101496b10ec4e35" /><Relationship Type="http://schemas.openxmlformats.org/officeDocument/2006/relationships/slide" Target="/ppt/slides/slide12.xml" Id="R41900eb8132a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7a384ebedd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9d3dab71ec4e6a" /><Relationship Type="http://schemas.openxmlformats.org/officeDocument/2006/relationships/notesMaster" Target="/ppt/notesMasters/notesMaster1.xml" Id="R5d4f0c029c484b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d1f85a38b43f2" /><Relationship Type="http://schemas.openxmlformats.org/officeDocument/2006/relationships/notesMaster" Target="/ppt/notesMasters/notesMaster1.xml" Id="Rc953288ef8b9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86a9cc61924c90" /><Relationship Type="http://schemas.openxmlformats.org/officeDocument/2006/relationships/notesMaster" Target="/ppt/notesMasters/notesMaster1.xml" Id="Rb3494beea5ee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5b767e9a641af" /><Relationship Type="http://schemas.openxmlformats.org/officeDocument/2006/relationships/notesMaster" Target="/ppt/notesMasters/notesMaster1.xml" Id="R97a8ebd2d7514d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84a348d86b4f35" /><Relationship Type="http://schemas.openxmlformats.org/officeDocument/2006/relationships/notesMaster" Target="/ppt/notesMasters/notesMaster1.xml" Id="R7850993bc01d4d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afb2b1c5334175" /><Relationship Type="http://schemas.openxmlformats.org/officeDocument/2006/relationships/notesMaster" Target="/ppt/notesMasters/notesMaster1.xml" Id="R6f9711ef524c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70584eea354b39" /><Relationship Type="http://schemas.openxmlformats.org/officeDocument/2006/relationships/notesMaster" Target="/ppt/notesMasters/notesMaster1.xml" Id="R82c613a5d49f4e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36554ea7a74605" /><Relationship Type="http://schemas.openxmlformats.org/officeDocument/2006/relationships/notesMaster" Target="/ppt/notesMasters/notesMaster1.xml" Id="Rf4344ea75cca4e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239e1530f4328" /><Relationship Type="http://schemas.openxmlformats.org/officeDocument/2006/relationships/notesMaster" Target="/ppt/notesMasters/notesMaster1.xml" Id="R809099a283834d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34f1f056b04808" /><Relationship Type="http://schemas.openxmlformats.org/officeDocument/2006/relationships/notesMaster" Target="/ppt/notesMasters/notesMaster1.xml" Id="R6ae8d7767d8c44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866d3e17a74a54" /><Relationship Type="http://schemas.openxmlformats.org/officeDocument/2006/relationships/notesMaster" Target="/ppt/notesMasters/notesMaster1.xml" Id="Rb1d4360e130242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4b1f8ad78d4244" /><Relationship Type="http://schemas.openxmlformats.org/officeDocument/2006/relationships/notesMaster" Target="/ppt/notesMasters/notesMaster1.xml" Id="Rd70e88b5b9d249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本簡報使用 2026 年 7 月平日資料。</a:t>
            </a:r>
          </a:p>
          <a:p xmlns:a="http://schemas.openxmlformats.org/drawingml/2006/main">
            <a:r>
              <a:t>資料來源：CPS RewardLog 滿借／空還、VDS 調度完成任務、Report 見車率／見位率。</a:t>
            </a:r>
          </a:p>
          <a:p xmlns:a="http://schemas.openxmlformats.org/drawingml/2006/main">
            <a:r>
              <a:t>分析為同站同時段關聯，不代表因果。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來源：analysis.json，由 YouBike heatmap data.js 與 coverage_summary.json 計算。</a:t>
            </a:r>
          </a:p>
          <a:p xmlns:a="http://schemas.openxmlformats.org/drawingml/2006/main">
            <a:r>
              <a:t>新北滿借／空還事件覆蓋率為 20.0%／9.1%，台北為 11.3%／5.1%。</a:t>
            </a:r>
          </a:p>
          <a:p xmlns:a="http://schemas.openxmlformats.org/drawingml/2006/main">
            <a:r>
              <a:t>次時段恢復分析納入當時見位率 &lt;90% 或見車率 &lt;80% 的站點小時，結果為下一小時率值。</a:t>
            </a:r>
          </a:p>
          <a:p xmlns:a="http://schemas.openxmlformats.org/drawingml/2006/main">
            <a:r>
              <a:t>比較以同站、同小時、起始率 5 個百分點分箱匹配。民眾單獨相對無行為的率值差介於 +4.71 至 +9.65 點，協同相對民眾單獨介於 +5.27 至 +15.17 點。</a:t>
            </a:r>
          </a:p>
          <a:p xmlns:a="http://schemas.openxmlformats.org/drawingml/2006/main">
            <a:r>
              <a:t>結果仍是觀察關聯，受未觀察到的需求、路線和任務選點影響，不應解讀為因果效果。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定義來源：youbike-hourly-heatmap README.md 與既有覆蓋率報表。</a:t>
            </a:r>
          </a:p>
          <a:p xmlns:a="http://schemas.openxmlformats.org/drawingml/2006/main">
            <a:r>
              <a:t>滿借事件與調出／綁車對應見位率，空還事件與調入／解綁對應見車率。</a:t>
            </a:r>
          </a:p>
          <a:p xmlns:a="http://schemas.openxmlformats.org/drawingml/2006/main">
            <a:r>
              <a:t>此頁為可編輯關係圖，描述操作機制與選擇性介入偏誤。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來源：C:/Users/user/Documents/調度相關/youbike-hourly-heatmap/data.js。</a:t>
            </a:r>
          </a:p>
          <a:p xmlns:a="http://schemas.openxmlformats.org/drawingml/2006/main">
            <a:r>
              <a:t>範圍：2026 年 7 月平日，活躍站為平日日均用量大於 100 次。</a:t>
            </a:r>
          </a:p>
          <a:p xmlns:a="http://schemas.openxmlformats.org/drawingml/2006/main">
            <a:r>
              <a:t>台北活躍站 1020 站，平均見車率 94.8%，平均見位率 97.6%。</a:t>
            </a:r>
          </a:p>
          <a:p xmlns:a="http://schemas.openxmlformats.org/drawingml/2006/main">
            <a:r>
              <a:t>台北平日滿借事件 134,415，空還事件 359,073。</a:t>
            </a:r>
          </a:p>
          <a:p xmlns:a="http://schemas.openxmlformats.org/drawingml/2006/main">
            <a:r>
              <a:t>逐時總量剖面：容量調度最佳落後滿借 1 小時，r=0.655291；供車調度最佳領先空還 1 小時，r=0.576561。這是日內型態對齊，不是單站反應時間。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來源：cps_hourly_detail.csv、vds_hourly_detail.csv、report_taipei_2026-07.json。</a:t>
            </a:r>
          </a:p>
          <a:p xmlns:a="http://schemas.openxmlformats.org/drawingml/2006/main">
            <a:r>
              <a:t>定義：全站平日，排除 7/10–7/12。納入當時見車率 &lt;80% 的場站代號×日期×小時，觀察下一小時見車率與是否恢復至 80%。</a:t>
            </a:r>
          </a:p>
          <a:p xmlns:a="http://schemas.openxmlformats.org/drawingml/2006/main">
            <a:r>
              <a:t>原始四組樣本數（無民無調／有民無調／無民有調／有民有調）：11,170／46,417／4,568／3,811。</a:t>
            </a:r>
          </a:p>
          <a:p xmlns:a="http://schemas.openxmlformats.org/drawingml/2006/main">
            <a:r>
              <a:t>民眾單獨 vs 無行為匹配權重 1226，下一小時見車率差 +9.65 點，達標率差 +13.05 點。</a:t>
            </a:r>
          </a:p>
          <a:p xmlns:a="http://schemas.openxmlformats.org/drawingml/2006/main">
            <a:r>
              <a:t>共同 vs 民眾單獨匹配權重 950，下一小時見車率差 +15.17 點，達標率差 +25.4 點。</a:t>
            </a:r>
          </a:p>
          <a:p xmlns:a="http://schemas.openxmlformats.org/drawingml/2006/main">
            <a:r>
              <a:t>優先池 353 個活躍站半小時格，涵蓋 112 站。</a:t>
            </a:r>
          </a:p>
          <a:p xmlns:a="http://schemas.openxmlformats.org/drawingml/2006/main">
            <a:r>
              <a:t>匹配只能控制已觀察到的站點、時段與起始率，不能宣稱因果。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來源：cps_hourly_detail.csv、vds_hourly_detail.csv、report_taipei_2026-07.json。</a:t>
            </a:r>
          </a:p>
          <a:p xmlns:a="http://schemas.openxmlformats.org/drawingml/2006/main">
            <a:r>
              <a:t>定義：全站平日，排除 7/10–7/12。納入當時見位率 &lt;90% 的場站代號×日期×小時，觀察下一小時見位率與是否恢復至 90%。</a:t>
            </a:r>
          </a:p>
          <a:p xmlns:a="http://schemas.openxmlformats.org/drawingml/2006/main">
            <a:r>
              <a:t>原始四組樣本數（無民無調／有民無調／無民有調／有民有調）：5,996／27,197／3,116／4,537。</a:t>
            </a:r>
          </a:p>
          <a:p xmlns:a="http://schemas.openxmlformats.org/drawingml/2006/main">
            <a:r>
              <a:t>民眾單獨 vs 無行為匹配權重 665，下一小時見位率差 +9.54 點，達標率差 +13.62 點。</a:t>
            </a:r>
          </a:p>
          <a:p xmlns:a="http://schemas.openxmlformats.org/drawingml/2006/main">
            <a:r>
              <a:t>共同 vs 民眾單獨匹配權重 850，下一小時見位率差 +11.65 點，達標率差 +25.01 點。</a:t>
            </a:r>
          </a:p>
          <a:p xmlns:a="http://schemas.openxmlformats.org/drawingml/2006/main">
            <a:r>
              <a:t>優先池 292 個活躍站半小時格，涵蓋 113 站。</a:t>
            </a:r>
          </a:p>
          <a:p xmlns:a="http://schemas.openxmlformats.org/drawingml/2006/main">
            <a:r>
              <a:t>匹配只能控制已觀察到的站點、時段與起始率，不能宣稱因果。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來源：C:/Users/user/Documents/調度相關/youbike-hourly-heatmap/data.js。</a:t>
            </a:r>
          </a:p>
          <a:p xmlns:a="http://schemas.openxmlformats.org/drawingml/2006/main">
            <a:r>
              <a:t>範圍：2026 年 7 月平日，活躍站為平日日均用量大於 100 次。</a:t>
            </a:r>
          </a:p>
          <a:p xmlns:a="http://schemas.openxmlformats.org/drawingml/2006/main">
            <a:r>
              <a:t>新北活躍站 547 站，平均見車率 93.9%，平均見位率 99.4%。</a:t>
            </a:r>
          </a:p>
          <a:p xmlns:a="http://schemas.openxmlformats.org/drawingml/2006/main">
            <a:r>
              <a:t>新北平日滿借事件 18,416，空還事件 201,599。</a:t>
            </a:r>
          </a:p>
          <a:p xmlns:a="http://schemas.openxmlformats.org/drawingml/2006/main">
            <a:r>
              <a:t>逐時總量剖面：容量調度最佳落後滿借 1 小時，r=0.763940；供車調度最佳領先空還 1 小時，r=0.654642。這是日內型態對齊，不是單站反應時間。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來源：cps_hourly_detail.csv、vds_hourly_detail.csv、report_newtaipei_2026-07.json。</a:t>
            </a:r>
          </a:p>
          <a:p xmlns:a="http://schemas.openxmlformats.org/drawingml/2006/main">
            <a:r>
              <a:t>定義：全站平日，排除 7/10–7/12。納入當時見車率 &lt;80% 的場站代號×日期×小時，觀察下一小時見車率與是否恢復至 80%。</a:t>
            </a:r>
          </a:p>
          <a:p xmlns:a="http://schemas.openxmlformats.org/drawingml/2006/main">
            <a:r>
              <a:t>原始四組樣本數（無民無調／有民無調／無民有調／有民有調）：19,355／41,934／5,646／4,866。</a:t>
            </a:r>
          </a:p>
          <a:p xmlns:a="http://schemas.openxmlformats.org/drawingml/2006/main">
            <a:r>
              <a:t>民眾單獨 vs 無行為匹配權重 1844，下一小時見車率差 +7.07 點，達標率差 +10.27 點。</a:t>
            </a:r>
          </a:p>
          <a:p xmlns:a="http://schemas.openxmlformats.org/drawingml/2006/main">
            <a:r>
              <a:t>共同 vs 民眾單獨匹配權重 1316，下一小時見車率差 +13.75 點，達標率差 +22.79 點。</a:t>
            </a:r>
          </a:p>
          <a:p xmlns:a="http://schemas.openxmlformats.org/drawingml/2006/main">
            <a:r>
              <a:t>優先池 239 個活躍站半小時格，涵蓋 63 站。</a:t>
            </a:r>
          </a:p>
          <a:p xmlns:a="http://schemas.openxmlformats.org/drawingml/2006/main">
            <a:r>
              <a:t>匹配只能控制已觀察到的站點、時段與起始率，不能宣稱因果。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來源：cps_hourly_detail.csv、vds_hourly_detail.csv、report_newtaipei_2026-07.json；江子翠數字來自 coverage_station_summary.csv。</a:t>
            </a:r>
          </a:p>
          <a:p xmlns:a="http://schemas.openxmlformats.org/drawingml/2006/main">
            <a:r>
              <a:t>定義：全站平日，排除 7/10–7/12。納入當時見位率 &lt;90% 的場站代號×日期×小時，觀察下一小時見位率與是否恢復至 90%。</a:t>
            </a:r>
          </a:p>
          <a:p xmlns:a="http://schemas.openxmlformats.org/drawingml/2006/main">
            <a:r>
              <a:t>原始四組樣本數（無民無調／有民無調／無民有調／有民有調）：9,725／4,778／1,605／1,367。</a:t>
            </a:r>
          </a:p>
          <a:p xmlns:a="http://schemas.openxmlformats.org/drawingml/2006/main">
            <a:r>
              <a:t>民眾單獨 vs 無行為匹配權重 121，下一小時見位率差 +4.71 點，達標率差 +12.67 點。</a:t>
            </a:r>
          </a:p>
          <a:p xmlns:a="http://schemas.openxmlformats.org/drawingml/2006/main">
            <a:r>
              <a:t>共同 vs 民眾單獨匹配權重 155，下一小時見位率差 +5.27 點，達標率差 +12.8 點。</a:t>
            </a:r>
          </a:p>
          <a:p xmlns:a="http://schemas.openxmlformats.org/drawingml/2006/main">
            <a:r>
              <a:t>新北高強度滿借樣本少。既有矩陣中日均滿借 ≥2 僅 40 個站時，須避免外推。</a:t>
            </a:r>
          </a:p>
          <a:p xmlns:a="http://schemas.openxmlformats.org/drawingml/2006/main">
            <a:r>
              <a:t>江子翠 1／2／4／6 號出口 7 月滿借事件為 496／491／683／480，同時段覆蓋率為 1.0%／2.2%／5.9%／5.2%。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覆蓋率來源：coverage_summary.json，採同城市、同場站、同日期、同小時共現。</a:t>
            </a:r>
          </a:p>
          <a:p xmlns:a="http://schemas.openxmlformats.org/drawingml/2006/main">
            <a:r>
              <a:t>優先站數來源：analysis.json，採平日日均用量大於 100 次的場站半小時格。</a:t>
            </a:r>
          </a:p>
          <a:p xmlns:a="http://schemas.openxmlformats.org/drawingml/2006/main">
            <a:r>
              <a:t>台北見車／見位優先池 112／113 站。</a:t>
            </a:r>
          </a:p>
          <a:p xmlns:a="http://schemas.openxmlformats.org/drawingml/2006/main">
            <a:r>
              <a:t>新北見車／見位優先池 63／5 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此頁為建議的事件導向調度流程，屬策略設計，不是既有系統設定。</a:t>
            </a:r>
          </a:p>
          <a:p xmlns:a="http://schemas.openxmlformats.org/drawingml/2006/main">
            <a:r>
              <a:t>規則門檻沿用既有決策矩陣：事件 2、綁車／解綁 7、見車率 80%、見位率 90%。</a:t>
            </a:r>
          </a:p>
          <a:p xmlns:a="http://schemas.openxmlformats.org/drawingml/2006/main">
            <a:r>
              <a:t>上線前需串接每日、站點、半小時層級的 RewardLog、VDS 與見車見位率。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此頁為建議的兩週試辦設計。</a:t>
            </a:r>
          </a:p>
          <a:p xmlns:a="http://schemas.openxmlformats.org/drawingml/2006/main">
            <a:r>
              <a:t>主要 KPI：見車率、見位率、未達門檻站點半小時格數。</a:t>
            </a:r>
          </a:p>
          <a:p xmlns:a="http://schemas.openxmlformats.org/drawingml/2006/main">
            <a:r>
              <a:t>次要 KPI：滿借／空還事件復發、調度車輛數、車公里、人時與每改善 1 個百分點成本。</a:t>
            </a:r>
          </a:p>
          <a:p xmlns:a="http://schemas.openxmlformats.org/drawingml/2006/main">
            <a:r>
              <a:t>正式估計應使用每日 VDS 任務與率值，並以站點與時段配對降低選擇偏誤。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209bff084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a128bc9fc4f5f" /><Relationship Type="http://schemas.openxmlformats.org/officeDocument/2006/relationships/slideLayout" Target="/ppt/slideLayouts/slideLayout1.xml" Id="Rfedec06df58147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dec06df58147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32b438b51423d" /><Relationship Type="http://schemas.openxmlformats.org/officeDocument/2006/relationships/notesSlide" Target="/ppt/notesSlides/notesSlide1.xml" Id="R112da0fb4ddf46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1488f92c34200" /><Relationship Type="http://schemas.openxmlformats.org/officeDocument/2006/relationships/notesSlide" Target="/ppt/notesSlides/notesSlide2.xml" Id="R2d607b057cce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50bd0eab49c1" /><Relationship Type="http://schemas.openxmlformats.org/officeDocument/2006/relationships/notesSlide" Target="/ppt/notesSlides/notesSlide3.xml" Id="R434d96b7d1fd47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b8bae66704b7d" /><Relationship Type="http://schemas.openxmlformats.org/officeDocument/2006/relationships/chart" Target="/ppt/slides/charts/chart1.xml" Id="R42af72de0cfa4cf4" /><Relationship Type="http://schemas.openxmlformats.org/officeDocument/2006/relationships/chart" Target="/ppt/slides/charts/chart2.xml" Id="R017af46bda744e19" /><Relationship Type="http://schemas.openxmlformats.org/officeDocument/2006/relationships/notesSlide" Target="/ppt/notesSlides/notesSlide4.xml" Id="Rb0e84fd9f23f46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6f98ea15a473f" /><Relationship Type="http://schemas.openxmlformats.org/officeDocument/2006/relationships/chart" Target="/ppt/slides/charts/chart3.xml" Id="R2782228b699d4cc1" /><Relationship Type="http://schemas.openxmlformats.org/officeDocument/2006/relationships/notesSlide" Target="/ppt/notesSlides/notesSlide5.xml" Id="Rdb43b2c28daa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2c2c00474a88" /><Relationship Type="http://schemas.openxmlformats.org/officeDocument/2006/relationships/chart" Target="/ppt/slides/charts/chart4.xml" Id="R96b16fe8b3854bc9" /><Relationship Type="http://schemas.openxmlformats.org/officeDocument/2006/relationships/notesSlide" Target="/ppt/notesSlides/notesSlide6.xml" Id="Ra361f714234a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cf4a9d07d4527" /><Relationship Type="http://schemas.openxmlformats.org/officeDocument/2006/relationships/chart" Target="/ppt/slides/charts/chart5.xml" Id="R560dc8816cd844b6" /><Relationship Type="http://schemas.openxmlformats.org/officeDocument/2006/relationships/chart" Target="/ppt/slides/charts/chart6.xml" Id="Rabb9f8d56a8040e6" /><Relationship Type="http://schemas.openxmlformats.org/officeDocument/2006/relationships/notesSlide" Target="/ppt/notesSlides/notesSlide7.xml" Id="R249c1804eda4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e420e4e8a4d5d" /><Relationship Type="http://schemas.openxmlformats.org/officeDocument/2006/relationships/chart" Target="/ppt/slides/charts/chart7.xml" Id="R6e650131dc034b9c" /><Relationship Type="http://schemas.openxmlformats.org/officeDocument/2006/relationships/notesSlide" Target="/ppt/notesSlides/notesSlide8.xml" Id="R1ef7771f8160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be6f6886a409e" /><Relationship Type="http://schemas.openxmlformats.org/officeDocument/2006/relationships/chart" Target="/ppt/slides/charts/chart8.xml" Id="R2920e96350a84392" /><Relationship Type="http://schemas.openxmlformats.org/officeDocument/2006/relationships/notesSlide" Target="/ppt/notesSlides/notesSlide9.xml" Id="R3c46ac61215a43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e77aecaa94f2d" /><Relationship Type="http://schemas.openxmlformats.org/officeDocument/2006/relationships/chart" Target="/ppt/slides/charts/chart9.xml" Id="Rb8643425f11f4dd4" /><Relationship Type="http://schemas.openxmlformats.org/officeDocument/2006/relationships/chart" Target="/ppt/slides/charts/chart10.xml" Id="Rc132a7d499f84570" /><Relationship Type="http://schemas.openxmlformats.org/officeDocument/2006/relationships/notesSlide" Target="/ppt/notesSlides/notesSlide10.xml" Id="Rf80dc9cccdf945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fc7950c7b41cf" /><Relationship Type="http://schemas.openxmlformats.org/officeDocument/2006/relationships/notesSlide" Target="/ppt/notesSlides/notesSlide11.xml" Id="R8fa4e5eb0f1d46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a7c9edcd04baa" /><Relationship Type="http://schemas.openxmlformats.org/officeDocument/2006/relationships/notesSlide" Target="/ppt/notesSlides/notesSlide12.xml" Id="Rb3ba3554d33849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友愛接力事件日均｜活躍站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</c:v>
          </c:tx>
          <c:spPr>
            <a:ln xmlns:a="http://schemas.openxmlformats.org/drawingml/2006/main" w="28575">
              <a:solidFill>
                <a:srgbClr val="D9770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97706"/>
              </a:solidFill>
            </c:spPr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Data'!$B$2:$B$19</c:f>
              <c:numCache>
                <c:formatCode>0</c:formatCode>
                <c:ptCount val="18"/>
                <c:pt idx="0">
                  <c:v>52.22</c:v>
                </c:pt>
                <c:pt idx="1">
                  <c:v>218.93</c:v>
                </c:pt>
                <c:pt idx="2">
                  <c:v>470.85</c:v>
                </c:pt>
                <c:pt idx="3">
                  <c:v>425.88</c:v>
                </c:pt>
                <c:pt idx="4">
                  <c:v>264.97</c:v>
                </c:pt>
                <c:pt idx="5">
                  <c:v>228.43</c:v>
                </c:pt>
                <c:pt idx="6">
                  <c:v>336.83</c:v>
                </c:pt>
                <c:pt idx="7">
                  <c:v>293.42</c:v>
                </c:pt>
                <c:pt idx="8">
                  <c:v>255.92</c:v>
                </c:pt>
                <c:pt idx="9">
                  <c:v>204.13</c:v>
                </c:pt>
                <c:pt idx="10">
                  <c:v>244.35</c:v>
                </c:pt>
                <c:pt idx="11">
                  <c:v>569.49</c:v>
                </c:pt>
                <c:pt idx="12">
                  <c:v>674.66</c:v>
                </c:pt>
                <c:pt idx="13">
                  <c:v>427.75</c:v>
                </c:pt>
                <c:pt idx="14">
                  <c:v>236.09</c:v>
                </c:pt>
                <c:pt idx="15">
                  <c:v>198.88</c:v>
                </c:pt>
                <c:pt idx="16">
                  <c:v>207.89</c:v>
                </c:pt>
                <c:pt idx="17">
                  <c:v>106.7</c:v>
                </c:pt>
              </c:numCache>
            </c:numRef>
          </c:val>
          <c:smooth val="1"/>
        </c:ser>
        <c:ser>
          <c:idx val="1"/>
          <c:order val="1"/>
          <c:tx>
            <c:v>空還</c:v>
          </c:tx>
          <c:spPr>
            <a:ln xmlns:a="http://schemas.openxmlformats.org/drawingml/2006/main" w="28575">
              <a:solidFill>
                <a:srgbClr val="16A34A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6A34A"/>
              </a:solidFill>
            </c:spPr>
          </c:marker>
          <c:cat>
            <c:numRef>
              <c:f>'Chart Data'!$C$2:$C$19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Data'!$D$2:$D$19</c:f>
              <c:numCache>
                <c:formatCode>0</c:formatCode>
                <c:ptCount val="18"/>
                <c:pt idx="0">
                  <c:v>127.82</c:v>
                </c:pt>
                <c:pt idx="1">
                  <c:v>552.34</c:v>
                </c:pt>
                <c:pt idx="2">
                  <c:v>1290.27</c:v>
                </c:pt>
                <c:pt idx="3">
                  <c:v>1092</c:v>
                </c:pt>
                <c:pt idx="4">
                  <c:v>813.58</c:v>
                </c:pt>
                <c:pt idx="5">
                  <c:v>732.68</c:v>
                </c:pt>
                <c:pt idx="6">
                  <c:v>775.82</c:v>
                </c:pt>
                <c:pt idx="7">
                  <c:v>648.2</c:v>
                </c:pt>
                <c:pt idx="8">
                  <c:v>535.73</c:v>
                </c:pt>
                <c:pt idx="9">
                  <c:v>454.94</c:v>
                </c:pt>
                <c:pt idx="10">
                  <c:v>543.86</c:v>
                </c:pt>
                <c:pt idx="11">
                  <c:v>927.14</c:v>
                </c:pt>
                <c:pt idx="12">
                  <c:v>1199.17</c:v>
                </c:pt>
                <c:pt idx="13">
                  <c:v>856.23</c:v>
                </c:pt>
                <c:pt idx="14">
                  <c:v>759.82</c:v>
                </c:pt>
                <c:pt idx="15">
                  <c:v>890.53</c:v>
                </c:pt>
                <c:pt idx="16">
                  <c:v>728.29</c:v>
                </c:pt>
                <c:pt idx="17">
                  <c:v>361.68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未達服務門檻的站點半小時占比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見車率 &lt;80%</c:v>
          </c:tx>
          <c:spPr>
            <a:ln xmlns:a="http://schemas.openxmlformats.org/drawingml/2006/main" w="28575">
              <a:solidFill>
                <a:srgbClr val="16A34A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16A34A"/>
              </a:solidFill>
            </c:spPr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Data'!$B$2:$B$19</c:f>
              <c:numCache>
                <c:formatCode>0</c:formatCode>
                <c:ptCount val="18"/>
                <c:pt idx="0">
                  <c:v>0.1</c:v>
                </c:pt>
                <c:pt idx="1">
                  <c:v>0.39</c:v>
                </c:pt>
                <c:pt idx="2">
                  <c:v>7.16</c:v>
                </c:pt>
                <c:pt idx="3">
                  <c:v>12.16</c:v>
                </c:pt>
                <c:pt idx="4">
                  <c:v>11.27</c:v>
                </c:pt>
                <c:pt idx="5">
                  <c:v>6.96</c:v>
                </c:pt>
                <c:pt idx="6">
                  <c:v>4.02</c:v>
                </c:pt>
                <c:pt idx="7">
                  <c:v>3.53</c:v>
                </c:pt>
                <c:pt idx="8">
                  <c:v>2.55</c:v>
                </c:pt>
                <c:pt idx="9">
                  <c:v>1.08</c:v>
                </c:pt>
                <c:pt idx="10">
                  <c:v>0.88</c:v>
                </c:pt>
                <c:pt idx="11">
                  <c:v>3.24</c:v>
                </c:pt>
                <c:pt idx="12">
                  <c:v>6.37</c:v>
                </c:pt>
                <c:pt idx="13">
                  <c:v>6.37</c:v>
                </c:pt>
                <c:pt idx="14">
                  <c:v>7.55</c:v>
                </c:pt>
                <c:pt idx="15">
                  <c:v>13.73</c:v>
                </c:pt>
                <c:pt idx="16">
                  <c:v>20.98</c:v>
                </c:pt>
                <c:pt idx="17">
                  <c:v>19.02</c:v>
                </c:pt>
              </c:numCache>
            </c:numRef>
          </c:val>
          <c:smooth val="1"/>
        </c:ser>
        <c:ser>
          <c:idx val="1"/>
          <c:order val="1"/>
          <c:tx>
            <c:v>見位率 &lt;90%</c:v>
          </c:tx>
          <c:spPr>
            <a:ln xmlns:a="http://schemas.openxmlformats.org/drawingml/2006/main" w="28575">
              <a:solidFill>
                <a:srgbClr val="D97706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D97706"/>
              </a:solidFill>
            </c:spPr>
          </c:marker>
          <c:cat>
            <c:numRef>
              <c:f>'Chart Data'!$C$2:$C$19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Data'!$D$2:$D$19</c:f>
              <c:numCache>
                <c:formatCode>0</c:formatCode>
                <c:ptCount val="18"/>
                <c:pt idx="0">
                  <c:v>1.27</c:v>
                </c:pt>
                <c:pt idx="1">
                  <c:v>3.53</c:v>
                </c:pt>
                <c:pt idx="2">
                  <c:v>9.51</c:v>
                </c:pt>
                <c:pt idx="3">
                  <c:v>13.73</c:v>
                </c:pt>
                <c:pt idx="4">
                  <c:v>9.41</c:v>
                </c:pt>
                <c:pt idx="5">
                  <c:v>5.78</c:v>
                </c:pt>
                <c:pt idx="6">
                  <c:v>4.9</c:v>
                </c:pt>
                <c:pt idx="7">
                  <c:v>5.1</c:v>
                </c:pt>
                <c:pt idx="8">
                  <c:v>7.45</c:v>
                </c:pt>
                <c:pt idx="9">
                  <c:v>3.73</c:v>
                </c:pt>
                <c:pt idx="10">
                  <c:v>2.75</c:v>
                </c:pt>
                <c:pt idx="11">
                  <c:v>7.75</c:v>
                </c:pt>
                <c:pt idx="12">
                  <c:v>9.41</c:v>
                </c:pt>
                <c:pt idx="13">
                  <c:v>8.92</c:v>
                </c:pt>
                <c:pt idx="14">
                  <c:v>5.78</c:v>
                </c:pt>
                <c:pt idx="15">
                  <c:v>7.94</c:v>
                </c:pt>
                <c:pt idx="16">
                  <c:v>15.69</c:v>
                </c:pt>
                <c:pt idx="17">
                  <c:v>14.12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低服務率起點的下一小時恢復關聯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下一小時率值差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9.65</c:v>
                </c:pt>
                <c:pt idx="1">
                  <c:v>15.17</c:v>
                </c:pt>
              </c:numCache>
            </c:numRef>
          </c:val>
        </c:ser>
        <c:ser>
          <c:idx val="1"/>
          <c:order val="1"/>
          <c:tx>
            <c:v>恢復達標率差</c:v>
          </c:tx>
          <c:spPr>
            <a:solidFill xmlns:a="http://schemas.openxmlformats.org/drawingml/2006/main">
              <a:srgbClr val="7C3AED"/>
            </a:solidFill>
          </c:spPr>
          <c:cat>
            <c:strRef>
              <c:f>'Chart Data'!$C$2:$C$3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13.05</c:v>
                </c:pt>
                <c:pt idx="1">
                  <c:v>25.4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匹配後平均差（百分點）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低服務率起點的下一小時恢復關聯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下一小時率值差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9.54</c:v>
                </c:pt>
                <c:pt idx="1">
                  <c:v>11.65</c:v>
                </c:pt>
              </c:numCache>
            </c:numRef>
          </c:val>
        </c:ser>
        <c:ser>
          <c:idx val="1"/>
          <c:order val="1"/>
          <c:tx>
            <c:v>恢復達標率差</c:v>
          </c:tx>
          <c:spPr>
            <a:solidFill xmlns:a="http://schemas.openxmlformats.org/drawingml/2006/main">
              <a:srgbClr val="7C3AED"/>
            </a:solidFill>
          </c:spPr>
          <c:cat>
            <c:strRef>
              <c:f>'Chart Data'!$C$2:$C$3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13.62</c:v>
                </c:pt>
                <c:pt idx="1">
                  <c:v>25.01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匹配後平均差（百分點）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友愛接力事件日均｜活躍站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</c:v>
          </c:tx>
          <c:spPr>
            <a:ln xmlns:a="http://schemas.openxmlformats.org/drawingml/2006/main" w="28575">
              <a:solidFill>
                <a:srgbClr val="D9770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97706"/>
              </a:solidFill>
            </c:spPr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Data'!$B$2:$B$19</c:f>
              <c:numCache>
                <c:formatCode>0</c:formatCode>
                <c:ptCount val="18"/>
                <c:pt idx="0">
                  <c:v>19.94</c:v>
                </c:pt>
                <c:pt idx="1">
                  <c:v>64.8</c:v>
                </c:pt>
                <c:pt idx="2">
                  <c:v>55.16</c:v>
                </c:pt>
                <c:pt idx="3">
                  <c:v>28.07</c:v>
                </c:pt>
                <c:pt idx="4">
                  <c:v>17.17</c:v>
                </c:pt>
                <c:pt idx="5">
                  <c:v>15.53</c:v>
                </c:pt>
                <c:pt idx="6">
                  <c:v>34.53</c:v>
                </c:pt>
                <c:pt idx="7">
                  <c:v>34.53</c:v>
                </c:pt>
                <c:pt idx="8">
                  <c:v>22.25</c:v>
                </c:pt>
                <c:pt idx="9">
                  <c:v>17.34</c:v>
                </c:pt>
                <c:pt idx="10">
                  <c:v>33.57</c:v>
                </c:pt>
                <c:pt idx="11">
                  <c:v>52.84</c:v>
                </c:pt>
                <c:pt idx="12">
                  <c:v>65.28</c:v>
                </c:pt>
                <c:pt idx="13">
                  <c:v>44.3</c:v>
                </c:pt>
                <c:pt idx="14">
                  <c:v>22.57</c:v>
                </c:pt>
                <c:pt idx="15">
                  <c:v>13.79</c:v>
                </c:pt>
                <c:pt idx="16">
                  <c:v>14.38</c:v>
                </c:pt>
                <c:pt idx="17">
                  <c:v>8.92</c:v>
                </c:pt>
              </c:numCache>
            </c:numRef>
          </c:val>
          <c:smooth val="1"/>
        </c:ser>
        <c:ser>
          <c:idx val="1"/>
          <c:order val="1"/>
          <c:tx>
            <c:v>空還</c:v>
          </c:tx>
          <c:spPr>
            <a:ln xmlns:a="http://schemas.openxmlformats.org/drawingml/2006/main" w="28575">
              <a:solidFill>
                <a:srgbClr val="16A34A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6A34A"/>
              </a:solidFill>
            </c:spPr>
          </c:marker>
          <c:cat>
            <c:numRef>
              <c:f>'Chart Data'!$C$2:$C$19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Data'!$D$2:$D$19</c:f>
              <c:numCache>
                <c:formatCode>0</c:formatCode>
                <c:ptCount val="18"/>
                <c:pt idx="0">
                  <c:v>57.76</c:v>
                </c:pt>
                <c:pt idx="1">
                  <c:v>288.05</c:v>
                </c:pt>
                <c:pt idx="2">
                  <c:v>550.3</c:v>
                </c:pt>
                <c:pt idx="3">
                  <c:v>400.74</c:v>
                </c:pt>
                <c:pt idx="4">
                  <c:v>314.72</c:v>
                </c:pt>
                <c:pt idx="5">
                  <c:v>273.55</c:v>
                </c:pt>
                <c:pt idx="6">
                  <c:v>379.2</c:v>
                </c:pt>
                <c:pt idx="7">
                  <c:v>315.21</c:v>
                </c:pt>
                <c:pt idx="8">
                  <c:v>230.67</c:v>
                </c:pt>
                <c:pt idx="9">
                  <c:v>220.91</c:v>
                </c:pt>
                <c:pt idx="10">
                  <c:v>257.82</c:v>
                </c:pt>
                <c:pt idx="11">
                  <c:v>334.19</c:v>
                </c:pt>
                <c:pt idx="12">
                  <c:v>387.23</c:v>
                </c:pt>
                <c:pt idx="13">
                  <c:v>422</c:v>
                </c:pt>
                <c:pt idx="14">
                  <c:v>414.12</c:v>
                </c:pt>
                <c:pt idx="15">
                  <c:v>463.56</c:v>
                </c:pt>
                <c:pt idx="16">
                  <c:v>378.19</c:v>
                </c:pt>
                <c:pt idx="17">
                  <c:v>175.85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未達服務門檻的站點半小時占比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見車率 &lt;80%</c:v>
          </c:tx>
          <c:spPr>
            <a:ln xmlns:a="http://schemas.openxmlformats.org/drawingml/2006/main" w="28575">
              <a:solidFill>
                <a:srgbClr val="16A34A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16A34A"/>
              </a:solidFill>
            </c:spPr>
          </c:marker>
          <c:cat>
            <c:numRef>
              <c:f>'Chart Data'!$A$2:$A$19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Data'!$B$2:$B$19</c:f>
              <c:numCache>
                <c:formatCode>0</c:formatCode>
                <c:ptCount val="18"/>
                <c:pt idx="0">
                  <c:v>0.55</c:v>
                </c:pt>
                <c:pt idx="1">
                  <c:v>9.69</c:v>
                </c:pt>
                <c:pt idx="2">
                  <c:v>23.22</c:v>
                </c:pt>
                <c:pt idx="3">
                  <c:v>24.5</c:v>
                </c:pt>
                <c:pt idx="4">
                  <c:v>15.9</c:v>
                </c:pt>
                <c:pt idx="5">
                  <c:v>11.33</c:v>
                </c:pt>
                <c:pt idx="6">
                  <c:v>12.8</c:v>
                </c:pt>
                <c:pt idx="7">
                  <c:v>8.59</c:v>
                </c:pt>
                <c:pt idx="8">
                  <c:v>4.02</c:v>
                </c:pt>
                <c:pt idx="9">
                  <c:v>1.46</c:v>
                </c:pt>
                <c:pt idx="10">
                  <c:v>1.83</c:v>
                </c:pt>
                <c:pt idx="11">
                  <c:v>2.56</c:v>
                </c:pt>
                <c:pt idx="12">
                  <c:v>3.84</c:v>
                </c:pt>
                <c:pt idx="13">
                  <c:v>9.32</c:v>
                </c:pt>
                <c:pt idx="14">
                  <c:v>12.98</c:v>
                </c:pt>
                <c:pt idx="15">
                  <c:v>16.82</c:v>
                </c:pt>
                <c:pt idx="16">
                  <c:v>22.3</c:v>
                </c:pt>
                <c:pt idx="17">
                  <c:v>19.38</c:v>
                </c:pt>
              </c:numCache>
            </c:numRef>
          </c:val>
          <c:smooth val="1"/>
        </c:ser>
        <c:ser>
          <c:idx val="1"/>
          <c:order val="1"/>
          <c:tx>
            <c:v>見位率 &lt;90%</c:v>
          </c:tx>
          <c:spPr>
            <a:ln xmlns:a="http://schemas.openxmlformats.org/drawingml/2006/main" w="28575">
              <a:solidFill>
                <a:srgbClr val="D97706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D97706"/>
              </a:solidFill>
            </c:spPr>
          </c:marker>
          <c:cat>
            <c:numRef>
              <c:f>'Chart Data'!$C$2:$C$19</c:f>
              <c:numCache>
                <c:formatCode>General</c:formatCode>
                <c:ptCount val="18"/>
                <c:pt idx="0">
                  <c:v>06</c:v>
                </c:pt>
                <c:pt idx="1">
                  <c:v>07</c:v>
                </c:pt>
                <c:pt idx="2">
                  <c:v>08</c:v>
                </c:pt>
                <c:pt idx="3">
                  <c:v>09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numCache>
            </c:numRef>
          </c:cat>
          <c:val>
            <c:numRef>
              <c:f>'Chart Data'!$D$2:$D$19</c:f>
              <c:numCache>
                <c:formatCode>0</c:formatCode>
                <c:ptCount val="18"/>
                <c:pt idx="0">
                  <c:v>1.1</c:v>
                </c:pt>
                <c:pt idx="1">
                  <c:v>2.01</c:v>
                </c:pt>
                <c:pt idx="2">
                  <c:v>1.83</c:v>
                </c:pt>
                <c:pt idx="3">
                  <c:v>1.28</c:v>
                </c:pt>
                <c:pt idx="4">
                  <c:v>1.1</c:v>
                </c:pt>
                <c:pt idx="5">
                  <c:v>1.46</c:v>
                </c:pt>
                <c:pt idx="6">
                  <c:v>1.28</c:v>
                </c:pt>
                <c:pt idx="7">
                  <c:v>1.83</c:v>
                </c:pt>
                <c:pt idx="8">
                  <c:v>0.55</c:v>
                </c:pt>
                <c:pt idx="9">
                  <c:v>0.18</c:v>
                </c:pt>
                <c:pt idx="10">
                  <c:v>0.91</c:v>
                </c:pt>
                <c:pt idx="11">
                  <c:v>1.83</c:v>
                </c:pt>
                <c:pt idx="12">
                  <c:v>2.38</c:v>
                </c:pt>
                <c:pt idx="13">
                  <c:v>1.83</c:v>
                </c:pt>
                <c:pt idx="14">
                  <c:v>0.91</c:v>
                </c:pt>
                <c:pt idx="15">
                  <c:v>0.55</c:v>
                </c:pt>
                <c:pt idx="16">
                  <c:v>1.83</c:v>
                </c:pt>
                <c:pt idx="17">
                  <c:v>0.91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低服務率起點的下一小時恢復關聯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下一小時率值差</c:v>
          </c:tx>
          <c:spPr>
            <a:solidFill xmlns:a="http://schemas.openxmlformats.org/drawingml/2006/main">
              <a:srgbClr val="F97316"/>
            </a:solidFill>
          </c:spPr>
          <c:cat>
            <c:strRef>
              <c:f>'Chart Data'!$A$2:$A$3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7.07</c:v>
                </c:pt>
                <c:pt idx="1">
                  <c:v>13.75</c:v>
                </c:pt>
              </c:numCache>
            </c:numRef>
          </c:val>
        </c:ser>
        <c:ser>
          <c:idx val="1"/>
          <c:order val="1"/>
          <c:tx>
            <c:v>恢復達標率差</c:v>
          </c:tx>
          <c:spPr>
            <a:solidFill xmlns:a="http://schemas.openxmlformats.org/drawingml/2006/main">
              <a:srgbClr val="7C3AED"/>
            </a:solidFill>
          </c:spPr>
          <c:cat>
            <c:strRef>
              <c:f>'Chart Data'!$C$2:$C$3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10.27</c:v>
                </c:pt>
                <c:pt idx="1">
                  <c:v>22.79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匹配後平均差（百分點）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低服務率起點的下一小時恢復關聯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下一小時率值差</c:v>
          </c:tx>
          <c:spPr>
            <a:solidFill xmlns:a="http://schemas.openxmlformats.org/drawingml/2006/main">
              <a:srgbClr val="F97316"/>
            </a:solidFill>
          </c:spPr>
          <c:cat>
            <c:strRef>
              <c:f>'Chart Data'!$A$2:$A$3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4.71</c:v>
                </c:pt>
                <c:pt idx="1">
                  <c:v>5.27</c:v>
                </c:pt>
              </c:numCache>
            </c:numRef>
          </c:val>
        </c:ser>
        <c:ser>
          <c:idx val="1"/>
          <c:order val="1"/>
          <c:tx>
            <c:v>恢復達標率差</c:v>
          </c:tx>
          <c:spPr>
            <a:solidFill xmlns:a="http://schemas.openxmlformats.org/drawingml/2006/main">
              <a:srgbClr val="7C3AED"/>
            </a:solidFill>
          </c:spPr>
          <c:cat>
            <c:strRef>
              <c:f>'Chart Data'!$C$2:$C$3</c:f>
              <c:strCache>
                <c:ptCount val="2"/>
                <c:pt idx="0">
                  <c:v>民眾接力單獨
vs 無行為</c:v>
                </c:pt>
                <c:pt idx="1">
                  <c:v>民眾＋調度
vs 民眾單獨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12.67</c:v>
                </c:pt>
                <c:pt idx="1">
                  <c:v>12.8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匹配後平均差（百分點）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同站同時段事件覆蓋率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台北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Data'!$A$2:$A$3</c:f>
              <c:strCache>
                <c:ptCount val="2"/>
                <c:pt idx="0">
                  <c:v>滿借</c:v>
                </c:pt>
                <c:pt idx="1">
                  <c:v>空還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11.27</c:v>
                </c:pt>
                <c:pt idx="1">
                  <c:v>5.07</c:v>
                </c:pt>
              </c:numCache>
            </c:numRef>
          </c:val>
        </c:ser>
        <c:ser>
          <c:idx val="1"/>
          <c:order val="1"/>
          <c:tx>
            <c:v>新北</c:v>
          </c:tx>
          <c:spPr>
            <a:solidFill xmlns:a="http://schemas.openxmlformats.org/drawingml/2006/main">
              <a:srgbClr val="F97316"/>
            </a:solidFill>
          </c:spPr>
          <c:cat>
            <c:strRef>
              <c:f>'Chart Data'!$C$2:$C$3</c:f>
              <c:strCache>
                <c:ptCount val="2"/>
                <c:pt idx="0">
                  <c:v>滿借</c:v>
                </c:pt>
                <c:pt idx="1">
                  <c:v>空還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20.04</c:v>
                </c:pt>
                <c:pt idx="1">
                  <c:v>9.13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事件覆蓋率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事件導向優先站數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2033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台北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Data'!$A$2:$A$3</c:f>
              <c:strCache>
                <c:ptCount val="2"/>
                <c:pt idx="0">
                  <c:v>見車優先池</c:v>
                </c:pt>
                <c:pt idx="1">
                  <c:v>見位優先池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112</c:v>
                </c:pt>
                <c:pt idx="1">
                  <c:v>113</c:v>
                </c:pt>
              </c:numCache>
            </c:numRef>
          </c:val>
        </c:ser>
        <c:ser>
          <c:idx val="1"/>
          <c:order val="1"/>
          <c:tx>
            <c:v>新北</c:v>
          </c:tx>
          <c:spPr>
            <a:solidFill xmlns:a="http://schemas.openxmlformats.org/drawingml/2006/main">
              <a:srgbClr val="F97316"/>
            </a:solidFill>
          </c:spPr>
          <c:cat>
            <c:strRef>
              <c:f>'Chart Data'!$C$2:$C$3</c:f>
              <c:strCache>
                <c:ptCount val="2"/>
                <c:pt idx="0">
                  <c:v>見車優先池</c:v>
                </c:pt>
                <c:pt idx="1">
                  <c:v>見位優先池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63</c:v>
                </c:pt>
                <c:pt idx="1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2033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B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77A"/>
                    </a:solidFill>
                    <a:latin typeface="Microsoft JhengHei"/>
                    <a:ea typeface="Microsoft JhengHei"/>
                    <a:cs typeface="Microsoft JhengHei"/>
                  </a:rPr>
                  <a:t>場站數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77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9DE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B677A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7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3245F-DE52-465B-B86C-3203995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91C27-38F9-4CB6-BC65-A6415B2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ECDF7-30E9-478A-BFFD-6C166674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友愛接力 × 調度行為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7C7EF-C5BA-42D3-AC86-78FB85C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雙北見車率、見位率的交互關係與調度應用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E14A4-5C4B-4960-8173-BE234C7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F"/>
          </a:solidFill>
          <a:ln xmlns:a="http://schemas.openxmlformats.org/drawingml/2006/main" w="0">
            <a:solidFill>
              <a:srgbClr val="3141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296B0-B168-4E15-BEBE-7D5D312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AB7CC"/>
                </a:solidFill>
                <a:latin typeface="Microsoft JhengHei"/>
                <a:ea typeface="Microsoft JhengHei"/>
                <a:cs typeface="Microsoft JhengHei"/>
              </a:rPr>
              <a:t>2026 年 7 月平日｜CPS RewardLog × VDS ×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9176-C2C8-4616-B5F4-829F42BA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4DFCC-5DFF-4A36-B7ED-0582D3A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DB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DBA74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B9ED9-9357-497E-966E-DD3254C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關聯分析｜行動建議｜試辦設計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38CC2-B8B5-47D0-98C8-566EFD10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6"/>
          </a:solidFill>
          <a:ln xmlns:a="http://schemas.openxmlformats.org/drawingml/2006/main" w="0">
            <a:solidFill>
              <a:srgbClr val="2A385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D402D-6176-48E2-95FD-0056999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rPr>
              <a:t>資料口徑與限制詳見各頁備註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CD388-0F1F-4926-B7C8-8507B9FF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7386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8646A-6C40-446B-A3CD-1B68ED63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結論先行｜民眾事件是壓力訊號，調度是選擇性介入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9912A-BA78-4809-8A3D-2431881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8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1.8×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68873-B702-4243-BF4C-00FBD31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新北事件與調度同時段覆蓋約為台北 1.8 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E8C6-884E-4DAB-9CC1-7F49DE45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811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8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+4.7～9.7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E082-42E1-447E-99CD-B169B61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民眾接力單獨相對無行為的次時段率值差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2D26D-2B34-45B0-9742-09D5A8E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8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+5.3～15.2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DFD7-ABE4-44BD-A15B-EFA05652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9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民眾與調度協同相對民眾單獨的次時段率值差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C743-65B4-4F21-B1AD-82381056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20B5F-E8C6-4F27-AC52-E76E821D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1BC00-35B2-4D19-B752-ED3D9A18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滿借與空還發生在失衡狀態，是低見位／低見車的高敏感壓力訊號，不是造成低率的原因。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9AD73-F9B5-4C2C-8948-2A8D9CC1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B6007-119A-4B62-80D6-39737234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控制同站、同小時與起始率後，民眾接力單獨與下一小時恢復呈正向關聯。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FBA6C-8A5C-4EE0-8A5E-07BD5020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0A100-D9D5-4AE7-AA80-E849025C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民眾與調度協同的次時段恢復再增加，但調度仍多在事件後才進場，容量側應提前 30–60 分鐘。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4C00E-DD19-4E48-B2F1-0BF107CD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48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注意｜上述差值是關聯，不是因果效果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FEF2B-717E-491A-8A14-785BF8F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8A32C-2E46-448D-ACC9-BABE7A5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2026.07 平日｜活躍站：平日日均用量 &gt;100 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B0E9C-F9E6-410B-9160-E4C473D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7484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A67FD-163F-48E7-B0F7-B96EAF1C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交互關係｜友愛接力與調度共同修正站點庫存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30AE0-8259-420C-97EF-F29680CE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車位不足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4BB49-01BE-453E-BD7E-0A80FB8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無車可借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3BFBA-BC7F-4899-85F3-B4B6FDB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E9288-E96F-41E4-8E7E-B5A50CD7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滿借事件</a:t>
            </a:r>
          </a:p>
          <a:p xmlns:a="http://schemas.openxmlformats.org/drawingml/2006/main">
            <a:pPr algn="ctr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民眾在滿站借車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522F1-4B79-4975-949B-8EA1945E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73ACC-C032-43CF-BFDB-4DBA662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669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調出／綁車</a:t>
            </a:r>
          </a:p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移車或擴充可還容量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44112-8C5E-4A26-A034-A88C565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66900"/>
            <a:ext cx="2286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8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C0020-069B-4220-9AF3-B089CE29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6692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釋放車位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降低滿站壓力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94522-94DE-4DFA-BF0B-7EC1C8D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66900"/>
            <a:ext cx="2514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B"/>
          </a:solidFill>
          <a:ln xmlns:a="http://schemas.openxmlformats.org/drawingml/2006/main" w="19050">
            <a:solidFill>
              <a:srgbClr val="0B132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B5B98-C267-474F-ACE9-1BC783B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見位率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4FD20-AA17-47BD-A6BB-1D5D7A1A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A5987-7CAF-498C-8E1B-EF291E3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980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10363-0158-4CF0-9258-31A4B83E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0980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02BBA-ECAC-43A3-8BE5-FDF654A5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36E63-1358-46ED-98A0-07C7C568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空還事件</a:t>
            </a:r>
          </a:p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民眾在空站還車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B3790-F0B3-4C63-A55D-213E03B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2333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4CA44-2EF2-4DB2-9F51-911C0427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9577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調入／解綁</a:t>
            </a:r>
          </a:p>
          <a:p xmlns:a="http://schemas.openxmlformats.org/drawingml/2006/main">
            <a:pPr algn="ctr">
              <a:def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補車或釋放可借車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9A656-D086-468A-A211-2FB8964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286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8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7E814-0A5E-4FF0-8104-147C8F0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9577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增加可借車</a:t>
            </a:r>
          </a:p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降低空站壓力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AADB1-FFC9-4703-A0A7-1A097D5F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95750"/>
            <a:ext cx="2514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B"/>
          </a:solidFill>
          <a:ln xmlns:a="http://schemas.openxmlformats.org/drawingml/2006/main" w="19050">
            <a:solidFill>
              <a:srgbClr val="0B132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6DFA3-46B2-4164-AD1B-8348E067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見車率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17701-D020-4D78-A115-60019AD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844EE-DB70-44DF-B15B-03C98C76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259CE-03FE-420F-93C6-6AF2E5C0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4386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141B1-3113-4738-AC17-0A643D89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315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3B7B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D85FB-C039-425F-9F04-536E72C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996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1D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D1D1D"/>
                </a:solidFill>
                <a:latin typeface="Microsoft JhengHei"/>
                <a:ea typeface="Microsoft JhengHei"/>
                <a:cs typeface="Microsoft JhengHei"/>
              </a:rPr>
              <a:t>判讀重點｜調度通常在最差的站點出現，因此「調度組率值較低」多半代表選點，而不是調度造成率值下降。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928BB-30DE-4753-9A6B-783F2337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18099-6AA8-4248-AB07-00A059B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滿借對應見位率｜空還對應見車率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35153C-23B8-456A-86F1-338E3953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1725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F916D-D488-4653-B9FE-573908A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台北｜量大、覆蓋較薄，壓力集中通勤與深夜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DA05E-9ECB-4B91-AAA1-1BA22246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1,020 個活躍站｜平日日均用量 &gt;100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2ECBC-BE63-4BA3-AD5A-F447A375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DFE4B-2DCA-4D0E-9985-319AE317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FB9CF-30FB-4235-948D-5A5B6808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滿借覆蓋 11.3%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9FF72-9EEC-4683-AD49-AF3013F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空還覆蓋 5.1%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A530-5090-431B-8A06-6D1379A0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平均見車 94.8%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0EF2D-38BE-4D3E-9C6E-E206E5E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平均見位 97.6%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52197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af72de0cfa4cf4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0" y="1828800"/>
          <a:ext xmlns:a="http://schemas.openxmlformats.org/drawingml/2006/main" cx="52197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7af46bda744e1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19703-EC22-407A-A7EA-2B775EC1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空還高峰：08、18、09 時｜滿借高峰：18、17、08 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04FC6-1FC3-4C7E-8FF5-A8773143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見車風險：22–23 時最高｜見位風險：22–23、09 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4F236-48A1-4068-9D1D-4322B86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節奏｜容量調度落後滿借 1 小時 r=.655；供車調度領先空還 1 小時 r=.577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4A3BD-54AC-4A7E-937D-3D99D0BD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3BE5A-B46B-46B3-8C42-76342C51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事件為半小時日均｜率值為每小時平均，同小時兩格共用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C26C1-348A-470B-8F47-3989353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293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7C34F-D592-44AF-B020-48E78092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台北｜空還接力先恢復 +9.7 點，協同再多 +15.2 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0E551-E369-464C-8543-D8F8AC1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低見車率 &lt;80% 起點｜同站、同小時、起始率 5 點分箱匹配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916DB-1BBA-464E-8ECA-0C628B1D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DA2D-782D-4E15-875B-07A85231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2228b699d4c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DA673-659D-4592-AAF1-2D51455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+9.7 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56F17-83C0-4BA8-9DBC-BEA73919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民眾接力單獨 vs 無行為｜w=1,226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AC189-82F8-4F3F-BB99-90EAD25E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+15.2 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B9B00-5C7B-4EB0-BE7E-52AC0BF0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民眾＋調度 vs 民眾單獨｜w=950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A976F-5C77-4D46-BED7-6459B92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02640-B759-498E-84A0-0352E9A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達標率差 +13.1／+25.4 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43CA6-CB07-4500-937A-E181F6E0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353 格／112 站優先池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F199B-3F24-4F05-956D-C1E55FA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先排：09、22、08 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FA0F8-1052-44EA-BA48-830F74B2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4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9E9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51F94-DAB8-481B-B8CB-1CE2066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66534"/>
                </a:solidFill>
                <a:latin typeface="Microsoft JhengHei"/>
                <a:ea typeface="Microsoft JhengHei"/>
                <a:cs typeface="Microsoft JhengHei"/>
              </a:rPr>
              <a:t>操作建議｜空還連續兩格或單格 ≥2 時，先派調入／解綁，並將 09 與 22 時的班次提前 30–60 分鐘。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A549-0BF1-49A3-BD1C-FC1B7582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2C123-F582-4839-B0EA-F27CCF9F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次時段恢復：全站逐日小時｜優先池：活躍站半小時｜關聯分析，非因果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0244E-90B8-4E89-867B-DB3369A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7185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93812-BA1C-4FD4-886C-D4A994FA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台北｜滿借接力先恢復 +9.5 點，協同再多 +11.7 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C7676-BCAE-4C9C-8859-AFA5BAD2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低見位率 &lt;90% 起點｜同站、同小時、起始率 5 點分箱匹配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73A66-795C-4434-B5C5-F509212D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2370D-A6CF-411C-A8E1-86D3A750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b16fe8b3854bc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AAC3F-1FD3-44CF-BFF5-1C5D7E48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+9.5 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64D8B-F429-4289-9C81-714FAA3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民眾接力單獨 vs 無行為｜w=665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6FBDC-2613-4242-8AA5-C323AAAB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+11.7 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C9E49-1DB5-433A-ACE5-FC5DBE9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民眾＋調度 vs 民眾單獨｜w=850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76A89-D517-42CD-B30B-72B999A2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484F2-19BC-4F4F-B014-247D8066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達標率差 +13.6／+25.0 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5B6E4-B800-4AB3-863F-2755864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292 格／113 站優先池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16F1C-C2F1-4741-B6CE-0BA43062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先排：18、17、12 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EB8EE-2CEC-40B3-A21E-B4B7B84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4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2D8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30A82-DF59-44C3-8E98-77D62981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操作建議｜晚尖峰前先調出或綁車，18 時事件達門檻時改為鄰近站循環搬運，避免只在滿站後擴柱。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EA2B7-E47E-4CC7-B767-C59F8A62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BEA00-4C8B-4FC7-84E3-8F5C5AA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次時段恢復：全站逐日小時｜優先池：活躍站半小時｜關聯分析，非因果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1247E-04AF-42F0-863C-B7F0641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8687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1D1B5-5482-42E3-A486-CEF62870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新北｜共現較高，但無車風險更集中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4F73C-BFBC-4595-A8C7-AEEFBC8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547 個活躍站｜平日日均用量 &gt;100 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6AEC1-E055-4F14-A725-FBBFB066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A4A55-E2C5-4EEB-9BE5-3AA04725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EDEDE-555B-4783-B0F7-E2EAC8FC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滿借覆蓋 20.0%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AC42D-4B15-4793-AD77-78AD8E9E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空還覆蓋 9.1%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BAAFF-004E-499E-9150-934714B7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平均見車 93.9%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BEC8-4C3D-4C97-BF19-BDAE3778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38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平均見位 99.4%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52197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0dc8816cd844b6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0" y="1828800"/>
          <a:ext xmlns:a="http://schemas.openxmlformats.org/drawingml/2006/main" cx="52197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b9f8d56a8040e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A6B8C-FA7E-48C7-9665-6415E07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空還高峰：08、21、19 時｜滿借高峰：18、07、08 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B51BC-5E17-4CCB-BFC1-78CA68F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見車風險：09、08、22 時｜見位未達占比僅約 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CF0B3-CEE2-487C-9E2F-187F163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節奏｜容量調度落後滿借 1 小時 r=.764；供車調度領先空還 1 小時 r=.655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7B889-AEA7-44ED-8FBE-E3F5DC3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A65CD-647E-4F24-A024-2F21AE6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事件為半小時日均｜率值為每小時平均，同小時兩格共用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CD4E4-F879-4A3C-82E1-1436A76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2427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E7E30-0657-4030-98E0-B3FE864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新北｜空還接力先恢復 +7.1 點，協同再多 +13.8 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9F5E-4C38-4617-BB84-83580DA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低見車率 &lt;80% 起點｜同站、同小時、起始率 5 點分箱匹配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EAA89-7287-44D2-ADAC-7F761AA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DB9C8-E09A-4A39-94CA-2406E041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650131dc034b9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F93DF-4F90-4192-8C71-0F51304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+7.1 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41C7B-F7A0-4445-A900-89B7E120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民眾接力單獨 vs 無行為｜w=1,844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EDBDC-0033-4505-BB97-6938701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+13.8 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15B6B-7695-44E8-95EA-22404CA3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民眾＋調度 vs 民眾單獨｜w=1,316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03880-33B8-476E-89A2-DA76A395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1E417-10B5-4CE1-975A-A5CC886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達標率差 +10.3／+22.8 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AA06A-DF4F-40D2-900A-8A830BAE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327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239 格／63 站優先池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AD5BE-BD2C-4F04-8911-0FF13312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先排：21、20、19 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B95DB-CC29-406D-A6FC-7A7B0996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4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9E9C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660E0-741C-499C-AF5F-E1E10B6D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66534"/>
                </a:solidFill>
                <a:latin typeface="Microsoft JhengHei"/>
                <a:ea typeface="Microsoft JhengHei"/>
                <a:cs typeface="Microsoft JhengHei"/>
              </a:rPr>
              <a:t>操作建議｜把晚間空還事件當成補車需求，19 時起設待命車，21 時前完成調入／解綁。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86346-F8A4-47F7-9CC3-E17B974B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5146B-A326-4AAE-8D64-BDDBAF1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次時段恢復：全站逐日小時｜優先池：活躍站半小時｜關聯分析，非因果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68D45-90DC-45B2-A845-878CDD16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6248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A833A-2DF9-482A-A241-AB5F94D5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新北｜滿借接力先恢復 +4.7 點，協同再多 +5.3 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9FBE5-14F1-465B-A458-87B88DA8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低見位率 &lt;90% 起點｜滿借高強度格少，仍應以異常警示運用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62590-6198-4610-9D9E-DB36EE3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00050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2EEA8-FB59-4C58-945E-A71FE30F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720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20e96350a8439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B9BC6-E48D-4D0A-9477-974BBE49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+4.7 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9F269-8B3F-454E-A6F4-64888535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民眾接力單獨 vs 無行為｜w=121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D148F-3A75-411D-8B2B-63B09FDA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+5.3 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A594C-5250-469C-B01A-758F4356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7185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民眾＋調度 vs 民眾單獨｜w=155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74CEE-3107-447C-A70C-575CA17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F442-7834-4702-8930-DF70182B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江子翠 1／2／4／6 號出口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07638-2DC6-47CD-BCE8-E0ECB3B2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14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7月滿借 496／491／683／480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64A0D-2AF9-4502-A5C4-DFEBEF21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4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C2626"/>
                </a:solidFill>
                <a:latin typeface="Microsoft JhengHei"/>
                <a:ea typeface="Microsoft JhengHei"/>
                <a:cs typeface="Microsoft JhengHei"/>
              </a:rPr>
              <a:t>同時段調度覆蓋僅 1.0%～5.9%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BD318-CCB5-402B-AA76-50994A1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4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2D89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8FC92-20CF-47AF-8925-0CDB641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操作建議｜07–08 時以滿借事件觸發鄰近站短距調出或臨時綁車，江子翠六出口先做路線試辦。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6129B-FA1B-4342-A286-765AAE0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C6B0B-70EA-43C6-81FD-143C547B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次時段恢復：全站逐日小時｜江子翠案例：2026.07 全月｜關聯分析，非因果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2E219-2264-4507-A404-6C5801C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7358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4CC46-6A2C-4F3F-B774-7B80AA4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雙北差異｜台北先擴覆蓋，新北先縮短反應時間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50482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643425f11f4dd4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0" y="1428750"/>
          <a:ext xmlns:a="http://schemas.openxmlformats.org/drawingml/2006/main" cx="504825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32a7d499f8457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5BB30-0AB5-4DF6-B39A-0E5ACF9A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D5EF8-C22C-4543-B843-B90FEC58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673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擴大事件覆蓋範圍，尖峰採巡迴路線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優先處理 09、17–18、22 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E364E-A6BF-4756-B775-5E247B6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67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97316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CDA0-6A8F-4755-948C-FA80D0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維持較高覆蓋，縮短空還到補車時差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19–22 時集中見車優先池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67C3F-D502-489E-B22C-DB095C71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63AF9-2128-4695-9240-C09D40FE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優先池：事件 ≥2、綁／解綁 &lt;7，且服務率未達門檻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84A36-A36C-4585-B979-9BB3D82E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5993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9D0902-023A-4EA3-9815-1B92EF27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把友愛接力轉成調度前置信號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4412-C2EA-4954-8C20-BEE9982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77A"/>
                </a:solidFill>
                <a:latin typeface="Microsoft JhengHei"/>
                <a:ea typeface="Microsoft JhengHei"/>
                <a:cs typeface="Microsoft JhengHei"/>
              </a:rPr>
              <a:t>兩市容量調度輪廓皆落後滿借約 1 小時，先把預警轉成提前量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4A426-F278-44EC-BBAA-B9A2D9AD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809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C2F08-F3A4-43AC-8292-F7174304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BC82-E40A-43C6-BA3A-938ABF20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收訊號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38514-A810-41E5-BF15-DEB6057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滿借／空還</a:t>
            </a:r>
          </a:p>
          <a:p xmlns:a="http://schemas.openxmlformats.org/drawingml/2006/main">
            <a:pPr algn="l">
              <a:defRPr sz="1275" b="0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</a:rPr>
              <a:t>近兩格次數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32C6C-56F7-4892-AD8C-4BC70822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1809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8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D72D1-B0FD-41A2-B2D8-0591A66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47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A11F6-E80B-4838-A049-81B529D1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正規化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BE369-77F4-4D27-B1B5-531B69AD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除以用量與容量</a:t>
            </a:r>
          </a:p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排除低流量噪音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15703-B3B5-4398-B106-0CF13B9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76400"/>
            <a:ext cx="1809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5BD2F-E2C1-43A4-8F9B-F827E5F9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47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50C3F-8C8B-49A6-A8B2-CE04D49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判斷風險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CEF87-9B7C-4E3D-B261-4B7599A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預測 30–60 分鐘</a:t>
            </a:r>
          </a:p>
          <a:p xmlns:a="http://schemas.openxmlformats.org/drawingml/2006/main">
            <a:pPr algn="l">
              <a:defRPr sz="1275" b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見車／見位缺口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95335-58BE-404E-A335-AC41670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1809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9050">
            <a:solidFill>
              <a:srgbClr val="7C3A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14173-A836-45D6-81B3-7831E05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3C288-9F74-4A30-A720-69330AD6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241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選擇動作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EFF4D-6247-4EDC-B111-0BAAFF1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調入／解綁</a:t>
            </a:r>
          </a:p>
          <a:p xmlns:a="http://schemas.openxmlformats.org/drawingml/2006/main">
            <a:pPr algn="l">
              <a:defRPr sz="1275" b="0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調出／綁車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B597E-97A7-4334-BBA8-3A8D4B2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25527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B131E-292C-4F33-84F8-D18F82EE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478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C1582-51B6-4285-9507-6508C6D1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驗證回饋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5DC37-D7BF-4BEF-BB93-F9ACEF1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追蹤率值、事件復發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車程與調度量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BBBA4-B626-4E4E-9A61-1122C8B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6"/>
          </a:solidFill>
          <a:ln xmlns:a="http://schemas.openxmlformats.org/drawingml/2006/main" w="0">
            <a:solidFill>
              <a:srgbClr val="8A94A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836E2-2167-43F6-BF1D-D082045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6"/>
          </a:solidFill>
          <a:ln xmlns:a="http://schemas.openxmlformats.org/drawingml/2006/main" w="0">
            <a:solidFill>
              <a:srgbClr val="8A94A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594E0-D3B5-41A5-BCC9-B76D8A2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6"/>
          </a:solidFill>
          <a:ln xmlns:a="http://schemas.openxmlformats.org/drawingml/2006/main" w="0">
            <a:solidFill>
              <a:srgbClr val="8A94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1AC46-D5BB-41AA-931C-9093D6D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190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6"/>
          </a:solidFill>
          <a:ln xmlns:a="http://schemas.openxmlformats.org/drawingml/2006/main" w="0">
            <a:solidFill>
              <a:srgbClr val="8A94A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DC96A-AFAA-49BE-867A-425FBAA2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啟動規則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3E666-7211-42D1-B7BD-0C483CD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1FFA9-5E73-4DF1-B350-4DE11E36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81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紅：事件 ≥2 且預測率值 30 分鐘內低於門檻，立即派車並提前容量側。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DA04D-7FD1-44F2-A11B-2256C26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2C4EE-E7E2-4E40-BD4C-C35DB9EE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81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黃：事件連續兩格 &gt;0，先把人車移至鄰近待命點。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35E9D-EDBC-4C8F-B6CF-5744D6C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城市化設定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FDAC-DEE2-4A8A-87B8-DD8BB4F8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331AB0-DB65-4DC1-A9CD-DF62BCB7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4340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台北：低門檻擴覆蓋，09、17–18、22 時採巡迴路線。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AB0606-6243-43FB-80C9-C7D5E30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38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AC245-0164-438C-8771-4EA7695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新北：空還優先，19–22 時設待命車，07–08 時監看滿借。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0B6F3-58EB-4139-B03E-6A52BBE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38F6C-FFED-4B11-9978-0AB72125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規則為試辦建議，需用每日 VDS 與率值回饋調整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9A8F90-7D17-46CA-9687-073D456C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8A94A6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1156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76C4F-2D9A-4DFA-9ACA-7CE32A5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兩週試辦｜用對照組驗證，不只看同期相關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BC117-E33E-4C91-9F81-DF35421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5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9C5D8"/>
                </a:solidFill>
                <a:latin typeface="Microsoft JhengHei"/>
                <a:ea typeface="Microsoft JhengHei"/>
                <a:cs typeface="Microsoft JhengHei"/>
              </a:rPr>
              <a:t>先從既有優先池啟動，台北與新北分開估計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D6360-2D1D-4B94-845D-D2E4719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17A63-7252-44E6-B123-3F78484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配對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ADCB6-23DA-411B-AE0C-B3F6D94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09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同城市、同時段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相近事件與歷史率值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配成試驗／對照站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D13D1-73C6-49A0-B1BD-F3E1ED8D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19EA6-FEEA-45D1-BF1C-1D5EA46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介入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A0DEA-C272-46C1-B988-B12D155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209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試驗組提前 30–60 分鐘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調入／解綁或調出／綁車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對照組沿用現行規則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9B17F-FC8E-4227-A335-2328B3C8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41819-A087-47F1-8495-F8E52AB7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衡量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F4D9E-5FA1-430B-ACF6-3768F9FC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209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見車率／見位率變化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未達門檻格數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事件是否重複發生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CBB18-B9FD-45B4-84B7-309F4F94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F57F8-A33D-4962-9F9A-EE44795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護欄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D19B6-F03F-44DF-9741-BF999E8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209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每改善 1 點的車公里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每輛調度改善量</a:t>
            </a:r>
          </a:p>
          <a:p xmlns:a="http://schemas.openxmlformats.org/drawingml/2006/main">
            <a:pPr algn="l">
              <a:def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8E1F0"/>
                </a:solidFill>
                <a:latin typeface="Microsoft JhengHei"/>
                <a:ea typeface="Microsoft JhengHei"/>
                <a:cs typeface="Microsoft JhengHei"/>
              </a:rPr>
              <a:t>服務與人力成本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59D62-157D-4155-AED8-A98C209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F"/>
          </a:solidFill>
          <a:ln xmlns:a="http://schemas.openxmlformats.org/drawingml/2006/main" w="0">
            <a:solidFill>
              <a:srgbClr val="31415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62172-E375-4C19-AC7E-67A724E9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建議試辦池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D23DE-05E6-40DF-B8EF-6D8BCD0C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台北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1390E-996A-4405-9947-0F80430C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33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見車 112 站｜見位 113 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0CF10-7C4A-4DAD-B988-1F0561B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DBA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DBA74"/>
                </a:solidFill>
                <a:latin typeface="Microsoft JhengHei"/>
                <a:ea typeface="Microsoft JhengHei"/>
                <a:cs typeface="Microsoft JhengHei"/>
              </a:rPr>
              <a:t>新北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82D5C-A3AE-4A6E-9F84-A07FD33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見車 63 站｜見位 5 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58396-849A-496F-AA05-5E7CEC3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25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946"/>
          </a:solidFill>
          <a:ln xmlns:a="http://schemas.openxmlformats.org/drawingml/2006/main" w="9525">
            <a:solidFill>
              <a:srgbClr val="3141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4E44F-73AE-4826-8957-A99AA31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C2C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5C2C2"/>
                </a:solidFill>
                <a:latin typeface="Microsoft JhengHei"/>
                <a:ea typeface="Microsoft JhengHei"/>
                <a:cs typeface="Microsoft JhengHei"/>
              </a:rPr>
              <a:t>限制｜目前只有 2026 年 7 月，調度又是月內最大單筆。正式評估必須改用每日任務、完成時間與後續 60 分鐘率值。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C6FFB-A42B-424E-B81C-23B05D2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6"/>
          </a:solidFill>
          <a:ln xmlns:a="http://schemas.openxmlformats.org/drawingml/2006/main" w="0">
            <a:solidFill>
              <a:srgbClr val="2A385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670664-EB2E-4E7E-96AE-10EDE44A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rPr>
              <a:t>成功條件：服務率提升，同時不增加無效車程與事件復發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6EDEB-B55B-4B5D-A2D6-323C13A4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4362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2026-09-09T07:31:54.3440000Z</dcterms:created>
  <dcterms:modified xsi:type="dcterms:W3CDTF">2026-09-09T07:31:54.3440000Z</dcterms:modified>
</coreProperties>
</file>