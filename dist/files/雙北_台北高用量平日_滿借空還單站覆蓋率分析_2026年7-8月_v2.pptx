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9655956014b98" /><Relationship Type="http://schemas.openxmlformats.org/officeDocument/2006/relationships/extended-properties" Target="/docProps/app.xml" Id="R1cccbfa719484440" /><Relationship Type="http://schemas.openxmlformats.org/officeDocument/2006/relationships/officeDocument" Target="/ppt/presentation.xml" Id="R40fa392fe45045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95fa3c87ca462a"/>
  </p:sldMasterIdLst>
  <p:notesMasterIdLst>
    <p:notesMasterId xmlns:r="http://schemas.openxmlformats.org/officeDocument/2006/relationships" r:id="R16a2321b716f47ea"/>
  </p:notesMasterIdLst>
  <p:sldIdLst>
    <p:sldId xmlns:r="http://schemas.openxmlformats.org/officeDocument/2006/relationships" id="256" r:id="Rf7bd1132c0d94709"/>
    <p:sldId xmlns:r="http://schemas.openxmlformats.org/officeDocument/2006/relationships" id="257" r:id="Rfe8177b6044b4e65"/>
    <p:sldId xmlns:r="http://schemas.openxmlformats.org/officeDocument/2006/relationships" id="258" r:id="R6196b9f7bcd743fb"/>
    <p:sldId xmlns:r="http://schemas.openxmlformats.org/officeDocument/2006/relationships" id="259" r:id="R01ae1953635943be"/>
    <p:sldId xmlns:r="http://schemas.openxmlformats.org/officeDocument/2006/relationships" id="260" r:id="Rb3d88e945eb14a9c"/>
    <p:sldId xmlns:r="http://schemas.openxmlformats.org/officeDocument/2006/relationships" id="261" r:id="R598009d53f7940cb"/>
    <p:sldId xmlns:r="http://schemas.openxmlformats.org/officeDocument/2006/relationships" id="262" r:id="Rfccc6e1f9b234ff5"/>
    <p:sldId xmlns:r="http://schemas.openxmlformats.org/officeDocument/2006/relationships" id="263" r:id="R440c7cc9998544a5"/>
    <p:sldId xmlns:r="http://schemas.openxmlformats.org/officeDocument/2006/relationships" id="264" r:id="Ree8735a76d4f4bf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bc5f9aeab24037" /><Relationship Type="http://schemas.openxmlformats.org/officeDocument/2006/relationships/slideMaster" Target="/ppt/slideMasters/slideMaster1.xml" Id="R5195fa3c87ca462a" /><Relationship Type="http://schemas.openxmlformats.org/officeDocument/2006/relationships/notesMaster" Target="/ppt/notesMasters/notesMaster1.xml" Id="R16a2321b716f47ea" /><Relationship Type="http://schemas.openxmlformats.org/officeDocument/2006/relationships/presProps" Target="/ppt/presProps.xml" Id="Rebfdac28986b4de4" /><Relationship Type="http://schemas.openxmlformats.org/officeDocument/2006/relationships/tableStyles" Target="/ppt/tableStyles.xml" Id="Rd7486576069f406b" /><Relationship Type="http://schemas.openxmlformats.org/officeDocument/2006/relationships/slide" Target="/ppt/slides/slide1.xml" Id="Rf7bd1132c0d94709" /><Relationship Type="http://schemas.openxmlformats.org/officeDocument/2006/relationships/slide" Target="/ppt/slides/slide2.xml" Id="Rfe8177b6044b4e65" /><Relationship Type="http://schemas.openxmlformats.org/officeDocument/2006/relationships/slide" Target="/ppt/slides/slide3.xml" Id="R6196b9f7bcd743fb" /><Relationship Type="http://schemas.openxmlformats.org/officeDocument/2006/relationships/slide" Target="/ppt/slides/slide4.xml" Id="R01ae1953635943be" /><Relationship Type="http://schemas.openxmlformats.org/officeDocument/2006/relationships/slide" Target="/ppt/slides/slide5.xml" Id="Rb3d88e945eb14a9c" /><Relationship Type="http://schemas.openxmlformats.org/officeDocument/2006/relationships/slide" Target="/ppt/slides/slide6.xml" Id="R598009d53f7940cb" /><Relationship Type="http://schemas.openxmlformats.org/officeDocument/2006/relationships/slide" Target="/ppt/slides/slide7.xml" Id="Rfccc6e1f9b234ff5" /><Relationship Type="http://schemas.openxmlformats.org/officeDocument/2006/relationships/slide" Target="/ppt/slides/slide8.xml" Id="R440c7cc9998544a5" /><Relationship Type="http://schemas.openxmlformats.org/officeDocument/2006/relationships/slide" Target="/ppt/slides/slide9.xml" Id="Ree8735a76d4f4b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975fefc404a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aida Referenc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F81BD"/>
      </a:accent1>
      <a:accent2>
        <a:srgbClr val="C0504D"/>
      </a:accent2>
      <a:accent3>
        <a:srgbClr val="92D050"/>
      </a:accent3>
      <a:accent4>
        <a:srgbClr val="FFD243"/>
      </a:accent4>
      <a:accent5>
        <a:srgbClr val="8064A2"/>
      </a:accent5>
      <a:accent6>
        <a:srgbClr val="4BACC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aida Refer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1fed35a3b42ab" /><Relationship Type="http://schemas.openxmlformats.org/officeDocument/2006/relationships/notesMaster" Target="/ppt/notesMasters/notesMaster1.xml" Id="R0218c2e413bc44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533425ccb48f1" /><Relationship Type="http://schemas.openxmlformats.org/officeDocument/2006/relationships/notesMaster" Target="/ppt/notesMasters/notesMaster1.xml" Id="R8f810a8eb64e4f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2472151c874a55" /><Relationship Type="http://schemas.openxmlformats.org/officeDocument/2006/relationships/notesMaster" Target="/ppt/notesMasters/notesMaster1.xml" Id="Rb51ea882e64d49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e5961d69894146" /><Relationship Type="http://schemas.openxmlformats.org/officeDocument/2006/relationships/notesMaster" Target="/ppt/notesMasters/notesMaster1.xml" Id="R71cb7c28430249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633c8d999241ad" /><Relationship Type="http://schemas.openxmlformats.org/officeDocument/2006/relationships/notesMaster" Target="/ppt/notesMasters/notesMaster1.xml" Id="R4a09107fe2a041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1218ab0f44950" /><Relationship Type="http://schemas.openxmlformats.org/officeDocument/2006/relationships/notesMaster" Target="/ppt/notesMasters/notesMaster1.xml" Id="Rb1553fb45b9546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4c80217979483b" /><Relationship Type="http://schemas.openxmlformats.org/officeDocument/2006/relationships/notesMaster" Target="/ppt/notesMasters/notesMaster1.xml" Id="Rbcdfcbec261142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90b08b17ba4c70" /><Relationship Type="http://schemas.openxmlformats.org/officeDocument/2006/relationships/notesMaster" Target="/ppt/notesMasters/notesMaster1.xml" Id="R7034f32445b746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9e173e83fb48f5" /><Relationship Type="http://schemas.openxmlformats.org/officeDocument/2006/relationships/notesMaster" Target="/ppt/notesMasters/notesMaster1.xml" Id="Rf1b48431fb35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雙北 2.0/2.0E 每日報表、CPS RewardLog、VDS 雙北調度明細。風格參考：台大微型調度車202609v5.pptx。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統計單位為場站。跨小時重新計算；同一站在同一小時重複發生事件或調度，均只計一次。2.0、2.0E事件與調度合計分析。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來源：Report、CPS RewardLog、VDS。台北市使用與台北門檻相同的36個日期。每一站於同日同小時最多計一次；跨小時重新計算。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來源：雙北逐時統計。每站於同日同小時最多計一次。滿借覆蓋率＝同小時有調出或綁車的滿借站數÷滿借站數；空還覆蓋率＝同小時有調入或解綁車的空還站數÷空還站數。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行政區事件站數與覆蓋率來源：台北市行政區彙總。每一站於同日同小時最多計一次；滿借與空還分開統計。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來源：Report、CPS RewardLog、VDS。新北市使用與台北門檻相同的36個日期。每一站於同日同小時最多計一次；跨小時重新計算。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來源：雙北逐時統計。每站於同日同小時最多計一次。滿借覆蓋率＝同小時有調出或綁車的滿借站數÷滿借站數；空還覆蓋率＝同小時有調入或解綁車的空還站數÷空還站數。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行政區事件站數與覆蓋率來源：新北市行政區彙總。每一站於同日同小時最多計一次；滿借與空還分開統計。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調整方向根據事件站數高且覆蓋低於各城市平均的時段與行政區。非因果估計，仍需搭配天候、活動及站點容量判讀。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acf837a0c4c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219dd943a3455c" /><Relationship Type="http://schemas.openxmlformats.org/officeDocument/2006/relationships/slideLayout" Target="/ppt/slideLayouts/slideLayout1.xml" Id="R97f7232d3fac4d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f7232d3fac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aida Referenc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F81BD"/>
      </a:accent1>
      <a:accent2>
        <a:srgbClr val="C0504D"/>
      </a:accent2>
      <a:accent3>
        <a:srgbClr val="92D050"/>
      </a:accent3>
      <a:accent4>
        <a:srgbClr val="FFD243"/>
      </a:accent4>
      <a:accent5>
        <a:srgbClr val="8064A2"/>
      </a:accent5>
      <a:accent6>
        <a:srgbClr val="4BACC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aida Refer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b9b3b2d834549" /><Relationship Type="http://schemas.openxmlformats.org/officeDocument/2006/relationships/notesSlide" Target="/ppt/notesSlides/notesSlide1.xml" Id="Re8bf861c7d7147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f0ca016124d35" /><Relationship Type="http://schemas.openxmlformats.org/officeDocument/2006/relationships/notesSlide" Target="/ppt/notesSlides/notesSlide2.xml" Id="R5ebe8504b7c440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46c0a7d3b44e8" /><Relationship Type="http://schemas.openxmlformats.org/officeDocument/2006/relationships/notesSlide" Target="/ppt/notesSlides/notesSlide3.xml" Id="R825ad39bf94e43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3bd1ac6144602" /><Relationship Type="http://schemas.openxmlformats.org/officeDocument/2006/relationships/chart" Target="/ppt/slides/charts/chart1.xml" Id="R5563e117a45048d6" /><Relationship Type="http://schemas.openxmlformats.org/officeDocument/2006/relationships/chart" Target="/ppt/slides/charts/chart2.xml" Id="R06722ae4db984885" /><Relationship Type="http://schemas.openxmlformats.org/officeDocument/2006/relationships/notesSlide" Target="/ppt/notesSlides/notesSlide4.xml" Id="Reffbb3633c6045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9a751f9c94268" /><Relationship Type="http://schemas.openxmlformats.org/officeDocument/2006/relationships/chart" Target="/ppt/slides/charts/chart3.xml" Id="Red94faf79cb44497" /><Relationship Type="http://schemas.openxmlformats.org/officeDocument/2006/relationships/notesSlide" Target="/ppt/notesSlides/notesSlide5.xml" Id="R56ba515f74b544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aa54242f548cb" /><Relationship Type="http://schemas.openxmlformats.org/officeDocument/2006/relationships/notesSlide" Target="/ppt/notesSlides/notesSlide6.xml" Id="R6ceb3a5970074b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3749d988f4f16" /><Relationship Type="http://schemas.openxmlformats.org/officeDocument/2006/relationships/chart" Target="/ppt/slides/charts/chart4.xml" Id="R900f5bafdd0a4f8d" /><Relationship Type="http://schemas.openxmlformats.org/officeDocument/2006/relationships/chart" Target="/ppt/slides/charts/chart5.xml" Id="Rc386706b32624a16" /><Relationship Type="http://schemas.openxmlformats.org/officeDocument/2006/relationships/notesSlide" Target="/ppt/notesSlides/notesSlide7.xml" Id="R356ca13f275140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fca8dac544dec" /><Relationship Type="http://schemas.openxmlformats.org/officeDocument/2006/relationships/chart" Target="/ppt/slides/charts/chart6.xml" Id="R839b751d3ea14a67" /><Relationship Type="http://schemas.openxmlformats.org/officeDocument/2006/relationships/notesSlide" Target="/ppt/notesSlides/notesSlide8.xml" Id="Rac9daeaaf2c045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fe4f7230d4fe8" /><Relationship Type="http://schemas.openxmlformats.org/officeDocument/2006/relationships/notesSlide" Target="/ppt/notesSlides/notesSlide9.xml" Id="R6b4e67c2ed774e7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每小時每日平均事件站數（站／日）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滿借站數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C0504D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33.9</c:v>
                </c:pt>
                <c:pt idx="1">
                  <c:v>15.4</c:v>
                </c:pt>
                <c:pt idx="2">
                  <c:v>9.2</c:v>
                </c:pt>
                <c:pt idx="3">
                  <c:v>7.9</c:v>
                </c:pt>
                <c:pt idx="4">
                  <c:v>9.8</c:v>
                </c:pt>
                <c:pt idx="5">
                  <c:v>20.8</c:v>
                </c:pt>
                <c:pt idx="6">
                  <c:v>34.5</c:v>
                </c:pt>
                <c:pt idx="7">
                  <c:v>102.4</c:v>
                </c:pt>
                <c:pt idx="8">
                  <c:v>156.1</c:v>
                </c:pt>
                <c:pt idx="9">
                  <c:v>152.3</c:v>
                </c:pt>
                <c:pt idx="10">
                  <c:v>107.3</c:v>
                </c:pt>
                <c:pt idx="11">
                  <c:v>92.2</c:v>
                </c:pt>
                <c:pt idx="12">
                  <c:v>105.7</c:v>
                </c:pt>
                <c:pt idx="13">
                  <c:v>110.8</c:v>
                </c:pt>
                <c:pt idx="14">
                  <c:v>99</c:v>
                </c:pt>
                <c:pt idx="15">
                  <c:v>86.4</c:v>
                </c:pt>
                <c:pt idx="16">
                  <c:v>100.3</c:v>
                </c:pt>
                <c:pt idx="17">
                  <c:v>140</c:v>
                </c:pt>
                <c:pt idx="18">
                  <c:v>166.3</c:v>
                </c:pt>
                <c:pt idx="19">
                  <c:v>154.4</c:v>
                </c:pt>
                <c:pt idx="20">
                  <c:v>113.5</c:v>
                </c:pt>
                <c:pt idx="21">
                  <c:v>109.4</c:v>
                </c:pt>
                <c:pt idx="22">
                  <c:v>124.6</c:v>
                </c:pt>
                <c:pt idx="23">
                  <c:v>84.6</c:v>
                </c:pt>
              </c:numCache>
            </c:numRef>
          </c:val>
          <c:smooth val="0"/>
        </c:ser>
        <c:ser>
          <c:idx val="1"/>
          <c:order val="1"/>
          <c:tx>
            <c:v>空還站數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4F81BD"/>
              </a:solidFill>
            </c:spPr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114</c:v>
                </c:pt>
                <c:pt idx="1">
                  <c:v>49.7</c:v>
                </c:pt>
                <c:pt idx="2">
                  <c:v>27.1</c:v>
                </c:pt>
                <c:pt idx="3">
                  <c:v>19.8</c:v>
                </c:pt>
                <c:pt idx="4">
                  <c:v>20.1</c:v>
                </c:pt>
                <c:pt idx="5">
                  <c:v>47.6</c:v>
                </c:pt>
                <c:pt idx="6">
                  <c:v>109.6</c:v>
                </c:pt>
                <c:pt idx="7">
                  <c:v>277.7</c:v>
                </c:pt>
                <c:pt idx="8">
                  <c:v>439.5</c:v>
                </c:pt>
                <c:pt idx="9">
                  <c:v>412.8</c:v>
                </c:pt>
                <c:pt idx="10">
                  <c:v>379.3</c:v>
                </c:pt>
                <c:pt idx="11">
                  <c:v>371.1</c:v>
                </c:pt>
                <c:pt idx="12">
                  <c:v>414.3</c:v>
                </c:pt>
                <c:pt idx="13">
                  <c:v>340.6</c:v>
                </c:pt>
                <c:pt idx="14">
                  <c:v>288.9</c:v>
                </c:pt>
                <c:pt idx="15">
                  <c:v>270.7</c:v>
                </c:pt>
                <c:pt idx="16">
                  <c:v>329.2</c:v>
                </c:pt>
                <c:pt idx="17">
                  <c:v>453.7</c:v>
                </c:pt>
                <c:pt idx="18">
                  <c:v>506.1</c:v>
                </c:pt>
                <c:pt idx="19">
                  <c:v>411.3</c:v>
                </c:pt>
                <c:pt idx="20">
                  <c:v>369.1</c:v>
                </c:pt>
                <c:pt idx="21">
                  <c:v>381.3</c:v>
                </c:pt>
                <c:pt idx="22">
                  <c:v>343.6</c:v>
                </c:pt>
                <c:pt idx="23">
                  <c:v>229.9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小時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站／日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每小時同站調度覆蓋率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滿借覆蓋率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C0504D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0%</c:formatCode>
                <c:ptCount val="24"/>
                <c:pt idx="0">
                  <c:v>0.1911</c:v>
                </c:pt>
                <c:pt idx="1">
                  <c:v>0.1284</c:v>
                </c:pt>
                <c:pt idx="2">
                  <c:v>0.0423</c:v>
                </c:pt>
                <c:pt idx="3">
                  <c:v>0.0594</c:v>
                </c:pt>
                <c:pt idx="4">
                  <c:v>0.0537</c:v>
                </c:pt>
                <c:pt idx="5">
                  <c:v>0.0643</c:v>
                </c:pt>
                <c:pt idx="6">
                  <c:v>0.0137</c:v>
                </c:pt>
                <c:pt idx="7">
                  <c:v>0.0925</c:v>
                </c:pt>
                <c:pt idx="8">
                  <c:v>0.1689</c:v>
                </c:pt>
                <c:pt idx="9">
                  <c:v>0.26</c:v>
                </c:pt>
                <c:pt idx="10">
                  <c:v>0.2293</c:v>
                </c:pt>
                <c:pt idx="11">
                  <c:v>0.0961</c:v>
                </c:pt>
                <c:pt idx="12">
                  <c:v>0.0694</c:v>
                </c:pt>
                <c:pt idx="13">
                  <c:v>0.1396</c:v>
                </c:pt>
                <c:pt idx="14">
                  <c:v>0.1189</c:v>
                </c:pt>
                <c:pt idx="15">
                  <c:v>0.0678</c:v>
                </c:pt>
                <c:pt idx="16">
                  <c:v>0.0319</c:v>
                </c:pt>
                <c:pt idx="17">
                  <c:v>0.0706</c:v>
                </c:pt>
                <c:pt idx="18">
                  <c:v>0.1595</c:v>
                </c:pt>
                <c:pt idx="19">
                  <c:v>0.2272</c:v>
                </c:pt>
                <c:pt idx="20">
                  <c:v>0.208</c:v>
                </c:pt>
                <c:pt idx="21">
                  <c:v>0.1318</c:v>
                </c:pt>
                <c:pt idx="22">
                  <c:v>0.1703</c:v>
                </c:pt>
                <c:pt idx="23">
                  <c:v>0.2242</c:v>
                </c:pt>
              </c:numCache>
            </c:numRef>
          </c:val>
          <c:smooth val="0"/>
        </c:ser>
        <c:ser>
          <c:idx val="1"/>
          <c:order val="1"/>
          <c:tx>
            <c:v>空還覆蓋率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4F81BD"/>
              </a:solidFill>
            </c:spPr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0%</c:formatCode>
                <c:ptCount val="24"/>
                <c:pt idx="0">
                  <c:v>0.1125</c:v>
                </c:pt>
                <c:pt idx="1">
                  <c:v>0.0861</c:v>
                </c:pt>
                <c:pt idx="2">
                  <c:v>0.0267</c:v>
                </c:pt>
                <c:pt idx="3">
                  <c:v>0.0688</c:v>
                </c:pt>
                <c:pt idx="4">
                  <c:v>0.0871</c:v>
                </c:pt>
                <c:pt idx="5">
                  <c:v>0.0537</c:v>
                </c:pt>
                <c:pt idx="6">
                  <c:v>0.0152</c:v>
                </c:pt>
                <c:pt idx="7">
                  <c:v>0.1187</c:v>
                </c:pt>
                <c:pt idx="8">
                  <c:v>0.1205</c:v>
                </c:pt>
                <c:pt idx="9">
                  <c:v>0.087</c:v>
                </c:pt>
                <c:pt idx="10">
                  <c:v>0.086</c:v>
                </c:pt>
                <c:pt idx="11">
                  <c:v>0.0515</c:v>
                </c:pt>
                <c:pt idx="12">
                  <c:v>0.0325</c:v>
                </c:pt>
                <c:pt idx="13">
                  <c:v>0.0629</c:v>
                </c:pt>
                <c:pt idx="14">
                  <c:v>0.06</c:v>
                </c:pt>
                <c:pt idx="15">
                  <c:v>0.0388</c:v>
                </c:pt>
                <c:pt idx="16">
                  <c:v>0.0273</c:v>
                </c:pt>
                <c:pt idx="17">
                  <c:v>0.0508</c:v>
                </c:pt>
                <c:pt idx="18">
                  <c:v>0.071</c:v>
                </c:pt>
                <c:pt idx="19">
                  <c:v>0.05</c:v>
                </c:pt>
                <c:pt idx="20">
                  <c:v>0.0445</c:v>
                </c:pt>
                <c:pt idx="21">
                  <c:v>0.0336</c:v>
                </c:pt>
                <c:pt idx="22">
                  <c:v>0.0441</c:v>
                </c:pt>
                <c:pt idx="23">
                  <c:v>0.0966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小時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0.3000000000000000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覆蓋率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高事件行政區每日平均站次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滿借站次</c:v>
          </c:tx>
          <c:spPr>
            <a:solidFill xmlns:a="http://schemas.openxmlformats.org/drawingml/2006/main">
              <a:srgbClr val="C0504D"/>
            </a:solidFill>
          </c:spPr>
          <c:cat>
            <c:strRef>
              <c:f>'Chart Data'!$A$2:$A$13</c:f>
              <c:strCache>
                <c:ptCount val="12"/>
                <c:pt idx="0">
                  <c:v>北投區</c:v>
                </c:pt>
                <c:pt idx="1">
                  <c:v>萬華區</c:v>
                </c:pt>
                <c:pt idx="2">
                  <c:v>文山區</c:v>
                </c:pt>
                <c:pt idx="3">
                  <c:v>大同區</c:v>
                </c:pt>
                <c:pt idx="4">
                  <c:v>士林區</c:v>
                </c:pt>
                <c:pt idx="5">
                  <c:v>南港區</c:v>
                </c:pt>
                <c:pt idx="6">
                  <c:v>松山區</c:v>
                </c:pt>
                <c:pt idx="7">
                  <c:v>中正區</c:v>
                </c:pt>
                <c:pt idx="8">
                  <c:v>信義區</c:v>
                </c:pt>
                <c:pt idx="9">
                  <c:v>內湖區</c:v>
                </c:pt>
                <c:pt idx="10">
                  <c:v>中山區</c:v>
                </c:pt>
                <c:pt idx="11">
                  <c:v>大安區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81.2</c:v>
                </c:pt>
                <c:pt idx="1">
                  <c:v>101.6</c:v>
                </c:pt>
                <c:pt idx="2">
                  <c:v>79.3</c:v>
                </c:pt>
                <c:pt idx="3">
                  <c:v>126.6</c:v>
                </c:pt>
                <c:pt idx="4">
                  <c:v>131.1</c:v>
                </c:pt>
                <c:pt idx="5">
                  <c:v>99</c:v>
                </c:pt>
                <c:pt idx="6">
                  <c:v>142.7</c:v>
                </c:pt>
                <c:pt idx="7">
                  <c:v>191.6</c:v>
                </c:pt>
                <c:pt idx="8">
                  <c:v>209</c:v>
                </c:pt>
                <c:pt idx="9">
                  <c:v>138</c:v>
                </c:pt>
                <c:pt idx="10">
                  <c:v>271.7</c:v>
                </c:pt>
                <c:pt idx="11">
                  <c:v>565</c:v>
                </c:pt>
              </c:numCache>
            </c:numRef>
          </c:val>
        </c:ser>
        <c:ser>
          <c:idx val="1"/>
          <c:order val="1"/>
          <c:tx>
            <c:v>空還站次</c:v>
          </c:tx>
          <c:spPr>
            <a:solidFill xmlns:a="http://schemas.openxmlformats.org/drawingml/2006/main">
              <a:srgbClr val="4F81BD"/>
            </a:solidFill>
          </c:spPr>
          <c:cat>
            <c:strRef>
              <c:f>'Chart Data'!$C$2:$C$13</c:f>
              <c:strCache>
                <c:ptCount val="12"/>
                <c:pt idx="0">
                  <c:v>北投區</c:v>
                </c:pt>
                <c:pt idx="1">
                  <c:v>萬華區</c:v>
                </c:pt>
                <c:pt idx="2">
                  <c:v>文山區</c:v>
                </c:pt>
                <c:pt idx="3">
                  <c:v>大同區</c:v>
                </c:pt>
                <c:pt idx="4">
                  <c:v>士林區</c:v>
                </c:pt>
                <c:pt idx="5">
                  <c:v>南港區</c:v>
                </c:pt>
                <c:pt idx="6">
                  <c:v>松山區</c:v>
                </c:pt>
                <c:pt idx="7">
                  <c:v>中正區</c:v>
                </c:pt>
                <c:pt idx="8">
                  <c:v>信義區</c:v>
                </c:pt>
                <c:pt idx="9">
                  <c:v>內湖區</c:v>
                </c:pt>
                <c:pt idx="10">
                  <c:v>中山區</c:v>
                </c:pt>
                <c:pt idx="11">
                  <c:v>大安區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280</c:v>
                </c:pt>
                <c:pt idx="1">
                  <c:v>265.5</c:v>
                </c:pt>
                <c:pt idx="2">
                  <c:v>316.5</c:v>
                </c:pt>
                <c:pt idx="3">
                  <c:v>311.4</c:v>
                </c:pt>
                <c:pt idx="4">
                  <c:v>348.3</c:v>
                </c:pt>
                <c:pt idx="5">
                  <c:v>426.3</c:v>
                </c:pt>
                <c:pt idx="6">
                  <c:v>545.9</c:v>
                </c:pt>
                <c:pt idx="7">
                  <c:v>644.1</c:v>
                </c:pt>
                <c:pt idx="8">
                  <c:v>636.9</c:v>
                </c:pt>
                <c:pt idx="9">
                  <c:v>713.3</c:v>
                </c:pt>
                <c:pt idx="10">
                  <c:v>783.1</c:v>
                </c:pt>
                <c:pt idx="11">
                  <c:v>1335.6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每小時每日平均事件站數（站／日）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滿借站數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C0504D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#,##0</c:formatCode>
                <c:ptCount val="24"/>
                <c:pt idx="0">
                  <c:v>3.6</c:v>
                </c:pt>
                <c:pt idx="1">
                  <c:v>1.4</c:v>
                </c:pt>
                <c:pt idx="2">
                  <c:v>0.8</c:v>
                </c:pt>
                <c:pt idx="3">
                  <c:v>1.3</c:v>
                </c:pt>
                <c:pt idx="4">
                  <c:v>1.7</c:v>
                </c:pt>
                <c:pt idx="5">
                  <c:v>7</c:v>
                </c:pt>
                <c:pt idx="6">
                  <c:v>20.1</c:v>
                </c:pt>
                <c:pt idx="7">
                  <c:v>39.9</c:v>
                </c:pt>
                <c:pt idx="8">
                  <c:v>30.9</c:v>
                </c:pt>
                <c:pt idx="9">
                  <c:v>17.2</c:v>
                </c:pt>
                <c:pt idx="10">
                  <c:v>12.4</c:v>
                </c:pt>
                <c:pt idx="11">
                  <c:v>12.1</c:v>
                </c:pt>
                <c:pt idx="12">
                  <c:v>20.5</c:v>
                </c:pt>
                <c:pt idx="13">
                  <c:v>21.8</c:v>
                </c:pt>
                <c:pt idx="14">
                  <c:v>17</c:v>
                </c:pt>
                <c:pt idx="15">
                  <c:v>15.6</c:v>
                </c:pt>
                <c:pt idx="16">
                  <c:v>23.9</c:v>
                </c:pt>
                <c:pt idx="17">
                  <c:v>40.2</c:v>
                </c:pt>
                <c:pt idx="18">
                  <c:v>47</c:v>
                </c:pt>
                <c:pt idx="19">
                  <c:v>36.7</c:v>
                </c:pt>
                <c:pt idx="20">
                  <c:v>22.6</c:v>
                </c:pt>
                <c:pt idx="21">
                  <c:v>19.1</c:v>
                </c:pt>
                <c:pt idx="22">
                  <c:v>21.7</c:v>
                </c:pt>
                <c:pt idx="23">
                  <c:v>13.3</c:v>
                </c:pt>
              </c:numCache>
            </c:numRef>
          </c:val>
          <c:smooth val="0"/>
        </c:ser>
        <c:ser>
          <c:idx val="1"/>
          <c:order val="1"/>
          <c:tx>
            <c:v>空還站數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4F81BD"/>
              </a:solidFill>
            </c:spPr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#,##0</c:formatCode>
                <c:ptCount val="24"/>
                <c:pt idx="0">
                  <c:v>52.2</c:v>
                </c:pt>
                <c:pt idx="1">
                  <c:v>13.3</c:v>
                </c:pt>
                <c:pt idx="2">
                  <c:v>4.8</c:v>
                </c:pt>
                <c:pt idx="3">
                  <c:v>3.6</c:v>
                </c:pt>
                <c:pt idx="4">
                  <c:v>10.3</c:v>
                </c:pt>
                <c:pt idx="5">
                  <c:v>29.1</c:v>
                </c:pt>
                <c:pt idx="6">
                  <c:v>76</c:v>
                </c:pt>
                <c:pt idx="7">
                  <c:v>236.7</c:v>
                </c:pt>
                <c:pt idx="8">
                  <c:v>341.7</c:v>
                </c:pt>
                <c:pt idx="9">
                  <c:v>300.3</c:v>
                </c:pt>
                <c:pt idx="10">
                  <c:v>259.8</c:v>
                </c:pt>
                <c:pt idx="11">
                  <c:v>240.1</c:v>
                </c:pt>
                <c:pt idx="12">
                  <c:v>301</c:v>
                </c:pt>
                <c:pt idx="13">
                  <c:v>275.8</c:v>
                </c:pt>
                <c:pt idx="14">
                  <c:v>225.3</c:v>
                </c:pt>
                <c:pt idx="15">
                  <c:v>223.1</c:v>
                </c:pt>
                <c:pt idx="16">
                  <c:v>274.7</c:v>
                </c:pt>
                <c:pt idx="17">
                  <c:v>328.6</c:v>
                </c:pt>
                <c:pt idx="18">
                  <c:v>309.5</c:v>
                </c:pt>
                <c:pt idx="19">
                  <c:v>265</c:v>
                </c:pt>
                <c:pt idx="20">
                  <c:v>255</c:v>
                </c:pt>
                <c:pt idx="21">
                  <c:v>252.4</c:v>
                </c:pt>
                <c:pt idx="22">
                  <c:v>217.8</c:v>
                </c:pt>
                <c:pt idx="23">
                  <c:v>134.5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小時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站／日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每小時同站調度覆蓋率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滿借覆蓋率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C0504D"/>
              </a:solidFill>
            </c:spPr>
          </c:marker>
          <c:cat>
            <c:numRef>
              <c:f>'Chart Data'!$A$2:$A$25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Data'!$B$2:$B$25</c:f>
              <c:numCache>
                <c:formatCode>0%</c:formatCode>
                <c:ptCount val="24"/>
                <c:pt idx="0">
                  <c:v>0.2462</c:v>
                </c:pt>
                <c:pt idx="1">
                  <c:v>0.25</c:v>
                </c:pt>
                <c:pt idx="2">
                  <c:v>0</c:v>
                </c:pt>
                <c:pt idx="3">
                  <c:v>0.0417</c:v>
                </c:pt>
                <c:pt idx="4">
                  <c:v>0.1129</c:v>
                </c:pt>
                <c:pt idx="5">
                  <c:v>0.0677</c:v>
                </c:pt>
                <c:pt idx="6">
                  <c:v>0.0693</c:v>
                </c:pt>
                <c:pt idx="7">
                  <c:v>0.1447</c:v>
                </c:pt>
                <c:pt idx="8">
                  <c:v>0.2702</c:v>
                </c:pt>
                <c:pt idx="9">
                  <c:v>0.3102</c:v>
                </c:pt>
                <c:pt idx="10">
                  <c:v>0.2332</c:v>
                </c:pt>
                <c:pt idx="11">
                  <c:v>0.2174</c:v>
                </c:pt>
                <c:pt idx="12">
                  <c:v>0.1245</c:v>
                </c:pt>
                <c:pt idx="13">
                  <c:v>0.2028</c:v>
                </c:pt>
                <c:pt idx="14">
                  <c:v>0.2023</c:v>
                </c:pt>
                <c:pt idx="15">
                  <c:v>0.1622</c:v>
                </c:pt>
                <c:pt idx="16">
                  <c:v>0.085</c:v>
                </c:pt>
                <c:pt idx="17">
                  <c:v>0.1914</c:v>
                </c:pt>
                <c:pt idx="18">
                  <c:v>0.3343</c:v>
                </c:pt>
                <c:pt idx="19">
                  <c:v>0.3835</c:v>
                </c:pt>
                <c:pt idx="20">
                  <c:v>0.3182</c:v>
                </c:pt>
                <c:pt idx="21">
                  <c:v>0.2888</c:v>
                </c:pt>
                <c:pt idx="22">
                  <c:v>0.376</c:v>
                </c:pt>
                <c:pt idx="23">
                  <c:v>0.3828</c:v>
                </c:pt>
              </c:numCache>
            </c:numRef>
          </c:val>
          <c:smooth val="0"/>
        </c:ser>
        <c:ser>
          <c:idx val="1"/>
          <c:order val="1"/>
          <c:tx>
            <c:v>空還覆蓋率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3"/>
            <c:spPr>
              <a:solidFill xmlns:a="http://schemas.openxmlformats.org/drawingml/2006/main">
                <a:srgbClr val="4F81BD"/>
              </a:solidFill>
            </c:spPr>
          </c:marker>
          <c:cat>
            <c:numRef>
              <c:f>'Chart Data'!$C$2:$C$25</c:f>
              <c:numCache>
                <c:formatCode>General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'Chart Data'!$D$2:$D$25</c:f>
              <c:numCache>
                <c:formatCode>0%</c:formatCode>
                <c:ptCount val="24"/>
                <c:pt idx="0">
                  <c:v>0.2071</c:v>
                </c:pt>
                <c:pt idx="1">
                  <c:v>0.3711</c:v>
                </c:pt>
                <c:pt idx="2">
                  <c:v>0.0405</c:v>
                </c:pt>
                <c:pt idx="3">
                  <c:v>0.0077</c:v>
                </c:pt>
                <c:pt idx="4">
                  <c:v>0.0296</c:v>
                </c:pt>
                <c:pt idx="5">
                  <c:v>0.0411</c:v>
                </c:pt>
                <c:pt idx="6">
                  <c:v>0.0523</c:v>
                </c:pt>
                <c:pt idx="7">
                  <c:v>0.1467</c:v>
                </c:pt>
                <c:pt idx="8">
                  <c:v>0.1407</c:v>
                </c:pt>
                <c:pt idx="9">
                  <c:v>0.128</c:v>
                </c:pt>
                <c:pt idx="10">
                  <c:v>0.1402</c:v>
                </c:pt>
                <c:pt idx="11">
                  <c:v>0.1026</c:v>
                </c:pt>
                <c:pt idx="12">
                  <c:v>0.0361</c:v>
                </c:pt>
                <c:pt idx="13">
                  <c:v>0.0593</c:v>
                </c:pt>
                <c:pt idx="14">
                  <c:v>0.0693</c:v>
                </c:pt>
                <c:pt idx="15">
                  <c:v>0.0347</c:v>
                </c:pt>
                <c:pt idx="16">
                  <c:v>0.027</c:v>
                </c:pt>
                <c:pt idx="17">
                  <c:v>0.0452</c:v>
                </c:pt>
                <c:pt idx="18">
                  <c:v>0.0899</c:v>
                </c:pt>
                <c:pt idx="19">
                  <c:v>0.1055</c:v>
                </c:pt>
                <c:pt idx="20">
                  <c:v>0.1118</c:v>
                </c:pt>
                <c:pt idx="21">
                  <c:v>0.0807</c:v>
                </c:pt>
                <c:pt idx="22">
                  <c:v>0.17</c:v>
                </c:pt>
                <c:pt idx="23">
                  <c:v>0.204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小時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04040"/>
                    </a:solidFill>
                    <a:latin typeface="Microsoft JhengHei"/>
                    <a:ea typeface="Microsoft JhengHei"/>
                    <a:cs typeface="Microsoft JhengHei"/>
                  </a:rPr>
                  <a:t>覆蓋率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04040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BFBFB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高事件行政區每日平均站次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滿借站次</c:v>
          </c:tx>
          <c:spPr>
            <a:solidFill xmlns:a="http://schemas.openxmlformats.org/drawingml/2006/main">
              <a:srgbClr val="C0504D"/>
            </a:solidFill>
          </c:spPr>
          <c:cat>
            <c:strRef>
              <c:f>'Chart Data'!$A$2:$A$13</c:f>
              <c:strCache>
                <c:ptCount val="12"/>
                <c:pt idx="0">
                  <c:v>三峽區</c:v>
                </c:pt>
                <c:pt idx="1">
                  <c:v>樹林區</c:v>
                </c:pt>
                <c:pt idx="2">
                  <c:v>汐止區</c:v>
                </c:pt>
                <c:pt idx="3">
                  <c:v>淡水區</c:v>
                </c:pt>
                <c:pt idx="4">
                  <c:v>蘆洲區</c:v>
                </c:pt>
                <c:pt idx="5">
                  <c:v>永和區</c:v>
                </c:pt>
                <c:pt idx="6">
                  <c:v>中和區</c:v>
                </c:pt>
                <c:pt idx="7">
                  <c:v>土城區</c:v>
                </c:pt>
                <c:pt idx="8">
                  <c:v>新店區</c:v>
                </c:pt>
                <c:pt idx="9">
                  <c:v>三重區</c:v>
                </c:pt>
                <c:pt idx="10">
                  <c:v>新莊區</c:v>
                </c:pt>
                <c:pt idx="11">
                  <c:v>板橋區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18.3</c:v>
                </c:pt>
                <c:pt idx="1">
                  <c:v>13.1</c:v>
                </c:pt>
                <c:pt idx="2">
                  <c:v>18.8</c:v>
                </c:pt>
                <c:pt idx="3">
                  <c:v>28.6</c:v>
                </c:pt>
                <c:pt idx="4">
                  <c:v>14.8</c:v>
                </c:pt>
                <c:pt idx="5">
                  <c:v>38.4</c:v>
                </c:pt>
                <c:pt idx="6">
                  <c:v>42.6</c:v>
                </c:pt>
                <c:pt idx="7">
                  <c:v>14.4</c:v>
                </c:pt>
                <c:pt idx="8">
                  <c:v>40.4</c:v>
                </c:pt>
                <c:pt idx="9">
                  <c:v>23.1</c:v>
                </c:pt>
                <c:pt idx="10">
                  <c:v>55.1</c:v>
                </c:pt>
                <c:pt idx="11">
                  <c:v>89.8</c:v>
                </c:pt>
              </c:numCache>
            </c:numRef>
          </c:val>
        </c:ser>
        <c:ser>
          <c:idx val="1"/>
          <c:order val="1"/>
          <c:tx>
            <c:v>空還站次</c:v>
          </c:tx>
          <c:spPr>
            <a:solidFill xmlns:a="http://schemas.openxmlformats.org/drawingml/2006/main">
              <a:srgbClr val="4F81BD"/>
            </a:solidFill>
          </c:spPr>
          <c:cat>
            <c:strRef>
              <c:f>'Chart Data'!$C$2:$C$13</c:f>
              <c:strCache>
                <c:ptCount val="12"/>
                <c:pt idx="0">
                  <c:v>三峽區</c:v>
                </c:pt>
                <c:pt idx="1">
                  <c:v>樹林區</c:v>
                </c:pt>
                <c:pt idx="2">
                  <c:v>汐止區</c:v>
                </c:pt>
                <c:pt idx="3">
                  <c:v>淡水區</c:v>
                </c:pt>
                <c:pt idx="4">
                  <c:v>蘆洲區</c:v>
                </c:pt>
                <c:pt idx="5">
                  <c:v>永和區</c:v>
                </c:pt>
                <c:pt idx="6">
                  <c:v>中和區</c:v>
                </c:pt>
                <c:pt idx="7">
                  <c:v>土城區</c:v>
                </c:pt>
                <c:pt idx="8">
                  <c:v>新店區</c:v>
                </c:pt>
                <c:pt idx="9">
                  <c:v>三重區</c:v>
                </c:pt>
                <c:pt idx="10">
                  <c:v>新莊區</c:v>
                </c:pt>
                <c:pt idx="11">
                  <c:v>板橋區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112.8</c:v>
                </c:pt>
                <c:pt idx="1">
                  <c:v>152.1</c:v>
                </c:pt>
                <c:pt idx="2">
                  <c:v>164.6</c:v>
                </c:pt>
                <c:pt idx="3">
                  <c:v>172.6</c:v>
                </c:pt>
                <c:pt idx="4">
                  <c:v>193.9</c:v>
                </c:pt>
                <c:pt idx="5">
                  <c:v>282.2</c:v>
                </c:pt>
                <c:pt idx="6">
                  <c:v>376.7</c:v>
                </c:pt>
                <c:pt idx="7">
                  <c:v>417.3</c:v>
                </c:pt>
                <c:pt idx="8">
                  <c:v>419.8</c:v>
                </c:pt>
                <c:pt idx="9">
                  <c:v>461.4</c:v>
                </c:pt>
                <c:pt idx="10">
                  <c:v>482</c:v>
                </c:pt>
                <c:pt idx="11">
                  <c:v>1091.3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JhengHei"/>
                  <a:ea typeface="Microsoft JhengHei"/>
                  <a:cs typeface="Microsoft Jheng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404040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17E7D42D-E97B-47AA-9096-92287F285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925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台北用量門檻平日：雙北滿借與空還單站覆蓋率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F47483-3F89-4E29-89B8-3FA733CF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period">
            <a:extLst xmlns:a="http://schemas.openxmlformats.org/drawingml/2006/main">
              <a:ext uri="{FF2B5EF4-FFF2-40B4-BE49-F238E27FC236}">
                <a16:creationId xmlns:a16="http://schemas.microsoft.com/office/drawing/2014/main" id="{23237011-FC2F-426B-8161-83E09328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03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03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2026 年 7–8 月</a:t>
            </a:r>
          </a:p>
        </p:txBody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913F1A8D-EFDD-4732-9F06-01AD64C2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09875"/>
            <a:ext cx="733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21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平日台北 2.0＋2.0E 每日總用量 ≥ 240,000 次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21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同一批 36 日，分別分析台北市與新北市</a:t>
            </a:r>
          </a:p>
        </p:txBody>
      </p:sp>
      <p:sp>
        <p:nvSpPr>
          <p:cNvPr id="5" name="definitions">
            <a:extLst xmlns:a="http://schemas.openxmlformats.org/drawingml/2006/main">
              <a:ext uri="{FF2B5EF4-FFF2-40B4-BE49-F238E27FC236}">
                <a16:creationId xmlns:a16="http://schemas.microsoft.com/office/drawing/2014/main" id="{248EF828-AF50-4E5A-BD95-25669E49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每站每小時只計一次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滿借看調出／綁車，空還看調入／解綁車</a:t>
            </a:r>
          </a:p>
        </p:txBody>
      </p:sp>
    </p:spTree>
    <p:extLst>
      <p:ext uri="{BB962C8B-B14F-4D97-AF65-F5344CB8AC3E}">
        <p14:creationId xmlns:p14="http://schemas.microsoft.com/office/powerpoint/2010/main" val="1178994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band">
            <a:extLst xmlns:a="http://schemas.openxmlformats.org/drawingml/2006/main">
              <a:ext uri="{FF2B5EF4-FFF2-40B4-BE49-F238E27FC236}">
                <a16:creationId xmlns:a16="http://schemas.microsoft.com/office/drawing/2014/main" id="{1EB276A1-0BC2-4D74-B73C-C83091D8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分析範圍與單站指標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936B52-1C43-4A96-9569-1FD67E2E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cope-number-1">
            <a:extLst xmlns:a="http://schemas.openxmlformats.org/drawingml/2006/main">
              <a:ext uri="{FF2B5EF4-FFF2-40B4-BE49-F238E27FC236}">
                <a16:creationId xmlns:a16="http://schemas.microsoft.com/office/drawing/2014/main" id="{B7620D5A-2031-4AFD-AFE0-9554CAA9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523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</a:t>
            </a:r>
          </a:p>
        </p:txBody>
      </p:sp>
      <p:sp>
        <p:nvSpPr>
          <p:cNvPr id="4" name="scope-text-1">
            <a:extLst xmlns:a="http://schemas.openxmlformats.org/drawingml/2006/main">
              <a:ext uri="{FF2B5EF4-FFF2-40B4-BE49-F238E27FC236}">
                <a16:creationId xmlns:a16="http://schemas.microsoft.com/office/drawing/2014/main" id="{A2CCB623-D2FC-4A52-B849-A7E17594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依台北用量篩選 21 個 7 月平日與 15 個 8 月平日，共 36 日。</a:t>
            </a:r>
          </a:p>
        </p:txBody>
      </p:sp>
      <p:sp>
        <p:nvSpPr>
          <p:cNvPr id="5" name="scope-number-2">
            <a:extLst xmlns:a="http://schemas.openxmlformats.org/drawingml/2006/main">
              <a:ext uri="{FF2B5EF4-FFF2-40B4-BE49-F238E27FC236}">
                <a16:creationId xmlns:a16="http://schemas.microsoft.com/office/drawing/2014/main" id="{E3BA7355-CF5B-41BA-8188-CF546828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</a:t>
            </a:r>
          </a:p>
        </p:txBody>
      </p:sp>
      <p:sp>
        <p:nvSpPr>
          <p:cNvPr id="6" name="scope-text-2">
            <a:extLst xmlns:a="http://schemas.openxmlformats.org/drawingml/2006/main">
              <a:ext uri="{FF2B5EF4-FFF2-40B4-BE49-F238E27FC236}">
                <a16:creationId xmlns:a16="http://schemas.microsoft.com/office/drawing/2014/main" id="{67596D25-B50E-4070-93BE-4393C3FB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989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新北不另設門檻，使用與台北完全相同的日期集合，確保雙北比較基準一致。</a:t>
            </a:r>
          </a:p>
        </p:txBody>
      </p:sp>
      <p:sp>
        <p:nvSpPr>
          <p:cNvPr id="7" name="scope-number-3">
            <a:extLst xmlns:a="http://schemas.openxmlformats.org/drawingml/2006/main">
              <a:ext uri="{FF2B5EF4-FFF2-40B4-BE49-F238E27FC236}">
                <a16:creationId xmlns:a16="http://schemas.microsoft.com/office/drawing/2014/main" id="{9123E0FC-85EA-4A70-8AEE-259FCA56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52750"/>
            <a:ext cx="52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</a:t>
            </a:r>
          </a:p>
        </p:txBody>
      </p:sp>
      <p:sp>
        <p:nvSpPr>
          <p:cNvPr id="8" name="scope-text-3">
            <a:extLst xmlns:a="http://schemas.openxmlformats.org/drawingml/2006/main">
              <a:ext uri="{FF2B5EF4-FFF2-40B4-BE49-F238E27FC236}">
                <a16:creationId xmlns:a16="http://schemas.microsoft.com/office/drawing/2014/main" id="{66EC3435-55A9-4014-8BD4-C2A4FE24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滿借與空還分開計算。每一站於同日同小時不論發生幾次，均只計 1 站。</a:t>
            </a:r>
          </a:p>
        </p:txBody>
      </p:sp>
      <p:sp>
        <p:nvSpPr>
          <p:cNvPr id="9" name="scope-number-4">
            <a:extLst xmlns:a="http://schemas.openxmlformats.org/drawingml/2006/main">
              <a:ext uri="{FF2B5EF4-FFF2-40B4-BE49-F238E27FC236}">
                <a16:creationId xmlns:a16="http://schemas.microsoft.com/office/drawing/2014/main" id="{3F31E2B8-DC64-4DF7-8DC4-3C2B7407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10000"/>
            <a:ext cx="523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4.</a:t>
            </a:r>
          </a:p>
        </p:txBody>
      </p:sp>
      <p:sp>
        <p:nvSpPr>
          <p:cNvPr id="10" name="scope-text-4">
            <a:extLst xmlns:a="http://schemas.openxmlformats.org/drawingml/2006/main">
              <a:ext uri="{FF2B5EF4-FFF2-40B4-BE49-F238E27FC236}">
                <a16:creationId xmlns:a16="http://schemas.microsoft.com/office/drawing/2014/main" id="{C2EC18E0-4B75-4E68-B682-95EAE792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滿借覆蓋率＝同小時有調出或綁車的滿借站數÷滿借站數；空還則看調入或解綁車。</a:t>
            </a:r>
          </a:p>
        </p:txBody>
      </p:sp>
      <p:sp>
        <p:nvSpPr>
          <p:cNvPr id="11" name="scope-number-5">
            <a:extLst xmlns:a="http://schemas.openxmlformats.org/drawingml/2006/main">
              <a:ext uri="{FF2B5EF4-FFF2-40B4-BE49-F238E27FC236}">
                <a16:creationId xmlns:a16="http://schemas.microsoft.com/office/drawing/2014/main" id="{F787DDD2-FA13-4B81-8918-4AD02163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67250"/>
            <a:ext cx="52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5.</a:t>
            </a:r>
          </a:p>
        </p:txBody>
      </p:sp>
      <p:sp>
        <p:nvSpPr>
          <p:cNvPr id="12" name="scope-text-5">
            <a:extLst xmlns:a="http://schemas.openxmlformats.org/drawingml/2006/main">
              <a:ext uri="{FF2B5EF4-FFF2-40B4-BE49-F238E27FC236}">
                <a16:creationId xmlns:a16="http://schemas.microsoft.com/office/drawing/2014/main" id="{640A6A49-37BC-4BF9-8EDB-6E75588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67250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行政區按站點位置彙整；台大與猴雙專區拆回實際行政區，維調站排除。</a:t>
            </a:r>
          </a:p>
        </p:txBody>
      </p:sp>
    </p:spTree>
    <p:extLst>
      <p:ext uri="{BB962C8B-B14F-4D97-AF65-F5344CB8AC3E}">
        <p14:creationId xmlns:p14="http://schemas.microsoft.com/office/powerpoint/2010/main" val="1485955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93C73E61-ABDB-4062-820F-D0785174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台北市整體結果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9EB339-4985-46F4-9F54-BB80C8F4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BC70548D-58B8-456B-B93A-34074F58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828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入選日期的台北市日均總用量為 287,373 次。</a:t>
            </a:r>
          </a:p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空還事件站次日均 6,607 站次，滿借為 2,137 站次，空還為滿借的 3.1 倍。</a:t>
            </a:r>
          </a:p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滿借單站覆蓋率 14.7%，空還單站覆蓋率 6.3%。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476375" y="2714625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857375"/>
                <a:gridCol w="1857375"/>
              </a:tblGrid>
              <a:tr h="361950"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每日平均事件站次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2,137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6,607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累計事件站次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76,927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237,849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同向調度覆蓋站次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11,300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14,994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未覆蓋站次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65,627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222,855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同小時站數覆蓋率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14.7%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6.3%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3204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B9A79BB7-840C-487A-AC57-0F36F18F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台北市逐時結果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85A99A-C484-4637-B10C-6AD1586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hourly-takeaway">
            <a:extLst xmlns:a="http://schemas.openxmlformats.org/drawingml/2006/main">
              <a:ext uri="{FF2B5EF4-FFF2-40B4-BE49-F238E27FC236}">
                <a16:creationId xmlns:a16="http://schemas.microsoft.com/office/drawing/2014/main" id="{FBE680AC-EE44-4BB2-81D6-BAB5368B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834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滿借站數尖峰 18:00–19:00（日均 166 站），空還站數尖峰 18:00–19:00（日均 506 站）。 高站數低覆蓋時段：滿借 17:00–18:00、空還 17:00–18:00。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810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63e117a45048d6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4000500"/>
          <a:ext xmlns:a="http://schemas.openxmlformats.org/drawingml/2006/main" cx="7810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6722ae4db984885"/>
          </a:graphicData>
        </a:graphic>
      </p:graphicFrame>
    </p:spTree>
    <p:extLst>
      <p:ext uri="{BB962C8B-B14F-4D97-AF65-F5344CB8AC3E}">
        <p14:creationId xmlns:p14="http://schemas.microsoft.com/office/powerpoint/2010/main" val="7873491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F6A564A5-DB1B-4496-8941-834D7421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台北市行政區結果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2034D41-71FD-4398-BCD2-2DEB3E56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district-takeaway">
            <a:extLst xmlns:a="http://schemas.openxmlformats.org/drawingml/2006/main">
              <a:ext uri="{FF2B5EF4-FFF2-40B4-BE49-F238E27FC236}">
                <a16:creationId xmlns:a16="http://schemas.microsoft.com/office/drawing/2014/main" id="{0C8934B5-F41E-4A5F-BCB8-12688316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71550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52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52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大安區事件站次最高，日均 565 滿借站次、1,336 空還站次，占全市 21.7%。右表列出高站次且至少一方向覆蓋低於全市者。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209550" y="1714500"/>
          <a:ext xmlns:a="http://schemas.openxmlformats.org/drawingml/2006/main" cx="4810125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d94faf79cb44497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0" y="1714500"/>
          <a:ext xmlns:a="http://schemas.openxmlformats.org/drawingml/2006/main" cx="3762375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628650"/>
                <a:gridCol w="628650"/>
                <a:gridCol w="895350"/>
                <a:gridCol w="942975"/>
              </a:tblGrid>
              <a:tr h="361950">
                <a:tc>
                  <a:txBody>
                    <a:bodyPr/>
                    <a:lstStyle/>
                    <a:p>
                      <a:r>
                        <a:t>行政區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滿借站次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空還站次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滿借覆蓋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空還覆蓋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大安區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565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1,336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12.4%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中正區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192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644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11.7%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4.7%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松山區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546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14.7%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4.6%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南港區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11.6%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6.1%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大同區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311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7.9%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4.1%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021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band">
            <a:extLst xmlns:a="http://schemas.openxmlformats.org/drawingml/2006/main">
              <a:ext uri="{FF2B5EF4-FFF2-40B4-BE49-F238E27FC236}">
                <a16:creationId xmlns:a16="http://schemas.microsoft.com/office/drawing/2014/main" id="{0F78A014-EE6A-45A6-B677-CC03BEDE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新北市整體結果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137055-FD16-4E55-9329-A47606AC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bullets">
            <a:extLst xmlns:a="http://schemas.openxmlformats.org/drawingml/2006/main">
              <a:ext uri="{FF2B5EF4-FFF2-40B4-BE49-F238E27FC236}">
                <a16:creationId xmlns:a16="http://schemas.microsoft.com/office/drawing/2014/main" id="{EAB1E046-C37F-4BDF-9176-E7925576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8286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入選日期的新北市日均總用量為 157,471 次。</a:t>
            </a:r>
          </a:p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空還事件站次日均 4,630 站次，滿借為 448 站次，空還為滿借的 10.3 倍。</a:t>
            </a:r>
          </a:p>
          <a:p xmlns:a="http://schemas.openxmlformats.org/drawingml/2006/main">
            <a:pPr marL="279400" indent="-139700">
              <a:lnSpc>
                <a:spcPct val="116000"/>
              </a:lnSpc>
              <a:spcAft>
                <a:spcPts val="600"/>
              </a:spcAft>
              <a:buNone/>
              <a:def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滿借單站覆蓋率 23.8%，空還單站覆蓋率 9.6%。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1476375" y="2714625"/>
          <a:ext xmlns:a="http://schemas.openxmlformats.org/drawingml/2006/main" cx="6191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1857375"/>
                <a:gridCol w="1857375"/>
              </a:tblGrid>
              <a:tr h="361950"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每日平均事件站次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4,630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累計事件站次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16,127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166,695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同向調度覆蓋站次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3,845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16,044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未覆蓋站次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12,282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150,651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同小時站數覆蓋率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23.8%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50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9.6%</a:t>
                      </a:r>
                    </a:p>
                  </a:txBody>
                  <a:tcPr marL="91440" marR="91440" marT="45720" marB="45720" anchor="ctr">
                    <a:solidFill>
                      <a:srgbClr val="D9EA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723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B8D02D16-E8F8-4D0A-8BE3-71D687C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新北市逐時結果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A0536F-2B1B-43ED-B84A-FCBD2135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hourly-takeaway">
            <a:extLst xmlns:a="http://schemas.openxmlformats.org/drawingml/2006/main">
              <a:ext uri="{FF2B5EF4-FFF2-40B4-BE49-F238E27FC236}">
                <a16:creationId xmlns:a16="http://schemas.microsoft.com/office/drawing/2014/main" id="{82C31E56-020F-49C7-9409-8DE1EED1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71550"/>
            <a:ext cx="834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98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滿借站數尖峰 18:00–19:00（日均 47 站），空還站數尖峰 08:00–09:00（日均 342 站）。 高站數低覆蓋時段：滿借 17:00–18:00、空還 17:00–18:00。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810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0f5bafdd0a4f8d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66750" y="4000500"/>
          <a:ext xmlns:a="http://schemas.openxmlformats.org/drawingml/2006/main" cx="781050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86706b32624a16"/>
          </a:graphicData>
        </a:graphic>
      </p:graphicFrame>
    </p:spTree>
    <p:extLst>
      <p:ext uri="{BB962C8B-B14F-4D97-AF65-F5344CB8AC3E}">
        <p14:creationId xmlns:p14="http://schemas.microsoft.com/office/powerpoint/2010/main" val="522987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BBC3BAFF-2177-4647-8B8F-9D376F3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新北市行政區結果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38D178-638D-4642-B75D-783CE749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district-takeaway">
            <a:extLst xmlns:a="http://schemas.openxmlformats.org/drawingml/2006/main">
              <a:ext uri="{FF2B5EF4-FFF2-40B4-BE49-F238E27FC236}">
                <a16:creationId xmlns:a16="http://schemas.microsoft.com/office/drawing/2014/main" id="{195CE07F-4A66-4604-BEDF-ADE825C8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71550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52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52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板橋區事件站次最高，日均 90 滿借站次、1,091 空還站次，占全市 23.3%。右表列出高站次且至少一方向覆蓋低於全市者。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209550" y="1714500"/>
          <a:ext xmlns:a="http://schemas.openxmlformats.org/drawingml/2006/main" cx="4810125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9b751d3ea14a67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0" y="1714500"/>
          <a:ext xmlns:a="http://schemas.openxmlformats.org/drawingml/2006/main" cx="3762375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"/>
                <a:gridCol w="628650"/>
                <a:gridCol w="628650"/>
                <a:gridCol w="895350"/>
                <a:gridCol w="942975"/>
              </a:tblGrid>
              <a:tr h="361950">
                <a:tc>
                  <a:txBody>
                    <a:bodyPr/>
                    <a:lstStyle/>
                    <a:p>
                      <a:r>
                        <a:t>行政區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滿借站次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空還站次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滿借覆蓋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空還覆蓋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板橋區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1,091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16.7%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9.6%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新莊區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55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482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21.8%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12.2%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新店區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420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11.8%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7.5%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土城區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417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24.2%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6.5%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  <a:tr h="7810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淡水區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29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24.4%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02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7.7%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7711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band">
            <a:extLst xmlns:a="http://schemas.openxmlformats.org/drawingml/2006/main">
              <a:ext uri="{FF2B5EF4-FFF2-40B4-BE49-F238E27FC236}">
                <a16:creationId xmlns:a16="http://schemas.microsoft.com/office/drawing/2014/main" id="{31F1C676-9930-4FE0-B5C7-8BDA2EC2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001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404040"/>
                </a:solidFill>
                <a:latin typeface="Microsoft JhengHei"/>
                <a:ea typeface="Microsoft JhengHei"/>
                <a:cs typeface="Microsoft JhengHei"/>
              </a:rPr>
              <a:t>雙北調度調整方向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60A23B7-3B1C-455A-BAB2-258559F5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4865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7F7F7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action-summary">
            <a:extLst xmlns:a="http://schemas.openxmlformats.org/drawingml/2006/main">
              <a:ext uri="{FF2B5EF4-FFF2-40B4-BE49-F238E27FC236}">
                <a16:creationId xmlns:a16="http://schemas.microsoft.com/office/drawing/2014/main" id="{2A774D4A-2188-4707-BB85-D6BF469A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00125"/>
            <a:ext cx="828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先依城市分向補缺口，再用相同 36 日口徑持續追蹤成效。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285750" y="1666875"/>
          <a:ext xmlns:a="http://schemas.openxmlformats.org/drawingml/2006/main" cx="8572500" cy="4238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00125"/>
                <a:gridCol w="1428750"/>
                <a:gridCol w="2571750"/>
                <a:gridCol w="3571875"/>
              </a:tblGrid>
              <a:tr h="361950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優先範圍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主要缺口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建議調整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台北市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17:00–18:00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滿借站數高、覆蓋 7.1%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尖峰前在大安區、中正區、松山區增加調出／綁車。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429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台北市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17:00–18:00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空還站數高、覆蓋 5.1%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增加調入／解綁車固定節點，避免只在晚尖峰追量。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429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新北市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17:00–18:00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滿借站數高、覆蓋 19.1%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先補板橋區、新莊區、新店區的調出／綁車。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429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新北市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17:00–18:00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空還站數高、覆蓋 4.5%</a:t>
                      </a:r>
                    </a:p>
                  </a:txBody>
                  <a:tcPr marL="91440" marR="91440" marT="45720" marB="45720" anchor="ctr">
                    <a:solidFill>
                      <a:srgbClr val="E6B9B8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空還站數遠高於滿借，優先增加調入／解綁車任務密度。</a:t>
                      </a:r>
                    </a:p>
                  </a:txBody>
                  <a:tcPr marL="91440" marR="91440" marT="45720" marB="45720" anchor="ctr">
                    <a:solidFill>
                      <a:srgbClr val="E2F0D9"/>
                    </a:solidFill>
                  </a:tcPr>
                </a:tc>
              </a:tr>
              <a:tr h="742950"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雙北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每週追蹤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總覆蓋率會掩蓋方向差異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47625" tIns="38100" rIns="47625" bIns="38100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40404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固定分城市、分時段、分行政區追蹤滿借／空還單站覆蓋率。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llow-up">
            <a:extLst xmlns:a="http://schemas.openxmlformats.org/drawingml/2006/main">
              <a:ext uri="{FF2B5EF4-FFF2-40B4-BE49-F238E27FC236}">
                <a16:creationId xmlns:a16="http://schemas.microsoft.com/office/drawing/2014/main" id="{8EA905F3-7A32-4212-B593-400DF96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007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02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02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建議為描述性統計推導；執行後須以同一日期條件做前後比較。</a:t>
            </a:r>
          </a:p>
        </p:txBody>
      </p:sp>
    </p:spTree>
    <p:extLst>
      <p:ext uri="{BB962C8B-B14F-4D97-AF65-F5344CB8AC3E}">
        <p14:creationId xmlns:p14="http://schemas.microsoft.com/office/powerpoint/2010/main" val="2088624784"/>
      </p:ext>
    </p:extLst>
  </p:cSld>
</p:sld>
</file>

<file path=ppt/theme/theme1.xml><?xml version="1.0" encoding="utf-8"?>
<a:theme xmlns:a="http://schemas.openxmlformats.org/drawingml/2006/main" name="ChatGPT">
  <a:themeElements>
    <a:clrScheme name="Taida Reference">
      <a:dk1>
        <a:srgbClr val="000000"/>
      </a:dk1>
      <a:lt1>
        <a:srgbClr val="FFFFFF"/>
      </a:lt1>
      <a:dk2>
        <a:srgbClr val="404040"/>
      </a:dk2>
      <a:lt2>
        <a:srgbClr val="F2F2F2"/>
      </a:lt2>
      <a:accent1>
        <a:srgbClr val="4F81BD"/>
      </a:accent1>
      <a:accent2>
        <a:srgbClr val="C0504D"/>
      </a:accent2>
      <a:accent3>
        <a:srgbClr val="92D050"/>
      </a:accent3>
      <a:accent4>
        <a:srgbClr val="FFD243"/>
      </a:accent4>
      <a:accent5>
        <a:srgbClr val="8064A2"/>
      </a:accent5>
      <a:accent6>
        <a:srgbClr val="4BACC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aida Refer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2026-09-10T06:03:43.5890000Z</dcterms:created>
  <dcterms:modified xsi:type="dcterms:W3CDTF">2026-09-10T06:03:43.5890000Z</dcterms:modified>
</coreProperties>
</file>